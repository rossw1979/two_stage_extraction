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8"/>
  </p:notesMasterIdLst>
  <p:sldIdLst>
    <p:sldId id="256" r:id="rId2"/>
    <p:sldId id="257" r:id="rId3"/>
    <p:sldId id="307" r:id="rId4"/>
    <p:sldId id="259" r:id="rId5"/>
    <p:sldId id="285" r:id="rId6"/>
    <p:sldId id="308" r:id="rId7"/>
    <p:sldId id="309" r:id="rId8"/>
    <p:sldId id="286" r:id="rId9"/>
    <p:sldId id="288" r:id="rId10"/>
    <p:sldId id="268" r:id="rId11"/>
    <p:sldId id="289" r:id="rId12"/>
    <p:sldId id="290" r:id="rId13"/>
    <p:sldId id="291" r:id="rId14"/>
    <p:sldId id="292" r:id="rId15"/>
    <p:sldId id="293" r:id="rId16"/>
    <p:sldId id="310" r:id="rId17"/>
    <p:sldId id="260" r:id="rId18"/>
    <p:sldId id="294" r:id="rId19"/>
    <p:sldId id="295" r:id="rId20"/>
    <p:sldId id="296" r:id="rId21"/>
    <p:sldId id="299" r:id="rId22"/>
    <p:sldId id="298" r:id="rId23"/>
    <p:sldId id="303" r:id="rId24"/>
    <p:sldId id="305" r:id="rId25"/>
    <p:sldId id="301" r:id="rId26"/>
    <p:sldId id="302"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8" r:id="rId43"/>
    <p:sldId id="327" r:id="rId44"/>
    <p:sldId id="326" r:id="rId45"/>
    <p:sldId id="329" r:id="rId46"/>
    <p:sldId id="330" r:id="rId47"/>
    <p:sldId id="331" r:id="rId48"/>
    <p:sldId id="332" r:id="rId49"/>
    <p:sldId id="333" r:id="rId50"/>
    <p:sldId id="335" r:id="rId51"/>
    <p:sldId id="336" r:id="rId52"/>
    <p:sldId id="342" r:id="rId53"/>
    <p:sldId id="343" r:id="rId54"/>
    <p:sldId id="344" r:id="rId55"/>
    <p:sldId id="345" r:id="rId56"/>
    <p:sldId id="346" r:id="rId57"/>
    <p:sldId id="347" r:id="rId58"/>
    <p:sldId id="348" r:id="rId59"/>
    <p:sldId id="351" r:id="rId60"/>
    <p:sldId id="350" r:id="rId61"/>
    <p:sldId id="280" r:id="rId62"/>
    <p:sldId id="281" r:id="rId63"/>
    <p:sldId id="282" r:id="rId64"/>
    <p:sldId id="283" r:id="rId65"/>
    <p:sldId id="284" r:id="rId66"/>
    <p:sldId id="349" r:id="rId6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7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87F"/>
    <a:srgbClr val="3FDF4D"/>
    <a:srgbClr val="E4E4E3"/>
    <a:srgbClr val="FF0A00"/>
    <a:srgbClr val="FEFF00"/>
    <a:srgbClr val="F0CFD2"/>
    <a:srgbClr val="61C155"/>
    <a:srgbClr val="D47F8C"/>
    <a:srgbClr val="FFFFFF"/>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3" autoAdjust="0"/>
    <p:restoredTop sz="94660"/>
  </p:normalViewPr>
  <p:slideViewPr>
    <p:cSldViewPr snapToGrid="0">
      <p:cViewPr varScale="1">
        <p:scale>
          <a:sx n="67" d="100"/>
          <a:sy n="67" d="100"/>
        </p:scale>
        <p:origin x="528" y="5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2020/9/25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579606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E1EA5C-A9A3-4FE4-9423-8FB1F299C9D1}" type="datetimeFigureOut">
              <a:rPr lang="zh-CN" altLang="en-US" smtClean="0"/>
              <a:t>2020/9/25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776A58-E9A1-4A67-B78C-9C6F8FDA33F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1EA5C-A9A3-4FE4-9423-8FB1F299C9D1}" type="datetimeFigureOut">
              <a:rPr lang="zh-CN" altLang="en-US" smtClean="0"/>
              <a:t>2020/9/25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776A58-E9A1-4A67-B78C-9C6F8FDA33F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png"/><Relationship Id="rId7"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42.png"/><Relationship Id="rId5" Type="http://schemas.openxmlformats.org/officeDocument/2006/relationships/image" Target="../media/image34.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image" Target="../media/image38.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39.png"/><Relationship Id="rId5" Type="http://schemas.openxmlformats.org/officeDocument/2006/relationships/image" Target="../media/image41.png"/><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image" Target="../media/image42.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5.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46.png"/><Relationship Id="rId5" Type="http://schemas.openxmlformats.org/officeDocument/2006/relationships/image" Target="../media/image38.png"/><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9.xml"/><Relationship Id="rId1" Type="http://schemas.openxmlformats.org/officeDocument/2006/relationships/tags" Target="../tags/tag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38.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文本框 12"/>
          <p:cNvSpPr txBox="1"/>
          <p:nvPr/>
        </p:nvSpPr>
        <p:spPr>
          <a:xfrm>
            <a:off x="1879814" y="1453707"/>
            <a:ext cx="7757346" cy="1323439"/>
          </a:xfrm>
          <a:prstGeom prst="rect">
            <a:avLst/>
          </a:prstGeom>
          <a:noFill/>
        </p:spPr>
        <p:txBody>
          <a:bodyPr wrap="square" rtlCol="0">
            <a:spAutoFit/>
          </a:bodyPr>
          <a:lstStyle/>
          <a:p>
            <a:r>
              <a:rPr lang="en-US" altLang="zh-CN" sz="4000" b="1" dirty="0">
                <a:solidFill>
                  <a:srgbClr val="AE1022"/>
                </a:solidFill>
                <a:latin typeface="Microsoft YaHei UI" panose="020B0503020204020204" pitchFamily="34" charset="-122"/>
                <a:ea typeface="Microsoft YaHei UI" panose="020B0503020204020204" pitchFamily="34" charset="-122"/>
              </a:rPr>
              <a:t>2020ESC</a:t>
            </a:r>
            <a:r>
              <a:rPr lang="zh-CN" altLang="en-US" sz="4000" b="1" dirty="0">
                <a:solidFill>
                  <a:srgbClr val="AE1022"/>
                </a:solidFill>
                <a:latin typeface="Microsoft YaHei UI" panose="020B0503020204020204" pitchFamily="34" charset="-122"/>
                <a:ea typeface="Microsoft YaHei UI" panose="020B0503020204020204" pitchFamily="34" charset="-122"/>
              </a:rPr>
              <a:t>非</a:t>
            </a:r>
            <a:r>
              <a:rPr lang="en-US" altLang="zh-CN" sz="4000" b="1" dirty="0">
                <a:solidFill>
                  <a:srgbClr val="AE1022"/>
                </a:solidFill>
                <a:latin typeface="Microsoft YaHei UI" panose="020B0503020204020204" pitchFamily="34" charset="-122"/>
                <a:ea typeface="Microsoft YaHei UI" panose="020B0503020204020204" pitchFamily="34" charset="-122"/>
              </a:rPr>
              <a:t>ST</a:t>
            </a:r>
            <a:r>
              <a:rPr lang="zh-CN" altLang="en-US" sz="4000" b="1" dirty="0">
                <a:solidFill>
                  <a:srgbClr val="AE1022"/>
                </a:solidFill>
                <a:latin typeface="Microsoft YaHei UI" panose="020B0503020204020204" pitchFamily="34" charset="-122"/>
                <a:ea typeface="Microsoft YaHei UI" panose="020B0503020204020204" pitchFamily="34" charset="-122"/>
              </a:rPr>
              <a:t>段抬高性急性冠脉综合征临床指南</a:t>
            </a:r>
            <a:endParaRPr lang="zh-CN" altLang="en-US" sz="4000" b="1" dirty="0">
              <a:solidFill>
                <a:srgbClr val="AE1022"/>
              </a:solidFill>
            </a:endParaRPr>
          </a:p>
        </p:txBody>
      </p:sp>
      <p:sp>
        <p:nvSpPr>
          <p:cNvPr id="4" name="文本框 3"/>
          <p:cNvSpPr txBox="1"/>
          <p:nvPr/>
        </p:nvSpPr>
        <p:spPr>
          <a:xfrm>
            <a:off x="1879813" y="2906109"/>
            <a:ext cx="9007261" cy="2554545"/>
          </a:xfrm>
          <a:prstGeom prst="rect">
            <a:avLst/>
          </a:prstGeom>
          <a:noFill/>
        </p:spPr>
        <p:txBody>
          <a:bodyPr wrap="square" rtlCol="0">
            <a:spAutoFit/>
          </a:bodyPr>
          <a:lstStyle/>
          <a:p>
            <a:r>
              <a:rPr lang="en-US" altLang="zh-CN" sz="3200" b="1" dirty="0">
                <a:solidFill>
                  <a:srgbClr val="AE1022"/>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a:t>
            </a:r>
          </a:p>
          <a:p>
            <a:r>
              <a:rPr lang="en-US" altLang="zh-CN" sz="3200" b="1" dirty="0">
                <a:solidFill>
                  <a:srgbClr val="AE1022"/>
                </a:solidFill>
                <a:latin typeface="Calibri" panose="020F0502020204030204" pitchFamily="34" charset="0"/>
                <a:ea typeface="Microsoft YaHei UI" panose="020B0503020204020204" pitchFamily="34" charset="-122"/>
                <a:cs typeface="Calibri" panose="020F0502020204030204" pitchFamily="34" charset="0"/>
              </a:rPr>
              <a:t>acute coronary syndromes in patients presenting without persistent ST-segment elevation</a:t>
            </a:r>
          </a:p>
          <a:p>
            <a:endParaRPr lang="en-US" altLang="zh-CN" sz="3200" b="1" dirty="0">
              <a:solidFill>
                <a:srgbClr val="AE1022"/>
              </a:solidFill>
              <a:latin typeface="Calibri" panose="020F0502020204030204" pitchFamily="34" charset="0"/>
              <a:ea typeface="Microsoft YaHei UI" panose="020B0503020204020204" pitchFamily="34" charset="-122"/>
              <a:cs typeface="Calibri" panose="020F0502020204030204" pitchFamily="34" charset="0"/>
            </a:endParaRPr>
          </a:p>
          <a:p>
            <a:r>
              <a:rPr lang="zh-CN" altLang="en-US" sz="3200" b="1" dirty="0">
                <a:solidFill>
                  <a:srgbClr val="AE1022"/>
                </a:solidFill>
                <a:latin typeface="Calibri" panose="020F0502020204030204" pitchFamily="34" charset="0"/>
                <a:ea typeface="Microsoft YaHei UI" panose="020B0503020204020204" pitchFamily="34" charset="-122"/>
                <a:cs typeface="Calibri" panose="020F0502020204030204" pitchFamily="34" charset="0"/>
              </a:rPr>
              <a:t>北部战区总医院心内科       韩雅玲</a:t>
            </a:r>
            <a:endParaRPr lang="zh-CN" altLang="en-US" sz="3200" b="1" dirty="0">
              <a:solidFill>
                <a:srgbClr val="AE1022"/>
              </a:solidFill>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7" name="文本框 6"/>
          <p:cNvSpPr txBox="1"/>
          <p:nvPr/>
        </p:nvSpPr>
        <p:spPr>
          <a:xfrm>
            <a:off x="975688" y="544016"/>
            <a:ext cx="7397750" cy="461665"/>
          </a:xfrm>
          <a:prstGeom prst="rect">
            <a:avLst/>
          </a:prstGeom>
          <a:noFill/>
        </p:spPr>
        <p:txBody>
          <a:bodyPr wrap="square" rtlCol="0">
            <a:spAutoFit/>
          </a:bodyPr>
          <a:lstStyle/>
          <a:p>
            <a:r>
              <a:rPr lang="zh-CN" altLang="en-US" sz="2400" b="1" dirty="0">
                <a:solidFill>
                  <a:srgbClr val="AE1022"/>
                </a:solidFill>
                <a:latin typeface="微软雅黑" panose="020B0503020204020204" pitchFamily="34" charset="-122"/>
                <a:ea typeface="微软雅黑" panose="020B0503020204020204" pitchFamily="34" charset="-122"/>
              </a:rPr>
              <a:t>图例</a:t>
            </a:r>
          </a:p>
        </p:txBody>
      </p:sp>
      <p:sp>
        <p:nvSpPr>
          <p:cNvPr id="9" name="矩形 8"/>
          <p:cNvSpPr/>
          <p:nvPr/>
        </p:nvSpPr>
        <p:spPr>
          <a:xfrm>
            <a:off x="3181058" y="1635437"/>
            <a:ext cx="4297656" cy="696930"/>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endParaRPr lang="zh-CN" altLang="en-US" dirty="0">
              <a:solidFill>
                <a:schemeClr val="bg1"/>
              </a:solidFill>
              <a:latin typeface="Microsoft YaHei UI" panose="020B0503020204020204" pitchFamily="34" charset="-122"/>
              <a:ea typeface="Microsoft YaHei UI" panose="020B0503020204020204" pitchFamily="34" charset="-122"/>
            </a:endParaRPr>
          </a:p>
        </p:txBody>
      </p:sp>
      <p:sp>
        <p:nvSpPr>
          <p:cNvPr id="10" name="矩形 9"/>
          <p:cNvSpPr/>
          <p:nvPr/>
        </p:nvSpPr>
        <p:spPr>
          <a:xfrm>
            <a:off x="3181052" y="4522733"/>
            <a:ext cx="4297661" cy="696930"/>
          </a:xfrm>
          <a:prstGeom prst="rect">
            <a:avLst/>
          </a:prstGeom>
          <a:solidFill>
            <a:srgbClr val="F05A66"/>
          </a:solidFill>
        </p:spPr>
        <p:style>
          <a:lnRef idx="1">
            <a:schemeClr val="accent3"/>
          </a:lnRef>
          <a:fillRef idx="2">
            <a:schemeClr val="accent3"/>
          </a:fillRef>
          <a:effectRef idx="1">
            <a:schemeClr val="accent3"/>
          </a:effectRef>
          <a:fontRef idx="minor">
            <a:schemeClr val="dk1"/>
          </a:fontRef>
        </p:style>
        <p:txBody>
          <a:bodyPr rtlCol="0" anchor="ctr"/>
          <a:lstStyle/>
          <a:p>
            <a:endParaRPr lang="zh-CN" altLang="en-US" dirty="0">
              <a:latin typeface="Microsoft YaHei UI" panose="020B0503020204020204" pitchFamily="34" charset="-122"/>
              <a:ea typeface="Microsoft YaHei UI" panose="020B0503020204020204" pitchFamily="34" charset="-122"/>
            </a:endParaRPr>
          </a:p>
        </p:txBody>
      </p:sp>
      <p:sp>
        <p:nvSpPr>
          <p:cNvPr id="12" name="矩形 11"/>
          <p:cNvSpPr/>
          <p:nvPr/>
        </p:nvSpPr>
        <p:spPr>
          <a:xfrm>
            <a:off x="3181052" y="2571062"/>
            <a:ext cx="4297661" cy="696930"/>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endParaRPr lang="zh-CN" altLang="en-US" dirty="0">
              <a:latin typeface="Microsoft YaHei UI" panose="020B0503020204020204" pitchFamily="34" charset="-122"/>
              <a:ea typeface="Microsoft YaHei UI" panose="020B0503020204020204" pitchFamily="34" charset="-122"/>
            </a:endParaRPr>
          </a:p>
        </p:txBody>
      </p:sp>
      <p:sp>
        <p:nvSpPr>
          <p:cNvPr id="5" name="矩形 4"/>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11" name="矩形 10"/>
          <p:cNvSpPr/>
          <p:nvPr/>
        </p:nvSpPr>
        <p:spPr>
          <a:xfrm>
            <a:off x="3181052" y="3556870"/>
            <a:ext cx="4297661" cy="676985"/>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endParaRPr lang="zh-CN" altLang="en-US" dirty="0">
              <a:latin typeface="Microsoft YaHei UI" panose="020B0503020204020204" pitchFamily="34" charset="-122"/>
              <a:ea typeface="Microsoft YaHei UI" panose="020B0503020204020204" pitchFamily="34" charset="-122"/>
            </a:endParaRPr>
          </a:p>
        </p:txBody>
      </p:sp>
      <p:sp>
        <p:nvSpPr>
          <p:cNvPr id="3" name="文本框 2"/>
          <p:cNvSpPr txBox="1"/>
          <p:nvPr/>
        </p:nvSpPr>
        <p:spPr>
          <a:xfrm>
            <a:off x="7816065" y="1722292"/>
            <a:ext cx="1629776" cy="523220"/>
          </a:xfrm>
          <a:prstGeom prst="rect">
            <a:avLst/>
          </a:prstGeom>
          <a:noFill/>
        </p:spPr>
        <p:txBody>
          <a:bodyPr wrap="square" rtlCol="0">
            <a:spAutoFit/>
          </a:bodyPr>
          <a:lstStyle/>
          <a:p>
            <a:r>
              <a:rPr lang="en-US" altLang="zh-CN" sz="2800" dirty="0">
                <a:latin typeface="微软雅黑" panose="020B0503020204020204" pitchFamily="34" charset="-122"/>
                <a:ea typeface="微软雅黑" panose="020B0503020204020204" pitchFamily="34" charset="-122"/>
              </a:rPr>
              <a:t>Class I</a:t>
            </a:r>
            <a:endParaRPr lang="zh-CN" altLang="en-US" sz="28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7816065" y="2591807"/>
            <a:ext cx="1727430" cy="523220"/>
          </a:xfrm>
          <a:prstGeom prst="rect">
            <a:avLst/>
          </a:prstGeom>
          <a:noFill/>
        </p:spPr>
        <p:txBody>
          <a:bodyPr wrap="square" rtlCol="0">
            <a:spAutoFit/>
          </a:bodyPr>
          <a:lstStyle/>
          <a:p>
            <a:r>
              <a:rPr lang="en-US" altLang="zh-CN" sz="2800" dirty="0">
                <a:latin typeface="微软雅黑" panose="020B0503020204020204" pitchFamily="34" charset="-122"/>
                <a:ea typeface="微软雅黑" panose="020B0503020204020204" pitchFamily="34" charset="-122"/>
              </a:rPr>
              <a:t>Class </a:t>
            </a:r>
            <a:r>
              <a:rPr lang="en-US" altLang="zh-CN" sz="2800" dirty="0" err="1">
                <a:latin typeface="微软雅黑" panose="020B0503020204020204" pitchFamily="34" charset="-122"/>
                <a:ea typeface="微软雅黑" panose="020B0503020204020204" pitchFamily="34" charset="-122"/>
              </a:rPr>
              <a:t>IIa</a:t>
            </a:r>
            <a:endParaRPr lang="zh-CN" altLang="en-US" sz="28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7816065" y="3658841"/>
            <a:ext cx="2215702" cy="523220"/>
          </a:xfrm>
          <a:prstGeom prst="rect">
            <a:avLst/>
          </a:prstGeom>
          <a:noFill/>
        </p:spPr>
        <p:txBody>
          <a:bodyPr wrap="square" rtlCol="0">
            <a:spAutoFit/>
          </a:bodyPr>
          <a:lstStyle/>
          <a:p>
            <a:r>
              <a:rPr lang="en-US" altLang="zh-CN" sz="2800" dirty="0">
                <a:latin typeface="微软雅黑" panose="020B0503020204020204" pitchFamily="34" charset="-122"/>
                <a:ea typeface="微软雅黑" panose="020B0503020204020204" pitchFamily="34" charset="-122"/>
              </a:rPr>
              <a:t>Class </a:t>
            </a:r>
            <a:r>
              <a:rPr lang="en-US" altLang="zh-CN" sz="2800" dirty="0" err="1">
                <a:latin typeface="微软雅黑" panose="020B0503020204020204" pitchFamily="34" charset="-122"/>
                <a:ea typeface="微软雅黑" panose="020B0503020204020204" pitchFamily="34" charset="-122"/>
              </a:rPr>
              <a:t>IIb</a:t>
            </a:r>
            <a:endParaRPr lang="zh-CN" altLang="en-US" sz="280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7816065" y="4643806"/>
            <a:ext cx="1860595" cy="523220"/>
          </a:xfrm>
          <a:prstGeom prst="rect">
            <a:avLst/>
          </a:prstGeom>
          <a:noFill/>
        </p:spPr>
        <p:txBody>
          <a:bodyPr wrap="square" rtlCol="0">
            <a:spAutoFit/>
          </a:bodyPr>
          <a:lstStyle/>
          <a:p>
            <a:r>
              <a:rPr lang="en-US" altLang="zh-CN" sz="2800" dirty="0">
                <a:latin typeface="微软雅黑" panose="020B0503020204020204" pitchFamily="34" charset="-122"/>
                <a:ea typeface="微软雅黑" panose="020B0503020204020204" pitchFamily="34" charset="-122"/>
              </a:rPr>
              <a:t>Class III</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135"/>
          <p:cNvGrpSpPr>
            <a:grpSpLocks noChangeAspect="1"/>
          </p:cNvGrpSpPr>
          <p:nvPr/>
        </p:nvGrpSpPr>
        <p:grpSpPr bwMode="auto">
          <a:xfrm>
            <a:off x="3250494" y="2447658"/>
            <a:ext cx="618180" cy="796969"/>
            <a:chOff x="764" y="3082"/>
            <a:chExt cx="612" cy="789"/>
          </a:xfrm>
          <a:solidFill>
            <a:srgbClr val="830051"/>
          </a:solidFill>
        </p:grpSpPr>
        <p:sp>
          <p:nvSpPr>
            <p:cNvPr id="6" name="Freeform 136"/>
            <p:cNvSpPr>
              <a:spLocks noEditPoints="1"/>
            </p:cNvSpPr>
            <p:nvPr/>
          </p:nvSpPr>
          <p:spPr bwMode="auto">
            <a:xfrm>
              <a:off x="889" y="3358"/>
              <a:ext cx="359" cy="364"/>
            </a:xfrm>
            <a:custGeom>
              <a:avLst/>
              <a:gdLst>
                <a:gd name="T0" fmla="*/ 97 w 152"/>
                <a:gd name="T1" fmla="*/ 144 h 154"/>
                <a:gd name="T2" fmla="*/ 142 w 152"/>
                <a:gd name="T3" fmla="*/ 144 h 154"/>
                <a:gd name="T4" fmla="*/ 142 w 152"/>
                <a:gd name="T5" fmla="*/ 99 h 154"/>
                <a:gd name="T6" fmla="*/ 97 w 152"/>
                <a:gd name="T7" fmla="*/ 99 h 154"/>
                <a:gd name="T8" fmla="*/ 97 w 152"/>
                <a:gd name="T9" fmla="*/ 144 h 154"/>
                <a:gd name="T10" fmla="*/ 5 w 152"/>
                <a:gd name="T11" fmla="*/ 28 h 154"/>
                <a:gd name="T12" fmla="*/ 5 w 152"/>
                <a:gd name="T13" fmla="*/ 17 h 154"/>
                <a:gd name="T14" fmla="*/ 16 w 152"/>
                <a:gd name="T15" fmla="*/ 18 h 154"/>
                <a:gd name="T16" fmla="*/ 31 w 152"/>
                <a:gd name="T17" fmla="*/ 34 h 154"/>
                <a:gd name="T18" fmla="*/ 57 w 152"/>
                <a:gd name="T19" fmla="*/ 4 h 154"/>
                <a:gd name="T20" fmla="*/ 69 w 152"/>
                <a:gd name="T21" fmla="*/ 3 h 154"/>
                <a:gd name="T22" fmla="*/ 69 w 152"/>
                <a:gd name="T23" fmla="*/ 14 h 154"/>
                <a:gd name="T24" fmla="*/ 36 w 152"/>
                <a:gd name="T25" fmla="*/ 51 h 154"/>
                <a:gd name="T26" fmla="*/ 25 w 152"/>
                <a:gd name="T27" fmla="*/ 51 h 154"/>
                <a:gd name="T28" fmla="*/ 5 w 152"/>
                <a:gd name="T29" fmla="*/ 28 h 154"/>
                <a:gd name="T30" fmla="*/ 97 w 152"/>
                <a:gd name="T31" fmla="*/ 13 h 154"/>
                <a:gd name="T32" fmla="*/ 97 w 152"/>
                <a:gd name="T33" fmla="*/ 57 h 154"/>
                <a:gd name="T34" fmla="*/ 142 w 152"/>
                <a:gd name="T35" fmla="*/ 57 h 154"/>
                <a:gd name="T36" fmla="*/ 142 w 152"/>
                <a:gd name="T37" fmla="*/ 13 h 154"/>
                <a:gd name="T38" fmla="*/ 97 w 152"/>
                <a:gd name="T39" fmla="*/ 13 h 154"/>
                <a:gd name="T40" fmla="*/ 87 w 152"/>
                <a:gd name="T41" fmla="*/ 62 h 154"/>
                <a:gd name="T42" fmla="*/ 87 w 152"/>
                <a:gd name="T43" fmla="*/ 2 h 154"/>
                <a:gd name="T44" fmla="*/ 152 w 152"/>
                <a:gd name="T45" fmla="*/ 2 h 154"/>
                <a:gd name="T46" fmla="*/ 152 w 152"/>
                <a:gd name="T47" fmla="*/ 68 h 154"/>
                <a:gd name="T48" fmla="*/ 87 w 152"/>
                <a:gd name="T49" fmla="*/ 68 h 154"/>
                <a:gd name="T50" fmla="*/ 87 w 152"/>
                <a:gd name="T51" fmla="*/ 62 h 154"/>
                <a:gd name="T52" fmla="*/ 11 w 152"/>
                <a:gd name="T53" fmla="*/ 144 h 154"/>
                <a:gd name="T54" fmla="*/ 55 w 152"/>
                <a:gd name="T55" fmla="*/ 144 h 154"/>
                <a:gd name="T56" fmla="*/ 55 w 152"/>
                <a:gd name="T57" fmla="*/ 99 h 154"/>
                <a:gd name="T58" fmla="*/ 11 w 152"/>
                <a:gd name="T59" fmla="*/ 99 h 154"/>
                <a:gd name="T60" fmla="*/ 11 w 152"/>
                <a:gd name="T61" fmla="*/ 144 h 154"/>
                <a:gd name="T62" fmla="*/ 61 w 152"/>
                <a:gd name="T63" fmla="*/ 154 h 154"/>
                <a:gd name="T64" fmla="*/ 0 w 152"/>
                <a:gd name="T65" fmla="*/ 154 h 154"/>
                <a:gd name="T66" fmla="*/ 0 w 152"/>
                <a:gd name="T67" fmla="*/ 89 h 154"/>
                <a:gd name="T68" fmla="*/ 66 w 152"/>
                <a:gd name="T69" fmla="*/ 89 h 154"/>
                <a:gd name="T70" fmla="*/ 66 w 152"/>
                <a:gd name="T71" fmla="*/ 154 h 154"/>
                <a:gd name="T72" fmla="*/ 61 w 152"/>
                <a:gd name="T73" fmla="*/ 154 h 154"/>
                <a:gd name="T74" fmla="*/ 147 w 152"/>
                <a:gd name="T75" fmla="*/ 154 h 154"/>
                <a:gd name="T76" fmla="*/ 87 w 152"/>
                <a:gd name="T77" fmla="*/ 154 h 154"/>
                <a:gd name="T78" fmla="*/ 87 w 152"/>
                <a:gd name="T79" fmla="*/ 89 h 154"/>
                <a:gd name="T80" fmla="*/ 152 w 152"/>
                <a:gd name="T81" fmla="*/ 89 h 154"/>
                <a:gd name="T82" fmla="*/ 152 w 152"/>
                <a:gd name="T83" fmla="*/ 154 h 154"/>
                <a:gd name="T84" fmla="*/ 147 w 152"/>
                <a:gd name="T8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2" h="154">
                  <a:moveTo>
                    <a:pt x="97" y="144"/>
                  </a:moveTo>
                  <a:cubicBezTo>
                    <a:pt x="142" y="144"/>
                    <a:pt x="142" y="144"/>
                    <a:pt x="142" y="144"/>
                  </a:cubicBezTo>
                  <a:cubicBezTo>
                    <a:pt x="142" y="99"/>
                    <a:pt x="142" y="99"/>
                    <a:pt x="142" y="99"/>
                  </a:cubicBezTo>
                  <a:cubicBezTo>
                    <a:pt x="97" y="99"/>
                    <a:pt x="97" y="99"/>
                    <a:pt x="97" y="99"/>
                  </a:cubicBezTo>
                  <a:cubicBezTo>
                    <a:pt x="97" y="144"/>
                    <a:pt x="97" y="144"/>
                    <a:pt x="97" y="144"/>
                  </a:cubicBezTo>
                  <a:close/>
                  <a:moveTo>
                    <a:pt x="5" y="28"/>
                  </a:moveTo>
                  <a:cubicBezTo>
                    <a:pt x="2" y="25"/>
                    <a:pt x="2" y="20"/>
                    <a:pt x="5" y="17"/>
                  </a:cubicBezTo>
                  <a:cubicBezTo>
                    <a:pt x="9" y="14"/>
                    <a:pt x="14" y="15"/>
                    <a:pt x="16" y="18"/>
                  </a:cubicBezTo>
                  <a:cubicBezTo>
                    <a:pt x="31" y="34"/>
                    <a:pt x="31" y="34"/>
                    <a:pt x="31" y="34"/>
                  </a:cubicBezTo>
                  <a:cubicBezTo>
                    <a:pt x="57" y="4"/>
                    <a:pt x="57" y="4"/>
                    <a:pt x="57" y="4"/>
                  </a:cubicBezTo>
                  <a:cubicBezTo>
                    <a:pt x="60" y="1"/>
                    <a:pt x="65" y="0"/>
                    <a:pt x="69" y="3"/>
                  </a:cubicBezTo>
                  <a:cubicBezTo>
                    <a:pt x="72" y="6"/>
                    <a:pt x="72" y="11"/>
                    <a:pt x="69" y="14"/>
                  </a:cubicBezTo>
                  <a:cubicBezTo>
                    <a:pt x="36" y="51"/>
                    <a:pt x="36" y="51"/>
                    <a:pt x="36" y="51"/>
                  </a:cubicBezTo>
                  <a:cubicBezTo>
                    <a:pt x="33" y="54"/>
                    <a:pt x="28" y="54"/>
                    <a:pt x="25" y="51"/>
                  </a:cubicBezTo>
                  <a:cubicBezTo>
                    <a:pt x="5" y="28"/>
                    <a:pt x="5" y="28"/>
                    <a:pt x="5" y="28"/>
                  </a:cubicBezTo>
                  <a:close/>
                  <a:moveTo>
                    <a:pt x="97" y="13"/>
                  </a:moveTo>
                  <a:cubicBezTo>
                    <a:pt x="97" y="57"/>
                    <a:pt x="97" y="57"/>
                    <a:pt x="97" y="57"/>
                  </a:cubicBezTo>
                  <a:cubicBezTo>
                    <a:pt x="142" y="57"/>
                    <a:pt x="142" y="57"/>
                    <a:pt x="142" y="57"/>
                  </a:cubicBezTo>
                  <a:cubicBezTo>
                    <a:pt x="142" y="13"/>
                    <a:pt x="142" y="13"/>
                    <a:pt x="142" y="13"/>
                  </a:cubicBezTo>
                  <a:cubicBezTo>
                    <a:pt x="97" y="13"/>
                    <a:pt x="97" y="13"/>
                    <a:pt x="97" y="13"/>
                  </a:cubicBezTo>
                  <a:close/>
                  <a:moveTo>
                    <a:pt x="87" y="62"/>
                  </a:moveTo>
                  <a:cubicBezTo>
                    <a:pt x="87" y="2"/>
                    <a:pt x="87" y="2"/>
                    <a:pt x="87" y="2"/>
                  </a:cubicBezTo>
                  <a:cubicBezTo>
                    <a:pt x="109" y="2"/>
                    <a:pt x="130" y="2"/>
                    <a:pt x="152" y="2"/>
                  </a:cubicBezTo>
                  <a:cubicBezTo>
                    <a:pt x="152" y="68"/>
                    <a:pt x="152" y="68"/>
                    <a:pt x="152" y="68"/>
                  </a:cubicBezTo>
                  <a:cubicBezTo>
                    <a:pt x="87" y="68"/>
                    <a:pt x="87" y="68"/>
                    <a:pt x="87" y="68"/>
                  </a:cubicBezTo>
                  <a:cubicBezTo>
                    <a:pt x="87" y="62"/>
                    <a:pt x="87" y="62"/>
                    <a:pt x="87" y="62"/>
                  </a:cubicBezTo>
                  <a:close/>
                  <a:moveTo>
                    <a:pt x="11" y="144"/>
                  </a:moveTo>
                  <a:cubicBezTo>
                    <a:pt x="55" y="144"/>
                    <a:pt x="55" y="144"/>
                    <a:pt x="55" y="144"/>
                  </a:cubicBezTo>
                  <a:cubicBezTo>
                    <a:pt x="55" y="99"/>
                    <a:pt x="55" y="99"/>
                    <a:pt x="55" y="99"/>
                  </a:cubicBezTo>
                  <a:cubicBezTo>
                    <a:pt x="11" y="99"/>
                    <a:pt x="11" y="99"/>
                    <a:pt x="11" y="99"/>
                  </a:cubicBezTo>
                  <a:cubicBezTo>
                    <a:pt x="11" y="144"/>
                    <a:pt x="11" y="144"/>
                    <a:pt x="11" y="144"/>
                  </a:cubicBezTo>
                  <a:close/>
                  <a:moveTo>
                    <a:pt x="61" y="154"/>
                  </a:moveTo>
                  <a:cubicBezTo>
                    <a:pt x="41" y="154"/>
                    <a:pt x="20" y="154"/>
                    <a:pt x="0" y="154"/>
                  </a:cubicBezTo>
                  <a:cubicBezTo>
                    <a:pt x="0" y="89"/>
                    <a:pt x="0" y="89"/>
                    <a:pt x="0" y="89"/>
                  </a:cubicBezTo>
                  <a:cubicBezTo>
                    <a:pt x="22" y="89"/>
                    <a:pt x="44" y="89"/>
                    <a:pt x="66" y="89"/>
                  </a:cubicBezTo>
                  <a:cubicBezTo>
                    <a:pt x="66" y="154"/>
                    <a:pt x="66" y="154"/>
                    <a:pt x="66" y="154"/>
                  </a:cubicBezTo>
                  <a:cubicBezTo>
                    <a:pt x="61" y="154"/>
                    <a:pt x="61" y="154"/>
                    <a:pt x="61" y="154"/>
                  </a:cubicBezTo>
                  <a:close/>
                  <a:moveTo>
                    <a:pt x="147" y="154"/>
                  </a:moveTo>
                  <a:cubicBezTo>
                    <a:pt x="87" y="154"/>
                    <a:pt x="87" y="154"/>
                    <a:pt x="87" y="154"/>
                  </a:cubicBezTo>
                  <a:cubicBezTo>
                    <a:pt x="87" y="89"/>
                    <a:pt x="87" y="89"/>
                    <a:pt x="87" y="89"/>
                  </a:cubicBezTo>
                  <a:cubicBezTo>
                    <a:pt x="109" y="89"/>
                    <a:pt x="130" y="89"/>
                    <a:pt x="152" y="89"/>
                  </a:cubicBezTo>
                  <a:cubicBezTo>
                    <a:pt x="152" y="154"/>
                    <a:pt x="152" y="154"/>
                    <a:pt x="152" y="154"/>
                  </a:cubicBezTo>
                  <a:cubicBezTo>
                    <a:pt x="147" y="154"/>
                    <a:pt x="147" y="154"/>
                    <a:pt x="147" y="154"/>
                  </a:cubicBezTo>
                  <a:close/>
                </a:path>
              </a:pathLst>
            </a:custGeom>
            <a:grpFill/>
            <a:ln w="9525">
              <a:solidFill>
                <a:srgbClr val="830051"/>
              </a:solidFill>
              <a:round/>
            </a:ln>
          </p:spPr>
          <p:txBody>
            <a:bodyPr vert="horz" wrap="square" lIns="91440" tIns="45720" rIns="91440" bIns="45720" numCol="1" anchor="t" anchorCtr="0" compatLnSpc="1"/>
            <a:lstStyle/>
            <a:p>
              <a:endParaRPr lang="zh-CN" altLang="en-US"/>
            </a:p>
          </p:txBody>
        </p:sp>
        <p:sp>
          <p:nvSpPr>
            <p:cNvPr id="7" name="Freeform 137"/>
            <p:cNvSpPr>
              <a:spLocks noEditPoints="1"/>
            </p:cNvSpPr>
            <p:nvPr/>
          </p:nvSpPr>
          <p:spPr bwMode="auto">
            <a:xfrm>
              <a:off x="764" y="3082"/>
              <a:ext cx="612" cy="789"/>
            </a:xfrm>
            <a:custGeom>
              <a:avLst/>
              <a:gdLst>
                <a:gd name="T0" fmla="*/ 26 w 259"/>
                <a:gd name="T1" fmla="*/ 36 h 334"/>
                <a:gd name="T2" fmla="*/ 60 w 259"/>
                <a:gd name="T3" fmla="*/ 36 h 334"/>
                <a:gd name="T4" fmla="*/ 60 w 259"/>
                <a:gd name="T5" fmla="*/ 52 h 334"/>
                <a:gd name="T6" fmla="*/ 26 w 259"/>
                <a:gd name="T7" fmla="*/ 52 h 334"/>
                <a:gd name="T8" fmla="*/ 19 w 259"/>
                <a:gd name="T9" fmla="*/ 55 h 334"/>
                <a:gd name="T10" fmla="*/ 16 w 259"/>
                <a:gd name="T11" fmla="*/ 62 h 334"/>
                <a:gd name="T12" fmla="*/ 16 w 259"/>
                <a:gd name="T13" fmla="*/ 308 h 334"/>
                <a:gd name="T14" fmla="*/ 26 w 259"/>
                <a:gd name="T15" fmla="*/ 318 h 334"/>
                <a:gd name="T16" fmla="*/ 233 w 259"/>
                <a:gd name="T17" fmla="*/ 318 h 334"/>
                <a:gd name="T18" fmla="*/ 243 w 259"/>
                <a:gd name="T19" fmla="*/ 308 h 334"/>
                <a:gd name="T20" fmla="*/ 243 w 259"/>
                <a:gd name="T21" fmla="*/ 62 h 334"/>
                <a:gd name="T22" fmla="*/ 240 w 259"/>
                <a:gd name="T23" fmla="*/ 55 h 334"/>
                <a:gd name="T24" fmla="*/ 233 w 259"/>
                <a:gd name="T25" fmla="*/ 52 h 334"/>
                <a:gd name="T26" fmla="*/ 199 w 259"/>
                <a:gd name="T27" fmla="*/ 52 h 334"/>
                <a:gd name="T28" fmla="*/ 199 w 259"/>
                <a:gd name="T29" fmla="*/ 36 h 334"/>
                <a:gd name="T30" fmla="*/ 233 w 259"/>
                <a:gd name="T31" fmla="*/ 36 h 334"/>
                <a:gd name="T32" fmla="*/ 251 w 259"/>
                <a:gd name="T33" fmla="*/ 44 h 334"/>
                <a:gd name="T34" fmla="*/ 259 w 259"/>
                <a:gd name="T35" fmla="*/ 62 h 334"/>
                <a:gd name="T36" fmla="*/ 259 w 259"/>
                <a:gd name="T37" fmla="*/ 308 h 334"/>
                <a:gd name="T38" fmla="*/ 233 w 259"/>
                <a:gd name="T39" fmla="*/ 334 h 334"/>
                <a:gd name="T40" fmla="*/ 26 w 259"/>
                <a:gd name="T41" fmla="*/ 334 h 334"/>
                <a:gd name="T42" fmla="*/ 0 w 259"/>
                <a:gd name="T43" fmla="*/ 308 h 334"/>
                <a:gd name="T44" fmla="*/ 0 w 259"/>
                <a:gd name="T45" fmla="*/ 62 h 334"/>
                <a:gd name="T46" fmla="*/ 7 w 259"/>
                <a:gd name="T47" fmla="*/ 44 h 334"/>
                <a:gd name="T48" fmla="*/ 26 w 259"/>
                <a:gd name="T49" fmla="*/ 36 h 334"/>
                <a:gd name="T50" fmla="*/ 129 w 259"/>
                <a:gd name="T51" fmla="*/ 0 h 334"/>
                <a:gd name="T52" fmla="*/ 149 w 259"/>
                <a:gd name="T53" fmla="*/ 5 h 334"/>
                <a:gd name="T54" fmla="*/ 157 w 259"/>
                <a:gd name="T55" fmla="*/ 25 h 334"/>
                <a:gd name="T56" fmla="*/ 157 w 259"/>
                <a:gd name="T57" fmla="*/ 25 h 334"/>
                <a:gd name="T58" fmla="*/ 188 w 259"/>
                <a:gd name="T59" fmla="*/ 25 h 334"/>
                <a:gd name="T60" fmla="*/ 188 w 259"/>
                <a:gd name="T61" fmla="*/ 64 h 334"/>
                <a:gd name="T62" fmla="*/ 71 w 259"/>
                <a:gd name="T63" fmla="*/ 64 h 334"/>
                <a:gd name="T64" fmla="*/ 71 w 259"/>
                <a:gd name="T65" fmla="*/ 25 h 334"/>
                <a:gd name="T66" fmla="*/ 102 w 259"/>
                <a:gd name="T67" fmla="*/ 25 h 334"/>
                <a:gd name="T68" fmla="*/ 102 w 259"/>
                <a:gd name="T69" fmla="*/ 25 h 334"/>
                <a:gd name="T70" fmla="*/ 110 w 259"/>
                <a:gd name="T71" fmla="*/ 5 h 334"/>
                <a:gd name="T72" fmla="*/ 129 w 259"/>
                <a:gd name="T73" fmla="*/ 0 h 334"/>
                <a:gd name="T74" fmla="*/ 138 w 259"/>
                <a:gd name="T75" fmla="*/ 16 h 334"/>
                <a:gd name="T76" fmla="*/ 129 w 259"/>
                <a:gd name="T77" fmla="*/ 13 h 334"/>
                <a:gd name="T78" fmla="*/ 121 w 259"/>
                <a:gd name="T79" fmla="*/ 16 h 334"/>
                <a:gd name="T80" fmla="*/ 118 w 259"/>
                <a:gd name="T81" fmla="*/ 25 h 334"/>
                <a:gd name="T82" fmla="*/ 121 w 259"/>
                <a:gd name="T83" fmla="*/ 33 h 334"/>
                <a:gd name="T84" fmla="*/ 129 w 259"/>
                <a:gd name="T85" fmla="*/ 36 h 334"/>
                <a:gd name="T86" fmla="*/ 130 w 259"/>
                <a:gd name="T87" fmla="*/ 36 h 334"/>
                <a:gd name="T88" fmla="*/ 138 w 259"/>
                <a:gd name="T89" fmla="*/ 33 h 334"/>
                <a:gd name="T90" fmla="*/ 141 w 259"/>
                <a:gd name="T91" fmla="*/ 25 h 334"/>
                <a:gd name="T92" fmla="*/ 138 w 259"/>
                <a:gd name="T93" fmla="*/ 16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9" h="334">
                  <a:moveTo>
                    <a:pt x="26" y="36"/>
                  </a:moveTo>
                  <a:cubicBezTo>
                    <a:pt x="60" y="36"/>
                    <a:pt x="60" y="36"/>
                    <a:pt x="60" y="36"/>
                  </a:cubicBezTo>
                  <a:cubicBezTo>
                    <a:pt x="60" y="52"/>
                    <a:pt x="60" y="52"/>
                    <a:pt x="60" y="52"/>
                  </a:cubicBezTo>
                  <a:cubicBezTo>
                    <a:pt x="26" y="52"/>
                    <a:pt x="26" y="52"/>
                    <a:pt x="26" y="52"/>
                  </a:cubicBezTo>
                  <a:cubicBezTo>
                    <a:pt x="23" y="52"/>
                    <a:pt x="21" y="53"/>
                    <a:pt x="19" y="55"/>
                  </a:cubicBezTo>
                  <a:cubicBezTo>
                    <a:pt x="17" y="57"/>
                    <a:pt x="16" y="59"/>
                    <a:pt x="16" y="62"/>
                  </a:cubicBezTo>
                  <a:cubicBezTo>
                    <a:pt x="16" y="308"/>
                    <a:pt x="16" y="308"/>
                    <a:pt x="16" y="308"/>
                  </a:cubicBezTo>
                  <a:cubicBezTo>
                    <a:pt x="16" y="314"/>
                    <a:pt x="20" y="318"/>
                    <a:pt x="26" y="318"/>
                  </a:cubicBezTo>
                  <a:cubicBezTo>
                    <a:pt x="233" y="318"/>
                    <a:pt x="233" y="318"/>
                    <a:pt x="233" y="318"/>
                  </a:cubicBezTo>
                  <a:cubicBezTo>
                    <a:pt x="239" y="318"/>
                    <a:pt x="243" y="314"/>
                    <a:pt x="243" y="308"/>
                  </a:cubicBezTo>
                  <a:cubicBezTo>
                    <a:pt x="243" y="62"/>
                    <a:pt x="243" y="62"/>
                    <a:pt x="243" y="62"/>
                  </a:cubicBezTo>
                  <a:cubicBezTo>
                    <a:pt x="243" y="59"/>
                    <a:pt x="242" y="57"/>
                    <a:pt x="240" y="55"/>
                  </a:cubicBezTo>
                  <a:cubicBezTo>
                    <a:pt x="238" y="53"/>
                    <a:pt x="236" y="52"/>
                    <a:pt x="233" y="52"/>
                  </a:cubicBezTo>
                  <a:cubicBezTo>
                    <a:pt x="199" y="52"/>
                    <a:pt x="199" y="52"/>
                    <a:pt x="199" y="52"/>
                  </a:cubicBezTo>
                  <a:cubicBezTo>
                    <a:pt x="199" y="36"/>
                    <a:pt x="199" y="36"/>
                    <a:pt x="199" y="36"/>
                  </a:cubicBezTo>
                  <a:cubicBezTo>
                    <a:pt x="233" y="36"/>
                    <a:pt x="233" y="36"/>
                    <a:pt x="233" y="36"/>
                  </a:cubicBezTo>
                  <a:cubicBezTo>
                    <a:pt x="240" y="36"/>
                    <a:pt x="246" y="39"/>
                    <a:pt x="251" y="44"/>
                  </a:cubicBezTo>
                  <a:cubicBezTo>
                    <a:pt x="256" y="49"/>
                    <a:pt x="259" y="55"/>
                    <a:pt x="259" y="62"/>
                  </a:cubicBezTo>
                  <a:cubicBezTo>
                    <a:pt x="259" y="308"/>
                    <a:pt x="259" y="308"/>
                    <a:pt x="259" y="308"/>
                  </a:cubicBezTo>
                  <a:cubicBezTo>
                    <a:pt x="259" y="322"/>
                    <a:pt x="247" y="334"/>
                    <a:pt x="233" y="334"/>
                  </a:cubicBezTo>
                  <a:cubicBezTo>
                    <a:pt x="26" y="334"/>
                    <a:pt x="26" y="334"/>
                    <a:pt x="26" y="334"/>
                  </a:cubicBezTo>
                  <a:cubicBezTo>
                    <a:pt x="12" y="334"/>
                    <a:pt x="0" y="322"/>
                    <a:pt x="0" y="308"/>
                  </a:cubicBezTo>
                  <a:cubicBezTo>
                    <a:pt x="0" y="62"/>
                    <a:pt x="0" y="62"/>
                    <a:pt x="0" y="62"/>
                  </a:cubicBezTo>
                  <a:cubicBezTo>
                    <a:pt x="0" y="55"/>
                    <a:pt x="3" y="49"/>
                    <a:pt x="7" y="44"/>
                  </a:cubicBezTo>
                  <a:cubicBezTo>
                    <a:pt x="12" y="39"/>
                    <a:pt x="19" y="36"/>
                    <a:pt x="26" y="36"/>
                  </a:cubicBezTo>
                  <a:close/>
                  <a:moveTo>
                    <a:pt x="129" y="0"/>
                  </a:moveTo>
                  <a:cubicBezTo>
                    <a:pt x="137" y="0"/>
                    <a:pt x="144" y="0"/>
                    <a:pt x="149" y="5"/>
                  </a:cubicBezTo>
                  <a:cubicBezTo>
                    <a:pt x="154" y="10"/>
                    <a:pt x="157" y="17"/>
                    <a:pt x="157" y="25"/>
                  </a:cubicBezTo>
                  <a:cubicBezTo>
                    <a:pt x="157" y="25"/>
                    <a:pt x="157" y="25"/>
                    <a:pt x="157" y="25"/>
                  </a:cubicBezTo>
                  <a:cubicBezTo>
                    <a:pt x="188" y="25"/>
                    <a:pt x="188" y="25"/>
                    <a:pt x="188" y="25"/>
                  </a:cubicBezTo>
                  <a:cubicBezTo>
                    <a:pt x="188" y="64"/>
                    <a:pt x="188" y="64"/>
                    <a:pt x="188" y="64"/>
                  </a:cubicBezTo>
                  <a:cubicBezTo>
                    <a:pt x="71" y="64"/>
                    <a:pt x="71" y="64"/>
                    <a:pt x="71" y="64"/>
                  </a:cubicBezTo>
                  <a:cubicBezTo>
                    <a:pt x="71" y="25"/>
                    <a:pt x="71" y="25"/>
                    <a:pt x="71" y="25"/>
                  </a:cubicBezTo>
                  <a:cubicBezTo>
                    <a:pt x="102" y="25"/>
                    <a:pt x="102" y="25"/>
                    <a:pt x="102" y="25"/>
                  </a:cubicBezTo>
                  <a:cubicBezTo>
                    <a:pt x="102" y="25"/>
                    <a:pt x="102" y="25"/>
                    <a:pt x="102" y="25"/>
                  </a:cubicBezTo>
                  <a:cubicBezTo>
                    <a:pt x="102" y="17"/>
                    <a:pt x="105" y="10"/>
                    <a:pt x="110" y="5"/>
                  </a:cubicBezTo>
                  <a:cubicBezTo>
                    <a:pt x="115" y="0"/>
                    <a:pt x="122" y="0"/>
                    <a:pt x="129" y="0"/>
                  </a:cubicBezTo>
                  <a:close/>
                  <a:moveTo>
                    <a:pt x="138" y="16"/>
                  </a:moveTo>
                  <a:cubicBezTo>
                    <a:pt x="136" y="14"/>
                    <a:pt x="133" y="13"/>
                    <a:pt x="129" y="13"/>
                  </a:cubicBezTo>
                  <a:cubicBezTo>
                    <a:pt x="126" y="13"/>
                    <a:pt x="123" y="14"/>
                    <a:pt x="121" y="16"/>
                  </a:cubicBezTo>
                  <a:cubicBezTo>
                    <a:pt x="119" y="18"/>
                    <a:pt x="118" y="21"/>
                    <a:pt x="118" y="25"/>
                  </a:cubicBezTo>
                  <a:cubicBezTo>
                    <a:pt x="118" y="28"/>
                    <a:pt x="119" y="31"/>
                    <a:pt x="121" y="33"/>
                  </a:cubicBezTo>
                  <a:cubicBezTo>
                    <a:pt x="123" y="35"/>
                    <a:pt x="126" y="36"/>
                    <a:pt x="129" y="36"/>
                  </a:cubicBezTo>
                  <a:cubicBezTo>
                    <a:pt x="130" y="36"/>
                    <a:pt x="130" y="36"/>
                    <a:pt x="130" y="36"/>
                  </a:cubicBezTo>
                  <a:cubicBezTo>
                    <a:pt x="133" y="36"/>
                    <a:pt x="136" y="35"/>
                    <a:pt x="138" y="33"/>
                  </a:cubicBezTo>
                  <a:cubicBezTo>
                    <a:pt x="140" y="31"/>
                    <a:pt x="141" y="28"/>
                    <a:pt x="141" y="25"/>
                  </a:cubicBezTo>
                  <a:cubicBezTo>
                    <a:pt x="141" y="21"/>
                    <a:pt x="140" y="18"/>
                    <a:pt x="138" y="16"/>
                  </a:cubicBezTo>
                  <a:close/>
                </a:path>
              </a:pathLst>
            </a:custGeom>
            <a:grpFill/>
            <a:ln w="9525">
              <a:solidFill>
                <a:srgbClr val="830051"/>
              </a:solidFill>
              <a:round/>
            </a:ln>
          </p:spPr>
          <p:txBody>
            <a:bodyPr vert="horz" wrap="square" lIns="91440" tIns="45720" rIns="91440" bIns="45720" numCol="1" anchor="t" anchorCtr="0" compatLnSpc="1"/>
            <a:lstStyle/>
            <a:p>
              <a:endParaRPr lang="zh-CN" altLang="en-US"/>
            </a:p>
          </p:txBody>
        </p:sp>
      </p:grpSp>
      <p:grpSp>
        <p:nvGrpSpPr>
          <p:cNvPr id="8" name="Group 141"/>
          <p:cNvGrpSpPr>
            <a:grpSpLocks noChangeAspect="1"/>
          </p:cNvGrpSpPr>
          <p:nvPr/>
        </p:nvGrpSpPr>
        <p:grpSpPr bwMode="auto">
          <a:xfrm>
            <a:off x="7279958" y="2617617"/>
            <a:ext cx="715026" cy="607165"/>
            <a:chOff x="-264" y="1985"/>
            <a:chExt cx="590" cy="501"/>
          </a:xfrm>
          <a:solidFill>
            <a:schemeClr val="bg1">
              <a:lumMod val="65000"/>
            </a:schemeClr>
          </a:solidFill>
        </p:grpSpPr>
        <p:sp>
          <p:nvSpPr>
            <p:cNvPr id="9" name="Freeform 142"/>
            <p:cNvSpPr>
              <a:spLocks noEditPoints="1"/>
            </p:cNvSpPr>
            <p:nvPr/>
          </p:nvSpPr>
          <p:spPr bwMode="auto">
            <a:xfrm>
              <a:off x="-161" y="2283"/>
              <a:ext cx="317" cy="127"/>
            </a:xfrm>
            <a:custGeom>
              <a:avLst/>
              <a:gdLst>
                <a:gd name="T0" fmla="*/ 0 w 317"/>
                <a:gd name="T1" fmla="*/ 127 h 127"/>
                <a:gd name="T2" fmla="*/ 317 w 317"/>
                <a:gd name="T3" fmla="*/ 0 h 127"/>
                <a:gd name="T4" fmla="*/ 55 w 317"/>
                <a:gd name="T5" fmla="*/ 90 h 127"/>
                <a:gd name="T6" fmla="*/ 33 w 317"/>
                <a:gd name="T7" fmla="*/ 68 h 127"/>
                <a:gd name="T8" fmla="*/ 55 w 317"/>
                <a:gd name="T9" fmla="*/ 90 h 127"/>
                <a:gd name="T10" fmla="*/ 33 w 317"/>
                <a:gd name="T11" fmla="*/ 49 h 127"/>
                <a:gd name="T12" fmla="*/ 55 w 317"/>
                <a:gd name="T13" fmla="*/ 28 h 127"/>
                <a:gd name="T14" fmla="*/ 92 w 317"/>
                <a:gd name="T15" fmla="*/ 90 h 127"/>
                <a:gd name="T16" fmla="*/ 71 w 317"/>
                <a:gd name="T17" fmla="*/ 68 h 127"/>
                <a:gd name="T18" fmla="*/ 92 w 317"/>
                <a:gd name="T19" fmla="*/ 90 h 127"/>
                <a:gd name="T20" fmla="*/ 71 w 317"/>
                <a:gd name="T21" fmla="*/ 49 h 127"/>
                <a:gd name="T22" fmla="*/ 92 w 317"/>
                <a:gd name="T23" fmla="*/ 28 h 127"/>
                <a:gd name="T24" fmla="*/ 133 w 317"/>
                <a:gd name="T25" fmla="*/ 90 h 127"/>
                <a:gd name="T26" fmla="*/ 111 w 317"/>
                <a:gd name="T27" fmla="*/ 68 h 127"/>
                <a:gd name="T28" fmla="*/ 133 w 317"/>
                <a:gd name="T29" fmla="*/ 90 h 127"/>
                <a:gd name="T30" fmla="*/ 111 w 317"/>
                <a:gd name="T31" fmla="*/ 49 h 127"/>
                <a:gd name="T32" fmla="*/ 133 w 317"/>
                <a:gd name="T33" fmla="*/ 28 h 127"/>
                <a:gd name="T34" fmla="*/ 170 w 317"/>
                <a:gd name="T35" fmla="*/ 90 h 127"/>
                <a:gd name="T36" fmla="*/ 152 w 317"/>
                <a:gd name="T37" fmla="*/ 68 h 127"/>
                <a:gd name="T38" fmla="*/ 170 w 317"/>
                <a:gd name="T39" fmla="*/ 90 h 127"/>
                <a:gd name="T40" fmla="*/ 152 w 317"/>
                <a:gd name="T41" fmla="*/ 49 h 127"/>
                <a:gd name="T42" fmla="*/ 170 w 317"/>
                <a:gd name="T43" fmla="*/ 28 h 127"/>
                <a:gd name="T44" fmla="*/ 211 w 317"/>
                <a:gd name="T45" fmla="*/ 90 h 127"/>
                <a:gd name="T46" fmla="*/ 189 w 317"/>
                <a:gd name="T47" fmla="*/ 68 h 127"/>
                <a:gd name="T48" fmla="*/ 211 w 317"/>
                <a:gd name="T49" fmla="*/ 90 h 127"/>
                <a:gd name="T50" fmla="*/ 189 w 317"/>
                <a:gd name="T51" fmla="*/ 49 h 127"/>
                <a:gd name="T52" fmla="*/ 211 w 317"/>
                <a:gd name="T53" fmla="*/ 28 h 127"/>
                <a:gd name="T54" fmla="*/ 251 w 317"/>
                <a:gd name="T55" fmla="*/ 90 h 127"/>
                <a:gd name="T56" fmla="*/ 229 w 317"/>
                <a:gd name="T57" fmla="*/ 68 h 127"/>
                <a:gd name="T58" fmla="*/ 251 w 317"/>
                <a:gd name="T59" fmla="*/ 90 h 127"/>
                <a:gd name="T60" fmla="*/ 229 w 317"/>
                <a:gd name="T61" fmla="*/ 49 h 127"/>
                <a:gd name="T62" fmla="*/ 251 w 317"/>
                <a:gd name="T63" fmla="*/ 28 h 127"/>
                <a:gd name="T64" fmla="*/ 288 w 317"/>
                <a:gd name="T65" fmla="*/ 90 h 127"/>
                <a:gd name="T66" fmla="*/ 267 w 317"/>
                <a:gd name="T67" fmla="*/ 68 h 127"/>
                <a:gd name="T68" fmla="*/ 288 w 317"/>
                <a:gd name="T69" fmla="*/ 90 h 127"/>
                <a:gd name="T70" fmla="*/ 267 w 317"/>
                <a:gd name="T71" fmla="*/ 49 h 127"/>
                <a:gd name="T72" fmla="*/ 288 w 317"/>
                <a:gd name="T73" fmla="*/ 28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7" h="127">
                  <a:moveTo>
                    <a:pt x="0" y="0"/>
                  </a:moveTo>
                  <a:lnTo>
                    <a:pt x="0" y="127"/>
                  </a:lnTo>
                  <a:lnTo>
                    <a:pt x="317" y="127"/>
                  </a:lnTo>
                  <a:lnTo>
                    <a:pt x="317" y="0"/>
                  </a:lnTo>
                  <a:lnTo>
                    <a:pt x="0" y="0"/>
                  </a:lnTo>
                  <a:close/>
                  <a:moveTo>
                    <a:pt x="55" y="90"/>
                  </a:moveTo>
                  <a:lnTo>
                    <a:pt x="33" y="90"/>
                  </a:lnTo>
                  <a:lnTo>
                    <a:pt x="33" y="68"/>
                  </a:lnTo>
                  <a:lnTo>
                    <a:pt x="55" y="68"/>
                  </a:lnTo>
                  <a:lnTo>
                    <a:pt x="55" y="90"/>
                  </a:lnTo>
                  <a:close/>
                  <a:moveTo>
                    <a:pt x="55" y="49"/>
                  </a:moveTo>
                  <a:lnTo>
                    <a:pt x="33" y="49"/>
                  </a:lnTo>
                  <a:lnTo>
                    <a:pt x="33" y="28"/>
                  </a:lnTo>
                  <a:lnTo>
                    <a:pt x="55" y="28"/>
                  </a:lnTo>
                  <a:lnTo>
                    <a:pt x="55" y="49"/>
                  </a:lnTo>
                  <a:close/>
                  <a:moveTo>
                    <a:pt x="92" y="90"/>
                  </a:moveTo>
                  <a:lnTo>
                    <a:pt x="71" y="90"/>
                  </a:lnTo>
                  <a:lnTo>
                    <a:pt x="71" y="68"/>
                  </a:lnTo>
                  <a:lnTo>
                    <a:pt x="92" y="68"/>
                  </a:lnTo>
                  <a:lnTo>
                    <a:pt x="92" y="90"/>
                  </a:lnTo>
                  <a:close/>
                  <a:moveTo>
                    <a:pt x="92" y="49"/>
                  </a:moveTo>
                  <a:lnTo>
                    <a:pt x="71" y="49"/>
                  </a:lnTo>
                  <a:lnTo>
                    <a:pt x="71" y="28"/>
                  </a:lnTo>
                  <a:lnTo>
                    <a:pt x="92" y="28"/>
                  </a:lnTo>
                  <a:lnTo>
                    <a:pt x="92" y="49"/>
                  </a:lnTo>
                  <a:close/>
                  <a:moveTo>
                    <a:pt x="133" y="90"/>
                  </a:moveTo>
                  <a:lnTo>
                    <a:pt x="111" y="90"/>
                  </a:lnTo>
                  <a:lnTo>
                    <a:pt x="111" y="68"/>
                  </a:lnTo>
                  <a:lnTo>
                    <a:pt x="133" y="68"/>
                  </a:lnTo>
                  <a:lnTo>
                    <a:pt x="133" y="90"/>
                  </a:lnTo>
                  <a:close/>
                  <a:moveTo>
                    <a:pt x="133" y="49"/>
                  </a:moveTo>
                  <a:lnTo>
                    <a:pt x="111" y="49"/>
                  </a:lnTo>
                  <a:lnTo>
                    <a:pt x="111" y="28"/>
                  </a:lnTo>
                  <a:lnTo>
                    <a:pt x="133" y="28"/>
                  </a:lnTo>
                  <a:lnTo>
                    <a:pt x="133" y="49"/>
                  </a:lnTo>
                  <a:close/>
                  <a:moveTo>
                    <a:pt x="170" y="90"/>
                  </a:moveTo>
                  <a:lnTo>
                    <a:pt x="152" y="90"/>
                  </a:lnTo>
                  <a:lnTo>
                    <a:pt x="152" y="68"/>
                  </a:lnTo>
                  <a:lnTo>
                    <a:pt x="170" y="68"/>
                  </a:lnTo>
                  <a:lnTo>
                    <a:pt x="170" y="90"/>
                  </a:lnTo>
                  <a:close/>
                  <a:moveTo>
                    <a:pt x="170" y="49"/>
                  </a:moveTo>
                  <a:lnTo>
                    <a:pt x="152" y="49"/>
                  </a:lnTo>
                  <a:lnTo>
                    <a:pt x="152" y="28"/>
                  </a:lnTo>
                  <a:lnTo>
                    <a:pt x="170" y="28"/>
                  </a:lnTo>
                  <a:lnTo>
                    <a:pt x="170" y="49"/>
                  </a:lnTo>
                  <a:close/>
                  <a:moveTo>
                    <a:pt x="211" y="90"/>
                  </a:moveTo>
                  <a:lnTo>
                    <a:pt x="189" y="90"/>
                  </a:lnTo>
                  <a:lnTo>
                    <a:pt x="189" y="68"/>
                  </a:lnTo>
                  <a:lnTo>
                    <a:pt x="211" y="68"/>
                  </a:lnTo>
                  <a:lnTo>
                    <a:pt x="211" y="90"/>
                  </a:lnTo>
                  <a:close/>
                  <a:moveTo>
                    <a:pt x="211" y="49"/>
                  </a:moveTo>
                  <a:lnTo>
                    <a:pt x="189" y="49"/>
                  </a:lnTo>
                  <a:lnTo>
                    <a:pt x="189" y="28"/>
                  </a:lnTo>
                  <a:lnTo>
                    <a:pt x="211" y="28"/>
                  </a:lnTo>
                  <a:lnTo>
                    <a:pt x="211" y="49"/>
                  </a:lnTo>
                  <a:close/>
                  <a:moveTo>
                    <a:pt x="251" y="90"/>
                  </a:moveTo>
                  <a:lnTo>
                    <a:pt x="229" y="90"/>
                  </a:lnTo>
                  <a:lnTo>
                    <a:pt x="229" y="68"/>
                  </a:lnTo>
                  <a:lnTo>
                    <a:pt x="251" y="68"/>
                  </a:lnTo>
                  <a:lnTo>
                    <a:pt x="251" y="90"/>
                  </a:lnTo>
                  <a:close/>
                  <a:moveTo>
                    <a:pt x="251" y="49"/>
                  </a:moveTo>
                  <a:lnTo>
                    <a:pt x="229" y="49"/>
                  </a:lnTo>
                  <a:lnTo>
                    <a:pt x="229" y="28"/>
                  </a:lnTo>
                  <a:lnTo>
                    <a:pt x="251" y="28"/>
                  </a:lnTo>
                  <a:lnTo>
                    <a:pt x="251" y="49"/>
                  </a:lnTo>
                  <a:close/>
                  <a:moveTo>
                    <a:pt x="288" y="90"/>
                  </a:moveTo>
                  <a:lnTo>
                    <a:pt x="267" y="90"/>
                  </a:lnTo>
                  <a:lnTo>
                    <a:pt x="267" y="68"/>
                  </a:lnTo>
                  <a:lnTo>
                    <a:pt x="288" y="68"/>
                  </a:lnTo>
                  <a:lnTo>
                    <a:pt x="288" y="90"/>
                  </a:lnTo>
                  <a:close/>
                  <a:moveTo>
                    <a:pt x="288" y="49"/>
                  </a:moveTo>
                  <a:lnTo>
                    <a:pt x="267" y="49"/>
                  </a:lnTo>
                  <a:lnTo>
                    <a:pt x="267" y="28"/>
                  </a:lnTo>
                  <a:lnTo>
                    <a:pt x="288" y="28"/>
                  </a:lnTo>
                  <a:lnTo>
                    <a:pt x="288"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43"/>
            <p:cNvSpPr/>
            <p:nvPr/>
          </p:nvSpPr>
          <p:spPr bwMode="auto">
            <a:xfrm>
              <a:off x="47" y="2099"/>
              <a:ext cx="250" cy="118"/>
            </a:xfrm>
            <a:custGeom>
              <a:avLst/>
              <a:gdLst>
                <a:gd name="T0" fmla="*/ 206 w 250"/>
                <a:gd name="T1" fmla="*/ 59 h 118"/>
                <a:gd name="T2" fmla="*/ 196 w 250"/>
                <a:gd name="T3" fmla="*/ 75 h 118"/>
                <a:gd name="T4" fmla="*/ 182 w 250"/>
                <a:gd name="T5" fmla="*/ 0 h 118"/>
                <a:gd name="T6" fmla="*/ 156 w 250"/>
                <a:gd name="T7" fmla="*/ 59 h 118"/>
                <a:gd name="T8" fmla="*/ 95 w 250"/>
                <a:gd name="T9" fmla="*/ 59 h 118"/>
                <a:gd name="T10" fmla="*/ 83 w 250"/>
                <a:gd name="T11" fmla="*/ 75 h 118"/>
                <a:gd name="T12" fmla="*/ 69 w 250"/>
                <a:gd name="T13" fmla="*/ 0 h 118"/>
                <a:gd name="T14" fmla="*/ 43 w 250"/>
                <a:gd name="T15" fmla="*/ 59 h 118"/>
                <a:gd name="T16" fmla="*/ 0 w 250"/>
                <a:gd name="T17" fmla="*/ 59 h 118"/>
                <a:gd name="T18" fmla="*/ 0 w 250"/>
                <a:gd name="T19" fmla="*/ 73 h 118"/>
                <a:gd name="T20" fmla="*/ 52 w 250"/>
                <a:gd name="T21" fmla="*/ 73 h 118"/>
                <a:gd name="T22" fmla="*/ 64 w 250"/>
                <a:gd name="T23" fmla="*/ 47 h 118"/>
                <a:gd name="T24" fmla="*/ 78 w 250"/>
                <a:gd name="T25" fmla="*/ 118 h 118"/>
                <a:gd name="T26" fmla="*/ 102 w 250"/>
                <a:gd name="T27" fmla="*/ 73 h 118"/>
                <a:gd name="T28" fmla="*/ 165 w 250"/>
                <a:gd name="T29" fmla="*/ 73 h 118"/>
                <a:gd name="T30" fmla="*/ 175 w 250"/>
                <a:gd name="T31" fmla="*/ 47 h 118"/>
                <a:gd name="T32" fmla="*/ 189 w 250"/>
                <a:gd name="T33" fmla="*/ 118 h 118"/>
                <a:gd name="T34" fmla="*/ 215 w 250"/>
                <a:gd name="T35" fmla="*/ 73 h 118"/>
                <a:gd name="T36" fmla="*/ 250 w 250"/>
                <a:gd name="T37" fmla="*/ 73 h 118"/>
                <a:gd name="T38" fmla="*/ 250 w 250"/>
                <a:gd name="T39" fmla="*/ 59 h 118"/>
                <a:gd name="T40" fmla="*/ 206 w 250"/>
                <a:gd name="T41" fmla="*/ 5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0" h="118">
                  <a:moveTo>
                    <a:pt x="206" y="59"/>
                  </a:moveTo>
                  <a:lnTo>
                    <a:pt x="196" y="75"/>
                  </a:lnTo>
                  <a:lnTo>
                    <a:pt x="182" y="0"/>
                  </a:lnTo>
                  <a:lnTo>
                    <a:pt x="156" y="59"/>
                  </a:lnTo>
                  <a:lnTo>
                    <a:pt x="95" y="59"/>
                  </a:lnTo>
                  <a:lnTo>
                    <a:pt x="83" y="75"/>
                  </a:lnTo>
                  <a:lnTo>
                    <a:pt x="69" y="0"/>
                  </a:lnTo>
                  <a:lnTo>
                    <a:pt x="43" y="59"/>
                  </a:lnTo>
                  <a:lnTo>
                    <a:pt x="0" y="59"/>
                  </a:lnTo>
                  <a:lnTo>
                    <a:pt x="0" y="73"/>
                  </a:lnTo>
                  <a:lnTo>
                    <a:pt x="52" y="73"/>
                  </a:lnTo>
                  <a:lnTo>
                    <a:pt x="64" y="47"/>
                  </a:lnTo>
                  <a:lnTo>
                    <a:pt x="78" y="118"/>
                  </a:lnTo>
                  <a:lnTo>
                    <a:pt x="102" y="73"/>
                  </a:lnTo>
                  <a:lnTo>
                    <a:pt x="165" y="73"/>
                  </a:lnTo>
                  <a:lnTo>
                    <a:pt x="175" y="47"/>
                  </a:lnTo>
                  <a:lnTo>
                    <a:pt x="189" y="118"/>
                  </a:lnTo>
                  <a:lnTo>
                    <a:pt x="215" y="73"/>
                  </a:lnTo>
                  <a:lnTo>
                    <a:pt x="250" y="73"/>
                  </a:lnTo>
                  <a:lnTo>
                    <a:pt x="250" y="59"/>
                  </a:lnTo>
                  <a:lnTo>
                    <a:pt x="206" y="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44"/>
            <p:cNvSpPr>
              <a:spLocks noEditPoints="1"/>
            </p:cNvSpPr>
            <p:nvPr/>
          </p:nvSpPr>
          <p:spPr bwMode="auto">
            <a:xfrm>
              <a:off x="-264" y="1985"/>
              <a:ext cx="590" cy="501"/>
            </a:xfrm>
            <a:custGeom>
              <a:avLst/>
              <a:gdLst>
                <a:gd name="T0" fmla="*/ 222 w 250"/>
                <a:gd name="T1" fmla="*/ 170 h 212"/>
                <a:gd name="T2" fmla="*/ 222 w 250"/>
                <a:gd name="T3" fmla="*/ 165 h 212"/>
                <a:gd name="T4" fmla="*/ 222 w 250"/>
                <a:gd name="T5" fmla="*/ 156 h 212"/>
                <a:gd name="T6" fmla="*/ 222 w 250"/>
                <a:gd name="T7" fmla="*/ 150 h 212"/>
                <a:gd name="T8" fmla="*/ 222 w 250"/>
                <a:gd name="T9" fmla="*/ 142 h 212"/>
                <a:gd name="T10" fmla="*/ 222 w 250"/>
                <a:gd name="T11" fmla="*/ 136 h 212"/>
                <a:gd name="T12" fmla="*/ 222 w 250"/>
                <a:gd name="T13" fmla="*/ 124 h 212"/>
                <a:gd name="T14" fmla="*/ 222 w 250"/>
                <a:gd name="T15" fmla="*/ 111 h 212"/>
                <a:gd name="T16" fmla="*/ 250 w 250"/>
                <a:gd name="T17" fmla="*/ 111 h 212"/>
                <a:gd name="T18" fmla="*/ 250 w 250"/>
                <a:gd name="T19" fmla="*/ 36 h 212"/>
                <a:gd name="T20" fmla="*/ 222 w 250"/>
                <a:gd name="T21" fmla="*/ 36 h 212"/>
                <a:gd name="T22" fmla="*/ 222 w 250"/>
                <a:gd name="T23" fmla="*/ 0 h 212"/>
                <a:gd name="T24" fmla="*/ 0 w 250"/>
                <a:gd name="T25" fmla="*/ 0 h 212"/>
                <a:gd name="T26" fmla="*/ 0 w 250"/>
                <a:gd name="T27" fmla="*/ 212 h 212"/>
                <a:gd name="T28" fmla="*/ 222 w 250"/>
                <a:gd name="T29" fmla="*/ 212 h 212"/>
                <a:gd name="T30" fmla="*/ 222 w 250"/>
                <a:gd name="T31" fmla="*/ 188 h 212"/>
                <a:gd name="T32" fmla="*/ 222 w 250"/>
                <a:gd name="T33" fmla="*/ 183 h 212"/>
                <a:gd name="T34" fmla="*/ 222 w 250"/>
                <a:gd name="T35" fmla="*/ 178 h 212"/>
                <a:gd name="T36" fmla="*/ 222 w 250"/>
                <a:gd name="T37" fmla="*/ 170 h 212"/>
                <a:gd name="T38" fmla="*/ 209 w 250"/>
                <a:gd name="T39" fmla="*/ 131 h 212"/>
                <a:gd name="T40" fmla="*/ 208 w 250"/>
                <a:gd name="T41" fmla="*/ 131 h 212"/>
                <a:gd name="T42" fmla="*/ 208 w 250"/>
                <a:gd name="T43" fmla="*/ 136 h 212"/>
                <a:gd name="T44" fmla="*/ 209 w 250"/>
                <a:gd name="T45" fmla="*/ 136 h 212"/>
                <a:gd name="T46" fmla="*/ 209 w 250"/>
                <a:gd name="T47" fmla="*/ 145 h 212"/>
                <a:gd name="T48" fmla="*/ 208 w 250"/>
                <a:gd name="T49" fmla="*/ 145 h 212"/>
                <a:gd name="T50" fmla="*/ 208 w 250"/>
                <a:gd name="T51" fmla="*/ 151 h 212"/>
                <a:gd name="T52" fmla="*/ 209 w 250"/>
                <a:gd name="T53" fmla="*/ 151 h 212"/>
                <a:gd name="T54" fmla="*/ 209 w 250"/>
                <a:gd name="T55" fmla="*/ 161 h 212"/>
                <a:gd name="T56" fmla="*/ 208 w 250"/>
                <a:gd name="T57" fmla="*/ 161 h 212"/>
                <a:gd name="T58" fmla="*/ 208 w 250"/>
                <a:gd name="T59" fmla="*/ 166 h 212"/>
                <a:gd name="T60" fmla="*/ 209 w 250"/>
                <a:gd name="T61" fmla="*/ 166 h 212"/>
                <a:gd name="T62" fmla="*/ 209 w 250"/>
                <a:gd name="T63" fmla="*/ 174 h 212"/>
                <a:gd name="T64" fmla="*/ 208 w 250"/>
                <a:gd name="T65" fmla="*/ 174 h 212"/>
                <a:gd name="T66" fmla="*/ 208 w 250"/>
                <a:gd name="T67" fmla="*/ 179 h 212"/>
                <a:gd name="T68" fmla="*/ 209 w 250"/>
                <a:gd name="T69" fmla="*/ 179 h 212"/>
                <a:gd name="T70" fmla="*/ 209 w 250"/>
                <a:gd name="T71" fmla="*/ 199 h 212"/>
                <a:gd name="T72" fmla="*/ 13 w 250"/>
                <a:gd name="T73" fmla="*/ 199 h 212"/>
                <a:gd name="T74" fmla="*/ 13 w 250"/>
                <a:gd name="T75" fmla="*/ 13 h 212"/>
                <a:gd name="T76" fmla="*/ 209 w 250"/>
                <a:gd name="T77" fmla="*/ 13 h 212"/>
                <a:gd name="T78" fmla="*/ 209 w 250"/>
                <a:gd name="T79" fmla="*/ 36 h 212"/>
                <a:gd name="T80" fmla="*/ 178 w 250"/>
                <a:gd name="T81" fmla="*/ 36 h 212"/>
                <a:gd name="T82" fmla="*/ 178 w 250"/>
                <a:gd name="T83" fmla="*/ 31 h 212"/>
                <a:gd name="T84" fmla="*/ 44 w 250"/>
                <a:gd name="T85" fmla="*/ 31 h 212"/>
                <a:gd name="T86" fmla="*/ 44 w 250"/>
                <a:gd name="T87" fmla="*/ 116 h 212"/>
                <a:gd name="T88" fmla="*/ 178 w 250"/>
                <a:gd name="T89" fmla="*/ 116 h 212"/>
                <a:gd name="T90" fmla="*/ 178 w 250"/>
                <a:gd name="T91" fmla="*/ 111 h 212"/>
                <a:gd name="T92" fmla="*/ 209 w 250"/>
                <a:gd name="T93" fmla="*/ 111 h 212"/>
                <a:gd name="T94" fmla="*/ 209 w 250"/>
                <a:gd name="T95" fmla="*/ 131 h 212"/>
                <a:gd name="T96" fmla="*/ 125 w 250"/>
                <a:gd name="T97" fmla="*/ 105 h 212"/>
                <a:gd name="T98" fmla="*/ 125 w 250"/>
                <a:gd name="T99" fmla="*/ 42 h 212"/>
                <a:gd name="T100" fmla="*/ 244 w 250"/>
                <a:gd name="T101" fmla="*/ 42 h 212"/>
                <a:gd name="T102" fmla="*/ 244 w 250"/>
                <a:gd name="T103" fmla="*/ 105 h 212"/>
                <a:gd name="T104" fmla="*/ 125 w 250"/>
                <a:gd name="T10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0" h="212">
                  <a:moveTo>
                    <a:pt x="222" y="170"/>
                  </a:moveTo>
                  <a:cubicBezTo>
                    <a:pt x="222" y="165"/>
                    <a:pt x="222" y="165"/>
                    <a:pt x="222" y="165"/>
                  </a:cubicBezTo>
                  <a:cubicBezTo>
                    <a:pt x="222" y="156"/>
                    <a:pt x="222" y="156"/>
                    <a:pt x="222" y="156"/>
                  </a:cubicBezTo>
                  <a:cubicBezTo>
                    <a:pt x="222" y="150"/>
                    <a:pt x="222" y="150"/>
                    <a:pt x="222" y="150"/>
                  </a:cubicBezTo>
                  <a:cubicBezTo>
                    <a:pt x="222" y="142"/>
                    <a:pt x="222" y="142"/>
                    <a:pt x="222" y="142"/>
                  </a:cubicBezTo>
                  <a:cubicBezTo>
                    <a:pt x="222" y="136"/>
                    <a:pt x="222" y="136"/>
                    <a:pt x="222" y="136"/>
                  </a:cubicBezTo>
                  <a:cubicBezTo>
                    <a:pt x="222" y="124"/>
                    <a:pt x="222" y="124"/>
                    <a:pt x="222" y="124"/>
                  </a:cubicBezTo>
                  <a:cubicBezTo>
                    <a:pt x="222" y="111"/>
                    <a:pt x="222" y="111"/>
                    <a:pt x="222" y="111"/>
                  </a:cubicBezTo>
                  <a:cubicBezTo>
                    <a:pt x="250" y="111"/>
                    <a:pt x="250" y="111"/>
                    <a:pt x="250" y="111"/>
                  </a:cubicBezTo>
                  <a:cubicBezTo>
                    <a:pt x="250" y="36"/>
                    <a:pt x="250" y="36"/>
                    <a:pt x="250" y="36"/>
                  </a:cubicBezTo>
                  <a:cubicBezTo>
                    <a:pt x="222" y="36"/>
                    <a:pt x="222" y="36"/>
                    <a:pt x="222" y="36"/>
                  </a:cubicBezTo>
                  <a:cubicBezTo>
                    <a:pt x="222" y="0"/>
                    <a:pt x="222" y="0"/>
                    <a:pt x="222" y="0"/>
                  </a:cubicBezTo>
                  <a:cubicBezTo>
                    <a:pt x="0" y="0"/>
                    <a:pt x="0" y="0"/>
                    <a:pt x="0" y="0"/>
                  </a:cubicBezTo>
                  <a:cubicBezTo>
                    <a:pt x="0" y="212"/>
                    <a:pt x="0" y="212"/>
                    <a:pt x="0" y="212"/>
                  </a:cubicBezTo>
                  <a:cubicBezTo>
                    <a:pt x="222" y="212"/>
                    <a:pt x="222" y="212"/>
                    <a:pt x="222" y="212"/>
                  </a:cubicBezTo>
                  <a:cubicBezTo>
                    <a:pt x="222" y="188"/>
                    <a:pt x="222" y="188"/>
                    <a:pt x="222" y="188"/>
                  </a:cubicBezTo>
                  <a:cubicBezTo>
                    <a:pt x="222" y="183"/>
                    <a:pt x="222" y="183"/>
                    <a:pt x="222" y="183"/>
                  </a:cubicBezTo>
                  <a:cubicBezTo>
                    <a:pt x="222" y="178"/>
                    <a:pt x="222" y="178"/>
                    <a:pt x="222" y="178"/>
                  </a:cubicBezTo>
                  <a:lnTo>
                    <a:pt x="222" y="170"/>
                  </a:lnTo>
                  <a:close/>
                  <a:moveTo>
                    <a:pt x="209" y="131"/>
                  </a:moveTo>
                  <a:cubicBezTo>
                    <a:pt x="209" y="131"/>
                    <a:pt x="209" y="131"/>
                    <a:pt x="208" y="131"/>
                  </a:cubicBezTo>
                  <a:cubicBezTo>
                    <a:pt x="208" y="136"/>
                    <a:pt x="208" y="136"/>
                    <a:pt x="208" y="136"/>
                  </a:cubicBezTo>
                  <a:cubicBezTo>
                    <a:pt x="209" y="136"/>
                    <a:pt x="209" y="136"/>
                    <a:pt x="209" y="136"/>
                  </a:cubicBezTo>
                  <a:cubicBezTo>
                    <a:pt x="209" y="145"/>
                    <a:pt x="209" y="145"/>
                    <a:pt x="209" y="145"/>
                  </a:cubicBezTo>
                  <a:cubicBezTo>
                    <a:pt x="209" y="145"/>
                    <a:pt x="209" y="145"/>
                    <a:pt x="208" y="145"/>
                  </a:cubicBezTo>
                  <a:cubicBezTo>
                    <a:pt x="208" y="151"/>
                    <a:pt x="208" y="151"/>
                    <a:pt x="208" y="151"/>
                  </a:cubicBezTo>
                  <a:cubicBezTo>
                    <a:pt x="209" y="151"/>
                    <a:pt x="209" y="151"/>
                    <a:pt x="209" y="151"/>
                  </a:cubicBezTo>
                  <a:cubicBezTo>
                    <a:pt x="209" y="161"/>
                    <a:pt x="209" y="161"/>
                    <a:pt x="209" y="161"/>
                  </a:cubicBezTo>
                  <a:cubicBezTo>
                    <a:pt x="209" y="161"/>
                    <a:pt x="209" y="161"/>
                    <a:pt x="208" y="161"/>
                  </a:cubicBezTo>
                  <a:cubicBezTo>
                    <a:pt x="208" y="166"/>
                    <a:pt x="208" y="166"/>
                    <a:pt x="208" y="166"/>
                  </a:cubicBezTo>
                  <a:cubicBezTo>
                    <a:pt x="209" y="166"/>
                    <a:pt x="209" y="166"/>
                    <a:pt x="209" y="166"/>
                  </a:cubicBezTo>
                  <a:cubicBezTo>
                    <a:pt x="209" y="174"/>
                    <a:pt x="209" y="174"/>
                    <a:pt x="209" y="174"/>
                  </a:cubicBezTo>
                  <a:cubicBezTo>
                    <a:pt x="209" y="174"/>
                    <a:pt x="209" y="174"/>
                    <a:pt x="208" y="174"/>
                  </a:cubicBezTo>
                  <a:cubicBezTo>
                    <a:pt x="208" y="179"/>
                    <a:pt x="208" y="179"/>
                    <a:pt x="208" y="179"/>
                  </a:cubicBezTo>
                  <a:cubicBezTo>
                    <a:pt x="209" y="179"/>
                    <a:pt x="209" y="179"/>
                    <a:pt x="209" y="179"/>
                  </a:cubicBezTo>
                  <a:cubicBezTo>
                    <a:pt x="209" y="199"/>
                    <a:pt x="209" y="199"/>
                    <a:pt x="209" y="199"/>
                  </a:cubicBezTo>
                  <a:cubicBezTo>
                    <a:pt x="13" y="199"/>
                    <a:pt x="13" y="199"/>
                    <a:pt x="13" y="199"/>
                  </a:cubicBezTo>
                  <a:cubicBezTo>
                    <a:pt x="13" y="13"/>
                    <a:pt x="13" y="13"/>
                    <a:pt x="13" y="13"/>
                  </a:cubicBezTo>
                  <a:cubicBezTo>
                    <a:pt x="209" y="13"/>
                    <a:pt x="209" y="13"/>
                    <a:pt x="209" y="13"/>
                  </a:cubicBezTo>
                  <a:cubicBezTo>
                    <a:pt x="209" y="36"/>
                    <a:pt x="209" y="36"/>
                    <a:pt x="209" y="36"/>
                  </a:cubicBezTo>
                  <a:cubicBezTo>
                    <a:pt x="178" y="36"/>
                    <a:pt x="178" y="36"/>
                    <a:pt x="178" y="36"/>
                  </a:cubicBezTo>
                  <a:cubicBezTo>
                    <a:pt x="178" y="31"/>
                    <a:pt x="178" y="31"/>
                    <a:pt x="178" y="31"/>
                  </a:cubicBezTo>
                  <a:cubicBezTo>
                    <a:pt x="44" y="31"/>
                    <a:pt x="44" y="31"/>
                    <a:pt x="44" y="31"/>
                  </a:cubicBezTo>
                  <a:cubicBezTo>
                    <a:pt x="44" y="116"/>
                    <a:pt x="44" y="116"/>
                    <a:pt x="44" y="116"/>
                  </a:cubicBezTo>
                  <a:cubicBezTo>
                    <a:pt x="178" y="116"/>
                    <a:pt x="178" y="116"/>
                    <a:pt x="178" y="116"/>
                  </a:cubicBezTo>
                  <a:cubicBezTo>
                    <a:pt x="178" y="111"/>
                    <a:pt x="178" y="111"/>
                    <a:pt x="178" y="111"/>
                  </a:cubicBezTo>
                  <a:cubicBezTo>
                    <a:pt x="209" y="111"/>
                    <a:pt x="209" y="111"/>
                    <a:pt x="209" y="111"/>
                  </a:cubicBezTo>
                  <a:lnTo>
                    <a:pt x="209" y="131"/>
                  </a:lnTo>
                  <a:close/>
                  <a:moveTo>
                    <a:pt x="125" y="105"/>
                  </a:moveTo>
                  <a:cubicBezTo>
                    <a:pt x="125" y="42"/>
                    <a:pt x="125" y="42"/>
                    <a:pt x="125" y="42"/>
                  </a:cubicBezTo>
                  <a:cubicBezTo>
                    <a:pt x="244" y="42"/>
                    <a:pt x="244" y="42"/>
                    <a:pt x="244" y="42"/>
                  </a:cubicBezTo>
                  <a:cubicBezTo>
                    <a:pt x="244" y="105"/>
                    <a:pt x="244" y="105"/>
                    <a:pt x="244" y="105"/>
                  </a:cubicBezTo>
                  <a:lnTo>
                    <a:pt x="125" y="10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2" name="Freeform 149"/>
          <p:cNvSpPr>
            <a:spLocks noEditPoints="1"/>
          </p:cNvSpPr>
          <p:nvPr/>
        </p:nvSpPr>
        <p:spPr bwMode="auto">
          <a:xfrm>
            <a:off x="5317761" y="2591674"/>
            <a:ext cx="739651" cy="677215"/>
          </a:xfrm>
          <a:custGeom>
            <a:avLst/>
            <a:gdLst>
              <a:gd name="T0" fmla="*/ 121 w 151"/>
              <a:gd name="T1" fmla="*/ 116 h 149"/>
              <a:gd name="T2" fmla="*/ 72 w 151"/>
              <a:gd name="T3" fmla="*/ 142 h 149"/>
              <a:gd name="T4" fmla="*/ 71 w 151"/>
              <a:gd name="T5" fmla="*/ 141 h 149"/>
              <a:gd name="T6" fmla="*/ 70 w 151"/>
              <a:gd name="T7" fmla="*/ 141 h 149"/>
              <a:gd name="T8" fmla="*/ 53 w 151"/>
              <a:gd name="T9" fmla="*/ 124 h 149"/>
              <a:gd name="T10" fmla="*/ 101 w 151"/>
              <a:gd name="T11" fmla="*/ 95 h 149"/>
              <a:gd name="T12" fmla="*/ 127 w 151"/>
              <a:gd name="T13" fmla="*/ 48 h 149"/>
              <a:gd name="T14" fmla="*/ 145 w 151"/>
              <a:gd name="T15" fmla="*/ 66 h 149"/>
              <a:gd name="T16" fmla="*/ 145 w 151"/>
              <a:gd name="T17" fmla="*/ 66 h 149"/>
              <a:gd name="T18" fmla="*/ 121 w 151"/>
              <a:gd name="T19" fmla="*/ 116 h 149"/>
              <a:gd name="T20" fmla="*/ 90 w 151"/>
              <a:gd name="T21" fmla="*/ 99 h 149"/>
              <a:gd name="T22" fmla="*/ 93 w 151"/>
              <a:gd name="T23" fmla="*/ 49 h 149"/>
              <a:gd name="T24" fmla="*/ 120 w 151"/>
              <a:gd name="T25" fmla="*/ 41 h 149"/>
              <a:gd name="T26" fmla="*/ 97 w 151"/>
              <a:gd name="T27" fmla="*/ 92 h 149"/>
              <a:gd name="T28" fmla="*/ 90 w 151"/>
              <a:gd name="T29" fmla="*/ 99 h 149"/>
              <a:gd name="T30" fmla="*/ 48 w 151"/>
              <a:gd name="T31" fmla="*/ 118 h 149"/>
              <a:gd name="T32" fmla="*/ 71 w 151"/>
              <a:gd name="T33" fmla="*/ 67 h 149"/>
              <a:gd name="T34" fmla="*/ 83 w 151"/>
              <a:gd name="T35" fmla="*/ 56 h 149"/>
              <a:gd name="T36" fmla="*/ 79 w 151"/>
              <a:gd name="T37" fmla="*/ 108 h 149"/>
              <a:gd name="T38" fmla="*/ 48 w 151"/>
              <a:gd name="T39" fmla="*/ 118 h 149"/>
              <a:gd name="T40" fmla="*/ 42 w 151"/>
              <a:gd name="T41" fmla="*/ 32 h 149"/>
              <a:gd name="T42" fmla="*/ 35 w 151"/>
              <a:gd name="T43" fmla="*/ 30 h 149"/>
              <a:gd name="T44" fmla="*/ 69 w 151"/>
              <a:gd name="T45" fmla="*/ 20 h 149"/>
              <a:gd name="T46" fmla="*/ 80 w 151"/>
              <a:gd name="T47" fmla="*/ 36 h 149"/>
              <a:gd name="T48" fmla="*/ 42 w 151"/>
              <a:gd name="T49" fmla="*/ 32 h 149"/>
              <a:gd name="T50" fmla="*/ 13 w 151"/>
              <a:gd name="T51" fmla="*/ 6 h 149"/>
              <a:gd name="T52" fmla="*/ 52 w 151"/>
              <a:gd name="T53" fmla="*/ 10 h 149"/>
              <a:gd name="T54" fmla="*/ 62 w 151"/>
              <a:gd name="T55" fmla="*/ 15 h 149"/>
              <a:gd name="T56" fmla="*/ 27 w 151"/>
              <a:gd name="T57" fmla="*/ 24 h 149"/>
              <a:gd name="T58" fmla="*/ 13 w 151"/>
              <a:gd name="T59" fmla="*/ 6 h 149"/>
              <a:gd name="T60" fmla="*/ 40 w 151"/>
              <a:gd name="T61" fmla="*/ 36 h 149"/>
              <a:gd name="T62" fmla="*/ 77 w 151"/>
              <a:gd name="T63" fmla="*/ 42 h 149"/>
              <a:gd name="T64" fmla="*/ 69 w 151"/>
              <a:gd name="T65" fmla="*/ 58 h 149"/>
              <a:gd name="T66" fmla="*/ 69 w 151"/>
              <a:gd name="T67" fmla="*/ 58 h 149"/>
              <a:gd name="T68" fmla="*/ 31 w 151"/>
              <a:gd name="T69" fmla="*/ 53 h 149"/>
              <a:gd name="T70" fmla="*/ 3 w 151"/>
              <a:gd name="T71" fmla="*/ 27 h 149"/>
              <a:gd name="T72" fmla="*/ 4 w 151"/>
              <a:gd name="T73" fmla="*/ 26 h 149"/>
              <a:gd name="T74" fmla="*/ 3 w 151"/>
              <a:gd name="T75" fmla="*/ 26 h 149"/>
              <a:gd name="T76" fmla="*/ 10 w 151"/>
              <a:gd name="T77" fmla="*/ 11 h 149"/>
              <a:gd name="T78" fmla="*/ 40 w 151"/>
              <a:gd name="T79" fmla="*/ 36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1" h="149">
                <a:moveTo>
                  <a:pt x="121" y="116"/>
                </a:moveTo>
                <a:cubicBezTo>
                  <a:pt x="101" y="137"/>
                  <a:pt x="79" y="149"/>
                  <a:pt x="72" y="142"/>
                </a:cubicBezTo>
                <a:cubicBezTo>
                  <a:pt x="72" y="142"/>
                  <a:pt x="71" y="141"/>
                  <a:pt x="71" y="141"/>
                </a:cubicBezTo>
                <a:cubicBezTo>
                  <a:pt x="70" y="141"/>
                  <a:pt x="70" y="141"/>
                  <a:pt x="70" y="141"/>
                </a:cubicBezTo>
                <a:cubicBezTo>
                  <a:pt x="53" y="124"/>
                  <a:pt x="53" y="124"/>
                  <a:pt x="53" y="124"/>
                </a:cubicBezTo>
                <a:cubicBezTo>
                  <a:pt x="63" y="127"/>
                  <a:pt x="83" y="115"/>
                  <a:pt x="101" y="95"/>
                </a:cubicBezTo>
                <a:cubicBezTo>
                  <a:pt x="119" y="77"/>
                  <a:pt x="128" y="58"/>
                  <a:pt x="127" y="48"/>
                </a:cubicBezTo>
                <a:cubicBezTo>
                  <a:pt x="145" y="66"/>
                  <a:pt x="145" y="66"/>
                  <a:pt x="145" y="66"/>
                </a:cubicBezTo>
                <a:cubicBezTo>
                  <a:pt x="145" y="66"/>
                  <a:pt x="145" y="66"/>
                  <a:pt x="145" y="66"/>
                </a:cubicBezTo>
                <a:cubicBezTo>
                  <a:pt x="151" y="73"/>
                  <a:pt x="141" y="95"/>
                  <a:pt x="121" y="116"/>
                </a:cubicBezTo>
                <a:close/>
                <a:moveTo>
                  <a:pt x="90" y="99"/>
                </a:moveTo>
                <a:cubicBezTo>
                  <a:pt x="93" y="49"/>
                  <a:pt x="93" y="49"/>
                  <a:pt x="93" y="49"/>
                </a:cubicBezTo>
                <a:cubicBezTo>
                  <a:pt x="105" y="40"/>
                  <a:pt x="116" y="37"/>
                  <a:pt x="120" y="41"/>
                </a:cubicBezTo>
                <a:cubicBezTo>
                  <a:pt x="128" y="48"/>
                  <a:pt x="117" y="70"/>
                  <a:pt x="97" y="92"/>
                </a:cubicBezTo>
                <a:cubicBezTo>
                  <a:pt x="95" y="95"/>
                  <a:pt x="92" y="97"/>
                  <a:pt x="90" y="99"/>
                </a:cubicBezTo>
                <a:close/>
                <a:moveTo>
                  <a:pt x="48" y="118"/>
                </a:moveTo>
                <a:cubicBezTo>
                  <a:pt x="41" y="112"/>
                  <a:pt x="51" y="89"/>
                  <a:pt x="71" y="67"/>
                </a:cubicBezTo>
                <a:cubicBezTo>
                  <a:pt x="75" y="64"/>
                  <a:pt x="79" y="60"/>
                  <a:pt x="83" y="56"/>
                </a:cubicBezTo>
                <a:cubicBezTo>
                  <a:pt x="79" y="108"/>
                  <a:pt x="79" y="108"/>
                  <a:pt x="79" y="108"/>
                </a:cubicBezTo>
                <a:cubicBezTo>
                  <a:pt x="65" y="118"/>
                  <a:pt x="53" y="123"/>
                  <a:pt x="48" y="118"/>
                </a:cubicBezTo>
                <a:close/>
                <a:moveTo>
                  <a:pt x="42" y="32"/>
                </a:moveTo>
                <a:cubicBezTo>
                  <a:pt x="39" y="32"/>
                  <a:pt x="37" y="30"/>
                  <a:pt x="35" y="30"/>
                </a:cubicBezTo>
                <a:cubicBezTo>
                  <a:pt x="69" y="20"/>
                  <a:pt x="69" y="20"/>
                  <a:pt x="69" y="20"/>
                </a:cubicBezTo>
                <a:cubicBezTo>
                  <a:pt x="77" y="27"/>
                  <a:pt x="82" y="32"/>
                  <a:pt x="80" y="36"/>
                </a:cubicBezTo>
                <a:cubicBezTo>
                  <a:pt x="77" y="43"/>
                  <a:pt x="60" y="41"/>
                  <a:pt x="42" y="32"/>
                </a:cubicBezTo>
                <a:close/>
                <a:moveTo>
                  <a:pt x="13" y="6"/>
                </a:moveTo>
                <a:cubicBezTo>
                  <a:pt x="16" y="0"/>
                  <a:pt x="33" y="1"/>
                  <a:pt x="52" y="10"/>
                </a:cubicBezTo>
                <a:cubicBezTo>
                  <a:pt x="56" y="12"/>
                  <a:pt x="59" y="13"/>
                  <a:pt x="62" y="15"/>
                </a:cubicBezTo>
                <a:cubicBezTo>
                  <a:pt x="27" y="24"/>
                  <a:pt x="27" y="24"/>
                  <a:pt x="27" y="24"/>
                </a:cubicBezTo>
                <a:cubicBezTo>
                  <a:pt x="17" y="18"/>
                  <a:pt x="11" y="10"/>
                  <a:pt x="13" y="6"/>
                </a:cubicBezTo>
                <a:close/>
                <a:moveTo>
                  <a:pt x="40" y="36"/>
                </a:moveTo>
                <a:cubicBezTo>
                  <a:pt x="56" y="43"/>
                  <a:pt x="71" y="46"/>
                  <a:pt x="77" y="42"/>
                </a:cubicBezTo>
                <a:cubicBezTo>
                  <a:pt x="69" y="58"/>
                  <a:pt x="69" y="58"/>
                  <a:pt x="69" y="58"/>
                </a:cubicBezTo>
                <a:cubicBezTo>
                  <a:pt x="69" y="58"/>
                  <a:pt x="69" y="58"/>
                  <a:pt x="69" y="58"/>
                </a:cubicBezTo>
                <a:cubicBezTo>
                  <a:pt x="66" y="64"/>
                  <a:pt x="49" y="61"/>
                  <a:pt x="31" y="53"/>
                </a:cubicBezTo>
                <a:cubicBezTo>
                  <a:pt x="13" y="45"/>
                  <a:pt x="0" y="33"/>
                  <a:pt x="3" y="27"/>
                </a:cubicBezTo>
                <a:cubicBezTo>
                  <a:pt x="3" y="27"/>
                  <a:pt x="4" y="27"/>
                  <a:pt x="4" y="26"/>
                </a:cubicBezTo>
                <a:cubicBezTo>
                  <a:pt x="3" y="26"/>
                  <a:pt x="3" y="26"/>
                  <a:pt x="3" y="26"/>
                </a:cubicBezTo>
                <a:cubicBezTo>
                  <a:pt x="10" y="11"/>
                  <a:pt x="10" y="11"/>
                  <a:pt x="10" y="11"/>
                </a:cubicBezTo>
                <a:cubicBezTo>
                  <a:pt x="11" y="18"/>
                  <a:pt x="23" y="28"/>
                  <a:pt x="40" y="36"/>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14" name="Rectangle 3_1"/>
          <p:cNvSpPr/>
          <p:nvPr/>
        </p:nvSpPr>
        <p:spPr>
          <a:xfrm rot="5400000">
            <a:off x="6514238" y="881633"/>
            <a:ext cx="46647" cy="6053217"/>
          </a:xfrm>
          <a:prstGeom prst="round2SameRect">
            <a:avLst>
              <a:gd name="adj1" fmla="val 0"/>
              <a:gd name="adj2" fmla="val 0"/>
            </a:avLst>
          </a:prstGeom>
          <a:solidFill>
            <a:srgbClr val="E480A4">
              <a:alpha val="2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15" name="TextBox 52"/>
          <p:cNvSpPr txBox="1"/>
          <p:nvPr/>
        </p:nvSpPr>
        <p:spPr>
          <a:xfrm>
            <a:off x="2520941" y="4307286"/>
            <a:ext cx="2026824" cy="400110"/>
          </a:xfrm>
          <a:prstGeom prst="rect">
            <a:avLst/>
          </a:prstGeom>
          <a:noFill/>
        </p:spPr>
        <p:txBody>
          <a:bodyPr wrap="square" rtlCol="0">
            <a:spAutoFit/>
          </a:bodyPr>
          <a:lstStyle/>
          <a:p>
            <a:pPr algn="ctr"/>
            <a:r>
              <a:rPr lang="zh-CN" altLang="en-US" sz="2000" b="1" dirty="0">
                <a:solidFill>
                  <a:srgbClr val="821B52"/>
                </a:solidFill>
                <a:cs typeface="+mn-ea"/>
                <a:sym typeface="+mn-lt"/>
              </a:rPr>
              <a:t>诊断与风险评估</a:t>
            </a:r>
          </a:p>
        </p:txBody>
      </p:sp>
      <p:cxnSp>
        <p:nvCxnSpPr>
          <p:cNvPr id="16" name="直接箭头连接符 15"/>
          <p:cNvCxnSpPr>
            <a:stCxn id="18" idx="4"/>
          </p:cNvCxnSpPr>
          <p:nvPr/>
        </p:nvCxnSpPr>
        <p:spPr>
          <a:xfrm flipH="1">
            <a:off x="3504843" y="3705298"/>
            <a:ext cx="17593" cy="483120"/>
          </a:xfrm>
          <a:prstGeom prst="straightConnector1">
            <a:avLst/>
          </a:prstGeom>
          <a:solidFill>
            <a:schemeClr val="bg1"/>
          </a:solidFill>
          <a:ln w="57150">
            <a:solidFill>
              <a:srgbClr val="D1206E">
                <a:alpha val="32157"/>
              </a:srgb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17" name="椭圆 16"/>
          <p:cNvSpPr/>
          <p:nvPr/>
        </p:nvSpPr>
        <p:spPr>
          <a:xfrm>
            <a:off x="3439757" y="3839035"/>
            <a:ext cx="133247" cy="136495"/>
          </a:xfrm>
          <a:prstGeom prst="ellipse">
            <a:avLst/>
          </a:prstGeom>
          <a:solidFill>
            <a:schemeClr val="bg1"/>
          </a:solidFill>
          <a:ln w="57150">
            <a:solidFill>
              <a:srgbClr val="821B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18" name="椭圆 17"/>
          <p:cNvSpPr/>
          <p:nvPr/>
        </p:nvSpPr>
        <p:spPr>
          <a:xfrm>
            <a:off x="2760440" y="2159626"/>
            <a:ext cx="1523992" cy="1545672"/>
          </a:xfrm>
          <a:prstGeom prst="ellipse">
            <a:avLst/>
          </a:prstGeom>
          <a:noFill/>
          <a:ln w="76200">
            <a:gradFill>
              <a:gsLst>
                <a:gs pos="0">
                  <a:srgbClr val="821B52"/>
                </a:gs>
                <a:gs pos="100000">
                  <a:srgbClr val="E480A4"/>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19" name="直接箭头连接符 18"/>
          <p:cNvCxnSpPr>
            <a:stCxn id="22" idx="4"/>
          </p:cNvCxnSpPr>
          <p:nvPr/>
        </p:nvCxnSpPr>
        <p:spPr>
          <a:xfrm flipH="1">
            <a:off x="7571469" y="3570038"/>
            <a:ext cx="9142" cy="633682"/>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20" name="文本框 1"/>
          <p:cNvSpPr txBox="1"/>
          <p:nvPr/>
        </p:nvSpPr>
        <p:spPr>
          <a:xfrm>
            <a:off x="6648833" y="4389314"/>
            <a:ext cx="1888878" cy="246221"/>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侵入治疗策略</a:t>
            </a:r>
          </a:p>
        </p:txBody>
      </p:sp>
      <p:sp>
        <p:nvSpPr>
          <p:cNvPr id="21" name="椭圆 20"/>
          <p:cNvSpPr/>
          <p:nvPr/>
        </p:nvSpPr>
        <p:spPr>
          <a:xfrm>
            <a:off x="7506382" y="3844118"/>
            <a:ext cx="133247" cy="136495"/>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22" name="椭圆 21"/>
          <p:cNvSpPr/>
          <p:nvPr/>
        </p:nvSpPr>
        <p:spPr>
          <a:xfrm>
            <a:off x="6950861" y="2292624"/>
            <a:ext cx="1259499" cy="1277414"/>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23" name="直接箭头连接符 22"/>
          <p:cNvCxnSpPr>
            <a:stCxn id="26" idx="4"/>
          </p:cNvCxnSpPr>
          <p:nvPr/>
        </p:nvCxnSpPr>
        <p:spPr>
          <a:xfrm flipH="1">
            <a:off x="5655176" y="3564955"/>
            <a:ext cx="9142" cy="633682"/>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24" name="文本框 1"/>
          <p:cNvSpPr txBox="1"/>
          <p:nvPr/>
        </p:nvSpPr>
        <p:spPr>
          <a:xfrm>
            <a:off x="4892667" y="4384231"/>
            <a:ext cx="1561057" cy="246221"/>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抗栓药物治疗</a:t>
            </a:r>
          </a:p>
        </p:txBody>
      </p:sp>
      <p:sp>
        <p:nvSpPr>
          <p:cNvPr id="25" name="椭圆 24"/>
          <p:cNvSpPr/>
          <p:nvPr/>
        </p:nvSpPr>
        <p:spPr>
          <a:xfrm>
            <a:off x="5590090" y="3839035"/>
            <a:ext cx="133247" cy="136495"/>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26" name="椭圆 25"/>
          <p:cNvSpPr/>
          <p:nvPr/>
        </p:nvSpPr>
        <p:spPr>
          <a:xfrm>
            <a:off x="5034568" y="2287541"/>
            <a:ext cx="1259499" cy="1277414"/>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27" name="直接箭头连接符 26"/>
          <p:cNvCxnSpPr>
            <a:stCxn id="30" idx="4"/>
          </p:cNvCxnSpPr>
          <p:nvPr/>
        </p:nvCxnSpPr>
        <p:spPr>
          <a:xfrm flipH="1">
            <a:off x="9419095" y="3564955"/>
            <a:ext cx="9142" cy="633682"/>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28" name="文本框 1"/>
          <p:cNvSpPr txBox="1"/>
          <p:nvPr/>
        </p:nvSpPr>
        <p:spPr>
          <a:xfrm>
            <a:off x="8656586" y="4261120"/>
            <a:ext cx="1561057" cy="492443"/>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特殊人群与</a:t>
            </a:r>
            <a:endParaRPr lang="en-US" altLang="zh-CN" sz="1600" dirty="0">
              <a:solidFill>
                <a:schemeClr val="bg1">
                  <a:lumMod val="75000"/>
                </a:schemeClr>
              </a:solidFill>
              <a:cs typeface="+mn-ea"/>
              <a:sym typeface="Arial" panose="020B0604020202020204"/>
            </a:endParaRPr>
          </a:p>
          <a:p>
            <a:pPr algn="ctr"/>
            <a:r>
              <a:rPr lang="zh-CN" altLang="en-US" sz="1600" dirty="0">
                <a:solidFill>
                  <a:schemeClr val="bg1">
                    <a:lumMod val="75000"/>
                  </a:schemeClr>
                </a:solidFill>
                <a:cs typeface="+mn-ea"/>
                <a:sym typeface="Arial" panose="020B0604020202020204"/>
              </a:rPr>
              <a:t>长期管理</a:t>
            </a:r>
          </a:p>
        </p:txBody>
      </p:sp>
      <p:sp>
        <p:nvSpPr>
          <p:cNvPr id="29" name="椭圆 28"/>
          <p:cNvSpPr/>
          <p:nvPr/>
        </p:nvSpPr>
        <p:spPr>
          <a:xfrm>
            <a:off x="9354009" y="3839035"/>
            <a:ext cx="133247" cy="136495"/>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30" name="椭圆 29"/>
          <p:cNvSpPr/>
          <p:nvPr/>
        </p:nvSpPr>
        <p:spPr>
          <a:xfrm>
            <a:off x="8798487" y="2287541"/>
            <a:ext cx="1259499" cy="1277414"/>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sp>
        <p:nvSpPr>
          <p:cNvPr id="31" name="iconfont-11624-5524664"/>
          <p:cNvSpPr>
            <a:spLocks noChangeAspect="1"/>
          </p:cNvSpPr>
          <p:nvPr/>
        </p:nvSpPr>
        <p:spPr bwMode="auto">
          <a:xfrm>
            <a:off x="9085637" y="2591673"/>
            <a:ext cx="769391" cy="634420"/>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bg1">
              <a:lumMod val="75000"/>
            </a:schemeClr>
          </a:solidFill>
          <a:ln>
            <a:noFill/>
          </a:ln>
        </p:spPr>
      </p:sp>
      <p:sp>
        <p:nvSpPr>
          <p:cNvPr id="2" name="文本框 1"/>
          <p:cNvSpPr txBox="1"/>
          <p:nvPr/>
        </p:nvSpPr>
        <p:spPr>
          <a:xfrm>
            <a:off x="1985431" y="396330"/>
            <a:ext cx="8129627" cy="523220"/>
          </a:xfrm>
          <a:prstGeom prst="rect">
            <a:avLst/>
          </a:prstGeom>
          <a:noFill/>
        </p:spPr>
        <p:txBody>
          <a:bodyPr wrap="square" rtlCol="0">
            <a:spAutoFit/>
          </a:bodyPr>
          <a:lstStyle/>
          <a:p>
            <a:r>
              <a:rPr lang="en-US" altLang="zh-CN" sz="2800" b="1" dirty="0">
                <a:solidFill>
                  <a:srgbClr val="AE1022"/>
                </a:solidFill>
                <a:latin typeface="Microsoft YaHei UI" panose="020B0503020204020204" pitchFamily="34" charset="-122"/>
                <a:ea typeface="Microsoft YaHei UI" panose="020B0503020204020204" pitchFamily="34" charset="-122"/>
              </a:rPr>
              <a:t>2020ESC</a:t>
            </a:r>
            <a:r>
              <a:rPr lang="zh-CN" altLang="en-US" sz="2800" b="1" dirty="0">
                <a:solidFill>
                  <a:srgbClr val="AE1022"/>
                </a:solidFill>
                <a:latin typeface="Microsoft YaHei UI" panose="020B0503020204020204" pitchFamily="34" charset="-122"/>
                <a:ea typeface="Microsoft YaHei UI" panose="020B0503020204020204" pitchFamily="34" charset="-122"/>
              </a:rPr>
              <a:t>非</a:t>
            </a:r>
            <a:r>
              <a:rPr lang="en-US" altLang="zh-CN" sz="2800" b="1" dirty="0">
                <a:solidFill>
                  <a:srgbClr val="AE1022"/>
                </a:solidFill>
                <a:latin typeface="Microsoft YaHei UI" panose="020B0503020204020204" pitchFamily="34" charset="-122"/>
                <a:ea typeface="Microsoft YaHei UI" panose="020B0503020204020204" pitchFamily="34" charset="-122"/>
              </a:rPr>
              <a:t>ST</a:t>
            </a:r>
            <a:r>
              <a:rPr lang="zh-CN" altLang="en-US" sz="2800" b="1" dirty="0">
                <a:solidFill>
                  <a:srgbClr val="AE1022"/>
                </a:solidFill>
                <a:latin typeface="Microsoft YaHei UI" panose="020B0503020204020204" pitchFamily="34" charset="-122"/>
                <a:ea typeface="Microsoft YaHei UI" panose="020B0503020204020204" pitchFamily="34" charset="-122"/>
              </a:rPr>
              <a:t>段抬高性急性冠脉综合征临床指南</a:t>
            </a:r>
            <a:endParaRPr lang="zh-CN" altLang="en-US" sz="2800" b="1" dirty="0">
              <a:solidFill>
                <a:srgbClr val="AE102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13" name="文本框 12"/>
          <p:cNvSpPr txBox="1"/>
          <p:nvPr/>
        </p:nvSpPr>
        <p:spPr>
          <a:xfrm>
            <a:off x="400692" y="463730"/>
            <a:ext cx="2591589" cy="830997"/>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ACS</a:t>
            </a:r>
            <a:r>
              <a:rPr lang="zh-CN" altLang="en-US" sz="2400" b="1" dirty="0">
                <a:solidFill>
                  <a:srgbClr val="AE1022"/>
                </a:solidFill>
                <a:latin typeface="Microsoft YaHei UI" panose="020B0503020204020204" pitchFamily="34" charset="-122"/>
                <a:ea typeface="Microsoft YaHei UI" panose="020B0503020204020204" pitchFamily="34" charset="-122"/>
              </a:rPr>
              <a:t>的诊断程序及分类</a:t>
            </a:r>
            <a:endParaRPr lang="zh-CN" altLang="en-US" sz="2400" b="1" dirty="0">
              <a:solidFill>
                <a:srgbClr val="AE1022"/>
              </a:solidFill>
            </a:endParaRPr>
          </a:p>
        </p:txBody>
      </p:sp>
      <p:sp>
        <p:nvSpPr>
          <p:cNvPr id="4" name="矩形 3"/>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7489" y="104505"/>
            <a:ext cx="6609730" cy="5969732"/>
          </a:xfrm>
          <a:prstGeom prst="rect">
            <a:avLst/>
          </a:prstGeom>
        </p:spPr>
      </p:pic>
      <p:sp>
        <p:nvSpPr>
          <p:cNvPr id="2" name="矩形 1"/>
          <p:cNvSpPr/>
          <p:nvPr/>
        </p:nvSpPr>
        <p:spPr>
          <a:xfrm>
            <a:off x="4381564" y="2650733"/>
            <a:ext cx="945586" cy="118152"/>
          </a:xfrm>
          <a:prstGeom prst="rect">
            <a:avLst/>
          </a:prstGeom>
          <a:solidFill>
            <a:srgbClr val="BFE2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Microsoft YaHei UI" panose="020B0503020204020204" pitchFamily="34" charset="-122"/>
                <a:ea typeface="Microsoft YaHei UI" panose="020B0503020204020204" pitchFamily="34" charset="-122"/>
              </a:rPr>
              <a:t>正常心电图</a:t>
            </a:r>
          </a:p>
        </p:txBody>
      </p:sp>
      <p:sp>
        <p:nvSpPr>
          <p:cNvPr id="3" name="矩形 2"/>
          <p:cNvSpPr/>
          <p:nvPr/>
        </p:nvSpPr>
        <p:spPr>
          <a:xfrm>
            <a:off x="5841109" y="2645596"/>
            <a:ext cx="1402170" cy="149157"/>
          </a:xfrm>
          <a:prstGeom prst="rect">
            <a:avLst/>
          </a:prstGeom>
          <a:solidFill>
            <a:srgbClr val="B4D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段压低（轻度）</a:t>
            </a:r>
          </a:p>
        </p:txBody>
      </p:sp>
      <p:sp>
        <p:nvSpPr>
          <p:cNvPr id="6" name="矩形 5"/>
          <p:cNvSpPr/>
          <p:nvPr/>
        </p:nvSpPr>
        <p:spPr>
          <a:xfrm>
            <a:off x="7757238" y="2645595"/>
            <a:ext cx="945586" cy="143837"/>
          </a:xfrm>
          <a:prstGeom prst="rect">
            <a:avLst/>
          </a:prstGeom>
          <a:solidFill>
            <a:srgbClr val="99B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段压低</a:t>
            </a:r>
          </a:p>
        </p:txBody>
      </p:sp>
      <p:sp>
        <p:nvSpPr>
          <p:cNvPr id="8" name="矩形 7"/>
          <p:cNvSpPr/>
          <p:nvPr/>
        </p:nvSpPr>
        <p:spPr>
          <a:xfrm>
            <a:off x="8897364" y="2637890"/>
            <a:ext cx="895315" cy="143837"/>
          </a:xfrm>
          <a:prstGeom prst="rect">
            <a:avLst/>
          </a:prstGeom>
          <a:solidFill>
            <a:srgbClr val="8EA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段抬高</a:t>
            </a:r>
          </a:p>
        </p:txBody>
      </p:sp>
      <p:sp>
        <p:nvSpPr>
          <p:cNvPr id="10" name="矩形 9"/>
          <p:cNvSpPr/>
          <p:nvPr/>
        </p:nvSpPr>
        <p:spPr>
          <a:xfrm>
            <a:off x="9107759" y="229455"/>
            <a:ext cx="421573" cy="232882"/>
          </a:xfrm>
          <a:prstGeom prst="rect">
            <a:avLst/>
          </a:prstGeom>
          <a:solidFill>
            <a:srgbClr val="82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icrosoft YaHei UI" panose="020B0503020204020204" pitchFamily="34" charset="-122"/>
                <a:ea typeface="Microsoft YaHei UI" panose="020B0503020204020204" pitchFamily="34" charset="-122"/>
              </a:rPr>
              <a:t>高</a:t>
            </a:r>
          </a:p>
        </p:txBody>
      </p:sp>
      <p:sp>
        <p:nvSpPr>
          <p:cNvPr id="16" name="矩形 15"/>
          <p:cNvSpPr/>
          <p:nvPr/>
        </p:nvSpPr>
        <p:spPr>
          <a:xfrm>
            <a:off x="6942455" y="229455"/>
            <a:ext cx="288009" cy="232882"/>
          </a:xfrm>
          <a:prstGeom prst="rect">
            <a:avLst/>
          </a:prstGeom>
          <a:solidFill>
            <a:srgbClr val="82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icrosoft YaHei UI" panose="020B0503020204020204" pitchFamily="34" charset="-122"/>
                <a:ea typeface="Microsoft YaHei UI" panose="020B0503020204020204" pitchFamily="34" charset="-122"/>
              </a:rPr>
              <a:t>中</a:t>
            </a:r>
          </a:p>
        </p:txBody>
      </p:sp>
      <p:sp>
        <p:nvSpPr>
          <p:cNvPr id="18" name="矩形 17"/>
          <p:cNvSpPr/>
          <p:nvPr/>
        </p:nvSpPr>
        <p:spPr>
          <a:xfrm>
            <a:off x="4717219" y="246579"/>
            <a:ext cx="347941" cy="215758"/>
          </a:xfrm>
          <a:prstGeom prst="rect">
            <a:avLst/>
          </a:prstGeom>
          <a:solidFill>
            <a:srgbClr val="82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icrosoft YaHei UI" panose="020B0503020204020204" pitchFamily="34" charset="-122"/>
                <a:ea typeface="Microsoft YaHei UI" panose="020B0503020204020204" pitchFamily="34" charset="-122"/>
              </a:rPr>
              <a:t>低</a:t>
            </a:r>
          </a:p>
        </p:txBody>
      </p:sp>
      <p:sp>
        <p:nvSpPr>
          <p:cNvPr id="20" name="矩形 19"/>
          <p:cNvSpPr/>
          <p:nvPr/>
        </p:nvSpPr>
        <p:spPr>
          <a:xfrm>
            <a:off x="7711366" y="5662425"/>
            <a:ext cx="656935" cy="344183"/>
          </a:xfrm>
          <a:prstGeom prst="rect">
            <a:avLst/>
          </a:prstGeom>
          <a:solidFill>
            <a:srgbClr val="FCD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icrosoft YaHei UI" panose="020B0503020204020204" pitchFamily="34" charset="-122"/>
                <a:ea typeface="Microsoft YaHei UI" panose="020B0503020204020204" pitchFamily="34" charset="-122"/>
              </a:rPr>
              <a:t>其它心源性</a:t>
            </a:r>
          </a:p>
        </p:txBody>
      </p:sp>
      <p:sp>
        <p:nvSpPr>
          <p:cNvPr id="22" name="矩形 21"/>
          <p:cNvSpPr/>
          <p:nvPr/>
        </p:nvSpPr>
        <p:spPr>
          <a:xfrm>
            <a:off x="7112296" y="5662425"/>
            <a:ext cx="656935" cy="344183"/>
          </a:xfrm>
          <a:prstGeom prst="rect">
            <a:avLst/>
          </a:prstGeom>
          <a:solidFill>
            <a:srgbClr val="FCD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icrosoft YaHei UI" panose="020B0503020204020204" pitchFamily="34" charset="-122"/>
                <a:ea typeface="Microsoft YaHei UI" panose="020B0503020204020204" pitchFamily="34" charset="-122"/>
              </a:rPr>
              <a:t>UA</a:t>
            </a:r>
            <a:endParaRPr lang="zh-CN" altLang="en-US" sz="1200" dirty="0">
              <a:solidFill>
                <a:schemeClr val="tx1"/>
              </a:solidFill>
              <a:latin typeface="Microsoft YaHei UI" panose="020B0503020204020204" pitchFamily="34" charset="-122"/>
              <a:ea typeface="Microsoft YaHei UI" panose="020B0503020204020204" pitchFamily="34" charset="-122"/>
            </a:endParaRPr>
          </a:p>
        </p:txBody>
      </p:sp>
      <p:sp>
        <p:nvSpPr>
          <p:cNvPr id="24" name="矩形 23"/>
          <p:cNvSpPr/>
          <p:nvPr/>
        </p:nvSpPr>
        <p:spPr>
          <a:xfrm>
            <a:off x="766101" y="6223044"/>
            <a:ext cx="3071297" cy="61062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MI</a:t>
            </a:r>
            <a:r>
              <a:rPr lang="zh-CN" altLang="en-US" sz="1400" dirty="0">
                <a:solidFill>
                  <a:schemeClr val="tx1"/>
                </a:solidFill>
                <a:latin typeface="Microsoft YaHei UI" panose="020B0503020204020204" pitchFamily="34" charset="-122"/>
                <a:ea typeface="Microsoft YaHei UI" panose="020B0503020204020204" pitchFamily="34" charset="-122"/>
              </a:rPr>
              <a:t>：心肌梗死；</a:t>
            </a:r>
            <a:r>
              <a:rPr lang="en-US" altLang="zh-CN" sz="1400" dirty="0">
                <a:solidFill>
                  <a:schemeClr val="tx1"/>
                </a:solidFill>
                <a:latin typeface="Microsoft YaHei UI" panose="020B0503020204020204" pitchFamily="34" charset="-122"/>
                <a:ea typeface="Microsoft YaHei UI" panose="020B0503020204020204" pitchFamily="34" charset="-122"/>
              </a:rPr>
              <a:t>UA</a:t>
            </a:r>
            <a:r>
              <a:rPr lang="zh-CN" altLang="en-US" sz="1400" dirty="0">
                <a:solidFill>
                  <a:schemeClr val="tx1"/>
                </a:solidFill>
                <a:latin typeface="Microsoft YaHei UI" panose="020B0503020204020204" pitchFamily="34" charset="-122"/>
                <a:ea typeface="Microsoft YaHei UI" panose="020B0503020204020204" pitchFamily="34" charset="-122"/>
              </a:rPr>
              <a:t>：不稳定性心绞痛；</a:t>
            </a:r>
            <a:r>
              <a:rPr lang="en-US" altLang="zh-CN" sz="1400" dirty="0">
                <a:solidFill>
                  <a:schemeClr val="tx1"/>
                </a:solidFill>
                <a:latin typeface="Microsoft YaHei UI" panose="020B0503020204020204" pitchFamily="34" charset="-122"/>
                <a:ea typeface="Microsoft YaHei UI" panose="020B0503020204020204" pitchFamily="34" charset="-122"/>
              </a:rPr>
              <a:t>STEMI</a:t>
            </a:r>
            <a:r>
              <a:rPr lang="zh-CN" altLang="en-US" sz="1400" dirty="0">
                <a:solidFill>
                  <a:schemeClr val="tx1"/>
                </a:solidFill>
                <a:latin typeface="Microsoft YaHei UI" panose="020B0503020204020204" pitchFamily="34" charset="-122"/>
                <a:ea typeface="Microsoft YaHei UI" panose="020B0503020204020204" pitchFamily="34" charset="-122"/>
              </a:rPr>
              <a:t>：</a:t>
            </a:r>
            <a:r>
              <a:rPr lang="en-US" altLang="zh-CN" sz="1400" dirty="0">
                <a:solidFill>
                  <a:schemeClr val="tx1"/>
                </a:solidFill>
                <a:latin typeface="Microsoft YaHei UI" panose="020B0503020204020204" pitchFamily="34" charset="-122"/>
                <a:ea typeface="Microsoft YaHei UI" panose="020B0503020204020204" pitchFamily="34" charset="-122"/>
              </a:rPr>
              <a:t>ST</a:t>
            </a:r>
            <a:r>
              <a:rPr lang="zh-CN" altLang="en-US" sz="1400" dirty="0">
                <a:solidFill>
                  <a:schemeClr val="tx1"/>
                </a:solidFill>
                <a:latin typeface="Microsoft YaHei UI" panose="020B0503020204020204" pitchFamily="34" charset="-122"/>
                <a:ea typeface="Microsoft YaHei UI" panose="020B0503020204020204" pitchFamily="34" charset="-122"/>
              </a:rPr>
              <a:t>段抬高性心肌梗死</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13" name="文本框 12"/>
          <p:cNvSpPr txBox="1"/>
          <p:nvPr/>
        </p:nvSpPr>
        <p:spPr>
          <a:xfrm>
            <a:off x="162627" y="1044223"/>
            <a:ext cx="2929894" cy="830997"/>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高敏心肌肌钙蛋白</a:t>
            </a:r>
            <a:r>
              <a:rPr lang="en-US" altLang="zh-CN" sz="2400" b="1" dirty="0">
                <a:solidFill>
                  <a:srgbClr val="AE1022"/>
                </a:solidFill>
                <a:latin typeface="Microsoft YaHei UI" panose="020B0503020204020204" pitchFamily="34" charset="-122"/>
                <a:ea typeface="Microsoft YaHei UI" panose="020B0503020204020204" pitchFamily="34" charset="-122"/>
              </a:rPr>
              <a:t>(</a:t>
            </a:r>
            <a:r>
              <a:rPr lang="en-US" altLang="zh-CN" sz="2400" b="1" dirty="0" err="1">
                <a:solidFill>
                  <a:srgbClr val="AE1022"/>
                </a:solidFill>
                <a:latin typeface="Microsoft YaHei UI" panose="020B0503020204020204" pitchFamily="34" charset="-122"/>
                <a:ea typeface="Microsoft YaHei UI" panose="020B0503020204020204" pitchFamily="34" charset="-122"/>
              </a:rPr>
              <a:t>hs-cTn</a:t>
            </a:r>
            <a:r>
              <a:rPr lang="en-US" altLang="zh-CN" sz="2400" b="1" dirty="0">
                <a:solidFill>
                  <a:srgbClr val="AE1022"/>
                </a:solidFill>
                <a:latin typeface="Microsoft YaHei UI" panose="020B0503020204020204" pitchFamily="34" charset="-122"/>
                <a:ea typeface="Microsoft YaHei UI" panose="020B0503020204020204" pitchFamily="34" charset="-122"/>
              </a:rPr>
              <a:t>)</a:t>
            </a:r>
            <a:r>
              <a:rPr lang="zh-CN" altLang="en-US" sz="2400" b="1" dirty="0">
                <a:solidFill>
                  <a:srgbClr val="AE1022"/>
                </a:solidFill>
                <a:latin typeface="Microsoft YaHei UI" panose="020B0503020204020204" pitchFamily="34" charset="-122"/>
                <a:ea typeface="Microsoft YaHei UI" panose="020B0503020204020204" pitchFamily="34" charset="-122"/>
              </a:rPr>
              <a:t>诊断价值</a:t>
            </a:r>
            <a:endParaRPr lang="zh-CN" altLang="en-US" sz="2400" b="1" dirty="0">
              <a:solidFill>
                <a:srgbClr val="AE1022"/>
              </a:solidFill>
            </a:endParaRPr>
          </a:p>
        </p:txBody>
      </p:sp>
      <p:sp>
        <p:nvSpPr>
          <p:cNvPr id="4" name="矩形 3"/>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355" y="125815"/>
            <a:ext cx="7058710" cy="5717713"/>
          </a:xfrm>
          <a:prstGeom prst="rect">
            <a:avLst/>
          </a:prstGeom>
        </p:spPr>
      </p:pic>
      <p:sp>
        <p:nvSpPr>
          <p:cNvPr id="2" name="矩形 1"/>
          <p:cNvSpPr/>
          <p:nvPr/>
        </p:nvSpPr>
        <p:spPr>
          <a:xfrm>
            <a:off x="796925" y="5781884"/>
            <a:ext cx="10381358" cy="3788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err="1">
                <a:solidFill>
                  <a:schemeClr val="tx1"/>
                </a:solidFill>
                <a:latin typeface="Microsoft YaHei UI" panose="020B0503020204020204" pitchFamily="34" charset="-122"/>
                <a:ea typeface="Microsoft YaHei UI" panose="020B0503020204020204" pitchFamily="34" charset="-122"/>
              </a:rPr>
              <a:t>CoV</a:t>
            </a:r>
            <a:r>
              <a:rPr lang="zh-CN" altLang="en-US" sz="1400" dirty="0">
                <a:solidFill>
                  <a:schemeClr val="tx1"/>
                </a:solidFill>
                <a:latin typeface="Microsoft YaHei UI" panose="020B0503020204020204" pitchFamily="34" charset="-122"/>
                <a:ea typeface="Microsoft YaHei UI" panose="020B0503020204020204" pitchFamily="34" charset="-122"/>
              </a:rPr>
              <a:t>：变异系数；</a:t>
            </a:r>
            <a:r>
              <a:rPr lang="en-US" altLang="zh-CN" sz="1400" dirty="0">
                <a:solidFill>
                  <a:schemeClr val="tx1"/>
                </a:solidFill>
                <a:latin typeface="Microsoft YaHei UI" panose="020B0503020204020204" pitchFamily="34" charset="-122"/>
                <a:ea typeface="Microsoft YaHei UI" panose="020B0503020204020204" pitchFamily="34" charset="-122"/>
              </a:rPr>
              <a:t>a</a:t>
            </a:r>
            <a:r>
              <a:rPr lang="zh-CN" altLang="en-US" sz="1400" dirty="0">
                <a:solidFill>
                  <a:schemeClr val="tx1"/>
                </a:solidFill>
                <a:latin typeface="Microsoft YaHei UI" panose="020B0503020204020204" pitchFamily="34" charset="-122"/>
                <a:ea typeface="Microsoft YaHei UI" panose="020B0503020204020204" pitchFamily="34" charset="-122"/>
              </a:rPr>
              <a:t>：不同</a:t>
            </a:r>
            <a:r>
              <a:rPr lang="en-US" altLang="zh-CN" sz="1400" dirty="0" err="1">
                <a:solidFill>
                  <a:schemeClr val="tx1"/>
                </a:solidFill>
                <a:latin typeface="Microsoft YaHei UI" panose="020B0503020204020204" pitchFamily="34" charset="-122"/>
                <a:ea typeface="Microsoft YaHei UI" panose="020B0503020204020204" pitchFamily="34" charset="-122"/>
              </a:rPr>
              <a:t>hs-cTn</a:t>
            </a:r>
            <a:r>
              <a:rPr lang="zh-CN" altLang="en-US" sz="1400" dirty="0">
                <a:solidFill>
                  <a:schemeClr val="tx1"/>
                </a:solidFill>
                <a:latin typeface="Microsoft YaHei UI" panose="020B0503020204020204" pitchFamily="34" charset="-122"/>
                <a:ea typeface="Microsoft YaHei UI" panose="020B0503020204020204" pitchFamily="34" charset="-122"/>
              </a:rPr>
              <a:t>检测方法的极限波动在</a:t>
            </a:r>
            <a:r>
              <a:rPr lang="en-US" altLang="zh-CN" sz="1400" dirty="0">
                <a:solidFill>
                  <a:schemeClr val="tx1"/>
                </a:solidFill>
                <a:latin typeface="Microsoft YaHei UI" panose="020B0503020204020204" pitchFamily="34" charset="-122"/>
                <a:ea typeface="Microsoft YaHei UI" panose="020B0503020204020204" pitchFamily="34" charset="-122"/>
              </a:rPr>
              <a:t>1ng/L</a:t>
            </a:r>
            <a:r>
              <a:rPr lang="zh-CN" altLang="en-US" sz="1400" dirty="0">
                <a:solidFill>
                  <a:schemeClr val="tx1"/>
                </a:solidFill>
                <a:latin typeface="Microsoft YaHei UI" panose="020B0503020204020204" pitchFamily="34" charset="-122"/>
                <a:ea typeface="Microsoft YaHei UI" panose="020B0503020204020204" pitchFamily="34" charset="-122"/>
              </a:rPr>
              <a:t>与</a:t>
            </a:r>
            <a:r>
              <a:rPr lang="en-US" altLang="zh-CN" sz="1400" dirty="0">
                <a:solidFill>
                  <a:schemeClr val="tx1"/>
                </a:solidFill>
                <a:latin typeface="Microsoft YaHei UI" panose="020B0503020204020204" pitchFamily="34" charset="-122"/>
                <a:ea typeface="Microsoft YaHei UI" panose="020B0503020204020204" pitchFamily="34" charset="-122"/>
              </a:rPr>
              <a:t>5ng/L</a:t>
            </a:r>
            <a:r>
              <a:rPr lang="zh-CN" altLang="en-US" sz="1400" dirty="0">
                <a:solidFill>
                  <a:schemeClr val="tx1"/>
                </a:solidFill>
                <a:latin typeface="Microsoft YaHei UI" panose="020B0503020204020204" pitchFamily="34" charset="-122"/>
                <a:ea typeface="Microsoft YaHei UI" panose="020B0503020204020204" pitchFamily="34" charset="-122"/>
              </a:rPr>
              <a:t>之间；同样，</a:t>
            </a:r>
            <a:r>
              <a:rPr lang="en-US" altLang="zh-CN" sz="1400" dirty="0">
                <a:solidFill>
                  <a:schemeClr val="tx1"/>
                </a:solidFill>
                <a:latin typeface="Microsoft YaHei UI" panose="020B0503020204020204" pitchFamily="34" charset="-122"/>
                <a:ea typeface="Microsoft YaHei UI" panose="020B0503020204020204" pitchFamily="34" charset="-122"/>
              </a:rPr>
              <a:t>99</a:t>
            </a:r>
            <a:r>
              <a:rPr lang="en-US" altLang="zh-CN" sz="1200" baseline="30000" dirty="0">
                <a:solidFill>
                  <a:schemeClr val="tx1"/>
                </a:solidFill>
                <a:latin typeface="Microsoft YaHei UI" panose="020B0503020204020204" pitchFamily="34" charset="-122"/>
                <a:ea typeface="Microsoft YaHei UI" panose="020B0503020204020204" pitchFamily="34" charset="-122"/>
              </a:rPr>
              <a:t>th</a:t>
            </a:r>
            <a:r>
              <a:rPr lang="zh-CN" altLang="en-US" sz="1400" dirty="0">
                <a:solidFill>
                  <a:schemeClr val="tx1"/>
                </a:solidFill>
                <a:latin typeface="Microsoft YaHei UI" panose="020B0503020204020204" pitchFamily="34" charset="-122"/>
                <a:ea typeface="Microsoft YaHei UI" panose="020B0503020204020204" pitchFamily="34" charset="-122"/>
              </a:rPr>
              <a:t>同主要浮动在</a:t>
            </a:r>
            <a:r>
              <a:rPr lang="en-US" altLang="zh-CN" sz="1400" dirty="0">
                <a:solidFill>
                  <a:schemeClr val="tx1"/>
                </a:solidFill>
                <a:latin typeface="Microsoft YaHei UI" panose="020B0503020204020204" pitchFamily="34" charset="-122"/>
                <a:ea typeface="Microsoft YaHei UI" panose="020B0503020204020204" pitchFamily="34" charset="-122"/>
              </a:rPr>
              <a:t>10ng/L</a:t>
            </a:r>
            <a:r>
              <a:rPr lang="zh-CN" altLang="en-US" sz="1400" dirty="0">
                <a:solidFill>
                  <a:schemeClr val="tx1"/>
                </a:solidFill>
                <a:latin typeface="Microsoft YaHei UI" panose="020B0503020204020204" pitchFamily="34" charset="-122"/>
                <a:ea typeface="Microsoft YaHei UI" panose="020B0503020204020204" pitchFamily="34" charset="-122"/>
              </a:rPr>
              <a:t>至</a:t>
            </a:r>
            <a:r>
              <a:rPr lang="en-US" altLang="zh-CN" sz="1400" dirty="0">
                <a:solidFill>
                  <a:schemeClr val="tx1"/>
                </a:solidFill>
                <a:latin typeface="Microsoft YaHei UI" panose="020B0503020204020204" pitchFamily="34" charset="-122"/>
                <a:ea typeface="Microsoft YaHei UI" panose="020B0503020204020204" pitchFamily="34" charset="-122"/>
              </a:rPr>
              <a:t>20ng/L</a:t>
            </a:r>
            <a:r>
              <a:rPr lang="zh-CN" altLang="en-US" sz="1400" dirty="0">
                <a:solidFill>
                  <a:schemeClr val="tx1"/>
                </a:solidFill>
                <a:latin typeface="Microsoft YaHei UI" panose="020B0503020204020204" pitchFamily="34" charset="-122"/>
                <a:ea typeface="Microsoft YaHei UI" panose="020B0503020204020204" pitchFamily="34" charset="-122"/>
              </a:rPr>
              <a:t>之间。</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r>
              <a:rPr lang="zh-CN" altLang="en-US" sz="1400" b="1" dirty="0">
                <a:solidFill>
                  <a:schemeClr val="tx1"/>
                </a:solidFill>
                <a:latin typeface="Microsoft YaHei UI" panose="020B0503020204020204" pitchFamily="34" charset="-122"/>
                <a:ea typeface="Microsoft YaHei UI" panose="020B0503020204020204" pitchFamily="34" charset="-122"/>
              </a:rPr>
              <a:t>注：本院本科测定的为</a:t>
            </a:r>
            <a:r>
              <a:rPr lang="en-US" altLang="zh-CN" sz="1400" b="1" dirty="0" err="1">
                <a:solidFill>
                  <a:schemeClr val="tx1"/>
                </a:solidFill>
                <a:latin typeface="Microsoft YaHei UI" panose="020B0503020204020204" pitchFamily="34" charset="-122"/>
                <a:ea typeface="Microsoft YaHei UI" panose="020B0503020204020204" pitchFamily="34" charset="-122"/>
              </a:rPr>
              <a:t>hs</a:t>
            </a:r>
            <a:r>
              <a:rPr lang="en-US" altLang="zh-CN" sz="1400" b="1" dirty="0">
                <a:solidFill>
                  <a:schemeClr val="tx1"/>
                </a:solidFill>
                <a:latin typeface="Microsoft YaHei UI" panose="020B0503020204020204" pitchFamily="34" charset="-122"/>
                <a:ea typeface="Microsoft YaHei UI" panose="020B0503020204020204" pitchFamily="34" charset="-122"/>
              </a:rPr>
              <a:t>-TNT</a:t>
            </a:r>
            <a:r>
              <a:rPr lang="zh-CN" altLang="en-US" sz="1400" b="1" dirty="0">
                <a:solidFill>
                  <a:schemeClr val="tx1"/>
                </a:solidFill>
                <a:latin typeface="Microsoft YaHei UI" panose="020B0503020204020204" pitchFamily="34" charset="-122"/>
                <a:ea typeface="Microsoft YaHei UI" panose="020B0503020204020204" pitchFamily="34" charset="-122"/>
              </a:rPr>
              <a:t>，急诊</a:t>
            </a:r>
            <a:r>
              <a:rPr lang="en-US" altLang="zh-CN" sz="1400" b="1" dirty="0">
                <a:solidFill>
                  <a:schemeClr val="tx1"/>
                </a:solidFill>
                <a:latin typeface="Microsoft YaHei UI" panose="020B0503020204020204" pitchFamily="34" charset="-122"/>
                <a:ea typeface="Microsoft YaHei UI" panose="020B0503020204020204" pitchFamily="34" charset="-122"/>
              </a:rPr>
              <a:t>30min</a:t>
            </a:r>
            <a:r>
              <a:rPr lang="zh-CN" altLang="en-US" sz="1400" b="1" dirty="0">
                <a:solidFill>
                  <a:schemeClr val="tx1"/>
                </a:solidFill>
                <a:latin typeface="Microsoft YaHei UI" panose="020B0503020204020204" pitchFamily="34" charset="-122"/>
                <a:ea typeface="Microsoft YaHei UI" panose="020B0503020204020204" pitchFamily="34" charset="-122"/>
              </a:rPr>
              <a:t>内出结果，平诊</a:t>
            </a:r>
            <a:r>
              <a:rPr lang="en-US" altLang="zh-CN" sz="1400" b="1" dirty="0">
                <a:solidFill>
                  <a:schemeClr val="tx1"/>
                </a:solidFill>
                <a:latin typeface="Microsoft YaHei UI" panose="020B0503020204020204" pitchFamily="34" charset="-122"/>
                <a:ea typeface="Microsoft YaHei UI" panose="020B0503020204020204" pitchFamily="34" charset="-122"/>
              </a:rPr>
              <a:t>40min</a:t>
            </a:r>
            <a:r>
              <a:rPr lang="zh-CN" altLang="en-US" sz="1400" b="1" dirty="0">
                <a:solidFill>
                  <a:schemeClr val="tx1"/>
                </a:solidFill>
                <a:latin typeface="Microsoft YaHei UI" panose="020B0503020204020204" pitchFamily="34" charset="-122"/>
                <a:ea typeface="Microsoft YaHei UI" panose="020B0503020204020204" pitchFamily="34" charset="-122"/>
              </a:rPr>
              <a:t>出结果</a:t>
            </a:r>
            <a:endParaRPr lang="zh-CN" altLang="en-US" sz="1400" b="1" baseline="30000" dirty="0">
              <a:solidFill>
                <a:schemeClr val="tx1"/>
              </a:solidFill>
              <a:latin typeface="Microsoft YaHei UI" panose="020B0503020204020204" pitchFamily="34" charset="-122"/>
              <a:ea typeface="Microsoft YaHei UI" panose="020B0503020204020204" pitchFamily="34" charset="-122"/>
            </a:endParaRPr>
          </a:p>
        </p:txBody>
      </p:sp>
      <p:sp>
        <p:nvSpPr>
          <p:cNvPr id="3" name="文本框 2"/>
          <p:cNvSpPr txBox="1"/>
          <p:nvPr/>
        </p:nvSpPr>
        <p:spPr>
          <a:xfrm>
            <a:off x="8495929" y="4705164"/>
            <a:ext cx="1154097" cy="261610"/>
          </a:xfrm>
          <a:prstGeom prst="rect">
            <a:avLst/>
          </a:prstGeom>
          <a:noFill/>
        </p:spPr>
        <p:txBody>
          <a:bodyPr wrap="square" rtlCol="0">
            <a:spAutoFit/>
          </a:bodyPr>
          <a:lstStyle/>
          <a:p>
            <a:r>
              <a:rPr lang="en-US" altLang="zh-CN" sz="1100" b="1" dirty="0">
                <a:latin typeface="微软雅黑" panose="020B0503020204020204" pitchFamily="34" charset="-122"/>
                <a:ea typeface="微软雅黑" panose="020B0503020204020204" pitchFamily="34" charset="-122"/>
              </a:rPr>
              <a:t>99</a:t>
            </a:r>
            <a:r>
              <a:rPr lang="en-US" altLang="zh-CN" sz="1100" b="1" baseline="30000" dirty="0">
                <a:latin typeface="微软雅黑" panose="020B0503020204020204" pitchFamily="34" charset="-122"/>
                <a:ea typeface="微软雅黑" panose="020B0503020204020204" pitchFamily="34" charset="-122"/>
              </a:rPr>
              <a:t>th</a:t>
            </a:r>
            <a:endParaRPr lang="zh-CN" altLang="en-US" sz="1100" b="1" baseline="30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695" y="1444769"/>
            <a:ext cx="10434619" cy="369333"/>
          </a:xfrm>
          <a:prstGeom prst="rect">
            <a:avLst/>
          </a:prstGeom>
        </p:spPr>
      </p:pic>
      <p:sp>
        <p:nvSpPr>
          <p:cNvPr id="16" name="矩形 15"/>
          <p:cNvSpPr/>
          <p:nvPr/>
        </p:nvSpPr>
        <p:spPr>
          <a:xfrm>
            <a:off x="775692" y="2537371"/>
            <a:ext cx="10424347"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kern="1200" dirty="0">
                <a:solidFill>
                  <a:schemeClr val="dk1"/>
                </a:solidFill>
                <a:latin typeface="Microsoft YaHei UI" panose="020B0503020204020204" pitchFamily="34" charset="-122"/>
                <a:ea typeface="Microsoft YaHei UI" panose="020B0503020204020204" pitchFamily="34" charset="-122"/>
              </a:rPr>
              <a:t>使</a:t>
            </a:r>
            <a:r>
              <a:rPr lang="en-US" altLang="zh-CN" sz="1800" kern="1200" dirty="0">
                <a:solidFill>
                  <a:schemeClr val="dk1"/>
                </a:solidFill>
                <a:latin typeface="Microsoft YaHei UI" panose="020B0503020204020204" pitchFamily="34" charset="-122"/>
                <a:ea typeface="Microsoft YaHei UI" panose="020B0503020204020204" pitchFamily="34" charset="-122"/>
              </a:rPr>
              <a:t>1</a:t>
            </a:r>
            <a:r>
              <a:rPr lang="zh-CN" altLang="en-US" sz="1800" kern="1200" dirty="0">
                <a:solidFill>
                  <a:schemeClr val="dk1"/>
                </a:solidFill>
                <a:latin typeface="Microsoft YaHei UI" panose="020B0503020204020204" pitchFamily="34" charset="-122"/>
                <a:ea typeface="Microsoft YaHei UI" panose="020B0503020204020204" pitchFamily="34" charset="-122"/>
              </a:rPr>
              <a:t>型</a:t>
            </a:r>
            <a:r>
              <a:rPr lang="en-US" altLang="zh-CN" sz="1800" kern="1200" dirty="0">
                <a:solidFill>
                  <a:schemeClr val="dk1"/>
                </a:solidFill>
                <a:latin typeface="Microsoft YaHei UI" panose="020B0503020204020204" pitchFamily="34" charset="-122"/>
                <a:ea typeface="Microsoft YaHei UI" panose="020B0503020204020204" pitchFamily="34" charset="-122"/>
              </a:rPr>
              <a:t>MI</a:t>
            </a:r>
            <a:r>
              <a:rPr lang="zh-CN" altLang="en-US" sz="1800" kern="1200" dirty="0">
                <a:solidFill>
                  <a:schemeClr val="dk1"/>
                </a:solidFill>
                <a:latin typeface="Microsoft YaHei UI" panose="020B0503020204020204" pitchFamily="34" charset="-122"/>
                <a:ea typeface="Microsoft YaHei UI" panose="020B0503020204020204" pitchFamily="34" charset="-122"/>
              </a:rPr>
              <a:t>（</a:t>
            </a:r>
            <a:r>
              <a:rPr lang="zh-CN" altLang="en-US" sz="1800" kern="1200" dirty="0">
                <a:solidFill>
                  <a:srgbClr val="FF0000"/>
                </a:solidFill>
                <a:latin typeface="Microsoft YaHei UI" panose="020B0503020204020204" pitchFamily="34" charset="-122"/>
                <a:ea typeface="Microsoft YaHei UI" panose="020B0503020204020204" pitchFamily="34" charset="-122"/>
              </a:rPr>
              <a:t>斑块破裂</a:t>
            </a:r>
            <a:r>
              <a:rPr lang="zh-CN" altLang="en-US" sz="1800" kern="1200" dirty="0">
                <a:solidFill>
                  <a:schemeClr val="dk1"/>
                </a:solidFill>
                <a:latin typeface="Microsoft YaHei UI" panose="020B0503020204020204" pitchFamily="34" charset="-122"/>
                <a:ea typeface="Microsoft YaHei UI" panose="020B0503020204020204" pitchFamily="34" charset="-122"/>
              </a:rPr>
              <a:t>）的检出率绝对增加</a:t>
            </a:r>
            <a:r>
              <a:rPr lang="en-US" altLang="zh-CN" sz="1800" kern="1200" dirty="0">
                <a:solidFill>
                  <a:schemeClr val="dk1"/>
                </a:solidFill>
                <a:latin typeface="Microsoft YaHei UI" panose="020B0503020204020204" pitchFamily="34" charset="-122"/>
                <a:ea typeface="Microsoft YaHei UI" panose="020B0503020204020204" pitchFamily="34" charset="-122"/>
              </a:rPr>
              <a:t>~4%</a:t>
            </a:r>
            <a:r>
              <a:rPr lang="zh-CN" altLang="en-US" sz="1800" kern="1200" dirty="0">
                <a:solidFill>
                  <a:schemeClr val="dk1"/>
                </a:solidFill>
                <a:latin typeface="Microsoft YaHei UI" panose="020B0503020204020204" pitchFamily="34" charset="-122"/>
                <a:ea typeface="Microsoft YaHei UI" panose="020B0503020204020204" pitchFamily="34" charset="-122"/>
              </a:rPr>
              <a:t>，相对增加</a:t>
            </a:r>
            <a:r>
              <a:rPr lang="en-US" altLang="zh-CN" sz="1800" kern="1200" dirty="0">
                <a:solidFill>
                  <a:schemeClr val="dk1"/>
                </a:solidFill>
                <a:latin typeface="Microsoft YaHei UI" panose="020B0503020204020204" pitchFamily="34" charset="-122"/>
                <a:ea typeface="Microsoft YaHei UI" panose="020B0503020204020204" pitchFamily="34" charset="-122"/>
              </a:rPr>
              <a:t>~20%</a:t>
            </a:r>
            <a:r>
              <a:rPr lang="zh-CN" altLang="en-US" sz="1800" kern="1200" dirty="0">
                <a:solidFill>
                  <a:schemeClr val="dk1"/>
                </a:solidFill>
                <a:latin typeface="Microsoft YaHei UI" panose="020B0503020204020204" pitchFamily="34" charset="-122"/>
                <a:ea typeface="Microsoft YaHei UI" panose="020B0503020204020204" pitchFamily="34" charset="-122"/>
              </a:rPr>
              <a:t>，相应降低了</a:t>
            </a:r>
            <a:r>
              <a:rPr lang="en-US" altLang="zh-CN" sz="1800" kern="1200" dirty="0">
                <a:solidFill>
                  <a:schemeClr val="dk1"/>
                </a:solidFill>
                <a:latin typeface="Microsoft YaHei UI" panose="020B0503020204020204" pitchFamily="34" charset="-122"/>
                <a:ea typeface="Microsoft YaHei UI" panose="020B0503020204020204" pitchFamily="34" charset="-122"/>
              </a:rPr>
              <a:t>UA</a:t>
            </a:r>
            <a:r>
              <a:rPr lang="zh-CN" altLang="en-US" sz="1800" kern="1200" dirty="0">
                <a:solidFill>
                  <a:schemeClr val="dk1"/>
                </a:solidFill>
                <a:latin typeface="Microsoft YaHei UI" panose="020B0503020204020204" pitchFamily="34" charset="-122"/>
                <a:ea typeface="Microsoft YaHei UI" panose="020B0503020204020204" pitchFamily="34" charset="-122"/>
              </a:rPr>
              <a:t>的诊断率</a:t>
            </a:r>
            <a:endParaRPr lang="zh-CN" altLang="en-US" sz="1800" kern="1200" dirty="0">
              <a:solidFill>
                <a:schemeClr val="dk1"/>
              </a:solidFill>
              <a:latin typeface="Microsoft YaHei UI" panose="020B0503020204020204" pitchFamily="34" charset="-122"/>
              <a:ea typeface="Microsoft YaHei UI" panose="020B0503020204020204" pitchFamily="34" charset="-122"/>
              <a:cs typeface="Arial" panose="020B0604020202020204" pitchFamily="34" charset="0"/>
            </a:endParaRPr>
          </a:p>
        </p:txBody>
      </p:sp>
      <p:sp>
        <p:nvSpPr>
          <p:cNvPr id="17" name="矩形 16"/>
          <p:cNvSpPr/>
          <p:nvPr/>
        </p:nvSpPr>
        <p:spPr>
          <a:xfrm>
            <a:off x="775696" y="1865398"/>
            <a:ext cx="10424348" cy="26539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对急性</a:t>
            </a:r>
            <a:r>
              <a:rPr lang="en-US" altLang="zh-CN" sz="1800" dirty="0">
                <a:latin typeface="Microsoft YaHei UI" panose="020B0503020204020204" pitchFamily="34" charset="-122"/>
                <a:ea typeface="Microsoft YaHei UI" panose="020B0503020204020204" pitchFamily="34" charset="-122"/>
              </a:rPr>
              <a:t>MI</a:t>
            </a:r>
            <a:r>
              <a:rPr lang="zh-CN" altLang="en-US" sz="1800" dirty="0">
                <a:latin typeface="Microsoft YaHei UI" panose="020B0503020204020204" pitchFamily="34" charset="-122"/>
                <a:ea typeface="Microsoft YaHei UI" panose="020B0503020204020204" pitchFamily="34" charset="-122"/>
              </a:rPr>
              <a:t>具有较高的阴性预测值</a:t>
            </a:r>
            <a:endParaRPr lang="zh-CN" altLang="en-US" sz="1800" dirty="0">
              <a:latin typeface="Microsoft YaHei UI" panose="020B0503020204020204" pitchFamily="34" charset="-122"/>
              <a:ea typeface="Microsoft YaHei UI" panose="020B0503020204020204" pitchFamily="34" charset="-122"/>
              <a:cs typeface="Arial" panose="020B0604020202020204" pitchFamily="34" charset="0"/>
            </a:endParaRPr>
          </a:p>
        </p:txBody>
      </p:sp>
      <p:sp>
        <p:nvSpPr>
          <p:cNvPr id="23" name="文本框 22"/>
          <p:cNvSpPr txBox="1"/>
          <p:nvPr/>
        </p:nvSpPr>
        <p:spPr>
          <a:xfrm>
            <a:off x="775695" y="1438383"/>
            <a:ext cx="5118550" cy="369332"/>
          </a:xfrm>
          <a:prstGeom prst="rect">
            <a:avLst/>
          </a:prstGeom>
          <a:noFill/>
        </p:spPr>
        <p:txBody>
          <a:bodyPr wrap="square" rtlCol="0">
            <a:spAutoFit/>
          </a:bodyPr>
          <a:lstStyle/>
          <a:p>
            <a:r>
              <a:rPr lang="zh-CN" altLang="en-US" sz="1800" b="1" dirty="0">
                <a:latin typeface="Microsoft YaHei UI" panose="020B0503020204020204" pitchFamily="34" charset="-122"/>
                <a:ea typeface="Microsoft YaHei UI" panose="020B0503020204020204" pitchFamily="34" charset="-122"/>
              </a:rPr>
              <a:t>与标准心肌肌钙蛋白</a:t>
            </a:r>
            <a:r>
              <a:rPr lang="en-US" altLang="zh-CN" sz="1800" b="1" dirty="0">
                <a:latin typeface="Microsoft YaHei UI" panose="020B0503020204020204" pitchFamily="34" charset="-122"/>
                <a:ea typeface="Microsoft YaHei UI" panose="020B0503020204020204" pitchFamily="34" charset="-122"/>
              </a:rPr>
              <a:t>(</a:t>
            </a:r>
            <a:r>
              <a:rPr lang="en-US" altLang="zh-CN" sz="1800" b="1" dirty="0" err="1">
                <a:latin typeface="Microsoft YaHei UI" panose="020B0503020204020204" pitchFamily="34" charset="-122"/>
                <a:ea typeface="Microsoft YaHei UI" panose="020B0503020204020204" pitchFamily="34" charset="-122"/>
              </a:rPr>
              <a:t>cTn</a:t>
            </a:r>
            <a:r>
              <a:rPr lang="en-US" altLang="zh-CN" sz="1800" b="1" dirty="0">
                <a:latin typeface="Microsoft YaHei UI" panose="020B0503020204020204" pitchFamily="34" charset="-122"/>
                <a:ea typeface="Microsoft YaHei UI" panose="020B0503020204020204" pitchFamily="34" charset="-122"/>
              </a:rPr>
              <a:t>)</a:t>
            </a:r>
            <a:r>
              <a:rPr lang="zh-CN" altLang="en-US" sz="1800" b="1" dirty="0">
                <a:latin typeface="Microsoft YaHei UI" panose="020B0503020204020204" pitchFamily="34" charset="-122"/>
                <a:ea typeface="Microsoft YaHei UI" panose="020B0503020204020204" pitchFamily="34" charset="-122"/>
              </a:rPr>
              <a:t>相比，</a:t>
            </a:r>
            <a:r>
              <a:rPr lang="en-US" altLang="zh-CN" sz="1800" b="1" dirty="0" err="1">
                <a:latin typeface="Microsoft YaHei UI" panose="020B0503020204020204" pitchFamily="34" charset="-122"/>
                <a:ea typeface="Microsoft YaHei UI" panose="020B0503020204020204" pitchFamily="34" charset="-122"/>
              </a:rPr>
              <a:t>hs-cTn</a:t>
            </a:r>
            <a:r>
              <a:rPr lang="zh-CN" altLang="en-US" b="1" dirty="0">
                <a:latin typeface="Microsoft YaHei UI" panose="020B0503020204020204" pitchFamily="34" charset="-122"/>
                <a:ea typeface="Microsoft YaHei UI" panose="020B0503020204020204" pitchFamily="34" charset="-122"/>
              </a:rPr>
              <a:t>：</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811968" y="700147"/>
            <a:ext cx="9197696" cy="523220"/>
          </a:xfrm>
          <a:prstGeom prst="rect">
            <a:avLst/>
          </a:prstGeom>
          <a:noFill/>
        </p:spPr>
        <p:txBody>
          <a:bodyPr wrap="square" rtlCol="0">
            <a:spAutoFit/>
          </a:bodyPr>
          <a:lstStyle/>
          <a:p>
            <a:r>
              <a:rPr lang="zh-CN" altLang="en-US" sz="2800" b="1" dirty="0">
                <a:solidFill>
                  <a:srgbClr val="AE1022"/>
                </a:solidFill>
                <a:latin typeface="Microsoft YaHei UI" panose="020B0503020204020204" pitchFamily="34" charset="-122"/>
                <a:ea typeface="Microsoft YaHei UI" panose="020B0503020204020204" pitchFamily="34" charset="-122"/>
              </a:rPr>
              <a:t>高敏心肌肌钙蛋白</a:t>
            </a:r>
            <a:r>
              <a:rPr lang="en-US" altLang="zh-CN" sz="2800" b="1" dirty="0">
                <a:solidFill>
                  <a:srgbClr val="AE1022"/>
                </a:solidFill>
                <a:latin typeface="Microsoft YaHei UI" panose="020B0503020204020204" pitchFamily="34" charset="-122"/>
                <a:ea typeface="Microsoft YaHei UI" panose="020B0503020204020204" pitchFamily="34" charset="-122"/>
              </a:rPr>
              <a:t>(</a:t>
            </a:r>
            <a:r>
              <a:rPr lang="en-US" altLang="zh-CN" sz="2800" b="1" dirty="0" err="1">
                <a:solidFill>
                  <a:srgbClr val="AE1022"/>
                </a:solidFill>
                <a:latin typeface="Microsoft YaHei UI" panose="020B0503020204020204" pitchFamily="34" charset="-122"/>
                <a:ea typeface="Microsoft YaHei UI" panose="020B0503020204020204" pitchFamily="34" charset="-122"/>
              </a:rPr>
              <a:t>hs-cTn</a:t>
            </a:r>
            <a:r>
              <a:rPr lang="en-US" altLang="zh-CN" sz="2800" b="1" dirty="0">
                <a:solidFill>
                  <a:srgbClr val="AE1022"/>
                </a:solidFill>
                <a:latin typeface="Microsoft YaHei UI" panose="020B0503020204020204" pitchFamily="34" charset="-122"/>
                <a:ea typeface="Microsoft YaHei UI" panose="020B0503020204020204" pitchFamily="34" charset="-122"/>
              </a:rPr>
              <a:t>)</a:t>
            </a:r>
            <a:r>
              <a:rPr lang="zh-CN" altLang="en-US" sz="2800" b="1" dirty="0">
                <a:solidFill>
                  <a:srgbClr val="AE1022"/>
                </a:solidFill>
                <a:latin typeface="Microsoft YaHei UI" panose="020B0503020204020204" pitchFamily="34" charset="-122"/>
                <a:ea typeface="Microsoft YaHei UI" panose="020B0503020204020204" pitchFamily="34" charset="-122"/>
              </a:rPr>
              <a:t>检测的临床意义</a:t>
            </a:r>
          </a:p>
        </p:txBody>
      </p:sp>
      <p:sp>
        <p:nvSpPr>
          <p:cNvPr id="2" name="矩形 1"/>
          <p:cNvSpPr/>
          <p:nvPr/>
        </p:nvSpPr>
        <p:spPr>
          <a:xfrm>
            <a:off x="775692" y="2199204"/>
            <a:ext cx="10424348" cy="26539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减少了“肌钙蛋白盲期”时间间隔，可以早期发现急性</a:t>
            </a:r>
            <a:r>
              <a:rPr lang="en-US" altLang="zh-CN" sz="1800" dirty="0">
                <a:latin typeface="Microsoft YaHei UI" panose="020B0503020204020204" pitchFamily="34" charset="-122"/>
                <a:ea typeface="Microsoft YaHei UI" panose="020B0503020204020204" pitchFamily="34" charset="-122"/>
              </a:rPr>
              <a:t>MI</a:t>
            </a:r>
            <a:endParaRPr lang="zh-CN" altLang="en-US" sz="1800" dirty="0">
              <a:latin typeface="Microsoft YaHei UI" panose="020B0503020204020204" pitchFamily="34" charset="-122"/>
              <a:ea typeface="Microsoft YaHei UI" panose="020B0503020204020204" pitchFamily="34" charset="-122"/>
              <a:cs typeface="Arial" panose="020B0604020202020204" pitchFamily="34" charset="0"/>
            </a:endParaRPr>
          </a:p>
        </p:txBody>
      </p:sp>
      <p:sp>
        <p:nvSpPr>
          <p:cNvPr id="4" name="矩形 3"/>
          <p:cNvSpPr/>
          <p:nvPr/>
        </p:nvSpPr>
        <p:spPr>
          <a:xfrm>
            <a:off x="775692" y="2917919"/>
            <a:ext cx="10424347"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l" defTabSz="914400" rtl="0" eaLnBrk="1" latinLnBrk="0" hangingPunct="1"/>
            <a:r>
              <a:rPr lang="zh-CN" altLang="en-US" sz="1800" kern="1200" dirty="0">
                <a:solidFill>
                  <a:schemeClr val="dk1"/>
                </a:solidFill>
                <a:latin typeface="Microsoft YaHei UI" panose="020B0503020204020204" pitchFamily="34" charset="-122"/>
                <a:ea typeface="Microsoft YaHei UI" panose="020B0503020204020204" pitchFamily="34" charset="-122"/>
              </a:rPr>
              <a:t>与</a:t>
            </a:r>
            <a:r>
              <a:rPr lang="en-US" altLang="zh-CN" sz="1800" kern="1200" dirty="0">
                <a:solidFill>
                  <a:schemeClr val="dk1"/>
                </a:solidFill>
                <a:latin typeface="Microsoft YaHei UI" panose="020B0503020204020204" pitchFamily="34" charset="-122"/>
                <a:ea typeface="Microsoft YaHei UI" panose="020B0503020204020204" pitchFamily="34" charset="-122"/>
              </a:rPr>
              <a:t>2</a:t>
            </a:r>
            <a:r>
              <a:rPr lang="zh-CN" altLang="en-US" sz="1800" kern="1200" dirty="0">
                <a:solidFill>
                  <a:schemeClr val="dk1"/>
                </a:solidFill>
                <a:latin typeface="Microsoft YaHei UI" panose="020B0503020204020204" pitchFamily="34" charset="-122"/>
                <a:ea typeface="Microsoft YaHei UI" panose="020B0503020204020204" pitchFamily="34" charset="-122"/>
              </a:rPr>
              <a:t>型</a:t>
            </a:r>
            <a:r>
              <a:rPr lang="en-US" altLang="zh-CN" sz="1800" kern="1200" dirty="0">
                <a:solidFill>
                  <a:schemeClr val="dk1"/>
                </a:solidFill>
                <a:latin typeface="Microsoft YaHei UI" panose="020B0503020204020204" pitchFamily="34" charset="-122"/>
                <a:ea typeface="Microsoft YaHei UI" panose="020B0503020204020204" pitchFamily="34" charset="-122"/>
              </a:rPr>
              <a:t>MI</a:t>
            </a:r>
            <a:r>
              <a:rPr lang="zh-CN" altLang="en-US" sz="1800" kern="1200" dirty="0">
                <a:solidFill>
                  <a:schemeClr val="dk1"/>
                </a:solidFill>
                <a:latin typeface="Microsoft YaHei UI" panose="020B0503020204020204" pitchFamily="34" charset="-122"/>
                <a:ea typeface="Microsoft YaHei UI" panose="020B0503020204020204" pitchFamily="34" charset="-122"/>
              </a:rPr>
              <a:t>（</a:t>
            </a:r>
            <a:r>
              <a:rPr lang="zh-CN" altLang="en-US" sz="1800" kern="1200" dirty="0">
                <a:solidFill>
                  <a:srgbClr val="FF0000"/>
                </a:solidFill>
                <a:latin typeface="Microsoft YaHei UI" panose="020B0503020204020204" pitchFamily="34" charset="-122"/>
                <a:ea typeface="Microsoft YaHei UI" panose="020B0503020204020204" pitchFamily="34" charset="-122"/>
              </a:rPr>
              <a:t>继发于氧供需失衡</a:t>
            </a:r>
            <a:r>
              <a:rPr lang="zh-CN" altLang="en-US" sz="1800" kern="1200" dirty="0">
                <a:solidFill>
                  <a:schemeClr val="dk1"/>
                </a:solidFill>
                <a:latin typeface="Microsoft YaHei UI" panose="020B0503020204020204" pitchFamily="34" charset="-122"/>
                <a:ea typeface="Microsoft YaHei UI" panose="020B0503020204020204" pitchFamily="34" charset="-122"/>
              </a:rPr>
              <a:t>）的检出率增加</a:t>
            </a:r>
            <a:r>
              <a:rPr lang="en-US" altLang="zh-CN" sz="1800" kern="1200" dirty="0">
                <a:solidFill>
                  <a:schemeClr val="dk1"/>
                </a:solidFill>
                <a:latin typeface="Microsoft YaHei UI" panose="020B0503020204020204" pitchFamily="34" charset="-122"/>
                <a:ea typeface="Microsoft YaHei UI" panose="020B0503020204020204" pitchFamily="34" charset="-122"/>
              </a:rPr>
              <a:t>2</a:t>
            </a:r>
            <a:r>
              <a:rPr lang="zh-CN" altLang="en-US" sz="1800" kern="1200" dirty="0">
                <a:solidFill>
                  <a:schemeClr val="dk1"/>
                </a:solidFill>
                <a:latin typeface="Microsoft YaHei UI" panose="020B0503020204020204" pitchFamily="34" charset="-122"/>
                <a:ea typeface="Microsoft YaHei UI" panose="020B0503020204020204" pitchFamily="34" charset="-122"/>
              </a:rPr>
              <a:t>倍有关</a:t>
            </a:r>
            <a:endParaRPr lang="zh-CN" altLang="en-US" sz="1800" kern="1200" dirty="0">
              <a:solidFill>
                <a:schemeClr val="dk1"/>
              </a:solidFill>
              <a:latin typeface="Microsoft YaHei UI" panose="020B0503020204020204" pitchFamily="34" charset="-122"/>
              <a:ea typeface="Microsoft YaHei UI" panose="020B0503020204020204" pitchFamily="34" charset="-122"/>
              <a:cs typeface="Arial" panose="020B0604020202020204" pitchFamily="34" charset="0"/>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692" y="3265354"/>
            <a:ext cx="10434619" cy="369333"/>
          </a:xfrm>
          <a:prstGeom prst="rect">
            <a:avLst/>
          </a:prstGeom>
        </p:spPr>
      </p:pic>
      <p:sp>
        <p:nvSpPr>
          <p:cNvPr id="9" name="文本框 8"/>
          <p:cNvSpPr txBox="1"/>
          <p:nvPr/>
        </p:nvSpPr>
        <p:spPr>
          <a:xfrm>
            <a:off x="775691" y="3258967"/>
            <a:ext cx="7834049" cy="369332"/>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800" b="1" kern="1200" dirty="0" err="1">
                <a:latin typeface="Microsoft YaHei UI" panose="020B0503020204020204" pitchFamily="34" charset="-122"/>
                <a:ea typeface="Microsoft YaHei UI" panose="020B0503020204020204" pitchFamily="34" charset="-122"/>
              </a:rPr>
              <a:t>hs-cTn</a:t>
            </a:r>
            <a:r>
              <a:rPr lang="zh-CN" altLang="en-US" sz="1800" b="1" kern="1200" dirty="0">
                <a:latin typeface="Microsoft YaHei UI" panose="020B0503020204020204" pitchFamily="34" charset="-122"/>
                <a:ea typeface="Microsoft YaHei UI" panose="020B0503020204020204" pitchFamily="34" charset="-122"/>
              </a:rPr>
              <a:t>应作为心肌损伤的</a:t>
            </a:r>
            <a:r>
              <a:rPr lang="zh-CN" altLang="en-US" b="1" dirty="0">
                <a:latin typeface="Microsoft YaHei UI" panose="020B0503020204020204" pitchFamily="34" charset="-122"/>
                <a:ea typeface="Microsoft YaHei UI" panose="020B0503020204020204" pitchFamily="34" charset="-122"/>
              </a:rPr>
              <a:t>定量</a:t>
            </a:r>
            <a:r>
              <a:rPr lang="zh-CN" altLang="en-US" sz="1800" b="1" kern="1200" dirty="0">
                <a:latin typeface="Microsoft YaHei UI" panose="020B0503020204020204" pitchFamily="34" charset="-122"/>
                <a:ea typeface="Microsoft YaHei UI" panose="020B0503020204020204" pitchFamily="34" charset="-122"/>
              </a:rPr>
              <a:t>标记物</a:t>
            </a:r>
            <a:r>
              <a:rPr lang="en-US" altLang="zh-CN" sz="1800" b="1" kern="1200" dirty="0">
                <a:latin typeface="Microsoft YaHei UI" panose="020B0503020204020204" pitchFamily="34" charset="-122"/>
                <a:ea typeface="Microsoft YaHei UI" panose="020B0503020204020204" pitchFamily="34" charset="-122"/>
              </a:rPr>
              <a:t>(</a:t>
            </a:r>
            <a:r>
              <a:rPr lang="zh-CN" altLang="en-US" sz="1800" b="1" kern="1200" dirty="0">
                <a:latin typeface="Microsoft YaHei UI" panose="020B0503020204020204" pitchFamily="34" charset="-122"/>
                <a:ea typeface="Microsoft YaHei UI" panose="020B0503020204020204" pitchFamily="34" charset="-122"/>
              </a:rPr>
              <a:t>即水平越高，</a:t>
            </a:r>
            <a:r>
              <a:rPr lang="en-US" altLang="zh-CN" sz="1800" b="1" kern="1200" dirty="0">
                <a:latin typeface="Microsoft YaHei UI" panose="020B0503020204020204" pitchFamily="34" charset="-122"/>
                <a:ea typeface="Microsoft YaHei UI" panose="020B0503020204020204" pitchFamily="34" charset="-122"/>
              </a:rPr>
              <a:t>MI</a:t>
            </a:r>
            <a:r>
              <a:rPr lang="zh-CN" altLang="en-US" sz="1800" b="1" kern="1200" dirty="0">
                <a:latin typeface="Microsoft YaHei UI" panose="020B0503020204020204" pitchFamily="34" charset="-122"/>
                <a:ea typeface="Microsoft YaHei UI" panose="020B0503020204020204" pitchFamily="34" charset="-122"/>
              </a:rPr>
              <a:t>的可能性越大</a:t>
            </a:r>
            <a:r>
              <a:rPr lang="en-US" altLang="zh-CN" sz="1800" b="1" kern="1200" dirty="0">
                <a:latin typeface="Microsoft YaHei UI" panose="020B0503020204020204" pitchFamily="34" charset="-122"/>
                <a:ea typeface="Microsoft YaHei UI" panose="020B0503020204020204" pitchFamily="34" charset="-122"/>
              </a:rPr>
              <a:t>)</a:t>
            </a:r>
            <a:r>
              <a:rPr lang="zh-CN" altLang="en-US" sz="1800" b="1" kern="1200" dirty="0">
                <a:latin typeface="Microsoft YaHei UI" panose="020B0503020204020204" pitchFamily="34" charset="-122"/>
                <a:ea typeface="Microsoft YaHei UI" panose="020B0503020204020204" pitchFamily="34" charset="-122"/>
              </a:rPr>
              <a:t>：</a:t>
            </a:r>
            <a:endParaRPr lang="zh-CN" altLang="en-US" sz="1800" b="1" kern="1200" dirty="0">
              <a:latin typeface="Microsoft YaHei UI" panose="020B0503020204020204" pitchFamily="34" charset="-122"/>
              <a:ea typeface="Microsoft YaHei UI" panose="020B0503020204020204" pitchFamily="34" charset="-122"/>
              <a:cs typeface="Arial" panose="020B0604020202020204" pitchFamily="34" charset="0"/>
            </a:endParaRPr>
          </a:p>
        </p:txBody>
      </p:sp>
      <p:sp>
        <p:nvSpPr>
          <p:cNvPr id="10" name="矩形 9"/>
          <p:cNvSpPr/>
          <p:nvPr/>
        </p:nvSpPr>
        <p:spPr>
          <a:xfrm>
            <a:off x="775687" y="4339930"/>
            <a:ext cx="10424347"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Arial" panose="020B0604020202020204"/>
                <a:ea typeface="微软雅黑" panose="020B0503020204020204" charset="-122"/>
              </a:rPr>
              <a:t>在健康人中检测到循环水平的</a:t>
            </a:r>
            <a:r>
              <a:rPr lang="zh-CN" altLang="en-US" sz="1800" dirty="0">
                <a:latin typeface="Arial" panose="020B0604020202020204"/>
                <a:ea typeface="微软雅黑" panose="020B0503020204020204" charset="-122"/>
              </a:rPr>
              <a:t>肌钙蛋白很常见</a:t>
            </a:r>
            <a:endParaRPr lang="zh-CN" altLang="en-US" sz="1800" dirty="0">
              <a:latin typeface="Arial" panose="020B0604020202020204"/>
              <a:ea typeface="微软雅黑" panose="020B0503020204020204" charset="-122"/>
              <a:cs typeface="Arial" panose="020B0604020202020204" pitchFamily="34" charset="0"/>
            </a:endParaRPr>
          </a:p>
        </p:txBody>
      </p:sp>
      <p:sp>
        <p:nvSpPr>
          <p:cNvPr id="11" name="矩形 10"/>
          <p:cNvSpPr/>
          <p:nvPr/>
        </p:nvSpPr>
        <p:spPr>
          <a:xfrm>
            <a:off x="775691" y="3667957"/>
            <a:ext cx="10424348" cy="26539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升高超过</a:t>
            </a:r>
            <a:r>
              <a:rPr lang="en-US" altLang="zh-CN" sz="1800" dirty="0">
                <a:latin typeface="Microsoft YaHei UI" panose="020B0503020204020204" pitchFamily="34" charset="-122"/>
                <a:ea typeface="Microsoft YaHei UI" panose="020B0503020204020204" pitchFamily="34" charset="-122"/>
              </a:rPr>
              <a:t>5</a:t>
            </a:r>
            <a:r>
              <a:rPr lang="zh-CN" altLang="en-US" sz="1800" dirty="0">
                <a:latin typeface="Microsoft YaHei UI" panose="020B0503020204020204" pitchFamily="34" charset="-122"/>
                <a:ea typeface="Microsoft YaHei UI" panose="020B0503020204020204" pitchFamily="34" charset="-122"/>
              </a:rPr>
              <a:t>倍正常上限，对</a:t>
            </a:r>
            <a:r>
              <a:rPr lang="en-US" altLang="zh-CN" sz="1800" dirty="0">
                <a:latin typeface="Microsoft YaHei UI" panose="020B0503020204020204" pitchFamily="34" charset="-122"/>
                <a:ea typeface="Microsoft YaHei UI" panose="020B0503020204020204" pitchFamily="34" charset="-122"/>
              </a:rPr>
              <a:t>1</a:t>
            </a:r>
            <a:r>
              <a:rPr lang="zh-CN" altLang="en-US" sz="1800" dirty="0">
                <a:latin typeface="Microsoft YaHei UI" panose="020B0503020204020204" pitchFamily="34" charset="-122"/>
                <a:ea typeface="Microsoft YaHei UI" panose="020B0503020204020204" pitchFamily="34" charset="-122"/>
              </a:rPr>
              <a:t>型</a:t>
            </a:r>
            <a:r>
              <a:rPr lang="en-US" altLang="zh-CN" sz="1800" dirty="0">
                <a:latin typeface="Microsoft YaHei UI" panose="020B0503020204020204" pitchFamily="34" charset="-122"/>
                <a:ea typeface="Microsoft YaHei UI" panose="020B0503020204020204" pitchFamily="34" charset="-122"/>
              </a:rPr>
              <a:t>MI</a:t>
            </a:r>
            <a:r>
              <a:rPr lang="zh-CN" altLang="en-US" sz="1800" dirty="0">
                <a:latin typeface="Microsoft YaHei UI" panose="020B0503020204020204" pitchFamily="34" charset="-122"/>
                <a:ea typeface="Microsoft YaHei UI" panose="020B0503020204020204" pitchFamily="34" charset="-122"/>
              </a:rPr>
              <a:t>有</a:t>
            </a:r>
            <a:r>
              <a:rPr lang="zh-CN" altLang="en-US" dirty="0">
                <a:latin typeface="Microsoft YaHei UI" panose="020B0503020204020204" pitchFamily="34" charset="-122"/>
                <a:ea typeface="Microsoft YaHei UI" panose="020B0503020204020204" pitchFamily="34" charset="-122"/>
              </a:rPr>
              <a:t>较高阳性</a:t>
            </a:r>
            <a:r>
              <a:rPr lang="zh-CN" altLang="en-US" sz="1800" dirty="0">
                <a:latin typeface="Microsoft YaHei UI" panose="020B0503020204020204" pitchFamily="34" charset="-122"/>
                <a:ea typeface="Microsoft YaHei UI" panose="020B0503020204020204" pitchFamily="34" charset="-122"/>
              </a:rPr>
              <a:t>预测值</a:t>
            </a:r>
            <a:r>
              <a:rPr lang="en-US" altLang="zh-CN" sz="1800" dirty="0">
                <a:latin typeface="Microsoft YaHei UI" panose="020B0503020204020204" pitchFamily="34" charset="-122"/>
                <a:ea typeface="Microsoft YaHei UI" panose="020B0503020204020204" pitchFamily="34" charset="-122"/>
              </a:rPr>
              <a:t>(&gt;90%)</a:t>
            </a:r>
            <a:endParaRPr lang="zh-CN" altLang="en-US" sz="1800" dirty="0">
              <a:latin typeface="Microsoft YaHei UI" panose="020B0503020204020204" pitchFamily="34" charset="-122"/>
              <a:ea typeface="Microsoft YaHei UI" panose="020B0503020204020204" pitchFamily="34" charset="-122"/>
              <a:cs typeface="Arial" panose="020B0604020202020204" pitchFamily="34" charset="0"/>
            </a:endParaRPr>
          </a:p>
        </p:txBody>
      </p:sp>
      <p:sp>
        <p:nvSpPr>
          <p:cNvPr id="12" name="矩形 11"/>
          <p:cNvSpPr/>
          <p:nvPr/>
        </p:nvSpPr>
        <p:spPr>
          <a:xfrm>
            <a:off x="775687" y="4001763"/>
            <a:ext cx="10424348" cy="26539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Arial" panose="020B0604020202020204"/>
                <a:ea typeface="微软雅黑" panose="020B0503020204020204" charset="-122"/>
              </a:rPr>
              <a:t>升高达</a:t>
            </a:r>
            <a:r>
              <a:rPr lang="en-US" altLang="zh-CN" sz="1800" dirty="0">
                <a:latin typeface="Arial" panose="020B0604020202020204"/>
                <a:ea typeface="微软雅黑" panose="020B0503020204020204" charset="-122"/>
              </a:rPr>
              <a:t>3</a:t>
            </a:r>
            <a:r>
              <a:rPr lang="zh-CN" altLang="en-US" sz="1800" dirty="0">
                <a:latin typeface="Arial" panose="020B0604020202020204"/>
                <a:ea typeface="微软雅黑" panose="020B0503020204020204" charset="-122"/>
              </a:rPr>
              <a:t>倍正常上限，对急性</a:t>
            </a:r>
            <a:r>
              <a:rPr lang="en-US" altLang="zh-CN" sz="1800" dirty="0">
                <a:latin typeface="Arial" panose="020B0604020202020204"/>
                <a:ea typeface="微软雅黑" panose="020B0503020204020204" charset="-122"/>
              </a:rPr>
              <a:t>MI</a:t>
            </a:r>
            <a:r>
              <a:rPr lang="zh-CN" altLang="en-US" sz="1800" dirty="0">
                <a:latin typeface="Arial" panose="020B0604020202020204"/>
                <a:ea typeface="微软雅黑" panose="020B0503020204020204" charset="-122"/>
              </a:rPr>
              <a:t>仅有</a:t>
            </a:r>
            <a:r>
              <a:rPr lang="en-US" altLang="zh-CN" sz="1800" dirty="0">
                <a:latin typeface="Arial" panose="020B0604020202020204"/>
                <a:ea typeface="微软雅黑" panose="020B0503020204020204" charset="-122"/>
              </a:rPr>
              <a:t>50%-60%</a:t>
            </a:r>
            <a:r>
              <a:rPr lang="zh-CN" altLang="en-US" sz="1800" dirty="0">
                <a:latin typeface="Arial" panose="020B0604020202020204"/>
                <a:ea typeface="微软雅黑" panose="020B0503020204020204" charset="-122"/>
              </a:rPr>
              <a:t>的阳性预测值，且可能与其它多种情况有关</a:t>
            </a:r>
            <a:endParaRPr lang="zh-CN" altLang="en-US" sz="1800" dirty="0">
              <a:latin typeface="Arial" panose="020B0604020202020204"/>
              <a:ea typeface="微软雅黑" panose="020B0503020204020204" charset="-122"/>
              <a:cs typeface="Arial" panose="020B0604020202020204" pitchFamily="34" charset="0"/>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687" y="4686649"/>
            <a:ext cx="10434619" cy="369333"/>
          </a:xfrm>
          <a:prstGeom prst="rect">
            <a:avLst/>
          </a:prstGeom>
        </p:spPr>
      </p:pic>
      <p:sp>
        <p:nvSpPr>
          <p:cNvPr id="24" name="文本框 23"/>
          <p:cNvSpPr txBox="1"/>
          <p:nvPr/>
        </p:nvSpPr>
        <p:spPr>
          <a:xfrm>
            <a:off x="775687" y="4670561"/>
            <a:ext cx="10271939" cy="369332"/>
          </a:xfrm>
          <a:prstGeom prst="rect">
            <a:avLst/>
          </a:prstGeom>
          <a:noFill/>
        </p:spPr>
        <p:txBody>
          <a:bodyPr wrap="square" rtlCol="0">
            <a:spAutoFit/>
          </a:bodyPr>
          <a:lstStyle/>
          <a:p>
            <a:r>
              <a:rPr lang="en-US" altLang="zh-CN" sz="1800" b="1" dirty="0" err="1">
                <a:latin typeface="Arial" panose="020B0604020202020204"/>
                <a:ea typeface="微软雅黑" panose="020B0503020204020204" charset="-122"/>
              </a:rPr>
              <a:t>cTn</a:t>
            </a:r>
            <a:r>
              <a:rPr lang="zh-CN" altLang="en-US" sz="1800" b="1" dirty="0">
                <a:latin typeface="Arial" panose="020B0604020202020204"/>
                <a:ea typeface="微软雅黑" panose="020B0503020204020204" charset="-122"/>
              </a:rPr>
              <a:t>水平</a:t>
            </a:r>
            <a:r>
              <a:rPr lang="zh-CN" altLang="en-US" b="1" dirty="0">
                <a:latin typeface="Arial" panose="020B0604020202020204"/>
                <a:ea typeface="微软雅黑" panose="020B0503020204020204" charset="-122"/>
              </a:rPr>
              <a:t>的变化幅度</a:t>
            </a:r>
            <a:r>
              <a:rPr lang="zh-CN" altLang="en-US" sz="1800" b="1" dirty="0">
                <a:latin typeface="Arial" panose="020B0604020202020204"/>
                <a:ea typeface="微软雅黑" panose="020B0503020204020204" charset="-122"/>
              </a:rPr>
              <a:t>可将急性心肌损伤从慢性心肌损伤中区分出来</a:t>
            </a:r>
            <a:r>
              <a:rPr lang="en-US" altLang="zh-CN" sz="1800" b="1" dirty="0">
                <a:latin typeface="Arial" panose="020B0604020202020204"/>
                <a:ea typeface="微软雅黑" panose="020B0503020204020204" charset="-122"/>
              </a:rPr>
              <a:t>(</a:t>
            </a:r>
            <a:r>
              <a:rPr lang="zh-CN" altLang="en-US" sz="1800" b="1" dirty="0">
                <a:latin typeface="Arial" panose="020B0604020202020204"/>
                <a:ea typeface="微软雅黑" panose="020B0503020204020204" charset="-122"/>
              </a:rPr>
              <a:t>变化越大，</a:t>
            </a:r>
            <a:r>
              <a:rPr lang="en-US" altLang="zh-CN" sz="1800" b="1" dirty="0">
                <a:latin typeface="Arial" panose="020B0604020202020204"/>
                <a:ea typeface="微软雅黑" panose="020B0503020204020204" charset="-122"/>
              </a:rPr>
              <a:t>AMI</a:t>
            </a:r>
            <a:r>
              <a:rPr lang="zh-CN" altLang="en-US" sz="1800" b="1" dirty="0">
                <a:latin typeface="Arial" panose="020B0604020202020204"/>
                <a:ea typeface="微软雅黑" panose="020B0503020204020204" charset="-122"/>
              </a:rPr>
              <a:t>可能性越高</a:t>
            </a:r>
            <a:r>
              <a:rPr lang="en-US" altLang="zh-CN" sz="1800" b="1" dirty="0">
                <a:latin typeface="Arial" panose="020B0604020202020204"/>
                <a:ea typeface="微软雅黑" panose="020B0503020204020204" charset="-122"/>
              </a:rPr>
              <a:t>)</a:t>
            </a:r>
            <a:endParaRPr lang="zh-CN" altLang="en-US" sz="1800" b="1" dirty="0">
              <a:latin typeface="Arial" panose="020B0604020202020204"/>
              <a:ea typeface="微软雅黑" panose="020B0503020204020204" charset="-122"/>
              <a:cs typeface="Arial" panose="020B0604020202020204" pitchFamily="34" charset="0"/>
            </a:endParaRPr>
          </a:p>
        </p:txBody>
      </p:sp>
      <p:sp>
        <p:nvSpPr>
          <p:cNvPr id="29" name="矩形 28"/>
          <p:cNvSpPr/>
          <p:nvPr/>
        </p:nvSpPr>
        <p:spPr>
          <a:xfrm>
            <a:off x="886599" y="5342239"/>
            <a:ext cx="2280185"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AMI</a:t>
            </a:r>
            <a:r>
              <a:rPr lang="zh-CN" altLang="en-US" sz="1400" dirty="0">
                <a:solidFill>
                  <a:schemeClr val="tx1"/>
                </a:solidFill>
                <a:latin typeface="Microsoft YaHei UI" panose="020B0503020204020204" pitchFamily="34" charset="-122"/>
                <a:ea typeface="Microsoft YaHei UI" panose="020B0503020204020204" pitchFamily="34" charset="-122"/>
              </a:rPr>
              <a:t>：急性心肌梗死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16" name="矩形 15"/>
          <p:cNvSpPr/>
          <p:nvPr/>
        </p:nvSpPr>
        <p:spPr>
          <a:xfrm>
            <a:off x="1181841" y="2768127"/>
            <a:ext cx="4566219"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心肌炎</a:t>
            </a:r>
            <a:r>
              <a:rPr lang="en-US" altLang="zh-CN" b="1" baseline="30000" dirty="0">
                <a:latin typeface="Microsoft YaHei UI" panose="020B0503020204020204" pitchFamily="34" charset="-122"/>
                <a:ea typeface="Microsoft YaHei UI" panose="020B0503020204020204" pitchFamily="34" charset="-122"/>
              </a:rPr>
              <a:t>a</a:t>
            </a:r>
            <a:endParaRPr lang="zh-CN" altLang="en-US" b="1" baseline="30000" dirty="0">
              <a:latin typeface="Microsoft YaHei UI" panose="020B0503020204020204" pitchFamily="34" charset="-122"/>
              <a:ea typeface="Microsoft YaHei UI" panose="020B0503020204020204" pitchFamily="34" charset="-122"/>
            </a:endParaRPr>
          </a:p>
        </p:txBody>
      </p:sp>
      <p:sp>
        <p:nvSpPr>
          <p:cNvPr id="17" name="矩形 16"/>
          <p:cNvSpPr/>
          <p:nvPr/>
        </p:nvSpPr>
        <p:spPr>
          <a:xfrm>
            <a:off x="1185249" y="1309311"/>
            <a:ext cx="455800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心动过速</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1171564" y="702298"/>
            <a:ext cx="9197696"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除</a:t>
            </a:r>
            <a:r>
              <a:rPr lang="en-US" altLang="zh-CN" sz="2400" b="1" dirty="0">
                <a:solidFill>
                  <a:srgbClr val="AE1022"/>
                </a:solidFill>
                <a:latin typeface="Microsoft YaHei UI" panose="020B0503020204020204" pitchFamily="34" charset="-122"/>
                <a:ea typeface="Microsoft YaHei UI" panose="020B0503020204020204" pitchFamily="34" charset="-122"/>
              </a:rPr>
              <a:t>1</a:t>
            </a:r>
            <a:r>
              <a:rPr lang="zh-CN" altLang="en-US" sz="2400" b="1" dirty="0">
                <a:solidFill>
                  <a:srgbClr val="AE1022"/>
                </a:solidFill>
                <a:latin typeface="Microsoft YaHei UI" panose="020B0503020204020204" pitchFamily="34" charset="-122"/>
                <a:ea typeface="Microsoft YaHei UI" panose="020B0503020204020204" pitchFamily="34" charset="-122"/>
              </a:rPr>
              <a:t>型心肌梗死外其他致心肌损伤（肌钙蛋白升高）的情况</a:t>
            </a:r>
          </a:p>
        </p:txBody>
      </p:sp>
      <p:sp>
        <p:nvSpPr>
          <p:cNvPr id="20" name="矩形 19"/>
          <p:cNvSpPr/>
          <p:nvPr/>
        </p:nvSpPr>
        <p:spPr>
          <a:xfrm>
            <a:off x="1185249" y="1668951"/>
            <a:ext cx="455800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心衰</a:t>
            </a:r>
          </a:p>
        </p:txBody>
      </p:sp>
      <p:sp>
        <p:nvSpPr>
          <p:cNvPr id="29" name="矩形 28"/>
          <p:cNvSpPr/>
          <p:nvPr/>
        </p:nvSpPr>
        <p:spPr>
          <a:xfrm>
            <a:off x="1181840" y="3128645"/>
            <a:ext cx="4566219"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b="1" dirty="0" err="1">
                <a:latin typeface="Microsoft YaHei UI" panose="020B0503020204020204" pitchFamily="34" charset="-122"/>
                <a:ea typeface="Microsoft YaHei UI" panose="020B0503020204020204" pitchFamily="34" charset="-122"/>
              </a:rPr>
              <a:t>Takotsubo</a:t>
            </a:r>
            <a:r>
              <a:rPr lang="zh-CN" altLang="en-US" b="1" dirty="0">
                <a:latin typeface="Microsoft YaHei UI" panose="020B0503020204020204" pitchFamily="34" charset="-122"/>
                <a:ea typeface="Microsoft YaHei UI" panose="020B0503020204020204" pitchFamily="34" charset="-122"/>
              </a:rPr>
              <a:t>综合征</a:t>
            </a:r>
          </a:p>
        </p:txBody>
      </p:sp>
      <p:sp>
        <p:nvSpPr>
          <p:cNvPr id="30" name="矩形 29"/>
          <p:cNvSpPr/>
          <p:nvPr/>
        </p:nvSpPr>
        <p:spPr>
          <a:xfrm>
            <a:off x="1181840" y="3484495"/>
            <a:ext cx="4564855"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心脏瓣膜病（如主动脉狭窄）</a:t>
            </a:r>
          </a:p>
        </p:txBody>
      </p:sp>
      <p:sp>
        <p:nvSpPr>
          <p:cNvPr id="4" name="矩形 3"/>
          <p:cNvSpPr/>
          <p:nvPr/>
        </p:nvSpPr>
        <p:spPr>
          <a:xfrm>
            <a:off x="5794621" y="4220587"/>
            <a:ext cx="4687594"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横纹肌溶解</a:t>
            </a:r>
          </a:p>
        </p:txBody>
      </p:sp>
      <p:sp>
        <p:nvSpPr>
          <p:cNvPr id="5" name="矩形 4"/>
          <p:cNvSpPr/>
          <p:nvPr/>
        </p:nvSpPr>
        <p:spPr>
          <a:xfrm>
            <a:off x="1185249" y="2028187"/>
            <a:ext cx="455800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高血压急症</a:t>
            </a:r>
          </a:p>
        </p:txBody>
      </p:sp>
      <p:sp>
        <p:nvSpPr>
          <p:cNvPr id="9" name="矩形 8"/>
          <p:cNvSpPr/>
          <p:nvPr/>
        </p:nvSpPr>
        <p:spPr>
          <a:xfrm>
            <a:off x="1182168" y="2392989"/>
            <a:ext cx="4566219" cy="33390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危重症（休克，脓毒症，烧伤）</a:t>
            </a:r>
          </a:p>
        </p:txBody>
      </p:sp>
      <p:sp>
        <p:nvSpPr>
          <p:cNvPr id="10" name="矩形 9"/>
          <p:cNvSpPr/>
          <p:nvPr/>
        </p:nvSpPr>
        <p:spPr>
          <a:xfrm>
            <a:off x="1181839" y="3852682"/>
            <a:ext cx="4564855"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主动脉夹层</a:t>
            </a:r>
          </a:p>
        </p:txBody>
      </p:sp>
      <p:sp>
        <p:nvSpPr>
          <p:cNvPr id="11" name="矩形 10"/>
          <p:cNvSpPr/>
          <p:nvPr/>
        </p:nvSpPr>
        <p:spPr>
          <a:xfrm>
            <a:off x="1181838" y="4223585"/>
            <a:ext cx="4564855" cy="30053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肺栓塞，肺动脉高压</a:t>
            </a:r>
          </a:p>
        </p:txBody>
      </p:sp>
      <p:sp>
        <p:nvSpPr>
          <p:cNvPr id="12" name="矩形 11"/>
          <p:cNvSpPr/>
          <p:nvPr/>
        </p:nvSpPr>
        <p:spPr>
          <a:xfrm>
            <a:off x="1171564" y="4583225"/>
            <a:ext cx="4566219" cy="33801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肾功能不全及相关心脏疾病</a:t>
            </a:r>
          </a:p>
        </p:txBody>
      </p:sp>
      <p:sp>
        <p:nvSpPr>
          <p:cNvPr id="18" name="矩形 17"/>
          <p:cNvSpPr/>
          <p:nvPr/>
        </p:nvSpPr>
        <p:spPr>
          <a:xfrm>
            <a:off x="5794621" y="3852682"/>
            <a:ext cx="4687594"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极端耐力运动</a:t>
            </a:r>
          </a:p>
        </p:txBody>
      </p:sp>
      <p:sp>
        <p:nvSpPr>
          <p:cNvPr id="39" name="矩形 38"/>
          <p:cNvSpPr/>
          <p:nvPr/>
        </p:nvSpPr>
        <p:spPr>
          <a:xfrm>
            <a:off x="5794621" y="1311268"/>
            <a:ext cx="4687594" cy="66546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心脏挫伤或心脏手术操作（</a:t>
            </a:r>
            <a:r>
              <a:rPr lang="en-US" altLang="zh-CN" dirty="0">
                <a:latin typeface="Microsoft YaHei UI" panose="020B0503020204020204" pitchFamily="34" charset="-122"/>
                <a:ea typeface="Microsoft YaHei UI" panose="020B0503020204020204" pitchFamily="34" charset="-122"/>
              </a:rPr>
              <a:t>CABG</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，消融，起搏，电复律或心肌活检）</a:t>
            </a:r>
          </a:p>
        </p:txBody>
      </p:sp>
      <p:sp>
        <p:nvSpPr>
          <p:cNvPr id="43" name="矩形 42"/>
          <p:cNvSpPr/>
          <p:nvPr/>
        </p:nvSpPr>
        <p:spPr>
          <a:xfrm>
            <a:off x="5794621" y="2029308"/>
            <a:ext cx="4687594"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甲亢或甲减</a:t>
            </a:r>
          </a:p>
        </p:txBody>
      </p:sp>
      <p:sp>
        <p:nvSpPr>
          <p:cNvPr id="3" name="矩形 2"/>
          <p:cNvSpPr/>
          <p:nvPr/>
        </p:nvSpPr>
        <p:spPr>
          <a:xfrm>
            <a:off x="6468868" y="5553201"/>
            <a:ext cx="4281990"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CABG</a:t>
            </a:r>
            <a:r>
              <a:rPr lang="zh-CN" altLang="en-US" sz="1400" dirty="0">
                <a:solidFill>
                  <a:schemeClr val="tx1"/>
                </a:solidFill>
                <a:latin typeface="Microsoft YaHei UI" panose="020B0503020204020204" pitchFamily="34" charset="-122"/>
                <a:ea typeface="Microsoft YaHei UI" panose="020B0503020204020204" pitchFamily="34" charset="-122"/>
              </a:rPr>
              <a:t>：冠状动脉旁路移植术；</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r>
              <a:rPr lang="en-US" altLang="zh-CN" sz="1400" dirty="0">
                <a:solidFill>
                  <a:schemeClr val="tx1"/>
                </a:solidFill>
                <a:latin typeface="Microsoft YaHei UI" panose="020B0503020204020204" pitchFamily="34" charset="-122"/>
                <a:ea typeface="Microsoft YaHei UI" panose="020B0503020204020204" pitchFamily="34" charset="-122"/>
              </a:rPr>
              <a:t>a</a:t>
            </a:r>
            <a:r>
              <a:rPr lang="zh-CN" altLang="en-US" sz="1400" dirty="0">
                <a:solidFill>
                  <a:schemeClr val="tx1"/>
                </a:solidFill>
                <a:latin typeface="Microsoft YaHei UI" panose="020B0503020204020204" pitchFamily="34" charset="-122"/>
                <a:ea typeface="Microsoft YaHei UI" panose="020B0503020204020204" pitchFamily="34" charset="-122"/>
              </a:rPr>
              <a:t>：包括心内膜炎或心外膜炎引起的心脏扩张</a:t>
            </a:r>
          </a:p>
        </p:txBody>
      </p:sp>
      <p:sp>
        <p:nvSpPr>
          <p:cNvPr id="7" name="矩形 6"/>
          <p:cNvSpPr/>
          <p:nvPr/>
        </p:nvSpPr>
        <p:spPr>
          <a:xfrm>
            <a:off x="1171563" y="4993781"/>
            <a:ext cx="4566219" cy="62059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急性中枢神经系统事件（如卒中或蛛网膜下腔出血）</a:t>
            </a:r>
          </a:p>
        </p:txBody>
      </p:sp>
      <p:sp>
        <p:nvSpPr>
          <p:cNvPr id="8" name="矩形 7"/>
          <p:cNvSpPr/>
          <p:nvPr/>
        </p:nvSpPr>
        <p:spPr>
          <a:xfrm>
            <a:off x="5794621" y="2398730"/>
            <a:ext cx="4687594" cy="67717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浸润性疾病（如淀粉样变性，血色素沉着病，结节病，硬皮病）</a:t>
            </a:r>
          </a:p>
        </p:txBody>
      </p:sp>
      <p:sp>
        <p:nvSpPr>
          <p:cNvPr id="13" name="矩形 12"/>
          <p:cNvSpPr/>
          <p:nvPr/>
        </p:nvSpPr>
        <p:spPr>
          <a:xfrm>
            <a:off x="5794621" y="3127006"/>
            <a:ext cx="4687594" cy="66546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心肌毒性药物或中毒（如阿霉素，</a:t>
            </a:r>
            <a:r>
              <a:rPr lang="en-US" altLang="zh-CN" dirty="0">
                <a:latin typeface="Microsoft YaHei UI" panose="020B0503020204020204" pitchFamily="34" charset="-122"/>
                <a:ea typeface="Microsoft YaHei UI" panose="020B0503020204020204" pitchFamily="34" charset="-122"/>
              </a:rPr>
              <a:t>50</a:t>
            </a:r>
            <a:r>
              <a:rPr lang="zh-CN" altLang="en-US" dirty="0">
                <a:latin typeface="Microsoft YaHei UI" panose="020B0503020204020204" pitchFamily="34" charset="-122"/>
                <a:ea typeface="Microsoft YaHei UI" panose="020B0503020204020204" pitchFamily="34" charset="-122"/>
              </a:rPr>
              <a:t>氟尿嘧啶，赫赛汀，蛇毒）</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4">
            <a:extLst>
              <a:ext uri="{28A0092B-C50C-407E-A947-70E740481C1C}">
                <a14:useLocalDpi xmlns:a14="http://schemas.microsoft.com/office/drawing/2010/main" val="0"/>
              </a:ext>
            </a:extLst>
          </a:blip>
          <a:srcRect r="1551"/>
          <a:stretch>
            <a:fillRect/>
          </a:stretch>
        </p:blipFill>
        <p:spPr>
          <a:xfrm>
            <a:off x="2872350" y="383366"/>
            <a:ext cx="7442904" cy="5514850"/>
          </a:xfrm>
          <a:prstGeom prst="rect">
            <a:avLst/>
          </a:prstGeom>
        </p:spPr>
      </p:pic>
      <p:sp>
        <p:nvSpPr>
          <p:cNvPr id="13" name="文本框 12"/>
          <p:cNvSpPr txBox="1"/>
          <p:nvPr/>
        </p:nvSpPr>
        <p:spPr>
          <a:xfrm>
            <a:off x="666750" y="473710"/>
            <a:ext cx="2355215" cy="82994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快速“诊断”及“排除”程序</a:t>
            </a:r>
            <a:endParaRPr lang="zh-CN" altLang="en-US" sz="2400" b="1" dirty="0">
              <a:solidFill>
                <a:srgbClr val="AE1022"/>
              </a:solidFill>
            </a:endParaRPr>
          </a:p>
        </p:txBody>
      </p:sp>
      <p:sp>
        <p:nvSpPr>
          <p:cNvPr id="4" name="矩形 3"/>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30" name="矩形 29"/>
          <p:cNvSpPr/>
          <p:nvPr/>
        </p:nvSpPr>
        <p:spPr>
          <a:xfrm>
            <a:off x="252563" y="4121763"/>
            <a:ext cx="2894415" cy="9018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spcBef>
                <a:spcPts val="0"/>
              </a:spcBef>
              <a:spcAft>
                <a:spcPts val="0"/>
              </a:spcAft>
            </a:pPr>
            <a:r>
              <a:rPr lang="en-US" altLang="zh-CN" sz="1400" dirty="0">
                <a:solidFill>
                  <a:schemeClr val="tx1"/>
                </a:solidFill>
                <a:latin typeface="Microsoft YaHei UI" panose="020B0503020204020204" pitchFamily="34" charset="-122"/>
                <a:ea typeface="Microsoft YaHei UI" panose="020B0503020204020204" pitchFamily="34" charset="-122"/>
              </a:rPr>
              <a:t>    a</a:t>
            </a:r>
            <a:r>
              <a:rPr lang="zh-CN" altLang="en-US" sz="1400" dirty="0">
                <a:solidFill>
                  <a:schemeClr val="tx1"/>
                </a:solidFill>
                <a:latin typeface="Microsoft YaHei UI" panose="020B0503020204020204" pitchFamily="34" charset="-122"/>
                <a:ea typeface="Microsoft YaHei UI" panose="020B0503020204020204" pitchFamily="34" charset="-122"/>
              </a:rPr>
              <a:t>：仅应用于胸痛发作</a:t>
            </a:r>
            <a:r>
              <a:rPr lang="en-US" altLang="zh-CN" sz="1400" dirty="0">
                <a:solidFill>
                  <a:schemeClr val="tx1"/>
                </a:solidFill>
                <a:latin typeface="Microsoft YaHei UI" panose="020B0503020204020204" pitchFamily="34" charset="-122"/>
                <a:ea typeface="Microsoft YaHei UI" panose="020B0503020204020204" pitchFamily="34" charset="-122"/>
              </a:rPr>
              <a:t>&gt;3h</a:t>
            </a:r>
            <a:r>
              <a:rPr lang="zh-CN" altLang="en-US" sz="1400" dirty="0">
                <a:solidFill>
                  <a:schemeClr val="tx1"/>
                </a:solidFill>
                <a:latin typeface="Microsoft YaHei UI" panose="020B0503020204020204" pitchFamily="34" charset="-122"/>
                <a:ea typeface="Microsoft YaHei UI" panose="020B0503020204020204" pitchFamily="34" charset="-122"/>
              </a:rPr>
              <a:t>时</a:t>
            </a:r>
          </a:p>
          <a:p>
            <a:pPr>
              <a:lnSpc>
                <a:spcPct val="120000"/>
              </a:lnSpc>
              <a:spcBef>
                <a:spcPts val="0"/>
              </a:spcBef>
              <a:spcAft>
                <a:spcPts val="0"/>
              </a:spcAft>
            </a:pPr>
            <a:r>
              <a:rPr lang="zh-CN" altLang="en-US" sz="1400" dirty="0">
                <a:solidFill>
                  <a:schemeClr val="tx1"/>
                </a:solidFill>
                <a:latin typeface="Microsoft YaHei UI" panose="020B0503020204020204" pitchFamily="34" charset="-122"/>
                <a:ea typeface="Microsoft YaHei UI" panose="020B0503020204020204" pitchFamily="34" charset="-122"/>
              </a:rPr>
              <a:t>    </a:t>
            </a:r>
            <a:r>
              <a:rPr lang="zh-CN" altLang="en-US" sz="1400" dirty="0">
                <a:solidFill>
                  <a:schemeClr val="tx1"/>
                </a:solidFill>
                <a:latin typeface="Arial" panose="020B0604020202020204" pitchFamily="34" charset="0"/>
                <a:ea typeface="Microsoft YaHei UI" panose="020B0503020204020204" pitchFamily="34" charset="-122"/>
                <a:cs typeface="Arial" panose="020B0604020202020204" pitchFamily="34" charset="0"/>
                <a:sym typeface="+mn-ea"/>
              </a:rPr>
              <a:t>І </a:t>
            </a:r>
            <a:r>
              <a:rPr lang="en-US" altLang="zh-CN" sz="1400" dirty="0">
                <a:solidFill>
                  <a:schemeClr val="tx1"/>
                </a:solidFill>
                <a:latin typeface="Arial" panose="020B0604020202020204" pitchFamily="34" charset="0"/>
                <a:ea typeface="Microsoft YaHei UI" panose="020B0503020204020204" pitchFamily="34" charset="-122"/>
                <a:cs typeface="Arial" panose="020B0604020202020204" pitchFamily="34" charset="0"/>
                <a:sym typeface="+mn-ea"/>
              </a:rPr>
              <a:t>h</a:t>
            </a:r>
            <a:r>
              <a:rPr lang="zh-CN" altLang="en-US" sz="1400" dirty="0">
                <a:solidFill>
                  <a:schemeClr val="tx1"/>
                </a:solidFill>
                <a:latin typeface="Arial" panose="020B0604020202020204" pitchFamily="34" charset="0"/>
                <a:ea typeface="Microsoft YaHei UI" panose="020B0503020204020204" pitchFamily="34" charset="-122"/>
                <a:cs typeface="Arial" panose="020B0604020202020204" pitchFamily="34" charset="0"/>
                <a:sym typeface="+mn-ea"/>
              </a:rPr>
              <a:t>Δ</a:t>
            </a:r>
            <a:r>
              <a:rPr lang="zh-CN" altLang="en-US" sz="1400" dirty="0">
                <a:solidFill>
                  <a:schemeClr val="tx1"/>
                </a:solidFill>
                <a:latin typeface="Microsoft YaHei UI" panose="020B0503020204020204" pitchFamily="34" charset="-122"/>
                <a:ea typeface="Microsoft YaHei UI" panose="020B0503020204020204" pitchFamily="34" charset="-122"/>
              </a:rPr>
              <a:t>：</a:t>
            </a:r>
            <a:r>
              <a:rPr lang="en-US" altLang="zh-CN" sz="1400" dirty="0">
                <a:solidFill>
                  <a:schemeClr val="tx1"/>
                </a:solidFill>
                <a:latin typeface="Microsoft YaHei UI" panose="020B0503020204020204" pitchFamily="34" charset="-122"/>
                <a:ea typeface="Microsoft YaHei UI" panose="020B0503020204020204" pitchFamily="34" charset="-122"/>
              </a:rPr>
              <a:t>1h</a:t>
            </a:r>
            <a:r>
              <a:rPr lang="zh-CN" altLang="en-US" sz="1400" dirty="0">
                <a:solidFill>
                  <a:schemeClr val="tx1"/>
                </a:solidFill>
                <a:latin typeface="Microsoft YaHei UI" panose="020B0503020204020204" pitchFamily="34" charset="-122"/>
                <a:ea typeface="Microsoft YaHei UI" panose="020B0503020204020204" pitchFamily="34" charset="-122"/>
              </a:rPr>
              <a:t>时改变值</a:t>
            </a:r>
            <a:r>
              <a:rPr lang="en-US" altLang="zh-CN" sz="1400" dirty="0">
                <a:solidFill>
                  <a:schemeClr val="tx1"/>
                </a:solidFill>
                <a:latin typeface="Microsoft YaHei UI" panose="020B0503020204020204" pitchFamily="34" charset="-122"/>
                <a:ea typeface="Microsoft YaHei UI" panose="020B0503020204020204" pitchFamily="34" charset="-122"/>
              </a:rPr>
              <a:t>   </a:t>
            </a:r>
          </a:p>
          <a:p>
            <a:pPr>
              <a:lnSpc>
                <a:spcPct val="120000"/>
              </a:lnSpc>
              <a:spcBef>
                <a:spcPts val="0"/>
              </a:spcBef>
              <a:spcAft>
                <a:spcPts val="0"/>
              </a:spcAft>
            </a:pPr>
            <a:r>
              <a:rPr lang="en-US" altLang="zh-CN" sz="1400" dirty="0">
                <a:solidFill>
                  <a:schemeClr val="tx1"/>
                </a:solidFill>
                <a:latin typeface="Microsoft YaHei UI" panose="020B0503020204020204" pitchFamily="34" charset="-122"/>
                <a:ea typeface="Microsoft YaHei UI" panose="020B0503020204020204" pitchFamily="34" charset="-122"/>
              </a:rPr>
              <a:t>    CCU</a:t>
            </a:r>
            <a:r>
              <a:rPr lang="zh-CN" altLang="en-US" sz="1400" dirty="0">
                <a:solidFill>
                  <a:schemeClr val="tx1"/>
                </a:solidFill>
                <a:latin typeface="Microsoft YaHei UI" panose="020B0503020204020204" pitchFamily="34" charset="-122"/>
                <a:ea typeface="Microsoft YaHei UI" panose="020B0503020204020204" pitchFamily="34" charset="-122"/>
              </a:rPr>
              <a:t>：心脏监护室</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endParaRPr lang="en-US" altLang="zh-CN" sz="1400" dirty="0">
              <a:solidFill>
                <a:schemeClr val="tx1"/>
              </a:solidFill>
              <a:latin typeface="Microsoft YaHei UI" panose="020B0503020204020204" pitchFamily="34" charset="-122"/>
              <a:ea typeface="Microsoft YaHei UI" panose="020B0503020204020204" pitchFamily="34" charset="-122"/>
            </a:endParaRPr>
          </a:p>
        </p:txBody>
      </p:sp>
      <p:sp>
        <p:nvSpPr>
          <p:cNvPr id="52" name="矩形 51"/>
          <p:cNvSpPr/>
          <p:nvPr/>
        </p:nvSpPr>
        <p:spPr>
          <a:xfrm>
            <a:off x="4384274" y="4927905"/>
            <a:ext cx="1040095" cy="191511"/>
          </a:xfrm>
          <a:prstGeom prst="rect">
            <a:avLst/>
          </a:prstGeom>
          <a:solidFill>
            <a:srgbClr val="498F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Microsoft YaHei UI" panose="020B0503020204020204" pitchFamily="34" charset="-122"/>
                <a:ea typeface="Microsoft YaHei UI" panose="020B0503020204020204" pitchFamily="34" charset="-122"/>
              </a:rPr>
              <a:t>负荷试验</a:t>
            </a:r>
          </a:p>
        </p:txBody>
      </p:sp>
      <p:sp>
        <p:nvSpPr>
          <p:cNvPr id="53" name="矩形 52"/>
          <p:cNvSpPr/>
          <p:nvPr/>
        </p:nvSpPr>
        <p:spPr>
          <a:xfrm>
            <a:off x="6795991" y="5062528"/>
            <a:ext cx="1158548" cy="191511"/>
          </a:xfrm>
          <a:prstGeom prst="rect">
            <a:avLst/>
          </a:prstGeom>
          <a:solidFill>
            <a:srgbClr val="498F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Microsoft YaHei UI" panose="020B0503020204020204" pitchFamily="34" charset="-122"/>
                <a:ea typeface="Microsoft YaHei UI" panose="020B0503020204020204" pitchFamily="34" charset="-122"/>
              </a:rPr>
              <a:t> 或负荷试验</a:t>
            </a:r>
          </a:p>
        </p:txBody>
      </p:sp>
      <p:sp>
        <p:nvSpPr>
          <p:cNvPr id="12" name="文本框 11"/>
          <p:cNvSpPr txBox="1"/>
          <p:nvPr/>
        </p:nvSpPr>
        <p:spPr>
          <a:xfrm>
            <a:off x="397759" y="2127476"/>
            <a:ext cx="2550922" cy="1248740"/>
          </a:xfrm>
          <a:prstGeom prst="rect">
            <a:avLst/>
          </a:prstGeom>
          <a:noFill/>
        </p:spPr>
        <p:txBody>
          <a:bodyPr wrap="square">
            <a:spAutoFit/>
          </a:bodyPr>
          <a:lstStyle/>
          <a:p>
            <a:pPr algn="just" defTabSz="685800">
              <a:lnSpc>
                <a:spcPct val="120000"/>
              </a:lnSpc>
              <a:spcBef>
                <a:spcPts val="600"/>
              </a:spcBef>
              <a:defRPr/>
            </a:pPr>
            <a:r>
              <a:rPr lang="zh-CN" altLang="en-US" sz="1600" dirty="0">
                <a:latin typeface="Arial" panose="020B0604020202020204"/>
                <a:ea typeface="微软雅黑" panose="020B0503020204020204" charset="-122"/>
              </a:rPr>
              <a:t>指南推荐使用</a:t>
            </a:r>
            <a:r>
              <a:rPr lang="en-US" altLang="zh-CN" sz="1600" dirty="0">
                <a:latin typeface="Arial" panose="020B0604020202020204"/>
                <a:ea typeface="微软雅黑" panose="020B0503020204020204" charset="-122"/>
              </a:rPr>
              <a:t>0h/1h</a:t>
            </a:r>
            <a:r>
              <a:rPr lang="zh-CN" altLang="en-US" sz="1600" dirty="0">
                <a:latin typeface="Arial" panose="020B0604020202020204"/>
                <a:ea typeface="微软雅黑" panose="020B0503020204020204" charset="-122"/>
              </a:rPr>
              <a:t>方法</a:t>
            </a:r>
            <a:r>
              <a:rPr lang="en-US" altLang="zh-CN" sz="1600" dirty="0">
                <a:latin typeface="Arial" panose="020B0604020202020204"/>
                <a:ea typeface="微软雅黑" panose="020B0503020204020204" charset="-122"/>
              </a:rPr>
              <a:t>(</a:t>
            </a:r>
            <a:r>
              <a:rPr lang="zh-CN" altLang="en-US" sz="1600" dirty="0">
                <a:latin typeface="Arial" panose="020B0604020202020204"/>
                <a:ea typeface="微软雅黑" panose="020B0503020204020204" charset="-122"/>
              </a:rPr>
              <a:t>最佳选择，在</a:t>
            </a:r>
            <a:r>
              <a:rPr lang="en-US" altLang="zh-CN" sz="1600" dirty="0">
                <a:latin typeface="Arial" panose="020B0604020202020204"/>
                <a:ea typeface="微软雅黑" panose="020B0503020204020204" charset="-122"/>
              </a:rPr>
              <a:t>0h</a:t>
            </a:r>
            <a:r>
              <a:rPr lang="zh-CN" altLang="en-US" sz="1600" dirty="0">
                <a:latin typeface="Arial" panose="020B0604020202020204"/>
                <a:ea typeface="微软雅黑" panose="020B0503020204020204" charset="-122"/>
              </a:rPr>
              <a:t>和</a:t>
            </a:r>
            <a:r>
              <a:rPr lang="en-US" altLang="zh-CN" sz="1600" dirty="0">
                <a:latin typeface="Arial" panose="020B0604020202020204"/>
                <a:ea typeface="微软雅黑" panose="020B0503020204020204" charset="-122"/>
              </a:rPr>
              <a:t>1h</a:t>
            </a:r>
            <a:r>
              <a:rPr lang="zh-CN" altLang="en-US" sz="1600" dirty="0">
                <a:latin typeface="Arial" panose="020B0604020202020204"/>
                <a:ea typeface="微软雅黑" panose="020B0503020204020204" charset="-122"/>
              </a:rPr>
              <a:t>抽血</a:t>
            </a:r>
            <a:r>
              <a:rPr lang="en-US" altLang="zh-CN" sz="1600" dirty="0">
                <a:latin typeface="Arial" panose="020B0604020202020204"/>
                <a:ea typeface="微软雅黑" panose="020B0503020204020204" charset="-122"/>
              </a:rPr>
              <a:t>)</a:t>
            </a:r>
            <a:r>
              <a:rPr lang="zh-CN" altLang="en-US" sz="1600" dirty="0">
                <a:latin typeface="Arial" panose="020B0604020202020204"/>
                <a:ea typeface="微软雅黑" panose="020B0503020204020204" charset="-122"/>
              </a:rPr>
              <a:t>或</a:t>
            </a:r>
            <a:r>
              <a:rPr lang="en-US" altLang="zh-CN" sz="1600" dirty="0">
                <a:latin typeface="Arial" panose="020B0604020202020204"/>
                <a:ea typeface="微软雅黑" panose="020B0503020204020204" charset="-122"/>
              </a:rPr>
              <a:t>0h/2h</a:t>
            </a:r>
            <a:r>
              <a:rPr lang="zh-CN" altLang="en-US" sz="1600" dirty="0">
                <a:latin typeface="Arial" panose="020B0604020202020204"/>
                <a:ea typeface="微软雅黑" panose="020B0503020204020204" charset="-122"/>
              </a:rPr>
              <a:t>方法</a:t>
            </a:r>
            <a:r>
              <a:rPr lang="en-US" altLang="zh-CN" sz="1600" dirty="0">
                <a:latin typeface="Arial" panose="020B0604020202020204"/>
                <a:ea typeface="微软雅黑" panose="020B0503020204020204" charset="-122"/>
              </a:rPr>
              <a:t>(</a:t>
            </a:r>
            <a:r>
              <a:rPr lang="zh-CN" altLang="en-US" sz="1600" dirty="0">
                <a:latin typeface="Arial" panose="020B0604020202020204"/>
                <a:ea typeface="微软雅黑" panose="020B0503020204020204" charset="-122"/>
              </a:rPr>
              <a:t>次佳选择，在</a:t>
            </a:r>
            <a:r>
              <a:rPr lang="en-US" altLang="zh-CN" sz="1600" dirty="0">
                <a:latin typeface="Arial" panose="020B0604020202020204"/>
                <a:ea typeface="微软雅黑" panose="020B0503020204020204" charset="-122"/>
              </a:rPr>
              <a:t>0h</a:t>
            </a:r>
            <a:r>
              <a:rPr lang="zh-CN" altLang="en-US" sz="1600" dirty="0">
                <a:latin typeface="Arial" panose="020B0604020202020204"/>
                <a:ea typeface="微软雅黑" panose="020B0503020204020204" charset="-122"/>
              </a:rPr>
              <a:t>和</a:t>
            </a:r>
            <a:r>
              <a:rPr lang="en-US" altLang="zh-CN" sz="1600" dirty="0">
                <a:latin typeface="Arial" panose="020B0604020202020204"/>
                <a:ea typeface="微软雅黑" panose="020B0503020204020204" charset="-122"/>
              </a:rPr>
              <a:t>2h</a:t>
            </a:r>
            <a:r>
              <a:rPr lang="zh-CN" altLang="en-US" sz="1600" dirty="0">
                <a:latin typeface="Arial" panose="020B0604020202020204"/>
                <a:ea typeface="微软雅黑" panose="020B0503020204020204" charset="-122"/>
              </a:rPr>
              <a:t>抽血</a:t>
            </a:r>
            <a:r>
              <a:rPr lang="en-US" altLang="zh-CN" sz="1600" dirty="0">
                <a:latin typeface="Arial" panose="020B0604020202020204"/>
                <a:ea typeface="微软雅黑" panose="020B0503020204020204" charset="-122"/>
              </a:rPr>
              <a:t>)</a:t>
            </a:r>
          </a:p>
        </p:txBody>
      </p:sp>
      <p:graphicFrame>
        <p:nvGraphicFramePr>
          <p:cNvPr id="2" name="对象 1">
            <a:hlinkClick r:id="" action="ppaction://ole?verb=0"/>
          </p:cNvPr>
          <p:cNvGraphicFramePr>
            <a:graphicFrameLocks noChangeAspect="1"/>
          </p:cNvGraphicFramePr>
          <p:nvPr/>
        </p:nvGraphicFramePr>
        <p:xfrm>
          <a:off x="6026150" y="3346450"/>
          <a:ext cx="139700" cy="165100"/>
        </p:xfrm>
        <a:graphic>
          <a:graphicData uri="http://schemas.openxmlformats.org/presentationml/2006/ole">
            <mc:AlternateContent xmlns:mc="http://schemas.openxmlformats.org/markup-compatibility/2006">
              <mc:Choice xmlns:v="urn:schemas-microsoft-com:vml" Requires="v">
                <p:oleObj spid="_x0000_s1362" r:id="rId5" imgW="139700" imgH="165100" progId="Equation.KSEE3">
                  <p:embed/>
                </p:oleObj>
              </mc:Choice>
              <mc:Fallback>
                <p:oleObj r:id="rId5" imgW="139700" imgH="165100" progId="Equation.KSEE3">
                  <p:embed/>
                  <p:pic>
                    <p:nvPicPr>
                      <p:cNvPr id="0" name="图片 1024"/>
                      <p:cNvPicPr/>
                      <p:nvPr/>
                    </p:nvPicPr>
                    <p:blipFill>
                      <a:blip r:embed="rId6"/>
                      <a:stretch>
                        <a:fillRect/>
                      </a:stretch>
                    </p:blipFill>
                    <p:spPr>
                      <a:xfrm>
                        <a:off x="6026150" y="3346450"/>
                        <a:ext cx="139700" cy="165100"/>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38CCB4B3-20E9-4A2D-9D73-D1EA9FA2E4D8}"/>
              </a:ext>
            </a:extLst>
          </p:cNvPr>
          <p:cNvPicPr>
            <a:picLocks noChangeAspect="1"/>
          </p:cNvPicPr>
          <p:nvPr/>
        </p:nvPicPr>
        <p:blipFill>
          <a:blip r:embed="rId3"/>
          <a:stretch>
            <a:fillRect/>
          </a:stretch>
        </p:blipFill>
        <p:spPr>
          <a:xfrm>
            <a:off x="3405003" y="93445"/>
            <a:ext cx="7421942" cy="6081524"/>
          </a:xfrm>
          <a:prstGeom prst="rect">
            <a:avLst/>
          </a:prstGeom>
        </p:spPr>
      </p:pic>
      <p:sp>
        <p:nvSpPr>
          <p:cNvPr id="13" name="文本框 12"/>
          <p:cNvSpPr txBox="1"/>
          <p:nvPr/>
        </p:nvSpPr>
        <p:spPr>
          <a:xfrm>
            <a:off x="697361" y="479141"/>
            <a:ext cx="2457421" cy="1200329"/>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应用</a:t>
            </a:r>
            <a:r>
              <a:rPr lang="en-US" altLang="zh-CN" sz="2400" b="1" dirty="0">
                <a:solidFill>
                  <a:srgbClr val="AE1022"/>
                </a:solidFill>
                <a:latin typeface="Microsoft YaHei UI" panose="020B0503020204020204" pitchFamily="34" charset="-122"/>
                <a:ea typeface="Microsoft YaHei UI" panose="020B0503020204020204" pitchFamily="34" charset="-122"/>
              </a:rPr>
              <a:t>ESC</a:t>
            </a:r>
            <a:r>
              <a:rPr lang="zh-CN" altLang="en-US" sz="2400" b="1" dirty="0">
                <a:solidFill>
                  <a:srgbClr val="AE1022"/>
                </a:solidFill>
                <a:latin typeface="Microsoft YaHei UI" panose="020B0503020204020204" pitchFamily="34" charset="-122"/>
                <a:ea typeface="Microsoft YaHei UI" panose="020B0503020204020204" pitchFamily="34" charset="-122"/>
              </a:rPr>
              <a:t> </a:t>
            </a:r>
            <a:r>
              <a:rPr lang="en-US" altLang="zh-CN" sz="2400" b="1" dirty="0">
                <a:solidFill>
                  <a:srgbClr val="AE1022"/>
                </a:solidFill>
                <a:latin typeface="Microsoft YaHei UI" panose="020B0503020204020204" pitchFamily="34" charset="-122"/>
                <a:ea typeface="Microsoft YaHei UI" panose="020B0503020204020204" pitchFamily="34" charset="-122"/>
              </a:rPr>
              <a:t>0h/1h</a:t>
            </a:r>
            <a:r>
              <a:rPr lang="zh-CN" altLang="en-US" sz="2400" b="1" dirty="0">
                <a:solidFill>
                  <a:srgbClr val="AE1022"/>
                </a:solidFill>
                <a:latin typeface="Microsoft YaHei UI" panose="020B0503020204020204" pitchFamily="34" charset="-122"/>
                <a:ea typeface="Microsoft YaHei UI" panose="020B0503020204020204" pitchFamily="34" charset="-122"/>
              </a:rPr>
              <a:t>诊断流程时的采血时间及决策</a:t>
            </a:r>
            <a:endParaRPr lang="zh-CN" altLang="en-US" sz="2400" b="1" dirty="0">
              <a:solidFill>
                <a:srgbClr val="AE1022"/>
              </a:solidFill>
            </a:endParaRPr>
          </a:p>
        </p:txBody>
      </p:sp>
      <p:sp>
        <p:nvSpPr>
          <p:cNvPr id="4" name="矩形 3"/>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 name="矩形 1"/>
          <p:cNvSpPr/>
          <p:nvPr/>
        </p:nvSpPr>
        <p:spPr>
          <a:xfrm>
            <a:off x="815240" y="6264617"/>
            <a:ext cx="281444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CPR</a:t>
            </a:r>
            <a:r>
              <a:rPr lang="zh-CN" altLang="en-US" sz="1400" dirty="0">
                <a:solidFill>
                  <a:schemeClr val="tx1"/>
                </a:solidFill>
                <a:latin typeface="Microsoft YaHei UI" panose="020B0503020204020204" pitchFamily="34" charset="-122"/>
                <a:ea typeface="Microsoft YaHei UI" panose="020B0503020204020204" pitchFamily="34" charset="-122"/>
              </a:rPr>
              <a:t>：心肺复苏；</a:t>
            </a:r>
            <a:r>
              <a:rPr lang="en-US" altLang="zh-CN" sz="1400" dirty="0">
                <a:solidFill>
                  <a:schemeClr val="tx1"/>
                </a:solidFill>
                <a:latin typeface="Microsoft YaHei UI" panose="020B0503020204020204" pitchFamily="34" charset="-122"/>
                <a:ea typeface="Microsoft YaHei UI" panose="020B0503020204020204" pitchFamily="34" charset="-122"/>
              </a:rPr>
              <a:t>MACE</a:t>
            </a:r>
            <a:r>
              <a:rPr lang="zh-CN" altLang="en-US" sz="1400" dirty="0">
                <a:solidFill>
                  <a:schemeClr val="tx1"/>
                </a:solidFill>
                <a:latin typeface="Microsoft YaHei UI" panose="020B0503020204020204" pitchFamily="34" charset="-122"/>
                <a:ea typeface="Microsoft YaHei UI" panose="020B0503020204020204" pitchFamily="34" charset="-122"/>
              </a:rPr>
              <a:t>：主要不良心血管事件</a:t>
            </a: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57" y="5250577"/>
            <a:ext cx="3406959" cy="8174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1" y="1157091"/>
            <a:ext cx="7594457" cy="669729"/>
          </a:xfrm>
          <a:prstGeom prst="rect">
            <a:avLst/>
          </a:prstGeom>
        </p:spPr>
      </p:pic>
      <p:sp>
        <p:nvSpPr>
          <p:cNvPr id="14" name="矩形 13"/>
          <p:cNvSpPr/>
          <p:nvPr/>
        </p:nvSpPr>
        <p:spPr>
          <a:xfrm>
            <a:off x="974632" y="2224315"/>
            <a:ext cx="7588981"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建议结合病史，症状，生命体征，其它体检发现，心电图及包括高敏肌钙蛋白在内的实验室检查对患者进行基本诊断及初始的短期危险分层</a:t>
            </a:r>
          </a:p>
        </p:txBody>
      </p:sp>
      <p:sp>
        <p:nvSpPr>
          <p:cNvPr id="15" name="矩形 14"/>
          <p:cNvSpPr/>
          <p:nvPr/>
        </p:nvSpPr>
        <p:spPr>
          <a:xfrm>
            <a:off x="974632" y="2883681"/>
            <a:ext cx="7588980"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建议入院后立即运用高敏检测方法测量肌钙蛋白并在采血后</a:t>
            </a:r>
            <a:r>
              <a:rPr lang="en-US" altLang="zh-CN" dirty="0">
                <a:latin typeface="Microsoft YaHei UI" panose="020B0503020204020204" pitchFamily="34" charset="-122"/>
                <a:ea typeface="Microsoft YaHei UI" panose="020B0503020204020204" pitchFamily="34" charset="-122"/>
              </a:rPr>
              <a:t>60</a:t>
            </a:r>
            <a:r>
              <a:rPr lang="zh-CN" altLang="en-US" dirty="0">
                <a:latin typeface="Microsoft YaHei UI" panose="020B0503020204020204" pitchFamily="34" charset="-122"/>
                <a:ea typeface="Microsoft YaHei UI" panose="020B0503020204020204" pitchFamily="34" charset="-122"/>
              </a:rPr>
              <a:t>分钟内获得结果</a:t>
            </a:r>
          </a:p>
        </p:txBody>
      </p:sp>
      <p:sp>
        <p:nvSpPr>
          <p:cNvPr id="16" name="矩形 15"/>
          <p:cNvSpPr/>
          <p:nvPr/>
        </p:nvSpPr>
        <p:spPr>
          <a:xfrm>
            <a:off x="974630" y="3543047"/>
            <a:ext cx="7588979"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建议在首次接诊</a:t>
            </a:r>
            <a:r>
              <a:rPr lang="en-US" altLang="zh-CN" dirty="0">
                <a:latin typeface="Microsoft YaHei UI" panose="020B0503020204020204" pitchFamily="34" charset="-122"/>
                <a:ea typeface="Microsoft YaHei UI" panose="020B0503020204020204" pitchFamily="34" charset="-122"/>
              </a:rPr>
              <a:t>10</a:t>
            </a:r>
            <a:r>
              <a:rPr lang="zh-CN" altLang="en-US" dirty="0">
                <a:latin typeface="Microsoft YaHei UI" panose="020B0503020204020204" pitchFamily="34" charset="-122"/>
                <a:ea typeface="Microsoft YaHei UI" panose="020B0503020204020204" pitchFamily="34" charset="-122"/>
              </a:rPr>
              <a:t>分钟内行</a:t>
            </a:r>
            <a:r>
              <a:rPr lang="en-US" altLang="zh-CN" dirty="0">
                <a:latin typeface="Microsoft YaHei UI" panose="020B0503020204020204" pitchFamily="34" charset="-122"/>
                <a:ea typeface="Microsoft YaHei UI" panose="020B0503020204020204" pitchFamily="34" charset="-122"/>
              </a:rPr>
              <a:t>12</a:t>
            </a:r>
            <a:r>
              <a:rPr lang="zh-CN" altLang="en-US" dirty="0">
                <a:latin typeface="Microsoft YaHei UI" panose="020B0503020204020204" pitchFamily="34" charset="-122"/>
                <a:ea typeface="Microsoft YaHei UI" panose="020B0503020204020204" pitchFamily="34" charset="-122"/>
              </a:rPr>
              <a:t>导联心电图检查，并由有经验的医生进行解读</a:t>
            </a:r>
          </a:p>
        </p:txBody>
      </p:sp>
      <p:sp>
        <p:nvSpPr>
          <p:cNvPr id="17" name="矩形 16"/>
          <p:cNvSpPr/>
          <p:nvPr/>
        </p:nvSpPr>
        <p:spPr>
          <a:xfrm>
            <a:off x="969153" y="4202414"/>
            <a:ext cx="7599936"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一旦症状复发或诊断不确定，建议额外进行</a:t>
            </a:r>
            <a:r>
              <a:rPr lang="en-US" altLang="zh-CN" dirty="0">
                <a:latin typeface="Microsoft YaHei UI" panose="020B0503020204020204" pitchFamily="34" charset="-122"/>
                <a:ea typeface="Microsoft YaHei UI" panose="020B0503020204020204" pitchFamily="34" charset="-122"/>
              </a:rPr>
              <a:t>12</a:t>
            </a:r>
            <a:r>
              <a:rPr lang="zh-CN" altLang="en-US" dirty="0">
                <a:latin typeface="Microsoft YaHei UI" panose="020B0503020204020204" pitchFamily="34" charset="-122"/>
                <a:ea typeface="Microsoft YaHei UI" panose="020B0503020204020204" pitchFamily="34" charset="-122"/>
              </a:rPr>
              <a:t>导联心电图检查</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2" y="1829244"/>
            <a:ext cx="9313747" cy="375008"/>
          </a:xfrm>
          <a:prstGeom prst="rect">
            <a:avLst/>
          </a:prstGeom>
        </p:spPr>
      </p:pic>
      <p:sp>
        <p:nvSpPr>
          <p:cNvPr id="19" name="文本框 18"/>
          <p:cNvSpPr txBox="1"/>
          <p:nvPr/>
        </p:nvSpPr>
        <p:spPr>
          <a:xfrm>
            <a:off x="978274" y="1829244"/>
            <a:ext cx="1894054"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诊断及危险分层</a:t>
            </a: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3613" y="2201276"/>
            <a:ext cx="1768571" cy="3676185"/>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6408" y="1157091"/>
            <a:ext cx="793938" cy="669729"/>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4150" y="1157091"/>
            <a:ext cx="824229" cy="669729"/>
          </a:xfrm>
          <a:prstGeom prst="rect">
            <a:avLst/>
          </a:prstGeom>
        </p:spPr>
      </p:pic>
      <p:sp>
        <p:nvSpPr>
          <p:cNvPr id="23" name="文本框 22"/>
          <p:cNvSpPr txBox="1"/>
          <p:nvPr/>
        </p:nvSpPr>
        <p:spPr>
          <a:xfrm>
            <a:off x="974632" y="1307289"/>
            <a:ext cx="205483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700439" y="1174639"/>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540741" y="1174639"/>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5" name="矩形 24"/>
          <p:cNvSpPr/>
          <p:nvPr/>
        </p:nvSpPr>
        <p:spPr>
          <a:xfrm>
            <a:off x="969153" y="4548170"/>
            <a:ext cx="7588979"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solidFill>
                  <a:srgbClr val="FF0000"/>
                </a:solidFill>
                <a:latin typeface="Microsoft YaHei UI" panose="020B0503020204020204" pitchFamily="34" charset="-122"/>
                <a:ea typeface="Microsoft YaHei UI" panose="020B0503020204020204" pitchFamily="34" charset="-122"/>
              </a:rPr>
              <a:t>如果经过验证的高敏肌钙蛋白检测</a:t>
            </a:r>
            <a:r>
              <a:rPr lang="en-US" altLang="zh-CN" b="1" dirty="0">
                <a:solidFill>
                  <a:srgbClr val="FF0000"/>
                </a:solidFill>
                <a:latin typeface="Microsoft YaHei UI" panose="020B0503020204020204" pitchFamily="34" charset="-122"/>
                <a:ea typeface="Microsoft YaHei UI" panose="020B0503020204020204" pitchFamily="34" charset="-122"/>
              </a:rPr>
              <a:t>0h/1h</a:t>
            </a:r>
            <a:r>
              <a:rPr lang="zh-CN" altLang="en-US" b="1" dirty="0">
                <a:solidFill>
                  <a:srgbClr val="FF0000"/>
                </a:solidFill>
                <a:latin typeface="Microsoft YaHei UI" panose="020B0503020204020204" pitchFamily="34" charset="-122"/>
                <a:ea typeface="Microsoft YaHei UI" panose="020B0503020204020204" pitchFamily="34" charset="-122"/>
              </a:rPr>
              <a:t>流程可应用，建议在</a:t>
            </a:r>
            <a:r>
              <a:rPr lang="en-US" altLang="zh-CN" b="1" dirty="0">
                <a:solidFill>
                  <a:srgbClr val="FF0000"/>
                </a:solidFill>
                <a:latin typeface="Microsoft YaHei UI" panose="020B0503020204020204" pitchFamily="34" charset="-122"/>
                <a:ea typeface="Microsoft YaHei UI" panose="020B0503020204020204" pitchFamily="34" charset="-122"/>
              </a:rPr>
              <a:t>0h</a:t>
            </a:r>
            <a:r>
              <a:rPr lang="zh-CN" altLang="en-US" b="1" dirty="0">
                <a:solidFill>
                  <a:srgbClr val="FF0000"/>
                </a:solidFill>
                <a:latin typeface="Microsoft YaHei UI" panose="020B0503020204020204" pitchFamily="34" charset="-122"/>
                <a:ea typeface="Microsoft YaHei UI" panose="020B0503020204020204" pitchFamily="34" charset="-122"/>
              </a:rPr>
              <a:t>及</a:t>
            </a:r>
            <a:r>
              <a:rPr lang="en-US" altLang="zh-CN" b="1" dirty="0">
                <a:solidFill>
                  <a:srgbClr val="FF0000"/>
                </a:solidFill>
                <a:latin typeface="Microsoft YaHei UI" panose="020B0503020204020204" pitchFamily="34" charset="-122"/>
                <a:ea typeface="Microsoft YaHei UI" panose="020B0503020204020204" pitchFamily="34" charset="-122"/>
              </a:rPr>
              <a:t>1h</a:t>
            </a:r>
            <a:r>
              <a:rPr lang="zh-CN" altLang="en-US" b="1" dirty="0">
                <a:solidFill>
                  <a:srgbClr val="FF0000"/>
                </a:solidFill>
                <a:latin typeface="Microsoft YaHei UI" panose="020B0503020204020204" pitchFamily="34" charset="-122"/>
                <a:ea typeface="Microsoft YaHei UI" panose="020B0503020204020204" pitchFamily="34" charset="-122"/>
              </a:rPr>
              <a:t>采血进行</a:t>
            </a:r>
            <a:r>
              <a:rPr lang="en-US" altLang="zh-CN" b="1" dirty="0">
                <a:solidFill>
                  <a:srgbClr val="FF0000"/>
                </a:solidFill>
                <a:latin typeface="Microsoft YaHei UI" panose="020B0503020204020204" pitchFamily="34" charset="-122"/>
                <a:ea typeface="Microsoft YaHei UI" panose="020B0503020204020204" pitchFamily="34" charset="-122"/>
              </a:rPr>
              <a:t>ESC0h/1h</a:t>
            </a:r>
            <a:r>
              <a:rPr lang="zh-CN" altLang="en-US" b="1" dirty="0">
                <a:solidFill>
                  <a:srgbClr val="FF0000"/>
                </a:solidFill>
                <a:latin typeface="Microsoft YaHei UI" panose="020B0503020204020204" pitchFamily="34" charset="-122"/>
                <a:ea typeface="Microsoft YaHei UI" panose="020B0503020204020204" pitchFamily="34" charset="-122"/>
              </a:rPr>
              <a:t>流程</a:t>
            </a:r>
          </a:p>
        </p:txBody>
      </p:sp>
      <p:sp>
        <p:nvSpPr>
          <p:cNvPr id="26" name="矩形 25"/>
          <p:cNvSpPr/>
          <p:nvPr/>
        </p:nvSpPr>
        <p:spPr>
          <a:xfrm>
            <a:off x="969152" y="5211734"/>
            <a:ext cx="7588979"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如按照</a:t>
            </a:r>
            <a:r>
              <a:rPr lang="en-US" altLang="zh-CN" dirty="0">
                <a:latin typeface="Microsoft YaHei UI" panose="020B0503020204020204" pitchFamily="34" charset="-122"/>
                <a:ea typeface="Microsoft YaHei UI" panose="020B0503020204020204" pitchFamily="34" charset="-122"/>
              </a:rPr>
              <a:t>0h/1h</a:t>
            </a:r>
            <a:r>
              <a:rPr lang="zh-CN" altLang="en-US" dirty="0">
                <a:latin typeface="Microsoft YaHei UI" panose="020B0503020204020204" pitchFamily="34" charset="-122"/>
                <a:ea typeface="Microsoft YaHei UI" panose="020B0503020204020204" pitchFamily="34" charset="-122"/>
              </a:rPr>
              <a:t>流程的前两次肌钙蛋白测量结果不确定且临床情况仍倾向于提示</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，建议</a:t>
            </a:r>
            <a:r>
              <a:rPr lang="en-US" altLang="zh-CN" dirty="0">
                <a:latin typeface="Microsoft YaHei UI" panose="020B0503020204020204" pitchFamily="34" charset="-122"/>
                <a:ea typeface="Microsoft YaHei UI" panose="020B0503020204020204" pitchFamily="34" charset="-122"/>
              </a:rPr>
              <a:t>3h</a:t>
            </a:r>
            <a:r>
              <a:rPr lang="zh-CN" altLang="en-US" dirty="0">
                <a:latin typeface="Microsoft YaHei UI" panose="020B0503020204020204" pitchFamily="34" charset="-122"/>
                <a:ea typeface="Microsoft YaHei UI" panose="020B0503020204020204" pitchFamily="34" charset="-122"/>
              </a:rPr>
              <a:t>时额外测量一次</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978274" y="212361"/>
            <a:ext cx="9197696" cy="830997"/>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疑似</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患者诊断，危险分层，影像学检查及心律监测的指南推荐</a:t>
            </a:r>
            <a:endParaRPr lang="zh-CN" altLang="en-US" sz="2400" b="1" dirty="0">
              <a:solidFill>
                <a:srgbClr val="AE1022"/>
              </a:solidFill>
            </a:endParaRPr>
          </a:p>
        </p:txBody>
      </p:sp>
      <p:sp>
        <p:nvSpPr>
          <p:cNvPr id="2" name="矩形 1"/>
          <p:cNvSpPr/>
          <p:nvPr/>
        </p:nvSpPr>
        <p:spPr>
          <a:xfrm>
            <a:off x="916571" y="6479206"/>
            <a:ext cx="2017459" cy="1797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ACS</a:t>
            </a:r>
            <a:r>
              <a:rPr lang="zh-CN" altLang="en-US" sz="1400" dirty="0">
                <a:solidFill>
                  <a:schemeClr val="tx1"/>
                </a:solidFill>
                <a:latin typeface="Microsoft YaHei UI" panose="020B0503020204020204" pitchFamily="34" charset="-122"/>
                <a:ea typeface="Microsoft YaHei UI" panose="020B0503020204020204" pitchFamily="34" charset="-122"/>
              </a:rPr>
              <a:t>：急性冠脉综合征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000" y="1342023"/>
            <a:ext cx="7594457" cy="669729"/>
          </a:xfrm>
          <a:prstGeom prst="rect">
            <a:avLst/>
          </a:prstGeom>
        </p:spPr>
      </p:pic>
      <p:sp>
        <p:nvSpPr>
          <p:cNvPr id="14" name="矩形 13"/>
          <p:cNvSpPr/>
          <p:nvPr/>
        </p:nvSpPr>
        <p:spPr>
          <a:xfrm>
            <a:off x="651001" y="2409247"/>
            <a:ext cx="7588981"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如果经过验证的高敏肌钙蛋白检测</a:t>
            </a:r>
            <a:r>
              <a:rPr lang="en-US" altLang="zh-CN" dirty="0">
                <a:latin typeface="Microsoft YaHei UI" panose="020B0503020204020204" pitchFamily="34" charset="-122"/>
                <a:ea typeface="Microsoft YaHei UI" panose="020B0503020204020204" pitchFamily="34" charset="-122"/>
              </a:rPr>
              <a:t>0h/2h</a:t>
            </a:r>
            <a:r>
              <a:rPr lang="zh-CN" altLang="en-US" dirty="0">
                <a:latin typeface="Microsoft YaHei UI" panose="020B0503020204020204" pitchFamily="34" charset="-122"/>
                <a:ea typeface="Microsoft YaHei UI" panose="020B0503020204020204" pitchFamily="34" charset="-122"/>
              </a:rPr>
              <a:t>流程可应用，建议在</a:t>
            </a:r>
            <a:r>
              <a:rPr lang="en-US" altLang="zh-CN" dirty="0">
                <a:latin typeface="Microsoft YaHei UI" panose="020B0503020204020204" pitchFamily="34" charset="-122"/>
                <a:ea typeface="Microsoft YaHei UI" panose="020B0503020204020204" pitchFamily="34" charset="-122"/>
              </a:rPr>
              <a:t>0h</a:t>
            </a:r>
            <a:r>
              <a:rPr lang="zh-CN" altLang="en-US" dirty="0">
                <a:latin typeface="Microsoft YaHei UI" panose="020B0503020204020204" pitchFamily="34" charset="-122"/>
                <a:ea typeface="Microsoft YaHei UI" panose="020B0503020204020204" pitchFamily="34" charset="-122"/>
              </a:rPr>
              <a:t>及</a:t>
            </a:r>
            <a:r>
              <a:rPr lang="en-US" altLang="zh-CN" dirty="0">
                <a:latin typeface="Microsoft YaHei UI" panose="020B0503020204020204" pitchFamily="34" charset="-122"/>
                <a:ea typeface="Microsoft YaHei UI" panose="020B0503020204020204" pitchFamily="34" charset="-122"/>
              </a:rPr>
              <a:t>2h</a:t>
            </a:r>
            <a:r>
              <a:rPr lang="zh-CN" altLang="en-US" dirty="0">
                <a:latin typeface="Microsoft YaHei UI" panose="020B0503020204020204" pitchFamily="34" charset="-122"/>
                <a:ea typeface="Microsoft YaHei UI" panose="020B0503020204020204" pitchFamily="34" charset="-122"/>
              </a:rPr>
              <a:t>采血进行</a:t>
            </a:r>
            <a:r>
              <a:rPr lang="en-US" altLang="zh-CN" dirty="0">
                <a:latin typeface="Microsoft YaHei UI" panose="020B0503020204020204" pitchFamily="34" charset="-122"/>
                <a:ea typeface="Microsoft YaHei UI" panose="020B0503020204020204" pitchFamily="34" charset="-122"/>
              </a:rPr>
              <a:t>ESC0h/2h</a:t>
            </a:r>
            <a:r>
              <a:rPr lang="zh-CN" altLang="en-US" dirty="0">
                <a:latin typeface="Microsoft YaHei UI" panose="020B0503020204020204" pitchFamily="34" charset="-122"/>
                <a:ea typeface="Microsoft YaHei UI" panose="020B0503020204020204" pitchFamily="34" charset="-122"/>
              </a:rPr>
              <a:t>流程作为</a:t>
            </a:r>
            <a:r>
              <a:rPr lang="en-US" altLang="zh-CN" dirty="0">
                <a:latin typeface="Microsoft YaHei UI" panose="020B0503020204020204" pitchFamily="34" charset="-122"/>
                <a:ea typeface="Microsoft YaHei UI" panose="020B0503020204020204" pitchFamily="34" charset="-122"/>
              </a:rPr>
              <a:t>ESC0h/1h</a:t>
            </a:r>
            <a:r>
              <a:rPr lang="zh-CN" altLang="en-US" dirty="0">
                <a:latin typeface="Microsoft YaHei UI" panose="020B0503020204020204" pitchFamily="34" charset="-122"/>
                <a:ea typeface="Microsoft YaHei UI" panose="020B0503020204020204" pitchFamily="34" charset="-122"/>
              </a:rPr>
              <a:t>流程的替代方案</a:t>
            </a:r>
          </a:p>
        </p:txBody>
      </p:sp>
      <p:sp>
        <p:nvSpPr>
          <p:cNvPr id="15" name="矩形 14"/>
          <p:cNvSpPr/>
          <p:nvPr/>
        </p:nvSpPr>
        <p:spPr>
          <a:xfrm>
            <a:off x="651001" y="3068613"/>
            <a:ext cx="7588980"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如怀疑持续性缺血且标准导联心电图无法确定时，建议加做其它导联心电图（</a:t>
            </a:r>
            <a:r>
              <a:rPr lang="en-US" altLang="zh-CN" dirty="0">
                <a:latin typeface="Microsoft YaHei UI" panose="020B0503020204020204" pitchFamily="34" charset="-122"/>
                <a:ea typeface="Microsoft YaHei UI" panose="020B0503020204020204" pitchFamily="34" charset="-122"/>
              </a:rPr>
              <a:t>V3R</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V4R</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V7-V9</a:t>
            </a:r>
            <a:r>
              <a:rPr lang="zh-CN" altLang="en-US" dirty="0">
                <a:latin typeface="Microsoft YaHei UI" panose="020B0503020204020204" pitchFamily="34" charset="-122"/>
                <a:ea typeface="Microsoft YaHei UI" panose="020B0503020204020204" pitchFamily="34" charset="-122"/>
              </a:rPr>
              <a:t>）</a:t>
            </a:r>
          </a:p>
        </p:txBody>
      </p:sp>
      <p:sp>
        <p:nvSpPr>
          <p:cNvPr id="16" name="矩形 15"/>
          <p:cNvSpPr/>
          <p:nvPr/>
        </p:nvSpPr>
        <p:spPr>
          <a:xfrm>
            <a:off x="646430" y="3728085"/>
            <a:ext cx="7593330" cy="61595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如果经过验证的高敏（或敏感）肌钙蛋白检测</a:t>
            </a:r>
            <a:r>
              <a:rPr lang="en-US" altLang="zh-CN" dirty="0">
                <a:latin typeface="Microsoft YaHei UI" panose="020B0503020204020204" pitchFamily="34" charset="-122"/>
                <a:ea typeface="Microsoft YaHei UI" panose="020B0503020204020204" pitchFamily="34" charset="-122"/>
              </a:rPr>
              <a:t>0h/3h</a:t>
            </a:r>
            <a:r>
              <a:rPr lang="zh-CN" altLang="en-US" dirty="0">
                <a:latin typeface="Microsoft YaHei UI" panose="020B0503020204020204" pitchFamily="34" charset="-122"/>
                <a:ea typeface="Microsoft YaHei UI" panose="020B0503020204020204" pitchFamily="34" charset="-122"/>
              </a:rPr>
              <a:t>程序可应用，应考虑在</a:t>
            </a:r>
            <a:r>
              <a:rPr lang="en-US" altLang="zh-CN" dirty="0">
                <a:latin typeface="Microsoft YaHei UI" panose="020B0503020204020204" pitchFamily="34" charset="-122"/>
                <a:ea typeface="Microsoft YaHei UI" panose="020B0503020204020204" pitchFamily="34" charset="-122"/>
              </a:rPr>
              <a:t>0h</a:t>
            </a:r>
            <a:r>
              <a:rPr lang="zh-CN" altLang="en-US" dirty="0">
                <a:latin typeface="Microsoft YaHei UI" panose="020B0503020204020204" pitchFamily="34" charset="-122"/>
                <a:ea typeface="Microsoft YaHei UI" panose="020B0503020204020204" pitchFamily="34" charset="-122"/>
              </a:rPr>
              <a:t>和</a:t>
            </a:r>
            <a:r>
              <a:rPr lang="en-US" altLang="zh-CN" dirty="0">
                <a:latin typeface="Microsoft YaHei UI" panose="020B0503020204020204" pitchFamily="34" charset="-122"/>
                <a:ea typeface="Microsoft YaHei UI" panose="020B0503020204020204" pitchFamily="34" charset="-122"/>
              </a:rPr>
              <a:t>3h</a:t>
            </a:r>
            <a:r>
              <a:rPr lang="zh-CN" altLang="en-US" dirty="0">
                <a:latin typeface="Microsoft YaHei UI" panose="020B0503020204020204" pitchFamily="34" charset="-122"/>
                <a:ea typeface="Microsoft YaHei UI" panose="020B0503020204020204" pitchFamily="34" charset="-122"/>
              </a:rPr>
              <a:t>抽血的快速“诊断”及“排除”方案作为</a:t>
            </a:r>
            <a:r>
              <a:rPr lang="en-US" altLang="zh-CN" dirty="0">
                <a:latin typeface="Microsoft YaHei UI" panose="020B0503020204020204" pitchFamily="34" charset="-122"/>
                <a:ea typeface="Microsoft YaHei UI" panose="020B0503020204020204" pitchFamily="34" charset="-122"/>
              </a:rPr>
              <a:t>ESC0h/1h</a:t>
            </a:r>
            <a:r>
              <a:rPr lang="zh-CN" altLang="en-US" dirty="0">
                <a:latin typeface="Microsoft YaHei UI" panose="020B0503020204020204" pitchFamily="34" charset="-122"/>
                <a:ea typeface="Microsoft YaHei UI" panose="020B0503020204020204" pitchFamily="34" charset="-122"/>
              </a:rPr>
              <a:t>程序替代方案</a:t>
            </a:r>
          </a:p>
        </p:txBody>
      </p:sp>
      <p:sp>
        <p:nvSpPr>
          <p:cNvPr id="17" name="矩形 16"/>
          <p:cNvSpPr/>
          <p:nvPr/>
        </p:nvSpPr>
        <p:spPr>
          <a:xfrm>
            <a:off x="645522" y="4387346"/>
            <a:ext cx="7599936"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应考虑应用已经建立的风险评分来评估预后</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001" y="2014176"/>
            <a:ext cx="9313747" cy="375008"/>
          </a:xfrm>
          <a:prstGeom prst="rect">
            <a:avLst/>
          </a:prstGeom>
        </p:spPr>
      </p:pic>
      <p:sp>
        <p:nvSpPr>
          <p:cNvPr id="19" name="文本框 18"/>
          <p:cNvSpPr txBox="1"/>
          <p:nvPr/>
        </p:nvSpPr>
        <p:spPr>
          <a:xfrm>
            <a:off x="654643" y="2014176"/>
            <a:ext cx="1894054"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诊断及危险分层</a:t>
            </a: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2777" y="1342023"/>
            <a:ext cx="793938" cy="669729"/>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0519" y="1342023"/>
            <a:ext cx="824229" cy="669729"/>
          </a:xfrm>
          <a:prstGeom prst="rect">
            <a:avLst/>
          </a:prstGeom>
        </p:spPr>
      </p:pic>
      <p:sp>
        <p:nvSpPr>
          <p:cNvPr id="23" name="文本框 22"/>
          <p:cNvSpPr txBox="1"/>
          <p:nvPr/>
        </p:nvSpPr>
        <p:spPr>
          <a:xfrm>
            <a:off x="651001" y="1492221"/>
            <a:ext cx="205483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376808" y="1359571"/>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217110" y="1359571"/>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5" name="矩形 24"/>
          <p:cNvSpPr/>
          <p:nvPr/>
        </p:nvSpPr>
        <p:spPr>
          <a:xfrm>
            <a:off x="645522" y="4733102"/>
            <a:ext cx="7588979"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不推荐以初步诊断为目的在</a:t>
            </a:r>
            <a:r>
              <a:rPr lang="en-US" altLang="zh-CN" dirty="0" err="1">
                <a:latin typeface="Microsoft YaHei UI" panose="020B0503020204020204" pitchFamily="34" charset="-122"/>
                <a:ea typeface="Microsoft YaHei UI" panose="020B0503020204020204" pitchFamily="34" charset="-122"/>
              </a:rPr>
              <a:t>hs-cTn</a:t>
            </a:r>
            <a:r>
              <a:rPr lang="zh-CN" altLang="en-US" dirty="0">
                <a:latin typeface="Microsoft YaHei UI" panose="020B0503020204020204" pitchFamily="34" charset="-122"/>
                <a:ea typeface="Microsoft YaHei UI" panose="020B0503020204020204" pitchFamily="34" charset="-122"/>
              </a:rPr>
              <a:t>基础上常规加测其它生物标志物，如</a:t>
            </a:r>
            <a:r>
              <a:rPr lang="en-US" altLang="zh-CN" dirty="0">
                <a:latin typeface="Microsoft YaHei UI" panose="020B0503020204020204" pitchFamily="34" charset="-122"/>
                <a:ea typeface="Microsoft YaHei UI" panose="020B0503020204020204" pitchFamily="34" charset="-122"/>
              </a:rPr>
              <a:t>h-FABP</a:t>
            </a:r>
            <a:r>
              <a:rPr lang="zh-CN" altLang="en-US" dirty="0">
                <a:latin typeface="Microsoft YaHei UI" panose="020B0503020204020204" pitchFamily="34" charset="-122"/>
                <a:ea typeface="Microsoft YaHei UI" panose="020B0503020204020204" pitchFamily="34" charset="-122"/>
              </a:rPr>
              <a:t>或肽素</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6407" y="2392822"/>
            <a:ext cx="1746303" cy="3003844"/>
          </a:xfrm>
          <a:prstGeom prst="rect">
            <a:avLst/>
          </a:prstGeom>
        </p:spPr>
      </p:pic>
      <p:sp>
        <p:nvSpPr>
          <p:cNvPr id="28" name="文本框 27"/>
          <p:cNvSpPr txBox="1"/>
          <p:nvPr/>
        </p:nvSpPr>
        <p:spPr>
          <a:xfrm>
            <a:off x="654643" y="397293"/>
            <a:ext cx="9197696" cy="830997"/>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疑似</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患者诊断，危险分层，影像学检查及心律监测的指南推荐</a:t>
            </a:r>
            <a:endParaRPr lang="zh-CN" altLang="en-US" sz="2400" b="1" dirty="0">
              <a:solidFill>
                <a:srgbClr val="AE1022"/>
              </a:solidFill>
            </a:endParaRPr>
          </a:p>
        </p:txBody>
      </p:sp>
      <p:sp>
        <p:nvSpPr>
          <p:cNvPr id="2" name="文本框 1"/>
          <p:cNvSpPr txBox="1"/>
          <p:nvPr/>
        </p:nvSpPr>
        <p:spPr>
          <a:xfrm>
            <a:off x="10079471" y="2491684"/>
            <a:ext cx="841963"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4" name="文本框 3"/>
          <p:cNvSpPr txBox="1"/>
          <p:nvPr/>
        </p:nvSpPr>
        <p:spPr>
          <a:xfrm>
            <a:off x="10079470" y="4830950"/>
            <a:ext cx="841963"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5" name="文本框 4"/>
          <p:cNvSpPr txBox="1"/>
          <p:nvPr/>
        </p:nvSpPr>
        <p:spPr>
          <a:xfrm>
            <a:off x="10081867" y="3744570"/>
            <a:ext cx="848803" cy="646331"/>
          </a:xfrm>
          <a:prstGeom prst="rect">
            <a:avLst/>
          </a:prstGeom>
          <a:noFill/>
        </p:spPr>
        <p:txBody>
          <a:bodyPr wrap="square" rtlCol="0">
            <a:spAutoFit/>
          </a:bodyPr>
          <a:lstStyle/>
          <a:p>
            <a:r>
              <a:rPr lang="zh-CN" altLang="en-US" sz="1200" b="1" dirty="0">
                <a:solidFill>
                  <a:srgbClr val="AE1022"/>
                </a:solidFill>
                <a:latin typeface="Microsoft YaHei UI" panose="020B0503020204020204" pitchFamily="34" charset="-122"/>
                <a:ea typeface="Microsoft YaHei UI" panose="020B0503020204020204" pitchFamily="34" charset="-122"/>
              </a:rPr>
              <a:t>推荐等级由</a:t>
            </a:r>
            <a:r>
              <a:rPr lang="en-US" altLang="zh-CN" sz="1200" b="1" dirty="0">
                <a:solidFill>
                  <a:srgbClr val="AE1022"/>
                </a:solidFill>
                <a:latin typeface="Microsoft YaHei UI" panose="020B0503020204020204" pitchFamily="34" charset="-122"/>
                <a:ea typeface="Microsoft YaHei UI" panose="020B0503020204020204" pitchFamily="34" charset="-122"/>
              </a:rPr>
              <a:t>Ⅰ</a:t>
            </a:r>
            <a:r>
              <a:rPr lang="zh-CN" altLang="en-US" sz="1200" b="1" dirty="0">
                <a:solidFill>
                  <a:srgbClr val="AE1022"/>
                </a:solidFill>
                <a:latin typeface="Microsoft YaHei UI" panose="020B0503020204020204" pitchFamily="34" charset="-122"/>
                <a:ea typeface="Microsoft YaHei UI" panose="020B0503020204020204" pitchFamily="34" charset="-122"/>
              </a:rPr>
              <a:t>类降为</a:t>
            </a:r>
            <a:r>
              <a:rPr lang="en-US" altLang="zh-CN" sz="1200" b="1" dirty="0" err="1">
                <a:solidFill>
                  <a:srgbClr val="AE1022"/>
                </a:solidFill>
                <a:latin typeface="Microsoft YaHei UI" panose="020B0503020204020204" pitchFamily="34" charset="-122"/>
                <a:ea typeface="Microsoft YaHei UI" panose="020B0503020204020204" pitchFamily="34" charset="-122"/>
              </a:rPr>
              <a:t>Ⅱa</a:t>
            </a:r>
            <a:r>
              <a:rPr lang="zh-CN" altLang="en-US" sz="1200" b="1" dirty="0">
                <a:solidFill>
                  <a:srgbClr val="AE1022"/>
                </a:solidFill>
                <a:latin typeface="Microsoft YaHei UI" panose="020B0503020204020204" pitchFamily="34" charset="-122"/>
                <a:ea typeface="Microsoft YaHei UI" panose="020B0503020204020204" pitchFamily="34" charset="-122"/>
              </a:rPr>
              <a:t>类</a:t>
            </a:r>
            <a:endParaRPr lang="zh-CN" altLang="en-US" sz="1200" b="1" dirty="0">
              <a:solidFill>
                <a:srgbClr val="AE1022"/>
              </a:solidFill>
            </a:endParaRPr>
          </a:p>
        </p:txBody>
      </p:sp>
      <p:sp>
        <p:nvSpPr>
          <p:cNvPr id="7" name="矩形: 圆角 6"/>
          <p:cNvSpPr/>
          <p:nvPr/>
        </p:nvSpPr>
        <p:spPr>
          <a:xfrm>
            <a:off x="587343" y="2362150"/>
            <a:ext cx="10370047" cy="669728"/>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9" name="矩形: 圆角 8"/>
          <p:cNvSpPr/>
          <p:nvPr/>
        </p:nvSpPr>
        <p:spPr>
          <a:xfrm>
            <a:off x="587342" y="4708455"/>
            <a:ext cx="10370047" cy="669728"/>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endParaRPr>
          </a:p>
        </p:txBody>
      </p:sp>
      <p:sp>
        <p:nvSpPr>
          <p:cNvPr id="10" name="矩形: 圆角 9"/>
          <p:cNvSpPr/>
          <p:nvPr/>
        </p:nvSpPr>
        <p:spPr>
          <a:xfrm>
            <a:off x="587343" y="3693038"/>
            <a:ext cx="10727690" cy="645160"/>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11" name="箭头: 下 10"/>
          <p:cNvSpPr/>
          <p:nvPr/>
        </p:nvSpPr>
        <p:spPr>
          <a:xfrm>
            <a:off x="10890610" y="3850042"/>
            <a:ext cx="215757" cy="411220"/>
          </a:xfrm>
          <a:prstGeom prst="downArrow">
            <a:avLst/>
          </a:prstGeom>
          <a:solidFill>
            <a:srgbClr val="C3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12" name="文本框 11"/>
          <p:cNvSpPr txBox="1"/>
          <p:nvPr/>
        </p:nvSpPr>
        <p:spPr>
          <a:xfrm>
            <a:off x="978274" y="541129"/>
            <a:ext cx="9197696" cy="830997"/>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疑似</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患者诊断，危险分层，影像学检查及心律监测的指南推荐</a:t>
            </a:r>
            <a:endParaRPr lang="zh-CN" altLang="en-US" sz="2400" b="1" dirty="0">
              <a:solidFill>
                <a:srgbClr val="AE1022"/>
              </a:solidFill>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1" y="1485859"/>
            <a:ext cx="7594457" cy="669729"/>
          </a:xfrm>
          <a:prstGeom prst="rect">
            <a:avLst/>
          </a:prstGeom>
        </p:spPr>
      </p:pic>
      <p:sp>
        <p:nvSpPr>
          <p:cNvPr id="14" name="矩形 13"/>
          <p:cNvSpPr/>
          <p:nvPr/>
        </p:nvSpPr>
        <p:spPr>
          <a:xfrm>
            <a:off x="974632" y="2553083"/>
            <a:ext cx="7588981"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对于心脏骤停或推定为心血管原因造成血流动力学不稳定</a:t>
            </a:r>
            <a:r>
              <a:rPr lang="zh-CN" altLang="en-US" dirty="0">
                <a:latin typeface="Microsoft YaHei UI" panose="020B0503020204020204" pitchFamily="34" charset="-122"/>
                <a:ea typeface="Microsoft YaHei UI" panose="020B0503020204020204" pitchFamily="34" charset="-122"/>
                <a:sym typeface="+mn-ea"/>
              </a:rPr>
              <a:t>的</a:t>
            </a:r>
            <a:r>
              <a:rPr lang="zh-CN" altLang="en-US" dirty="0">
                <a:latin typeface="Microsoft YaHei UI" panose="020B0503020204020204" pitchFamily="34" charset="-122"/>
                <a:ea typeface="Microsoft YaHei UI" panose="020B0503020204020204" pitchFamily="34" charset="-122"/>
              </a:rPr>
              <a:t>患者，建议在</a:t>
            </a:r>
            <a:r>
              <a:rPr lang="en-US" altLang="zh-CN" dirty="0">
                <a:latin typeface="Microsoft YaHei UI" panose="020B0503020204020204" pitchFamily="34" charset="-122"/>
                <a:ea typeface="Microsoft YaHei UI" panose="020B0503020204020204" pitchFamily="34" charset="-122"/>
              </a:rPr>
              <a:t>12</a:t>
            </a:r>
            <a:r>
              <a:rPr lang="zh-CN" altLang="en-US" dirty="0">
                <a:latin typeface="Microsoft YaHei UI" panose="020B0503020204020204" pitchFamily="34" charset="-122"/>
                <a:ea typeface="Microsoft YaHei UI" panose="020B0503020204020204" pitchFamily="34" charset="-122"/>
              </a:rPr>
              <a:t>导联心电图检查后立即由熟练的医生进行超声心动图检查</a:t>
            </a:r>
          </a:p>
        </p:txBody>
      </p:sp>
      <p:sp>
        <p:nvSpPr>
          <p:cNvPr id="15" name="矩形 14"/>
          <p:cNvSpPr/>
          <p:nvPr/>
        </p:nvSpPr>
        <p:spPr>
          <a:xfrm>
            <a:off x="974632" y="3212449"/>
            <a:ext cx="7588980" cy="93818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对于胸痛无复发，心电图正常，肌钙蛋白水平正常（尤其高敏检测），但仍然怀疑</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的患者，建议在行侵入性策略之前行诱导缺血的负荷试验（尤其是影像学检查）或冠脉</a:t>
            </a:r>
            <a:r>
              <a:rPr lang="en-US" altLang="zh-CN" dirty="0">
                <a:latin typeface="Microsoft YaHei UI" panose="020B0503020204020204" pitchFamily="34" charset="-122"/>
                <a:ea typeface="Microsoft YaHei UI" panose="020B0503020204020204" pitchFamily="34" charset="-122"/>
              </a:rPr>
              <a:t>CT</a:t>
            </a:r>
            <a:r>
              <a:rPr lang="zh-CN" altLang="en-US" dirty="0">
                <a:latin typeface="Microsoft YaHei UI" panose="020B0503020204020204" pitchFamily="34" charset="-122"/>
                <a:ea typeface="Microsoft YaHei UI" panose="020B0503020204020204" pitchFamily="34" charset="-122"/>
              </a:rPr>
              <a:t>造影</a:t>
            </a:r>
          </a:p>
        </p:txBody>
      </p:sp>
      <p:sp>
        <p:nvSpPr>
          <p:cNvPr id="16" name="矩形 15"/>
          <p:cNvSpPr/>
          <p:nvPr/>
        </p:nvSpPr>
        <p:spPr>
          <a:xfrm>
            <a:off x="974631" y="4196944"/>
            <a:ext cx="7588979"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建议应用超声心动图评估左心室局部及整体的运动情况，并考虑或排除其它诊断</a:t>
            </a:r>
            <a:r>
              <a:rPr lang="en-US" altLang="zh-CN" baseline="30000" dirty="0">
                <a:latin typeface="Microsoft YaHei UI" panose="020B0503020204020204" pitchFamily="34" charset="-122"/>
                <a:ea typeface="Microsoft YaHei UI" panose="020B0503020204020204" pitchFamily="34" charset="-122"/>
              </a:rPr>
              <a:t>a</a:t>
            </a:r>
            <a:endParaRPr lang="zh-CN" altLang="en-US" baseline="30000" dirty="0">
              <a:latin typeface="Microsoft YaHei UI" panose="020B0503020204020204" pitchFamily="34" charset="-122"/>
              <a:ea typeface="Microsoft YaHei UI" panose="020B0503020204020204" pitchFamily="34"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2" y="2158012"/>
            <a:ext cx="9313747" cy="375008"/>
          </a:xfrm>
          <a:prstGeom prst="rect">
            <a:avLst/>
          </a:prstGeom>
        </p:spPr>
      </p:pic>
      <p:sp>
        <p:nvSpPr>
          <p:cNvPr id="19" name="文本框 18"/>
          <p:cNvSpPr txBox="1"/>
          <p:nvPr/>
        </p:nvSpPr>
        <p:spPr>
          <a:xfrm>
            <a:off x="978274" y="2158012"/>
            <a:ext cx="1894054"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影像学检查</a:t>
            </a: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6408" y="1485859"/>
            <a:ext cx="793938" cy="669729"/>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4150" y="1485859"/>
            <a:ext cx="824229" cy="669729"/>
          </a:xfrm>
          <a:prstGeom prst="rect">
            <a:avLst/>
          </a:prstGeom>
        </p:spPr>
      </p:pic>
      <p:sp>
        <p:nvSpPr>
          <p:cNvPr id="23" name="文本框 22"/>
          <p:cNvSpPr txBox="1"/>
          <p:nvPr/>
        </p:nvSpPr>
        <p:spPr>
          <a:xfrm>
            <a:off x="974632" y="1636057"/>
            <a:ext cx="205483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700439" y="1503407"/>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540741" y="1503407"/>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5" name="矩形 24"/>
          <p:cNvSpPr/>
          <p:nvPr/>
        </p:nvSpPr>
        <p:spPr>
          <a:xfrm>
            <a:off x="974630" y="4864616"/>
            <a:ext cx="7588979" cy="61626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当</a:t>
            </a:r>
            <a:r>
              <a:rPr lang="en-US" altLang="zh-CN" dirty="0">
                <a:latin typeface="Microsoft YaHei UI" panose="020B0503020204020204" pitchFamily="34" charset="-122"/>
                <a:ea typeface="Microsoft YaHei UI" panose="020B0503020204020204" pitchFamily="34" charset="-122"/>
              </a:rPr>
              <a:t>CAD</a:t>
            </a:r>
            <a:r>
              <a:rPr lang="zh-CN" altLang="en-US" dirty="0">
                <a:latin typeface="Microsoft YaHei UI" panose="020B0503020204020204" pitchFamily="34" charset="-122"/>
                <a:ea typeface="Microsoft YaHei UI" panose="020B0503020204020204" pitchFamily="34" charset="-122"/>
              </a:rPr>
              <a:t>低</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中可能性且肌钙蛋白和</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或心电图正常或不能确定时，推荐应用冠脉</a:t>
            </a:r>
            <a:r>
              <a:rPr lang="en-US" altLang="zh-CN" dirty="0">
                <a:latin typeface="Microsoft YaHei UI" panose="020B0503020204020204" pitchFamily="34" charset="-122"/>
                <a:ea typeface="Microsoft YaHei UI" panose="020B0503020204020204" pitchFamily="34" charset="-122"/>
              </a:rPr>
              <a:t>CT</a:t>
            </a:r>
            <a:r>
              <a:rPr lang="zh-CN" altLang="en-US" dirty="0">
                <a:latin typeface="Microsoft YaHei UI" panose="020B0503020204020204" pitchFamily="34" charset="-122"/>
                <a:ea typeface="Microsoft YaHei UI" panose="020B0503020204020204" pitchFamily="34" charset="-122"/>
              </a:rPr>
              <a:t>造影作为侵入性冠脉造影的替代方案</a:t>
            </a:r>
          </a:p>
        </p:txBody>
      </p:sp>
      <p:sp>
        <p:nvSpPr>
          <p:cNvPr id="27" name="矩形 26"/>
          <p:cNvSpPr/>
          <p:nvPr/>
        </p:nvSpPr>
        <p:spPr>
          <a:xfrm>
            <a:off x="3991510" y="6316871"/>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8202" y="2536657"/>
            <a:ext cx="1748496" cy="2968415"/>
          </a:xfrm>
          <a:prstGeom prst="rect">
            <a:avLst/>
          </a:prstGeom>
        </p:spPr>
      </p:pic>
      <p:sp>
        <p:nvSpPr>
          <p:cNvPr id="2" name="矩形: 圆角 1"/>
          <p:cNvSpPr/>
          <p:nvPr/>
        </p:nvSpPr>
        <p:spPr>
          <a:xfrm>
            <a:off x="874136" y="4828425"/>
            <a:ext cx="10597792" cy="688647"/>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3" name="文本框 2"/>
          <p:cNvSpPr txBox="1"/>
          <p:nvPr/>
        </p:nvSpPr>
        <p:spPr>
          <a:xfrm>
            <a:off x="10294604" y="4834552"/>
            <a:ext cx="796350" cy="646331"/>
          </a:xfrm>
          <a:prstGeom prst="rect">
            <a:avLst/>
          </a:prstGeom>
          <a:noFill/>
        </p:spPr>
        <p:txBody>
          <a:bodyPr wrap="square" rtlCol="0">
            <a:spAutoFit/>
          </a:bodyPr>
          <a:lstStyle/>
          <a:p>
            <a:r>
              <a:rPr lang="zh-CN" altLang="en-US" sz="1200" b="1" dirty="0">
                <a:solidFill>
                  <a:srgbClr val="AE1022"/>
                </a:solidFill>
                <a:latin typeface="Microsoft YaHei UI" panose="020B0503020204020204" pitchFamily="34" charset="-122"/>
                <a:ea typeface="Microsoft YaHei UI" panose="020B0503020204020204" pitchFamily="34" charset="-122"/>
              </a:rPr>
              <a:t>推荐等级由</a:t>
            </a:r>
            <a:r>
              <a:rPr lang="en-US" altLang="zh-CN" sz="1200" b="1" dirty="0" err="1">
                <a:solidFill>
                  <a:srgbClr val="AE1022"/>
                </a:solidFill>
                <a:latin typeface="Microsoft YaHei UI" panose="020B0503020204020204" pitchFamily="34" charset="-122"/>
                <a:ea typeface="Microsoft YaHei UI" panose="020B0503020204020204" pitchFamily="34" charset="-122"/>
              </a:rPr>
              <a:t>Ⅱa</a:t>
            </a:r>
            <a:r>
              <a:rPr lang="zh-CN" altLang="en-US" sz="1200" b="1" dirty="0">
                <a:solidFill>
                  <a:srgbClr val="AE1022"/>
                </a:solidFill>
                <a:latin typeface="Microsoft YaHei UI" panose="020B0503020204020204" pitchFamily="34" charset="-122"/>
                <a:ea typeface="Microsoft YaHei UI" panose="020B0503020204020204" pitchFamily="34" charset="-122"/>
              </a:rPr>
              <a:t>类升为</a:t>
            </a:r>
            <a:r>
              <a:rPr lang="en-US" altLang="zh-CN" sz="1200" b="1" dirty="0">
                <a:solidFill>
                  <a:srgbClr val="AE1022"/>
                </a:solidFill>
                <a:latin typeface="Microsoft YaHei UI" panose="020B0503020204020204" pitchFamily="34" charset="-122"/>
                <a:ea typeface="Microsoft YaHei UI" panose="020B0503020204020204" pitchFamily="34" charset="-122"/>
              </a:rPr>
              <a:t>Ⅰ</a:t>
            </a:r>
            <a:r>
              <a:rPr lang="zh-CN" altLang="en-US" sz="1200" b="1" dirty="0">
                <a:solidFill>
                  <a:srgbClr val="AE1022"/>
                </a:solidFill>
                <a:latin typeface="Microsoft YaHei UI" panose="020B0503020204020204" pitchFamily="34" charset="-122"/>
                <a:ea typeface="Microsoft YaHei UI" panose="020B0503020204020204" pitchFamily="34" charset="-122"/>
              </a:rPr>
              <a:t>类</a:t>
            </a:r>
            <a:endParaRPr lang="zh-CN" altLang="en-US" sz="1200" b="1" dirty="0">
              <a:solidFill>
                <a:srgbClr val="AE1022"/>
              </a:solidFill>
            </a:endParaRPr>
          </a:p>
        </p:txBody>
      </p:sp>
      <p:sp>
        <p:nvSpPr>
          <p:cNvPr id="5" name="箭头: 下 4"/>
          <p:cNvSpPr/>
          <p:nvPr/>
        </p:nvSpPr>
        <p:spPr>
          <a:xfrm rot="10800000">
            <a:off x="11084414" y="4927943"/>
            <a:ext cx="265911" cy="459547"/>
          </a:xfrm>
          <a:prstGeom prst="downArrow">
            <a:avLst/>
          </a:prstGeom>
          <a:solidFill>
            <a:srgbClr val="C3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7298" y="6316871"/>
            <a:ext cx="2569955" cy="36791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a:t>
            </a:r>
            <a:r>
              <a:rPr lang="zh-CN" altLang="en-US" sz="1400" dirty="0">
                <a:solidFill>
                  <a:schemeClr val="tx1"/>
                </a:solidFill>
                <a:latin typeface="Microsoft YaHei UI" panose="020B0503020204020204" pitchFamily="34" charset="-122"/>
                <a:ea typeface="Microsoft YaHei UI" panose="020B0503020204020204" pitchFamily="34" charset="-122"/>
              </a:rPr>
              <a:t>：不用于排除了</a:t>
            </a:r>
            <a:r>
              <a:rPr lang="en-US" altLang="zh-CN" sz="1400" dirty="0">
                <a:solidFill>
                  <a:schemeClr val="tx1"/>
                </a:solidFill>
                <a:latin typeface="Microsoft YaHei UI" panose="020B0503020204020204" pitchFamily="34" charset="-122"/>
                <a:ea typeface="Microsoft YaHei UI" panose="020B0503020204020204" pitchFamily="34" charset="-122"/>
              </a:rPr>
              <a:t>NSTEMI</a:t>
            </a:r>
            <a:r>
              <a:rPr lang="zh-CN" altLang="en-US" sz="1400" dirty="0">
                <a:solidFill>
                  <a:schemeClr val="tx1"/>
                </a:solidFill>
                <a:latin typeface="Microsoft YaHei UI" panose="020B0503020204020204" pitchFamily="34" charset="-122"/>
                <a:ea typeface="Microsoft YaHei UI" panose="020B0503020204020204" pitchFamily="34" charset="-122"/>
              </a:rPr>
              <a:t>且当天出院的患者</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850" y="1455043"/>
            <a:ext cx="7594457" cy="669729"/>
          </a:xfrm>
          <a:prstGeom prst="rect">
            <a:avLst/>
          </a:prstGeom>
        </p:spPr>
      </p:pic>
      <p:sp>
        <p:nvSpPr>
          <p:cNvPr id="15" name="矩形 14"/>
          <p:cNvSpPr/>
          <p:nvPr/>
        </p:nvSpPr>
        <p:spPr>
          <a:xfrm>
            <a:off x="910585" y="3225360"/>
            <a:ext cx="7597197" cy="62497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推荐对心律失常低风险的</a:t>
            </a:r>
            <a:r>
              <a:rPr lang="en-US" altLang="zh-CN" dirty="0">
                <a:latin typeface="Microsoft YaHei UI" panose="020B0503020204020204" pitchFamily="34" charset="-122"/>
                <a:ea typeface="Microsoft YaHei UI" panose="020B0503020204020204" pitchFamily="34" charset="-122"/>
              </a:rPr>
              <a:t>NSTEMI</a:t>
            </a:r>
            <a:r>
              <a:rPr lang="zh-CN" altLang="en-US" dirty="0">
                <a:latin typeface="Microsoft YaHei UI" panose="020B0503020204020204" pitchFamily="34" charset="-122"/>
                <a:ea typeface="Microsoft YaHei UI" panose="020B0503020204020204" pitchFamily="34" charset="-122"/>
              </a:rPr>
              <a:t>患者行至多</a:t>
            </a:r>
            <a:r>
              <a:rPr lang="en-US" altLang="zh-CN" dirty="0">
                <a:latin typeface="Microsoft YaHei UI" panose="020B0503020204020204" pitchFamily="34" charset="-122"/>
                <a:ea typeface="Microsoft YaHei UI" panose="020B0503020204020204" pitchFamily="34" charset="-122"/>
              </a:rPr>
              <a:t>24h</a:t>
            </a:r>
            <a:r>
              <a:rPr lang="zh-CN" altLang="en-US" dirty="0">
                <a:latin typeface="Microsoft YaHei UI" panose="020B0503020204020204" pitchFamily="34" charset="-122"/>
                <a:ea typeface="Microsoft YaHei UI" panose="020B0503020204020204" pitchFamily="34" charset="-122"/>
              </a:rPr>
              <a:t>的心律监测或</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治疗（无论哪一项先进行）</a:t>
            </a:r>
            <a:r>
              <a:rPr lang="en-US" altLang="zh-CN" baseline="30000" dirty="0">
                <a:latin typeface="Microsoft YaHei UI" panose="020B0503020204020204" pitchFamily="34" charset="-122"/>
                <a:ea typeface="Microsoft YaHei UI" panose="020B0503020204020204" pitchFamily="34" charset="-122"/>
              </a:rPr>
              <a:t>a</a:t>
            </a:r>
            <a:endParaRPr lang="zh-CN" altLang="en-US" baseline="30000" dirty="0">
              <a:latin typeface="Microsoft YaHei UI" panose="020B0503020204020204" pitchFamily="34" charset="-122"/>
              <a:ea typeface="Microsoft YaHei UI" panose="020B0503020204020204" pitchFamily="34" charset="-122"/>
            </a:endParaRPr>
          </a:p>
        </p:txBody>
      </p:sp>
      <p:sp>
        <p:nvSpPr>
          <p:cNvPr id="16" name="矩形 15"/>
          <p:cNvSpPr/>
          <p:nvPr/>
        </p:nvSpPr>
        <p:spPr>
          <a:xfrm>
            <a:off x="902044" y="3882319"/>
            <a:ext cx="7605400"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对于心律失常中</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高风险的</a:t>
            </a:r>
            <a:r>
              <a:rPr lang="en-US" altLang="zh-CN" dirty="0">
                <a:latin typeface="Microsoft YaHei UI" panose="020B0503020204020204" pitchFamily="34" charset="-122"/>
                <a:ea typeface="Microsoft YaHei UI" panose="020B0503020204020204" pitchFamily="34" charset="-122"/>
              </a:rPr>
              <a:t>NSTEMI</a:t>
            </a:r>
            <a:r>
              <a:rPr lang="zh-CN" altLang="en-US" dirty="0">
                <a:latin typeface="Microsoft YaHei UI" panose="020B0503020204020204" pitchFamily="34" charset="-122"/>
                <a:ea typeface="Microsoft YaHei UI" panose="020B0503020204020204" pitchFamily="34" charset="-122"/>
              </a:rPr>
              <a:t>患者，推荐应用大于</a:t>
            </a:r>
            <a:r>
              <a:rPr lang="en-US" altLang="zh-CN" dirty="0">
                <a:latin typeface="Microsoft YaHei UI" panose="020B0503020204020204" pitchFamily="34" charset="-122"/>
                <a:ea typeface="Microsoft YaHei UI" panose="020B0503020204020204" pitchFamily="34" charset="-122"/>
              </a:rPr>
              <a:t>24h</a:t>
            </a:r>
            <a:r>
              <a:rPr lang="zh-CN" altLang="en-US" dirty="0">
                <a:latin typeface="Microsoft YaHei UI" panose="020B0503020204020204" pitchFamily="34" charset="-122"/>
                <a:ea typeface="Microsoft YaHei UI" panose="020B0503020204020204" pitchFamily="34" charset="-122"/>
              </a:rPr>
              <a:t>的心律监测</a:t>
            </a:r>
            <a:r>
              <a:rPr lang="en-US" altLang="zh-CN" baseline="30000" dirty="0">
                <a:latin typeface="Microsoft YaHei UI" panose="020B0503020204020204" pitchFamily="34" charset="-122"/>
                <a:ea typeface="Microsoft YaHei UI" panose="020B0503020204020204" pitchFamily="34" charset="-122"/>
              </a:rPr>
              <a:t>b</a:t>
            </a:r>
            <a:endParaRPr lang="zh-CN" altLang="en-US" baseline="30000" dirty="0">
              <a:latin typeface="Microsoft YaHei UI" panose="020B0503020204020204" pitchFamily="34" charset="-122"/>
              <a:ea typeface="Microsoft YaHei UI" panose="020B0503020204020204" pitchFamily="34" charset="-122"/>
            </a:endParaRPr>
          </a:p>
        </p:txBody>
      </p:sp>
      <p:sp>
        <p:nvSpPr>
          <p:cNvPr id="17" name="矩形 16"/>
          <p:cNvSpPr/>
          <p:nvPr/>
        </p:nvSpPr>
        <p:spPr>
          <a:xfrm>
            <a:off x="907846" y="2523958"/>
            <a:ext cx="7599936"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推荐持续心律监测直到诊断或排除</a:t>
            </a:r>
            <a:r>
              <a:rPr lang="en-US" altLang="zh-CN" dirty="0">
                <a:latin typeface="Microsoft YaHei UI" panose="020B0503020204020204" pitchFamily="34" charset="-122"/>
                <a:ea typeface="Microsoft YaHei UI" panose="020B0503020204020204" pitchFamily="34" charset="-122"/>
              </a:rPr>
              <a:t>NSTEMI</a:t>
            </a:r>
            <a:endParaRPr lang="zh-CN" altLang="en-US" dirty="0">
              <a:latin typeface="Microsoft YaHei UI" panose="020B0503020204020204" pitchFamily="34" charset="-122"/>
              <a:ea typeface="Microsoft YaHei UI" panose="020B0503020204020204" pitchFamily="34"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851" y="2127196"/>
            <a:ext cx="9313747" cy="375008"/>
          </a:xfrm>
          <a:prstGeom prst="rect">
            <a:avLst/>
          </a:prstGeom>
        </p:spPr>
      </p:pic>
      <p:sp>
        <p:nvSpPr>
          <p:cNvPr id="19" name="文本框 18"/>
          <p:cNvSpPr txBox="1"/>
          <p:nvPr/>
        </p:nvSpPr>
        <p:spPr>
          <a:xfrm>
            <a:off x="911493" y="2127196"/>
            <a:ext cx="1894054"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监测</a:t>
            </a: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9627" y="1455043"/>
            <a:ext cx="793938" cy="669729"/>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7369" y="1455043"/>
            <a:ext cx="824229" cy="669729"/>
          </a:xfrm>
          <a:prstGeom prst="rect">
            <a:avLst/>
          </a:prstGeom>
        </p:spPr>
      </p:pic>
      <p:sp>
        <p:nvSpPr>
          <p:cNvPr id="23" name="文本框 22"/>
          <p:cNvSpPr txBox="1"/>
          <p:nvPr/>
        </p:nvSpPr>
        <p:spPr>
          <a:xfrm>
            <a:off x="907851" y="1605241"/>
            <a:ext cx="205483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633658" y="1472591"/>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473960" y="1472591"/>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5" name="矩形 24"/>
          <p:cNvSpPr/>
          <p:nvPr/>
        </p:nvSpPr>
        <p:spPr>
          <a:xfrm>
            <a:off x="902372" y="4233936"/>
            <a:ext cx="7599935" cy="65244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当缺少持续缺血的症状和体征时，可考虑对特定的不稳定心绞痛患者（怀疑冠脉痉挛或存在提示心律失常事件的相关症状）行心律监测</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911493" y="510313"/>
            <a:ext cx="9197696" cy="830997"/>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疑似</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患者诊断，危险分层，影像学检查及心律监测的指南推荐</a:t>
            </a:r>
            <a:endParaRPr lang="zh-CN" altLang="en-US" sz="2400" b="1" dirty="0">
              <a:solidFill>
                <a:srgbClr val="AE1022"/>
              </a:solidFill>
            </a:endParaRP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9561" y="2507532"/>
            <a:ext cx="1701196" cy="2378846"/>
          </a:xfrm>
          <a:prstGeom prst="rect">
            <a:avLst/>
          </a:prstGeom>
        </p:spPr>
      </p:pic>
      <p:sp>
        <p:nvSpPr>
          <p:cNvPr id="26" name="矩形 25"/>
          <p:cNvSpPr/>
          <p:nvPr/>
        </p:nvSpPr>
        <p:spPr>
          <a:xfrm>
            <a:off x="910585" y="2868381"/>
            <a:ext cx="7599936"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推荐将</a:t>
            </a:r>
            <a:r>
              <a:rPr lang="en-US" altLang="zh-CN" dirty="0">
                <a:latin typeface="Microsoft YaHei UI" panose="020B0503020204020204" pitchFamily="34" charset="-122"/>
                <a:ea typeface="Microsoft YaHei UI" panose="020B0503020204020204" pitchFamily="34" charset="-122"/>
              </a:rPr>
              <a:t>NSTEMI</a:t>
            </a:r>
            <a:r>
              <a:rPr lang="zh-CN" altLang="en-US" dirty="0">
                <a:latin typeface="Microsoft YaHei UI" panose="020B0503020204020204" pitchFamily="34" charset="-122"/>
                <a:ea typeface="Microsoft YaHei UI" panose="020B0503020204020204" pitchFamily="34" charset="-122"/>
              </a:rPr>
              <a:t>患者收入监护室</a:t>
            </a:r>
          </a:p>
        </p:txBody>
      </p:sp>
      <p:sp>
        <p:nvSpPr>
          <p:cNvPr id="3" name="文本框 2"/>
          <p:cNvSpPr txBox="1"/>
          <p:nvPr/>
        </p:nvSpPr>
        <p:spPr>
          <a:xfrm>
            <a:off x="10221598" y="3327623"/>
            <a:ext cx="906269" cy="738664"/>
          </a:xfrm>
          <a:prstGeom prst="rect">
            <a:avLst/>
          </a:prstGeom>
          <a:noFill/>
        </p:spPr>
        <p:txBody>
          <a:bodyPr wrap="square" rtlCol="0">
            <a:spAutoFit/>
          </a:bodyPr>
          <a:lstStyle/>
          <a:p>
            <a:r>
              <a:rPr lang="zh-CN" altLang="en-US" sz="1400" b="1" dirty="0">
                <a:solidFill>
                  <a:srgbClr val="AE1022"/>
                </a:solidFill>
                <a:latin typeface="Microsoft YaHei UI" panose="020B0503020204020204" pitchFamily="34" charset="-122"/>
                <a:ea typeface="Microsoft YaHei UI" panose="020B0503020204020204" pitchFamily="34" charset="-122"/>
              </a:rPr>
              <a:t>推荐等级由</a:t>
            </a:r>
            <a:r>
              <a:rPr lang="en-US" altLang="zh-CN" sz="1400" b="1" dirty="0" err="1">
                <a:solidFill>
                  <a:srgbClr val="AE1022"/>
                </a:solidFill>
                <a:latin typeface="Microsoft YaHei UI" panose="020B0503020204020204" pitchFamily="34" charset="-122"/>
                <a:ea typeface="Microsoft YaHei UI" panose="020B0503020204020204" pitchFamily="34" charset="-122"/>
              </a:rPr>
              <a:t>Ⅱa</a:t>
            </a:r>
            <a:r>
              <a:rPr lang="zh-CN" altLang="en-US" sz="1400" b="1" dirty="0">
                <a:solidFill>
                  <a:srgbClr val="AE1022"/>
                </a:solidFill>
                <a:latin typeface="Microsoft YaHei UI" panose="020B0503020204020204" pitchFamily="34" charset="-122"/>
                <a:ea typeface="Microsoft YaHei UI" panose="020B0503020204020204" pitchFamily="34" charset="-122"/>
              </a:rPr>
              <a:t>类升为</a:t>
            </a:r>
            <a:r>
              <a:rPr lang="en-US" altLang="zh-CN" sz="1400" b="1" dirty="0">
                <a:solidFill>
                  <a:srgbClr val="AE1022"/>
                </a:solidFill>
                <a:latin typeface="Microsoft YaHei UI" panose="020B0503020204020204" pitchFamily="34" charset="-122"/>
                <a:ea typeface="Microsoft YaHei UI" panose="020B0503020204020204" pitchFamily="34" charset="-122"/>
              </a:rPr>
              <a:t>Ⅰ</a:t>
            </a:r>
            <a:r>
              <a:rPr lang="zh-CN" altLang="en-US" sz="1400" b="1" dirty="0">
                <a:solidFill>
                  <a:srgbClr val="AE1022"/>
                </a:solidFill>
                <a:latin typeface="Microsoft YaHei UI" panose="020B0503020204020204" pitchFamily="34" charset="-122"/>
                <a:ea typeface="Microsoft YaHei UI" panose="020B0503020204020204" pitchFamily="34" charset="-122"/>
              </a:rPr>
              <a:t>类</a:t>
            </a:r>
            <a:endParaRPr lang="zh-CN" altLang="en-US" sz="1400" b="1" dirty="0">
              <a:solidFill>
                <a:srgbClr val="AE1022"/>
              </a:solidFill>
            </a:endParaRPr>
          </a:p>
        </p:txBody>
      </p:sp>
      <p:sp>
        <p:nvSpPr>
          <p:cNvPr id="5" name="箭头: 下 4"/>
          <p:cNvSpPr/>
          <p:nvPr/>
        </p:nvSpPr>
        <p:spPr>
          <a:xfrm rot="10800000">
            <a:off x="11049856" y="3453625"/>
            <a:ext cx="306571" cy="441708"/>
          </a:xfrm>
          <a:prstGeom prst="downArrow">
            <a:avLst/>
          </a:prstGeom>
          <a:solidFill>
            <a:srgbClr val="C3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圆角 1"/>
          <p:cNvSpPr/>
          <p:nvPr/>
        </p:nvSpPr>
        <p:spPr>
          <a:xfrm>
            <a:off x="831023" y="3230921"/>
            <a:ext cx="10597792" cy="1023784"/>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7" name="矩形 6"/>
          <p:cNvSpPr/>
          <p:nvPr/>
        </p:nvSpPr>
        <p:spPr>
          <a:xfrm>
            <a:off x="902044" y="5577148"/>
            <a:ext cx="9756727"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a:t>
            </a:r>
            <a:r>
              <a:rPr lang="zh-CN" altLang="en-US" sz="1400" dirty="0">
                <a:solidFill>
                  <a:schemeClr val="tx1"/>
                </a:solidFill>
                <a:latin typeface="Microsoft YaHei UI" panose="020B0503020204020204" pitchFamily="34" charset="-122"/>
                <a:ea typeface="Microsoft YaHei UI" panose="020B0503020204020204" pitchFamily="34" charset="-122"/>
              </a:rPr>
              <a:t>：如果无以下标准：血流动力学不稳定，主要心律失常，</a:t>
            </a:r>
            <a:r>
              <a:rPr lang="en-US" altLang="zh-CN" sz="1400" dirty="0">
                <a:solidFill>
                  <a:schemeClr val="tx1"/>
                </a:solidFill>
                <a:latin typeface="Microsoft YaHei UI" panose="020B0503020204020204" pitchFamily="34" charset="-122"/>
                <a:ea typeface="Microsoft YaHei UI" panose="020B0503020204020204" pitchFamily="34" charset="-122"/>
              </a:rPr>
              <a:t>LVEF&lt;40%</a:t>
            </a:r>
            <a:r>
              <a:rPr lang="zh-CN" altLang="en-US" sz="1400" dirty="0">
                <a:solidFill>
                  <a:schemeClr val="tx1"/>
                </a:solidFill>
                <a:latin typeface="Microsoft YaHei UI" panose="020B0503020204020204" pitchFamily="34" charset="-122"/>
                <a:ea typeface="Microsoft YaHei UI" panose="020B0503020204020204" pitchFamily="34" charset="-122"/>
              </a:rPr>
              <a:t>，再灌注失败，其它的冠脉危重狭窄，</a:t>
            </a:r>
            <a:r>
              <a:rPr lang="en-US" altLang="zh-CN" sz="1400" dirty="0">
                <a:solidFill>
                  <a:schemeClr val="tx1"/>
                </a:solidFill>
                <a:latin typeface="Microsoft YaHei UI" panose="020B0503020204020204" pitchFamily="34" charset="-122"/>
                <a:ea typeface="Microsoft YaHei UI" panose="020B0503020204020204" pitchFamily="34" charset="-122"/>
              </a:rPr>
              <a:t>PCI</a:t>
            </a:r>
            <a:r>
              <a:rPr lang="zh-CN" altLang="en-US" sz="1400" dirty="0">
                <a:solidFill>
                  <a:schemeClr val="tx1"/>
                </a:solidFill>
                <a:latin typeface="Microsoft YaHei UI" panose="020B0503020204020204" pitchFamily="34" charset="-122"/>
                <a:ea typeface="Microsoft YaHei UI" panose="020B0503020204020204" pitchFamily="34" charset="-122"/>
              </a:rPr>
              <a:t>相关的并发症，</a:t>
            </a:r>
            <a:r>
              <a:rPr lang="en-US" altLang="zh-CN" sz="1400" dirty="0">
                <a:solidFill>
                  <a:schemeClr val="tx1"/>
                </a:solidFill>
                <a:latin typeface="Microsoft YaHei UI" panose="020B0503020204020204" pitchFamily="34" charset="-122"/>
                <a:ea typeface="Microsoft YaHei UI" panose="020B0503020204020204" pitchFamily="34" charset="-122"/>
              </a:rPr>
              <a:t>GRACE</a:t>
            </a:r>
            <a:r>
              <a:rPr lang="zh-CN" altLang="en-US" sz="1400" dirty="0">
                <a:solidFill>
                  <a:schemeClr val="tx1"/>
                </a:solidFill>
                <a:latin typeface="Microsoft YaHei UI" panose="020B0503020204020204" pitchFamily="34" charset="-122"/>
                <a:ea typeface="Microsoft YaHei UI" panose="020B0503020204020204" pitchFamily="34" charset="-122"/>
              </a:rPr>
              <a:t>评分＞</a:t>
            </a:r>
            <a:r>
              <a:rPr lang="en-US" altLang="zh-CN" sz="1400" dirty="0">
                <a:solidFill>
                  <a:schemeClr val="tx1"/>
                </a:solidFill>
                <a:latin typeface="Microsoft YaHei UI" panose="020B0503020204020204" pitchFamily="34" charset="-122"/>
                <a:ea typeface="Microsoft YaHei UI" panose="020B0503020204020204" pitchFamily="34" charset="-122"/>
              </a:rPr>
              <a:t>140</a:t>
            </a:r>
            <a:r>
              <a:rPr lang="zh-CN" altLang="en-US" sz="1400" dirty="0">
                <a:solidFill>
                  <a:schemeClr val="tx1"/>
                </a:solidFill>
                <a:latin typeface="Microsoft YaHei UI" panose="020B0503020204020204" pitchFamily="34" charset="-122"/>
                <a:ea typeface="Microsoft YaHei UI" panose="020B0503020204020204" pitchFamily="34" charset="-122"/>
              </a:rPr>
              <a:t>。</a:t>
            </a:r>
            <a:r>
              <a:rPr lang="en-US" altLang="zh-CN" sz="1400" dirty="0">
                <a:solidFill>
                  <a:schemeClr val="tx1"/>
                </a:solidFill>
                <a:latin typeface="Microsoft YaHei UI" panose="020B0503020204020204" pitchFamily="34" charset="-122"/>
                <a:ea typeface="Microsoft YaHei UI" panose="020B0503020204020204" pitchFamily="34" charset="-122"/>
              </a:rPr>
              <a:t>b</a:t>
            </a:r>
            <a:r>
              <a:rPr lang="zh-CN" altLang="en-US" sz="1400" dirty="0">
                <a:solidFill>
                  <a:schemeClr val="tx1"/>
                </a:solidFill>
                <a:latin typeface="Microsoft YaHei UI" panose="020B0503020204020204" pitchFamily="34" charset="-122"/>
                <a:ea typeface="Microsoft YaHei UI" panose="020B0503020204020204" pitchFamily="34" charset="-122"/>
              </a:rPr>
              <a:t>：如上述一项或多项标准存在。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274" y="1321475"/>
            <a:ext cx="7594457" cy="669729"/>
          </a:xfrm>
          <a:prstGeom prst="rect">
            <a:avLst/>
          </a:prstGeom>
        </p:spPr>
      </p:pic>
      <p:sp>
        <p:nvSpPr>
          <p:cNvPr id="15" name="矩形 14"/>
          <p:cNvSpPr/>
          <p:nvPr/>
        </p:nvSpPr>
        <p:spPr>
          <a:xfrm>
            <a:off x="653058" y="2664914"/>
            <a:ext cx="7597197" cy="90167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不推荐监测其它生物标志物如</a:t>
            </a:r>
            <a:r>
              <a:rPr lang="en-US" altLang="zh-CN" dirty="0">
                <a:latin typeface="Microsoft YaHei UI" panose="020B0503020204020204" pitchFamily="34" charset="-122"/>
                <a:ea typeface="Microsoft YaHei UI" panose="020B0503020204020204" pitchFamily="34" charset="-122"/>
              </a:rPr>
              <a:t>MR-</a:t>
            </a:r>
            <a:r>
              <a:rPr lang="en-US" altLang="zh-CN" dirty="0" err="1">
                <a:latin typeface="Microsoft YaHei UI" panose="020B0503020204020204" pitchFamily="34" charset="-122"/>
                <a:ea typeface="Microsoft YaHei UI" panose="020B0503020204020204" pitchFamily="34" charset="-122"/>
              </a:rPr>
              <a:t>proANP</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h-CRP</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MR-</a:t>
            </a:r>
            <a:r>
              <a:rPr lang="en-US" altLang="zh-CN" dirty="0" err="1">
                <a:latin typeface="Microsoft YaHei UI" panose="020B0503020204020204" pitchFamily="34" charset="-122"/>
                <a:ea typeface="Microsoft YaHei UI" panose="020B0503020204020204" pitchFamily="34" charset="-122"/>
              </a:rPr>
              <a:t>proADM</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GDF-15</a:t>
            </a:r>
            <a:r>
              <a:rPr lang="zh-CN" altLang="en-US" dirty="0">
                <a:latin typeface="Microsoft YaHei UI" panose="020B0503020204020204" pitchFamily="34" charset="-122"/>
                <a:ea typeface="Microsoft YaHei UI" panose="020B0503020204020204" pitchFamily="34" charset="-122"/>
              </a:rPr>
              <a:t>，和肽素及</a:t>
            </a:r>
            <a:r>
              <a:rPr lang="en-US" altLang="zh-CN" dirty="0">
                <a:latin typeface="Microsoft YaHei UI" panose="020B0503020204020204" pitchFamily="34" charset="-122"/>
                <a:ea typeface="Microsoft YaHei UI" panose="020B0503020204020204" pitchFamily="34" charset="-122"/>
              </a:rPr>
              <a:t>h-FABP</a:t>
            </a:r>
            <a:r>
              <a:rPr lang="zh-CN" altLang="en-US" dirty="0">
                <a:latin typeface="Microsoft YaHei UI" panose="020B0503020204020204" pitchFamily="34" charset="-122"/>
                <a:ea typeface="Microsoft YaHei UI" panose="020B0503020204020204" pitchFamily="34" charset="-122"/>
              </a:rPr>
              <a:t>用于常规预后风险评估</a:t>
            </a:r>
          </a:p>
        </p:txBody>
      </p:sp>
      <p:sp>
        <p:nvSpPr>
          <p:cNvPr id="16" name="矩形 15"/>
          <p:cNvSpPr/>
          <p:nvPr/>
        </p:nvSpPr>
        <p:spPr>
          <a:xfrm>
            <a:off x="648956" y="3972655"/>
            <a:ext cx="7605400"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应考虑应用</a:t>
            </a:r>
            <a:r>
              <a:rPr lang="en-US" altLang="zh-CN" dirty="0">
                <a:latin typeface="Microsoft YaHei UI" panose="020B0503020204020204" pitchFamily="34" charset="-122"/>
                <a:ea typeface="Microsoft YaHei UI" panose="020B0503020204020204" pitchFamily="34" charset="-122"/>
              </a:rPr>
              <a:t>GRACE</a:t>
            </a:r>
            <a:r>
              <a:rPr lang="zh-CN" altLang="en-US" dirty="0">
                <a:latin typeface="Microsoft YaHei UI" panose="020B0503020204020204" pitchFamily="34" charset="-122"/>
                <a:ea typeface="Microsoft YaHei UI" panose="020B0503020204020204" pitchFamily="34" charset="-122"/>
              </a:rPr>
              <a:t>风险评分模型评估预后</a:t>
            </a:r>
          </a:p>
        </p:txBody>
      </p:sp>
      <p:sp>
        <p:nvSpPr>
          <p:cNvPr id="17" name="矩形 16"/>
          <p:cNvSpPr/>
          <p:nvPr/>
        </p:nvSpPr>
        <p:spPr>
          <a:xfrm>
            <a:off x="664009" y="1971902"/>
            <a:ext cx="759172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除其诊断作用外，建议连续测量</a:t>
            </a:r>
            <a:r>
              <a:rPr lang="en-US" altLang="zh-CN" dirty="0" err="1">
                <a:latin typeface="Microsoft YaHei UI" panose="020B0503020204020204" pitchFamily="34" charset="-122"/>
                <a:ea typeface="Microsoft YaHei UI" panose="020B0503020204020204" pitchFamily="34" charset="-122"/>
              </a:rPr>
              <a:t>hs-cTn</a:t>
            </a:r>
            <a:r>
              <a:rPr lang="zh-CN" altLang="en-US" dirty="0">
                <a:latin typeface="Microsoft YaHei UI" panose="020B0503020204020204" pitchFamily="34" charset="-122"/>
                <a:ea typeface="Microsoft YaHei UI" panose="020B0503020204020204" pitchFamily="34" charset="-122"/>
              </a:rPr>
              <a:t>以评估预后</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94" y="3591164"/>
            <a:ext cx="9313747" cy="375008"/>
          </a:xfrm>
          <a:prstGeom prst="rect">
            <a:avLst/>
          </a:prstGeom>
        </p:spPr>
      </p:pic>
      <p:sp>
        <p:nvSpPr>
          <p:cNvPr id="19" name="文本框 18"/>
          <p:cNvSpPr txBox="1"/>
          <p:nvPr/>
        </p:nvSpPr>
        <p:spPr>
          <a:xfrm>
            <a:off x="653058" y="3582495"/>
            <a:ext cx="2822596"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NSTE-ACS</a:t>
            </a:r>
            <a:r>
              <a:rPr lang="zh-CN" altLang="en-US" b="1" dirty="0">
                <a:latin typeface="Microsoft YaHei UI" panose="020B0503020204020204" pitchFamily="34" charset="-122"/>
                <a:ea typeface="Microsoft YaHei UI" panose="020B0503020204020204" pitchFamily="34" charset="-122"/>
              </a:rPr>
              <a:t>危险分层评分</a:t>
            </a: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3051" y="1321475"/>
            <a:ext cx="793938" cy="669729"/>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0793" y="1321475"/>
            <a:ext cx="824229" cy="669729"/>
          </a:xfrm>
          <a:prstGeom prst="rect">
            <a:avLst/>
          </a:prstGeom>
        </p:spPr>
      </p:pic>
      <p:sp>
        <p:nvSpPr>
          <p:cNvPr id="23" name="文本框 22"/>
          <p:cNvSpPr txBox="1"/>
          <p:nvPr/>
        </p:nvSpPr>
        <p:spPr>
          <a:xfrm>
            <a:off x="661275" y="1471673"/>
            <a:ext cx="205483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387082" y="133902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227384" y="133902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19300" y="571427"/>
            <a:ext cx="9197696"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生物标志物测量用于预后分层的推荐</a:t>
            </a:r>
            <a:endParaRPr lang="zh-CN" altLang="en-US" sz="2400" b="1" dirty="0">
              <a:solidFill>
                <a:srgbClr val="AE1022"/>
              </a:solidFill>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8585" y="1967890"/>
            <a:ext cx="1686437" cy="1628944"/>
          </a:xfrm>
          <a:prstGeom prst="rect">
            <a:avLst/>
          </a:prstGeom>
        </p:spPr>
      </p:pic>
      <p:sp>
        <p:nvSpPr>
          <p:cNvPr id="20" name="矩形 19"/>
          <p:cNvSpPr/>
          <p:nvPr/>
        </p:nvSpPr>
        <p:spPr>
          <a:xfrm>
            <a:off x="655796" y="2317593"/>
            <a:ext cx="759172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应考虑测量血浆</a:t>
            </a:r>
            <a:r>
              <a:rPr lang="en-US" altLang="zh-CN" dirty="0">
                <a:latin typeface="Microsoft YaHei UI" panose="020B0503020204020204" pitchFamily="34" charset="-122"/>
                <a:ea typeface="Microsoft YaHei UI" panose="020B0503020204020204" pitchFamily="34" charset="-122"/>
              </a:rPr>
              <a:t>BNP</a:t>
            </a:r>
            <a:r>
              <a:rPr lang="zh-CN" altLang="en-US" dirty="0">
                <a:latin typeface="Microsoft YaHei UI" panose="020B0503020204020204" pitchFamily="34" charset="-122"/>
                <a:ea typeface="Microsoft YaHei UI" panose="020B0503020204020204" pitchFamily="34" charset="-122"/>
              </a:rPr>
              <a:t>或</a:t>
            </a:r>
            <a:r>
              <a:rPr lang="en-US" altLang="zh-CN" dirty="0">
                <a:latin typeface="Microsoft YaHei UI" panose="020B0503020204020204" pitchFamily="34" charset="-122"/>
                <a:ea typeface="Microsoft YaHei UI" panose="020B0503020204020204" pitchFamily="34" charset="-122"/>
              </a:rPr>
              <a:t>NT-</a:t>
            </a:r>
            <a:r>
              <a:rPr lang="en-US" altLang="zh-CN" dirty="0" err="1">
                <a:latin typeface="Microsoft YaHei UI" panose="020B0503020204020204" pitchFamily="34" charset="-122"/>
                <a:ea typeface="Microsoft YaHei UI" panose="020B0503020204020204" pitchFamily="34" charset="-122"/>
              </a:rPr>
              <a:t>proBNP</a:t>
            </a:r>
            <a:r>
              <a:rPr lang="zh-CN" altLang="en-US" dirty="0">
                <a:latin typeface="Microsoft YaHei UI" panose="020B0503020204020204" pitchFamily="34" charset="-122"/>
                <a:ea typeface="Microsoft YaHei UI" panose="020B0503020204020204" pitchFamily="34" charset="-122"/>
              </a:rPr>
              <a:t>浓度以获取预后信息</a:t>
            </a:r>
          </a:p>
        </p:txBody>
      </p:sp>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2101" y="3958559"/>
            <a:ext cx="1660462" cy="1007685"/>
          </a:xfrm>
          <a:prstGeom prst="rect">
            <a:avLst/>
          </a:prstGeom>
        </p:spPr>
      </p:pic>
      <p:sp>
        <p:nvSpPr>
          <p:cNvPr id="29" name="矩形 28"/>
          <p:cNvSpPr/>
          <p:nvPr/>
        </p:nvSpPr>
        <p:spPr>
          <a:xfrm>
            <a:off x="647593" y="4301826"/>
            <a:ext cx="7605400"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可考虑应用评价不同</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时程获益及风险的评分系统</a:t>
            </a:r>
          </a:p>
        </p:txBody>
      </p:sp>
      <p:sp>
        <p:nvSpPr>
          <p:cNvPr id="30" name="矩形 29"/>
          <p:cNvSpPr/>
          <p:nvPr/>
        </p:nvSpPr>
        <p:spPr>
          <a:xfrm>
            <a:off x="648956" y="4640072"/>
            <a:ext cx="7605400"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为评估出血风险，可考虑对行冠脉造影的患者应用评分系统</a:t>
            </a:r>
          </a:p>
        </p:txBody>
      </p:sp>
      <p:sp>
        <p:nvSpPr>
          <p:cNvPr id="2" name="矩形 1"/>
          <p:cNvSpPr/>
          <p:nvPr/>
        </p:nvSpPr>
        <p:spPr>
          <a:xfrm>
            <a:off x="820177" y="5667618"/>
            <a:ext cx="9313746" cy="42417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MR-</a:t>
            </a:r>
            <a:r>
              <a:rPr lang="en-US" altLang="zh-CN" sz="1400" dirty="0" err="1">
                <a:solidFill>
                  <a:schemeClr val="tx1"/>
                </a:solidFill>
                <a:latin typeface="Microsoft YaHei UI" panose="020B0503020204020204" pitchFamily="34" charset="-122"/>
                <a:ea typeface="Microsoft YaHei UI" panose="020B0503020204020204" pitchFamily="34" charset="-122"/>
              </a:rPr>
              <a:t>proANP</a:t>
            </a:r>
            <a:r>
              <a:rPr lang="zh-CN" altLang="en-US" sz="1400" dirty="0">
                <a:solidFill>
                  <a:schemeClr val="tx1"/>
                </a:solidFill>
                <a:latin typeface="Microsoft YaHei UI" panose="020B0503020204020204" pitchFamily="34" charset="-122"/>
                <a:ea typeface="Microsoft YaHei UI" panose="020B0503020204020204" pitchFamily="34" charset="-122"/>
              </a:rPr>
              <a:t>：中段心房尿钠肽前体；</a:t>
            </a:r>
            <a:r>
              <a:rPr lang="en-US" altLang="zh-CN" sz="1400" dirty="0">
                <a:solidFill>
                  <a:schemeClr val="tx1"/>
                </a:solidFill>
                <a:latin typeface="Microsoft YaHei UI" panose="020B0503020204020204" pitchFamily="34" charset="-122"/>
                <a:ea typeface="Microsoft YaHei UI" panose="020B0503020204020204" pitchFamily="34" charset="-122"/>
              </a:rPr>
              <a:t>h-CRP</a:t>
            </a:r>
            <a:r>
              <a:rPr lang="zh-CN" altLang="en-US" sz="1400" dirty="0">
                <a:solidFill>
                  <a:schemeClr val="tx1"/>
                </a:solidFill>
                <a:latin typeface="Microsoft YaHei UI" panose="020B0503020204020204" pitchFamily="34" charset="-122"/>
                <a:ea typeface="Microsoft YaHei UI" panose="020B0503020204020204" pitchFamily="34" charset="-122"/>
              </a:rPr>
              <a:t>：高敏</a:t>
            </a:r>
            <a:r>
              <a:rPr lang="en-US" altLang="zh-CN" sz="1400" dirty="0">
                <a:solidFill>
                  <a:schemeClr val="tx1"/>
                </a:solidFill>
                <a:latin typeface="Microsoft YaHei UI" panose="020B0503020204020204" pitchFamily="34" charset="-122"/>
                <a:ea typeface="Microsoft YaHei UI" panose="020B0503020204020204" pitchFamily="34" charset="-122"/>
              </a:rPr>
              <a:t>C</a:t>
            </a:r>
            <a:r>
              <a:rPr lang="zh-CN" altLang="en-US" sz="1400" dirty="0">
                <a:solidFill>
                  <a:schemeClr val="tx1"/>
                </a:solidFill>
                <a:latin typeface="Microsoft YaHei UI" panose="020B0503020204020204" pitchFamily="34" charset="-122"/>
                <a:ea typeface="Microsoft YaHei UI" panose="020B0503020204020204" pitchFamily="34" charset="-122"/>
              </a:rPr>
              <a:t>反应蛋白；</a:t>
            </a:r>
            <a:r>
              <a:rPr lang="en-US" altLang="zh-CN" sz="1400" dirty="0">
                <a:solidFill>
                  <a:schemeClr val="tx1"/>
                </a:solidFill>
                <a:latin typeface="Microsoft YaHei UI" panose="020B0503020204020204" pitchFamily="34" charset="-122"/>
                <a:ea typeface="Microsoft YaHei UI" panose="020B0503020204020204" pitchFamily="34" charset="-122"/>
              </a:rPr>
              <a:t>MR-</a:t>
            </a:r>
            <a:r>
              <a:rPr lang="en-US" altLang="zh-CN" sz="1400" dirty="0" err="1">
                <a:solidFill>
                  <a:schemeClr val="tx1"/>
                </a:solidFill>
                <a:latin typeface="Microsoft YaHei UI" panose="020B0503020204020204" pitchFamily="34" charset="-122"/>
                <a:ea typeface="Microsoft YaHei UI" panose="020B0503020204020204" pitchFamily="34" charset="-122"/>
              </a:rPr>
              <a:t>proADM</a:t>
            </a:r>
            <a:r>
              <a:rPr lang="zh-CN" altLang="en-US" sz="1400" dirty="0">
                <a:solidFill>
                  <a:schemeClr val="tx1"/>
                </a:solidFill>
                <a:latin typeface="Microsoft YaHei UI" panose="020B0503020204020204" pitchFamily="34" charset="-122"/>
                <a:ea typeface="Microsoft YaHei UI" panose="020B0503020204020204" pitchFamily="34" charset="-122"/>
              </a:rPr>
              <a:t>：肾上腺髓质素前体中段肽；</a:t>
            </a:r>
            <a:r>
              <a:rPr lang="en-US" altLang="zh-CN" sz="1400" dirty="0">
                <a:solidFill>
                  <a:schemeClr val="tx1"/>
                </a:solidFill>
                <a:latin typeface="Microsoft YaHei UI" panose="020B0503020204020204" pitchFamily="34" charset="-122"/>
                <a:ea typeface="Microsoft YaHei UI" panose="020B0503020204020204" pitchFamily="34" charset="-122"/>
              </a:rPr>
              <a:t>GDF-15</a:t>
            </a:r>
            <a:r>
              <a:rPr lang="zh-CN" altLang="en-US" sz="1400" dirty="0">
                <a:solidFill>
                  <a:schemeClr val="tx1"/>
                </a:solidFill>
                <a:latin typeface="Microsoft YaHei UI" panose="020B0503020204020204" pitchFamily="34" charset="-122"/>
                <a:ea typeface="Microsoft YaHei UI" panose="020B0503020204020204" pitchFamily="34" charset="-122"/>
              </a:rPr>
              <a:t>：生长分化因子</a:t>
            </a:r>
            <a:r>
              <a:rPr lang="en-US" altLang="zh-CN" sz="1400" dirty="0">
                <a:solidFill>
                  <a:schemeClr val="tx1"/>
                </a:solidFill>
                <a:latin typeface="Microsoft YaHei UI" panose="020B0503020204020204" pitchFamily="34" charset="-122"/>
                <a:ea typeface="Microsoft YaHei UI" panose="020B0503020204020204" pitchFamily="34" charset="-122"/>
              </a:rPr>
              <a:t>-15</a:t>
            </a:r>
            <a:r>
              <a:rPr lang="zh-CN" altLang="en-US" sz="1400" dirty="0">
                <a:solidFill>
                  <a:schemeClr val="tx1"/>
                </a:solidFill>
                <a:latin typeface="Microsoft YaHei UI" panose="020B0503020204020204" pitchFamily="34" charset="-122"/>
                <a:ea typeface="Microsoft YaHei UI" panose="020B0503020204020204" pitchFamily="34" charset="-122"/>
              </a:rPr>
              <a:t>；</a:t>
            </a:r>
            <a:r>
              <a:rPr lang="en-US" altLang="zh-CN" sz="1400" dirty="0">
                <a:solidFill>
                  <a:schemeClr val="tx1"/>
                </a:solidFill>
                <a:latin typeface="Microsoft YaHei UI" panose="020B0503020204020204" pitchFamily="34" charset="-122"/>
                <a:ea typeface="Microsoft YaHei UI" panose="020B0503020204020204" pitchFamily="34" charset="-122"/>
              </a:rPr>
              <a:t>ARC-HBR</a:t>
            </a:r>
            <a:r>
              <a:rPr lang="zh-CN" altLang="en-US" sz="1400" dirty="0">
                <a:solidFill>
                  <a:schemeClr val="tx1"/>
                </a:solidFill>
                <a:latin typeface="Microsoft YaHei UI" panose="020B0503020204020204" pitchFamily="34" charset="-122"/>
                <a:ea typeface="Microsoft YaHei UI" panose="020B0503020204020204" pitchFamily="34" charset="-122"/>
              </a:rPr>
              <a:t>：出血学术研究会定义的高出血风险</a:t>
            </a:r>
          </a:p>
        </p:txBody>
      </p:sp>
      <p:sp>
        <p:nvSpPr>
          <p:cNvPr id="4" name="矩形: 圆角 3"/>
          <p:cNvSpPr/>
          <p:nvPr/>
        </p:nvSpPr>
        <p:spPr>
          <a:xfrm>
            <a:off x="529117" y="2299537"/>
            <a:ext cx="10881638" cy="379796"/>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5" name="文本框 4"/>
          <p:cNvSpPr txBox="1"/>
          <p:nvPr/>
        </p:nvSpPr>
        <p:spPr>
          <a:xfrm>
            <a:off x="10286815" y="2240648"/>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9" name="矩形: 圆角 8"/>
          <p:cNvSpPr/>
          <p:nvPr/>
        </p:nvSpPr>
        <p:spPr>
          <a:xfrm>
            <a:off x="529117" y="3917612"/>
            <a:ext cx="10926568" cy="440314"/>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10" name="文本框 9"/>
          <p:cNvSpPr txBox="1"/>
          <p:nvPr/>
        </p:nvSpPr>
        <p:spPr>
          <a:xfrm>
            <a:off x="9954900" y="3890620"/>
            <a:ext cx="1292692" cy="461665"/>
          </a:xfrm>
          <a:prstGeom prst="rect">
            <a:avLst/>
          </a:prstGeom>
          <a:noFill/>
        </p:spPr>
        <p:txBody>
          <a:bodyPr wrap="square" rtlCol="0">
            <a:spAutoFit/>
          </a:bodyPr>
          <a:lstStyle/>
          <a:p>
            <a:r>
              <a:rPr lang="zh-CN" altLang="en-US" sz="1200" b="1" dirty="0">
                <a:solidFill>
                  <a:srgbClr val="AE1022"/>
                </a:solidFill>
                <a:latin typeface="Microsoft YaHei UI" panose="020B0503020204020204" pitchFamily="34" charset="-122"/>
                <a:ea typeface="Microsoft YaHei UI" panose="020B0503020204020204" pitchFamily="34" charset="-122"/>
              </a:rPr>
              <a:t>推荐等级由</a:t>
            </a:r>
            <a:r>
              <a:rPr lang="en-US" altLang="zh-CN" sz="1200" b="1" dirty="0">
                <a:solidFill>
                  <a:srgbClr val="AE1022"/>
                </a:solidFill>
                <a:latin typeface="Microsoft YaHei UI" panose="020B0503020204020204" pitchFamily="34" charset="-122"/>
                <a:ea typeface="Microsoft YaHei UI" panose="020B0503020204020204" pitchFamily="34" charset="-122"/>
              </a:rPr>
              <a:t>Ⅰ</a:t>
            </a:r>
            <a:r>
              <a:rPr lang="zh-CN" altLang="en-US" sz="1200" b="1" dirty="0">
                <a:solidFill>
                  <a:srgbClr val="AE1022"/>
                </a:solidFill>
                <a:latin typeface="Microsoft YaHei UI" panose="020B0503020204020204" pitchFamily="34" charset="-122"/>
                <a:ea typeface="Microsoft YaHei UI" panose="020B0503020204020204" pitchFamily="34" charset="-122"/>
              </a:rPr>
              <a:t>类降为</a:t>
            </a:r>
            <a:r>
              <a:rPr lang="en-US" altLang="zh-CN" sz="1200" b="1" dirty="0" err="1">
                <a:solidFill>
                  <a:srgbClr val="AE1022"/>
                </a:solidFill>
                <a:latin typeface="Microsoft YaHei UI" panose="020B0503020204020204" pitchFamily="34" charset="-122"/>
                <a:ea typeface="Microsoft YaHei UI" panose="020B0503020204020204" pitchFamily="34" charset="-122"/>
              </a:rPr>
              <a:t>Ⅱa</a:t>
            </a:r>
            <a:r>
              <a:rPr lang="zh-CN" altLang="en-US" sz="1200" b="1" dirty="0">
                <a:solidFill>
                  <a:srgbClr val="AE1022"/>
                </a:solidFill>
                <a:latin typeface="Microsoft YaHei UI" panose="020B0503020204020204" pitchFamily="34" charset="-122"/>
                <a:ea typeface="Microsoft YaHei UI" panose="020B0503020204020204" pitchFamily="34" charset="-122"/>
              </a:rPr>
              <a:t>类</a:t>
            </a:r>
            <a:endParaRPr lang="zh-CN" altLang="en-US" sz="1200" b="1" dirty="0">
              <a:solidFill>
                <a:srgbClr val="AE1022"/>
              </a:solidFill>
            </a:endParaRPr>
          </a:p>
        </p:txBody>
      </p:sp>
      <p:sp>
        <p:nvSpPr>
          <p:cNvPr id="11" name="箭头: 下 10"/>
          <p:cNvSpPr/>
          <p:nvPr/>
        </p:nvSpPr>
        <p:spPr>
          <a:xfrm>
            <a:off x="11171477" y="3964521"/>
            <a:ext cx="239280" cy="350013"/>
          </a:xfrm>
          <a:prstGeom prst="downArrow">
            <a:avLst/>
          </a:prstGeom>
          <a:solidFill>
            <a:srgbClr val="C3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529117" y="4578134"/>
            <a:ext cx="10926568" cy="431651"/>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14" name="文本框 13"/>
          <p:cNvSpPr txBox="1"/>
          <p:nvPr/>
        </p:nvSpPr>
        <p:spPr>
          <a:xfrm>
            <a:off x="9954900" y="4672493"/>
            <a:ext cx="1522674" cy="276999"/>
          </a:xfrm>
          <a:prstGeom prst="rect">
            <a:avLst/>
          </a:prstGeom>
          <a:noFill/>
        </p:spPr>
        <p:txBody>
          <a:bodyPr wrap="square" rtlCol="0">
            <a:spAutoFit/>
          </a:bodyPr>
          <a:lstStyle/>
          <a:p>
            <a:r>
              <a:rPr lang="zh-CN" altLang="en-US" sz="1200" b="1" dirty="0">
                <a:solidFill>
                  <a:srgbClr val="AE1022"/>
                </a:solidFill>
                <a:latin typeface="Microsoft YaHei UI" panose="020B0503020204020204" pitchFamily="34" charset="-122"/>
                <a:ea typeface="Microsoft YaHei UI" panose="020B0503020204020204" pitchFamily="34" charset="-122"/>
              </a:rPr>
              <a:t>新增</a:t>
            </a:r>
            <a:r>
              <a:rPr lang="en-US" altLang="zh-CN" sz="1200" b="1" dirty="0">
                <a:solidFill>
                  <a:srgbClr val="AE1022"/>
                </a:solidFill>
                <a:latin typeface="Microsoft YaHei UI" panose="020B0503020204020204" pitchFamily="34" charset="-122"/>
                <a:ea typeface="Microsoft YaHei UI" panose="020B0503020204020204" pitchFamily="34" charset="-122"/>
              </a:rPr>
              <a:t>ARC-HBR</a:t>
            </a:r>
            <a:r>
              <a:rPr lang="zh-CN" altLang="en-US" sz="1200" b="1" dirty="0">
                <a:solidFill>
                  <a:srgbClr val="AE1022"/>
                </a:solidFill>
                <a:latin typeface="Microsoft YaHei UI" panose="020B0503020204020204" pitchFamily="34" charset="-122"/>
                <a:ea typeface="Microsoft YaHei UI" panose="020B0503020204020204" pitchFamily="34" charset="-122"/>
              </a:rPr>
              <a:t>标准</a:t>
            </a:r>
            <a:endParaRPr lang="zh-CN" altLang="en-US" sz="1200" b="1" dirty="0">
              <a:solidFill>
                <a:srgbClr val="AE102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1" y="602295"/>
            <a:ext cx="9313747" cy="369333"/>
          </a:xfrm>
          <a:prstGeom prst="rect">
            <a:avLst/>
          </a:prstGeom>
        </p:spPr>
      </p:pic>
      <p:sp>
        <p:nvSpPr>
          <p:cNvPr id="16" name="矩形 15"/>
          <p:cNvSpPr/>
          <p:nvPr/>
        </p:nvSpPr>
        <p:spPr>
          <a:xfrm>
            <a:off x="960950" y="2732168"/>
            <a:ext cx="4566219"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中或重度血小板缺乏</a:t>
            </a:r>
            <a:r>
              <a:rPr lang="en-US" altLang="zh-CN" baseline="30000" dirty="0">
                <a:latin typeface="Microsoft YaHei UI" panose="020B0503020204020204" pitchFamily="34" charset="-122"/>
                <a:ea typeface="Microsoft YaHei UI" panose="020B0503020204020204" pitchFamily="34" charset="-122"/>
              </a:rPr>
              <a:t>b</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PLT&lt;100×10</a:t>
            </a:r>
            <a:r>
              <a:rPr lang="en-US" altLang="zh-CN" baseline="30000" dirty="0">
                <a:latin typeface="Microsoft YaHei UI" panose="020B0503020204020204" pitchFamily="34" charset="-122"/>
                <a:ea typeface="Microsoft YaHei UI" panose="020B0503020204020204" pitchFamily="34" charset="-122"/>
              </a:rPr>
              <a:t>9</a:t>
            </a:r>
            <a:r>
              <a:rPr lang="en-US" altLang="zh-CN" dirty="0">
                <a:latin typeface="Microsoft YaHei UI" panose="020B0503020204020204" pitchFamily="34" charset="-122"/>
                <a:ea typeface="Microsoft YaHei UI" panose="020B0503020204020204" pitchFamily="34" charset="-122"/>
              </a:rPr>
              <a:t>/L)</a:t>
            </a:r>
            <a:endParaRPr lang="zh-CN" altLang="en-US" dirty="0">
              <a:latin typeface="Microsoft YaHei UI" panose="020B0503020204020204" pitchFamily="34" charset="-122"/>
              <a:ea typeface="Microsoft YaHei UI" panose="020B0503020204020204" pitchFamily="34" charset="-122"/>
            </a:endParaRPr>
          </a:p>
        </p:txBody>
      </p:sp>
      <p:sp>
        <p:nvSpPr>
          <p:cNvPr id="17" name="矩形 16"/>
          <p:cNvSpPr/>
          <p:nvPr/>
        </p:nvSpPr>
        <p:spPr>
          <a:xfrm>
            <a:off x="974632" y="995954"/>
            <a:ext cx="455800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需要长期应用</a:t>
            </a:r>
            <a:r>
              <a:rPr lang="en-US" altLang="zh-CN" dirty="0" err="1">
                <a:latin typeface="Microsoft YaHei UI" panose="020B0503020204020204" pitchFamily="34" charset="-122"/>
                <a:ea typeface="Microsoft YaHei UI" panose="020B0503020204020204" pitchFamily="34" charset="-122"/>
              </a:rPr>
              <a:t>OAC</a:t>
            </a:r>
            <a:r>
              <a:rPr lang="en-US" altLang="zh-CN" baseline="30000" dirty="0" err="1">
                <a:latin typeface="Microsoft YaHei UI" panose="020B0503020204020204" pitchFamily="34" charset="-122"/>
                <a:ea typeface="Microsoft YaHei UI" panose="020B0503020204020204" pitchFamily="34" charset="-122"/>
              </a:rPr>
              <a:t>a</a:t>
            </a:r>
            <a:endParaRPr lang="zh-CN" altLang="en-US" baseline="30000" dirty="0">
              <a:latin typeface="Microsoft YaHei UI" panose="020B0503020204020204" pitchFamily="34" charset="-122"/>
              <a:ea typeface="Microsoft YaHei UI" panose="020B0503020204020204" pitchFamily="34" charset="-122"/>
            </a:endParaRPr>
          </a:p>
        </p:txBody>
      </p:sp>
      <p:sp>
        <p:nvSpPr>
          <p:cNvPr id="23" name="文本框 22"/>
          <p:cNvSpPr txBox="1"/>
          <p:nvPr/>
        </p:nvSpPr>
        <p:spPr>
          <a:xfrm>
            <a:off x="974631" y="597450"/>
            <a:ext cx="1121297"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主要标准</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960947" y="96132"/>
            <a:ext cx="9197696"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PCI</a:t>
            </a:r>
            <a:r>
              <a:rPr lang="zh-CN" altLang="en-US" sz="2400" b="1" dirty="0">
                <a:solidFill>
                  <a:srgbClr val="AE1022"/>
                </a:solidFill>
                <a:latin typeface="Microsoft YaHei UI" panose="020B0503020204020204" pitchFamily="34" charset="-122"/>
                <a:ea typeface="Microsoft YaHei UI" panose="020B0503020204020204" pitchFamily="34" charset="-122"/>
              </a:rPr>
              <a:t>期间</a:t>
            </a:r>
            <a:r>
              <a:rPr lang="en-US" altLang="zh-CN" sz="2400" b="1" dirty="0">
                <a:solidFill>
                  <a:srgbClr val="AE1022"/>
                </a:solidFill>
                <a:latin typeface="Microsoft YaHei UI" panose="020B0503020204020204" pitchFamily="34" charset="-122"/>
                <a:ea typeface="Microsoft YaHei UI" panose="020B0503020204020204" pitchFamily="34" charset="-122"/>
              </a:rPr>
              <a:t>ARC-HBR</a:t>
            </a:r>
            <a:r>
              <a:rPr lang="zh-CN" altLang="en-US" sz="2400" b="1" dirty="0">
                <a:solidFill>
                  <a:srgbClr val="AE1022"/>
                </a:solidFill>
                <a:latin typeface="Microsoft YaHei UI" panose="020B0503020204020204" pitchFamily="34" charset="-122"/>
                <a:ea typeface="Microsoft YaHei UI" panose="020B0503020204020204" pitchFamily="34" charset="-122"/>
              </a:rPr>
              <a:t>评估系统的主要和次要标准</a:t>
            </a:r>
          </a:p>
        </p:txBody>
      </p:sp>
      <p:sp>
        <p:nvSpPr>
          <p:cNvPr id="20" name="矩形 19"/>
          <p:cNvSpPr/>
          <p:nvPr/>
        </p:nvSpPr>
        <p:spPr>
          <a:xfrm>
            <a:off x="974632" y="1355594"/>
            <a:ext cx="455800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严重或终末期</a:t>
            </a:r>
            <a:r>
              <a:rPr lang="en-US" altLang="zh-CN" dirty="0">
                <a:latin typeface="Microsoft YaHei UI" panose="020B0503020204020204" pitchFamily="34" charset="-122"/>
                <a:ea typeface="Microsoft YaHei UI" panose="020B0503020204020204" pitchFamily="34" charset="-122"/>
              </a:rPr>
              <a:t>CKD</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eGFR&lt;30mL/min</a:t>
            </a:r>
            <a:r>
              <a:rPr lang="zh-CN" altLang="en-US" dirty="0">
                <a:latin typeface="Microsoft YaHei UI" panose="020B0503020204020204" pitchFamily="34" charset="-122"/>
                <a:ea typeface="Microsoft YaHei UI" panose="020B0503020204020204" pitchFamily="34" charset="-122"/>
              </a:rPr>
              <a:t>）</a:t>
            </a:r>
          </a:p>
        </p:txBody>
      </p:sp>
      <p:sp>
        <p:nvSpPr>
          <p:cNvPr id="29" name="矩形 28"/>
          <p:cNvSpPr/>
          <p:nvPr/>
        </p:nvSpPr>
        <p:spPr>
          <a:xfrm>
            <a:off x="960949" y="3092686"/>
            <a:ext cx="4566219"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慢性贫血</a:t>
            </a:r>
          </a:p>
        </p:txBody>
      </p:sp>
      <p:sp>
        <p:nvSpPr>
          <p:cNvPr id="30" name="矩形 29"/>
          <p:cNvSpPr/>
          <p:nvPr/>
        </p:nvSpPr>
        <p:spPr>
          <a:xfrm>
            <a:off x="960949" y="3448536"/>
            <a:ext cx="4564855"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肝硬化合并门脉高压</a:t>
            </a:r>
          </a:p>
        </p:txBody>
      </p:sp>
      <p:sp>
        <p:nvSpPr>
          <p:cNvPr id="2" name="矩形 1"/>
          <p:cNvSpPr/>
          <p:nvPr/>
        </p:nvSpPr>
        <p:spPr>
          <a:xfrm>
            <a:off x="5584004" y="996960"/>
            <a:ext cx="4695235"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年龄</a:t>
            </a:r>
            <a:r>
              <a:rPr lang="en-US" altLang="zh-CN" dirty="0">
                <a:latin typeface="Microsoft YaHei UI" panose="020B0503020204020204" pitchFamily="34" charset="-122"/>
                <a:ea typeface="Microsoft YaHei UI" panose="020B0503020204020204" pitchFamily="34" charset="-122"/>
              </a:rPr>
              <a:t>&gt;75</a:t>
            </a:r>
            <a:r>
              <a:rPr lang="zh-CN" altLang="en-US" dirty="0">
                <a:latin typeface="Microsoft YaHei UI" panose="020B0503020204020204" pitchFamily="34" charset="-122"/>
                <a:ea typeface="Microsoft YaHei UI" panose="020B0503020204020204" pitchFamily="34" charset="-122"/>
              </a:rPr>
              <a:t>岁</a:t>
            </a:r>
          </a:p>
        </p:txBody>
      </p:sp>
      <p:sp>
        <p:nvSpPr>
          <p:cNvPr id="4" name="矩形 3"/>
          <p:cNvSpPr/>
          <p:nvPr/>
        </p:nvSpPr>
        <p:spPr>
          <a:xfrm>
            <a:off x="5584004" y="1349103"/>
            <a:ext cx="4687594"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中度</a:t>
            </a:r>
            <a:r>
              <a:rPr lang="en-US" altLang="zh-CN" dirty="0">
                <a:latin typeface="Microsoft YaHei UI" panose="020B0503020204020204" pitchFamily="34" charset="-122"/>
                <a:ea typeface="Microsoft YaHei UI" panose="020B0503020204020204" pitchFamily="34" charset="-122"/>
              </a:rPr>
              <a:t>CKD</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eGFR 30-59mL/min </a:t>
            </a:r>
            <a:r>
              <a:rPr lang="zh-CN" altLang="en-US" dirty="0">
                <a:latin typeface="Microsoft YaHei UI" panose="020B0503020204020204" pitchFamily="34" charset="-122"/>
                <a:ea typeface="Microsoft YaHei UI" panose="020B0503020204020204" pitchFamily="34" charset="-122"/>
              </a:rPr>
              <a:t>）</a:t>
            </a:r>
          </a:p>
        </p:txBody>
      </p:sp>
      <p:sp>
        <p:nvSpPr>
          <p:cNvPr id="5" name="矩形 4"/>
          <p:cNvSpPr/>
          <p:nvPr/>
        </p:nvSpPr>
        <p:spPr>
          <a:xfrm>
            <a:off x="974632" y="1714830"/>
            <a:ext cx="4558002"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血红蛋白</a:t>
            </a:r>
            <a:r>
              <a:rPr lang="en-US" altLang="zh-CN" dirty="0">
                <a:latin typeface="Microsoft YaHei UI" panose="020B0503020204020204" pitchFamily="34" charset="-122"/>
                <a:ea typeface="Microsoft YaHei UI" panose="020B0503020204020204" pitchFamily="34" charset="-122"/>
              </a:rPr>
              <a:t>&lt;11g/dL</a:t>
            </a:r>
            <a:endParaRPr lang="zh-CN" altLang="en-US" dirty="0">
              <a:latin typeface="Microsoft YaHei UI" panose="020B0503020204020204" pitchFamily="34" charset="-122"/>
              <a:ea typeface="Microsoft YaHei UI" panose="020B0503020204020204" pitchFamily="34" charset="-122"/>
            </a:endParaRPr>
          </a:p>
        </p:txBody>
      </p:sp>
      <p:sp>
        <p:nvSpPr>
          <p:cNvPr id="9" name="矩形 8"/>
          <p:cNvSpPr/>
          <p:nvPr/>
        </p:nvSpPr>
        <p:spPr>
          <a:xfrm>
            <a:off x="966414" y="2079631"/>
            <a:ext cx="4566219"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过去</a:t>
            </a:r>
            <a:r>
              <a:rPr lang="en-US" altLang="zh-CN" dirty="0">
                <a:latin typeface="Microsoft YaHei UI" panose="020B0503020204020204" pitchFamily="34" charset="-122"/>
                <a:ea typeface="Microsoft YaHei UI" panose="020B0503020204020204" pitchFamily="34" charset="-122"/>
              </a:rPr>
              <a:t>6</a:t>
            </a:r>
            <a:r>
              <a:rPr lang="zh-CN" altLang="en-US" dirty="0">
                <a:latin typeface="Microsoft YaHei UI" panose="020B0503020204020204" pitchFamily="34" charset="-122"/>
                <a:ea typeface="Microsoft YaHei UI" panose="020B0503020204020204" pitchFamily="34" charset="-122"/>
              </a:rPr>
              <a:t>月内或反复自发性出血需要住院和</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或输血治疗</a:t>
            </a:r>
          </a:p>
        </p:txBody>
      </p:sp>
      <p:sp>
        <p:nvSpPr>
          <p:cNvPr id="10" name="矩形 9"/>
          <p:cNvSpPr/>
          <p:nvPr/>
        </p:nvSpPr>
        <p:spPr>
          <a:xfrm>
            <a:off x="960948" y="3816723"/>
            <a:ext cx="4564855"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过去</a:t>
            </a:r>
            <a:r>
              <a:rPr lang="en-US" altLang="zh-CN" dirty="0">
                <a:latin typeface="Microsoft YaHei UI" panose="020B0503020204020204" pitchFamily="34" charset="-122"/>
                <a:ea typeface="Microsoft YaHei UI" panose="020B0503020204020204" pitchFamily="34" charset="-122"/>
              </a:rPr>
              <a:t>12</a:t>
            </a:r>
            <a:r>
              <a:rPr lang="zh-CN" altLang="en-US" dirty="0">
                <a:latin typeface="Microsoft YaHei UI" panose="020B0503020204020204" pitchFamily="34" charset="-122"/>
                <a:ea typeface="Microsoft YaHei UI" panose="020B0503020204020204" pitchFamily="34" charset="-122"/>
              </a:rPr>
              <a:t>月内存在活动性肿瘤</a:t>
            </a:r>
            <a:r>
              <a:rPr lang="en-US" altLang="zh-CN" baseline="30000" dirty="0">
                <a:latin typeface="Microsoft YaHei UI" panose="020B0503020204020204" pitchFamily="34" charset="-122"/>
                <a:ea typeface="Microsoft YaHei UI" panose="020B0503020204020204" pitchFamily="34" charset="-122"/>
              </a:rPr>
              <a:t>c</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除外黑色素瘤</a:t>
            </a:r>
            <a:r>
              <a:rPr lang="en-US" altLang="zh-CN" dirty="0">
                <a:latin typeface="Microsoft YaHei UI" panose="020B0503020204020204" pitchFamily="34" charset="-122"/>
                <a:ea typeface="Microsoft YaHei UI" panose="020B0503020204020204" pitchFamily="34" charset="-122"/>
              </a:rPr>
              <a:t>)</a:t>
            </a:r>
            <a:endParaRPr lang="zh-CN" altLang="en-US" dirty="0">
              <a:latin typeface="Microsoft YaHei UI" panose="020B0503020204020204" pitchFamily="34" charset="-122"/>
              <a:ea typeface="Microsoft YaHei UI" panose="020B0503020204020204" pitchFamily="34" charset="-122"/>
            </a:endParaRPr>
          </a:p>
        </p:txBody>
      </p:sp>
      <p:sp>
        <p:nvSpPr>
          <p:cNvPr id="11" name="矩形 10"/>
          <p:cNvSpPr/>
          <p:nvPr/>
        </p:nvSpPr>
        <p:spPr>
          <a:xfrm>
            <a:off x="960947" y="4187626"/>
            <a:ext cx="4564855" cy="120337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既往自发性颅内出血（任何时间）</a:t>
            </a:r>
            <a:endParaRPr lang="en-US" altLang="zh-CN" dirty="0">
              <a:latin typeface="Microsoft YaHei UI" panose="020B0503020204020204" pitchFamily="34" charset="-122"/>
              <a:ea typeface="Microsoft YaHei UI" panose="020B0503020204020204" pitchFamily="34" charset="-122"/>
            </a:endParaRPr>
          </a:p>
          <a:p>
            <a:r>
              <a:rPr lang="zh-CN" altLang="en-US" dirty="0">
                <a:latin typeface="Microsoft YaHei UI" panose="020B0503020204020204" pitchFamily="34" charset="-122"/>
                <a:ea typeface="Microsoft YaHei UI" panose="020B0503020204020204" pitchFamily="34" charset="-122"/>
              </a:rPr>
              <a:t>过去</a:t>
            </a:r>
            <a:r>
              <a:rPr lang="en-US" altLang="zh-CN" dirty="0">
                <a:latin typeface="Microsoft YaHei UI" panose="020B0503020204020204" pitchFamily="34" charset="-122"/>
                <a:ea typeface="Microsoft YaHei UI" panose="020B0503020204020204" pitchFamily="34" charset="-122"/>
              </a:rPr>
              <a:t>12</a:t>
            </a:r>
            <a:r>
              <a:rPr lang="zh-CN" altLang="en-US" dirty="0">
                <a:latin typeface="Microsoft YaHei UI" panose="020B0503020204020204" pitchFamily="34" charset="-122"/>
                <a:ea typeface="Microsoft YaHei UI" panose="020B0503020204020204" pitchFamily="34" charset="-122"/>
              </a:rPr>
              <a:t>月内创伤性颅内出血史</a:t>
            </a:r>
            <a:endParaRPr lang="en-US" altLang="zh-CN" dirty="0">
              <a:latin typeface="Microsoft YaHei UI" panose="020B0503020204020204" pitchFamily="34" charset="-122"/>
              <a:ea typeface="Microsoft YaHei UI" panose="020B0503020204020204" pitchFamily="34" charset="-122"/>
            </a:endParaRPr>
          </a:p>
          <a:p>
            <a:r>
              <a:rPr lang="zh-CN" altLang="en-US" dirty="0">
                <a:latin typeface="Microsoft YaHei UI" panose="020B0503020204020204" pitchFamily="34" charset="-122"/>
                <a:ea typeface="Microsoft YaHei UI" panose="020B0503020204020204" pitchFamily="34" charset="-122"/>
              </a:rPr>
              <a:t>脑动静脉畸形</a:t>
            </a:r>
            <a:endParaRPr lang="en-US" altLang="zh-CN" dirty="0">
              <a:latin typeface="Microsoft YaHei UI" panose="020B0503020204020204" pitchFamily="34" charset="-122"/>
              <a:ea typeface="Microsoft YaHei UI" panose="020B0503020204020204" pitchFamily="34" charset="-122"/>
            </a:endParaRPr>
          </a:p>
          <a:p>
            <a:r>
              <a:rPr lang="zh-CN" altLang="en-US" dirty="0">
                <a:latin typeface="Microsoft YaHei UI" panose="020B0503020204020204" pitchFamily="34" charset="-122"/>
                <a:ea typeface="Microsoft YaHei UI" panose="020B0503020204020204" pitchFamily="34" charset="-122"/>
              </a:rPr>
              <a:t>过去</a:t>
            </a:r>
            <a:r>
              <a:rPr lang="en-US" altLang="zh-CN" dirty="0">
                <a:latin typeface="Microsoft YaHei UI" panose="020B0503020204020204" pitchFamily="34" charset="-122"/>
                <a:ea typeface="Microsoft YaHei UI" panose="020B0503020204020204" pitchFamily="34" charset="-122"/>
              </a:rPr>
              <a:t>6</a:t>
            </a:r>
            <a:r>
              <a:rPr lang="zh-CN" altLang="en-US" dirty="0">
                <a:latin typeface="Microsoft YaHei UI" panose="020B0503020204020204" pitchFamily="34" charset="-122"/>
                <a:ea typeface="Microsoft YaHei UI" panose="020B0503020204020204" pitchFamily="34" charset="-122"/>
              </a:rPr>
              <a:t>月内发生中或重度缺血性卒中</a:t>
            </a:r>
            <a:r>
              <a:rPr lang="en-US" altLang="zh-CN" baseline="30000" dirty="0">
                <a:latin typeface="Microsoft YaHei UI" panose="020B0503020204020204" pitchFamily="34" charset="-122"/>
                <a:ea typeface="Microsoft YaHei UI" panose="020B0503020204020204" pitchFamily="34" charset="-122"/>
              </a:rPr>
              <a:t>d</a:t>
            </a:r>
          </a:p>
        </p:txBody>
      </p:sp>
      <p:sp>
        <p:nvSpPr>
          <p:cNvPr id="12" name="矩形 11"/>
          <p:cNvSpPr/>
          <p:nvPr/>
        </p:nvSpPr>
        <p:spPr>
          <a:xfrm>
            <a:off x="954445" y="5454128"/>
            <a:ext cx="4566219"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前</a:t>
            </a:r>
            <a:r>
              <a:rPr lang="en-US" altLang="zh-CN" dirty="0">
                <a:latin typeface="Microsoft YaHei UI" panose="020B0503020204020204" pitchFamily="34" charset="-122"/>
                <a:ea typeface="Microsoft YaHei UI" panose="020B0503020204020204" pitchFamily="34" charset="-122"/>
              </a:rPr>
              <a:t>30</a:t>
            </a:r>
            <a:r>
              <a:rPr lang="zh-CN" altLang="en-US" dirty="0">
                <a:latin typeface="Microsoft YaHei UI" panose="020B0503020204020204" pitchFamily="34" charset="-122"/>
                <a:ea typeface="Microsoft YaHei UI" panose="020B0503020204020204" pitchFamily="34" charset="-122"/>
              </a:rPr>
              <a:t>天内大手术或创伤史</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期间存在无法推迟的大手术</a:t>
            </a:r>
          </a:p>
        </p:txBody>
      </p:sp>
      <p:sp>
        <p:nvSpPr>
          <p:cNvPr id="14" name="文本框 13"/>
          <p:cNvSpPr txBox="1"/>
          <p:nvPr/>
        </p:nvSpPr>
        <p:spPr>
          <a:xfrm>
            <a:off x="5584004" y="602163"/>
            <a:ext cx="1121297"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次要标准</a:t>
            </a:r>
          </a:p>
        </p:txBody>
      </p:sp>
      <p:sp>
        <p:nvSpPr>
          <p:cNvPr id="18" name="矩形 17"/>
          <p:cNvSpPr/>
          <p:nvPr/>
        </p:nvSpPr>
        <p:spPr>
          <a:xfrm>
            <a:off x="5584004" y="1714830"/>
            <a:ext cx="4687594"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男性血红蛋白</a:t>
            </a:r>
            <a:r>
              <a:rPr lang="en-US" altLang="zh-CN" dirty="0">
                <a:latin typeface="Microsoft YaHei UI" panose="020B0503020204020204" pitchFamily="34" charset="-122"/>
                <a:ea typeface="Microsoft YaHei UI" panose="020B0503020204020204" pitchFamily="34" charset="-122"/>
              </a:rPr>
              <a:t>11-12.9g/dl</a:t>
            </a:r>
            <a:r>
              <a:rPr lang="zh-CN" altLang="en-US" dirty="0">
                <a:latin typeface="Microsoft YaHei UI" panose="020B0503020204020204" pitchFamily="34" charset="-122"/>
                <a:ea typeface="Microsoft YaHei UI" panose="020B0503020204020204" pitchFamily="34" charset="-122"/>
              </a:rPr>
              <a:t> 女性</a:t>
            </a:r>
            <a:r>
              <a:rPr lang="en-US" altLang="zh-CN" dirty="0">
                <a:latin typeface="Microsoft YaHei UI" panose="020B0503020204020204" pitchFamily="34" charset="-122"/>
                <a:ea typeface="Microsoft YaHei UI" panose="020B0503020204020204" pitchFamily="34" charset="-122"/>
              </a:rPr>
              <a:t>11-11.9g/dl</a:t>
            </a:r>
            <a:endParaRPr lang="zh-CN" altLang="en-US" dirty="0">
              <a:latin typeface="Microsoft YaHei UI" panose="020B0503020204020204" pitchFamily="34" charset="-122"/>
              <a:ea typeface="Microsoft YaHei UI" panose="020B0503020204020204" pitchFamily="34" charset="-122"/>
            </a:endParaRPr>
          </a:p>
        </p:txBody>
      </p:sp>
      <p:sp>
        <p:nvSpPr>
          <p:cNvPr id="39" name="矩形 38"/>
          <p:cNvSpPr/>
          <p:nvPr/>
        </p:nvSpPr>
        <p:spPr>
          <a:xfrm>
            <a:off x="5584004" y="2086265"/>
            <a:ext cx="4687594" cy="59016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过去</a:t>
            </a:r>
            <a:r>
              <a:rPr lang="en-US" altLang="zh-CN" dirty="0">
                <a:latin typeface="Microsoft YaHei UI" panose="020B0503020204020204" pitchFamily="34" charset="-122"/>
                <a:ea typeface="Microsoft YaHei UI" panose="020B0503020204020204" pitchFamily="34" charset="-122"/>
              </a:rPr>
              <a:t>12</a:t>
            </a:r>
            <a:r>
              <a:rPr lang="zh-CN" altLang="en-US" dirty="0">
                <a:latin typeface="Microsoft YaHei UI" panose="020B0503020204020204" pitchFamily="34" charset="-122"/>
                <a:ea typeface="Microsoft YaHei UI" panose="020B0503020204020204" pitchFamily="34" charset="-122"/>
              </a:rPr>
              <a:t>月内发生需要住院或输血治疗的自发性出血，但未达到主要标准</a:t>
            </a:r>
          </a:p>
        </p:txBody>
      </p:sp>
      <p:sp>
        <p:nvSpPr>
          <p:cNvPr id="43" name="矩形 42"/>
          <p:cNvSpPr/>
          <p:nvPr/>
        </p:nvSpPr>
        <p:spPr>
          <a:xfrm>
            <a:off x="5584004" y="2740084"/>
            <a:ext cx="4687594"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长期应用口服非甾体类抗炎药或激素</a:t>
            </a:r>
          </a:p>
        </p:txBody>
      </p:sp>
      <p:sp>
        <p:nvSpPr>
          <p:cNvPr id="45" name="矩形 44"/>
          <p:cNvSpPr/>
          <p:nvPr/>
        </p:nvSpPr>
        <p:spPr>
          <a:xfrm>
            <a:off x="5584004" y="3092686"/>
            <a:ext cx="4687594"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未达主要标准的任意时间缺血性卒中</a:t>
            </a:r>
          </a:p>
        </p:txBody>
      </p:sp>
      <p:sp>
        <p:nvSpPr>
          <p:cNvPr id="3" name="矩形 2"/>
          <p:cNvSpPr/>
          <p:nvPr/>
        </p:nvSpPr>
        <p:spPr>
          <a:xfrm>
            <a:off x="884991" y="6333827"/>
            <a:ext cx="3037569"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CKD</a:t>
            </a:r>
            <a:r>
              <a:rPr lang="zh-CN" altLang="en-US" sz="1400" dirty="0">
                <a:solidFill>
                  <a:schemeClr val="tx1"/>
                </a:solidFill>
                <a:latin typeface="Microsoft YaHei UI" panose="020B0503020204020204" pitchFamily="34" charset="-122"/>
                <a:ea typeface="Microsoft YaHei UI" panose="020B0503020204020204" pitchFamily="34" charset="-122"/>
              </a:rPr>
              <a:t>：慢性肾脏病；</a:t>
            </a:r>
            <a:r>
              <a:rPr lang="en-US" altLang="zh-CN" sz="1400" dirty="0">
                <a:solidFill>
                  <a:schemeClr val="tx1"/>
                </a:solidFill>
                <a:latin typeface="Microsoft YaHei UI" panose="020B0503020204020204" pitchFamily="34" charset="-122"/>
                <a:ea typeface="Microsoft YaHei UI" panose="020B0503020204020204" pitchFamily="34" charset="-122"/>
              </a:rPr>
              <a:t>PLT</a:t>
            </a:r>
            <a:r>
              <a:rPr lang="zh-CN" altLang="en-US" sz="1400" dirty="0">
                <a:solidFill>
                  <a:schemeClr val="tx1"/>
                </a:solidFill>
                <a:latin typeface="Microsoft YaHei UI" panose="020B0503020204020204" pitchFamily="34" charset="-122"/>
                <a:ea typeface="Microsoft YaHei UI" panose="020B0503020204020204" pitchFamily="34" charset="-122"/>
              </a:rPr>
              <a:t>：血小板</a:t>
            </a:r>
          </a:p>
        </p:txBody>
      </p:sp>
      <p:sp>
        <p:nvSpPr>
          <p:cNvPr id="26" name="文本框 25"/>
          <p:cNvSpPr txBox="1"/>
          <p:nvPr/>
        </p:nvSpPr>
        <p:spPr>
          <a:xfrm>
            <a:off x="5752592" y="3446190"/>
            <a:ext cx="4126946" cy="800347"/>
          </a:xfrm>
          <a:prstGeom prst="rect">
            <a:avLst/>
          </a:prstGeom>
          <a:noFill/>
        </p:spPr>
        <p:txBody>
          <a:bodyPr wrap="square">
            <a:spAutoFit/>
          </a:bodyPr>
          <a:lstStyle/>
          <a:p>
            <a:pPr algn="just" defTabSz="685800">
              <a:lnSpc>
                <a:spcPct val="120000"/>
              </a:lnSpc>
              <a:spcBef>
                <a:spcPts val="600"/>
              </a:spcBef>
              <a:defRPr/>
            </a:pPr>
            <a:r>
              <a:rPr lang="zh-CN" altLang="en-US" sz="2000" b="1" dirty="0">
                <a:solidFill>
                  <a:srgbClr val="AE1022"/>
                </a:solidFill>
                <a:latin typeface="Microsoft YaHei UI" panose="020B0503020204020204" pitchFamily="34" charset="-122"/>
                <a:ea typeface="Microsoft YaHei UI" panose="020B0503020204020204" pitchFamily="34" charset="-122"/>
              </a:rPr>
              <a:t>符合</a:t>
            </a:r>
            <a:r>
              <a:rPr lang="en-US" altLang="zh-CN" sz="2000" b="1" dirty="0">
                <a:solidFill>
                  <a:srgbClr val="AE1022"/>
                </a:solidFill>
                <a:latin typeface="Microsoft YaHei UI" panose="020B0503020204020204" pitchFamily="34" charset="-122"/>
                <a:ea typeface="Microsoft YaHei UI" panose="020B0503020204020204" pitchFamily="34" charset="-122"/>
              </a:rPr>
              <a:t>1</a:t>
            </a:r>
            <a:r>
              <a:rPr lang="zh-CN" altLang="en-US" sz="2000" b="1" dirty="0">
                <a:solidFill>
                  <a:srgbClr val="AE1022"/>
                </a:solidFill>
                <a:latin typeface="Microsoft YaHei UI" panose="020B0503020204020204" pitchFamily="34" charset="-122"/>
                <a:ea typeface="Microsoft YaHei UI" panose="020B0503020204020204" pitchFamily="34" charset="-122"/>
              </a:rPr>
              <a:t>条主要标准或</a:t>
            </a:r>
            <a:r>
              <a:rPr lang="en-US" altLang="zh-CN" sz="2000" b="1" dirty="0">
                <a:solidFill>
                  <a:srgbClr val="AE1022"/>
                </a:solidFill>
                <a:latin typeface="Microsoft YaHei UI" panose="020B0503020204020204" pitchFamily="34" charset="-122"/>
                <a:ea typeface="Microsoft YaHei UI" panose="020B0503020204020204" pitchFamily="34" charset="-122"/>
              </a:rPr>
              <a:t>2</a:t>
            </a:r>
            <a:r>
              <a:rPr lang="zh-CN" altLang="en-US" sz="2000" b="1" dirty="0">
                <a:solidFill>
                  <a:srgbClr val="AE1022"/>
                </a:solidFill>
                <a:latin typeface="Microsoft YaHei UI" panose="020B0503020204020204" pitchFamily="34" charset="-122"/>
                <a:ea typeface="Microsoft YaHei UI" panose="020B0503020204020204" pitchFamily="34" charset="-122"/>
              </a:rPr>
              <a:t>条次要标准即认为是高出血风险</a:t>
            </a:r>
            <a:endParaRPr lang="en-US" altLang="zh-CN" sz="2000" b="1" dirty="0">
              <a:solidFill>
                <a:srgbClr val="AE1022"/>
              </a:solidFill>
              <a:latin typeface="Microsoft YaHei UI" panose="020B0503020204020204" pitchFamily="34" charset="-122"/>
              <a:ea typeface="Microsoft YaHei UI" panose="020B0503020204020204" pitchFamily="34" charset="-122"/>
            </a:endParaRPr>
          </a:p>
        </p:txBody>
      </p:sp>
      <p:sp>
        <p:nvSpPr>
          <p:cNvPr id="8" name="矩形 7"/>
          <p:cNvSpPr/>
          <p:nvPr/>
        </p:nvSpPr>
        <p:spPr>
          <a:xfrm>
            <a:off x="5559795" y="5184342"/>
            <a:ext cx="4850548" cy="84706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a:t>
            </a:r>
            <a:r>
              <a:rPr lang="zh-CN" altLang="en-US" sz="1400" dirty="0">
                <a:solidFill>
                  <a:schemeClr val="tx1"/>
                </a:solidFill>
                <a:latin typeface="Microsoft YaHei UI" panose="020B0503020204020204" pitchFamily="34" charset="-122"/>
                <a:ea typeface="Microsoft YaHei UI" panose="020B0503020204020204" pitchFamily="34" charset="-122"/>
              </a:rPr>
              <a:t>：须排除血管保护剂量；基线水平的血小板缺乏定义为</a:t>
            </a:r>
            <a:r>
              <a:rPr lang="en-US" altLang="zh-CN" sz="1400" dirty="0">
                <a:solidFill>
                  <a:schemeClr val="tx1"/>
                </a:solidFill>
                <a:latin typeface="Microsoft YaHei UI" panose="020B0503020204020204" pitchFamily="34" charset="-122"/>
                <a:ea typeface="Microsoft YaHei UI" panose="020B0503020204020204" pitchFamily="34" charset="-122"/>
              </a:rPr>
              <a:t>PCI</a:t>
            </a:r>
            <a:r>
              <a:rPr lang="zh-CN" altLang="en-US" sz="1400" dirty="0">
                <a:solidFill>
                  <a:schemeClr val="tx1"/>
                </a:solidFill>
                <a:latin typeface="Microsoft YaHei UI" panose="020B0503020204020204" pitchFamily="34" charset="-122"/>
                <a:ea typeface="Microsoft YaHei UI" panose="020B0503020204020204" pitchFamily="34" charset="-122"/>
              </a:rPr>
              <a:t>前的血小板缺乏；</a:t>
            </a:r>
            <a:r>
              <a:rPr lang="en-US" altLang="zh-CN" sz="1400" dirty="0">
                <a:solidFill>
                  <a:schemeClr val="tx1"/>
                </a:solidFill>
                <a:latin typeface="Microsoft YaHei UI" panose="020B0503020204020204" pitchFamily="34" charset="-122"/>
                <a:ea typeface="Microsoft YaHei UI" panose="020B0503020204020204" pitchFamily="34" charset="-122"/>
              </a:rPr>
              <a:t>b</a:t>
            </a:r>
            <a:r>
              <a:rPr lang="zh-CN" altLang="en-US" sz="1400" dirty="0">
                <a:solidFill>
                  <a:schemeClr val="tx1"/>
                </a:solidFill>
                <a:latin typeface="Microsoft YaHei UI" panose="020B0503020204020204" pitchFamily="34" charset="-122"/>
                <a:ea typeface="Microsoft YaHei UI" panose="020B0503020204020204" pitchFamily="34" charset="-122"/>
              </a:rPr>
              <a:t>：特指</a:t>
            </a:r>
            <a:r>
              <a:rPr lang="en-US" altLang="zh-CN" sz="1400" dirty="0">
                <a:solidFill>
                  <a:schemeClr val="tx1"/>
                </a:solidFill>
                <a:latin typeface="Microsoft YaHei UI" panose="020B0503020204020204" pitchFamily="34" charset="-122"/>
                <a:ea typeface="Microsoft YaHei UI" panose="020B0503020204020204" pitchFamily="34" charset="-122"/>
              </a:rPr>
              <a:t>PCI</a:t>
            </a:r>
            <a:r>
              <a:rPr lang="zh-CN" altLang="en-US" sz="1400" dirty="0">
                <a:solidFill>
                  <a:schemeClr val="tx1"/>
                </a:solidFill>
                <a:latin typeface="Microsoft YaHei UI" panose="020B0503020204020204" pitchFamily="34" charset="-122"/>
                <a:ea typeface="Microsoft YaHei UI" panose="020B0503020204020204" pitchFamily="34" charset="-122"/>
              </a:rPr>
              <a:t>治疗前的血小板缺乏；</a:t>
            </a:r>
            <a:r>
              <a:rPr lang="en-US" altLang="zh-CN" sz="1400" dirty="0">
                <a:solidFill>
                  <a:schemeClr val="tx1"/>
                </a:solidFill>
                <a:latin typeface="Microsoft YaHei UI" panose="020B0503020204020204" pitchFamily="34" charset="-122"/>
                <a:ea typeface="Microsoft YaHei UI" panose="020B0503020204020204" pitchFamily="34" charset="-122"/>
              </a:rPr>
              <a:t>c</a:t>
            </a:r>
            <a:r>
              <a:rPr lang="zh-CN" altLang="en-US" sz="1400" dirty="0">
                <a:solidFill>
                  <a:schemeClr val="tx1"/>
                </a:solidFill>
                <a:latin typeface="Microsoft YaHei UI" panose="020B0503020204020204" pitchFamily="34" charset="-122"/>
                <a:ea typeface="Microsoft YaHei UI" panose="020B0503020204020204" pitchFamily="34" charset="-122"/>
              </a:rPr>
              <a:t>：活动性肿瘤定义为</a:t>
            </a:r>
            <a:r>
              <a:rPr lang="en-US" altLang="zh-CN" sz="1400" dirty="0">
                <a:solidFill>
                  <a:schemeClr val="tx1"/>
                </a:solidFill>
                <a:latin typeface="Microsoft YaHei UI" panose="020B0503020204020204" pitchFamily="34" charset="-122"/>
                <a:ea typeface="Microsoft YaHei UI" panose="020B0503020204020204" pitchFamily="34" charset="-122"/>
              </a:rPr>
              <a:t>12</a:t>
            </a:r>
            <a:r>
              <a:rPr lang="zh-CN" altLang="en-US" sz="1400" dirty="0">
                <a:solidFill>
                  <a:schemeClr val="tx1"/>
                </a:solidFill>
                <a:latin typeface="Microsoft YaHei UI" panose="020B0503020204020204" pitchFamily="34" charset="-122"/>
                <a:ea typeface="Microsoft YaHei UI" panose="020B0503020204020204" pitchFamily="34" charset="-122"/>
              </a:rPr>
              <a:t>月内诊断的，和</a:t>
            </a:r>
            <a:r>
              <a:rPr lang="en-US" altLang="zh-CN" sz="1400" dirty="0">
                <a:solidFill>
                  <a:schemeClr val="tx1"/>
                </a:solidFill>
                <a:latin typeface="Microsoft YaHei UI" panose="020B0503020204020204" pitchFamily="34" charset="-122"/>
                <a:ea typeface="Microsoft YaHei UI" panose="020B0503020204020204" pitchFamily="34" charset="-122"/>
              </a:rPr>
              <a:t>/</a:t>
            </a:r>
            <a:r>
              <a:rPr lang="zh-CN" altLang="en-US" sz="1400" dirty="0">
                <a:solidFill>
                  <a:schemeClr val="tx1"/>
                </a:solidFill>
                <a:latin typeface="Microsoft YaHei UI" panose="020B0503020204020204" pitchFamily="34" charset="-122"/>
                <a:ea typeface="Microsoft YaHei UI" panose="020B0503020204020204" pitchFamily="34" charset="-122"/>
              </a:rPr>
              <a:t>或有持续存在治疗需求的肿瘤；</a:t>
            </a:r>
            <a:r>
              <a:rPr lang="en-US" altLang="zh-CN" sz="1400" dirty="0">
                <a:solidFill>
                  <a:schemeClr val="tx1"/>
                </a:solidFill>
                <a:latin typeface="Microsoft YaHei UI" panose="020B0503020204020204" pitchFamily="34" charset="-122"/>
                <a:ea typeface="Microsoft YaHei UI" panose="020B0503020204020204" pitchFamily="34" charset="-122"/>
              </a:rPr>
              <a:t>d</a:t>
            </a:r>
            <a:r>
              <a:rPr lang="zh-CN" altLang="en-US" sz="1400" dirty="0">
                <a:solidFill>
                  <a:schemeClr val="tx1"/>
                </a:solidFill>
                <a:latin typeface="Microsoft YaHei UI" panose="020B0503020204020204" pitchFamily="34" charset="-122"/>
                <a:ea typeface="Microsoft YaHei UI" panose="020B0503020204020204" pitchFamily="34" charset="-122"/>
              </a:rPr>
              <a:t>：美国国立卫生院定义的卒中评分＞</a:t>
            </a:r>
            <a:r>
              <a:rPr lang="en-US" altLang="zh-CN" sz="1400" dirty="0">
                <a:solidFill>
                  <a:schemeClr val="tx1"/>
                </a:solidFill>
                <a:latin typeface="Microsoft YaHei UI" panose="020B0503020204020204" pitchFamily="34" charset="-122"/>
                <a:ea typeface="Microsoft YaHei UI" panose="020B0503020204020204" pitchFamily="34" charset="-122"/>
              </a:rPr>
              <a:t>5</a:t>
            </a:r>
            <a:r>
              <a:rPr lang="zh-CN" altLang="en-US" sz="1400" dirty="0">
                <a:solidFill>
                  <a:schemeClr val="tx1"/>
                </a:solidFill>
                <a:latin typeface="Microsoft YaHei UI" panose="020B0503020204020204" pitchFamily="34" charset="-122"/>
                <a:ea typeface="Microsoft YaHei UI" panose="020B0503020204020204" pitchFamily="34" charset="-122"/>
              </a:rPr>
              <a:t>分。</a:t>
            </a:r>
          </a:p>
        </p:txBody>
      </p:sp>
      <p:cxnSp>
        <p:nvCxnSpPr>
          <p:cNvPr id="13" name="直接连接符 12">
            <a:extLst>
              <a:ext uri="{FF2B5EF4-FFF2-40B4-BE49-F238E27FC236}">
                <a16:creationId xmlns:a16="http://schemas.microsoft.com/office/drawing/2014/main" id="{C958CD02-A8D9-4977-9B06-F1F6781E0E94}"/>
              </a:ext>
            </a:extLst>
          </p:cNvPr>
          <p:cNvCxnSpPr>
            <a:cxnSpLocks/>
          </p:cNvCxnSpPr>
          <p:nvPr/>
        </p:nvCxnSpPr>
        <p:spPr>
          <a:xfrm>
            <a:off x="5527168" y="666750"/>
            <a:ext cx="32627" cy="5364654"/>
          </a:xfrm>
          <a:prstGeom prst="line">
            <a:avLst/>
          </a:prstGeom>
          <a:ln w="38100"/>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1985431" y="396330"/>
            <a:ext cx="8129627" cy="523220"/>
          </a:xfrm>
          <a:prstGeom prst="rect">
            <a:avLst/>
          </a:prstGeom>
          <a:noFill/>
        </p:spPr>
        <p:txBody>
          <a:bodyPr wrap="square" rtlCol="0">
            <a:spAutoFit/>
          </a:bodyPr>
          <a:lstStyle/>
          <a:p>
            <a:r>
              <a:rPr lang="en-US" altLang="zh-CN" sz="2800" b="1" dirty="0">
                <a:solidFill>
                  <a:srgbClr val="AE1022"/>
                </a:solidFill>
                <a:latin typeface="Microsoft YaHei UI" panose="020B0503020204020204" pitchFamily="34" charset="-122"/>
                <a:ea typeface="Microsoft YaHei UI" panose="020B0503020204020204" pitchFamily="34" charset="-122"/>
              </a:rPr>
              <a:t>2020ESC</a:t>
            </a:r>
            <a:r>
              <a:rPr lang="zh-CN" altLang="en-US" sz="2800" b="1" dirty="0">
                <a:solidFill>
                  <a:srgbClr val="AE1022"/>
                </a:solidFill>
                <a:latin typeface="Microsoft YaHei UI" panose="020B0503020204020204" pitchFamily="34" charset="-122"/>
                <a:ea typeface="Microsoft YaHei UI" panose="020B0503020204020204" pitchFamily="34" charset="-122"/>
              </a:rPr>
              <a:t>非</a:t>
            </a:r>
            <a:r>
              <a:rPr lang="en-US" altLang="zh-CN" sz="2800" b="1" dirty="0">
                <a:solidFill>
                  <a:srgbClr val="AE1022"/>
                </a:solidFill>
                <a:latin typeface="Microsoft YaHei UI" panose="020B0503020204020204" pitchFamily="34" charset="-122"/>
                <a:ea typeface="Microsoft YaHei UI" panose="020B0503020204020204" pitchFamily="34" charset="-122"/>
              </a:rPr>
              <a:t>ST</a:t>
            </a:r>
            <a:r>
              <a:rPr lang="zh-CN" altLang="en-US" sz="2800" b="1" dirty="0">
                <a:solidFill>
                  <a:srgbClr val="AE1022"/>
                </a:solidFill>
                <a:latin typeface="Microsoft YaHei UI" panose="020B0503020204020204" pitchFamily="34" charset="-122"/>
                <a:ea typeface="Microsoft YaHei UI" panose="020B0503020204020204" pitchFamily="34" charset="-122"/>
              </a:rPr>
              <a:t>段抬高性急性冠脉综合征临床指南</a:t>
            </a:r>
            <a:endParaRPr lang="zh-CN" altLang="en-US" sz="2800" b="1" dirty="0">
              <a:solidFill>
                <a:srgbClr val="AE1022"/>
              </a:solidFill>
            </a:endParaRPr>
          </a:p>
        </p:txBody>
      </p:sp>
      <p:grpSp>
        <p:nvGrpSpPr>
          <p:cNvPr id="32" name="Group 135"/>
          <p:cNvGrpSpPr>
            <a:grpSpLocks noChangeAspect="1"/>
          </p:cNvGrpSpPr>
          <p:nvPr/>
        </p:nvGrpSpPr>
        <p:grpSpPr bwMode="auto">
          <a:xfrm>
            <a:off x="3163494" y="2356790"/>
            <a:ext cx="578560" cy="745891"/>
            <a:chOff x="764" y="3082"/>
            <a:chExt cx="612" cy="789"/>
          </a:xfrm>
          <a:solidFill>
            <a:schemeClr val="bg1">
              <a:lumMod val="65000"/>
            </a:schemeClr>
          </a:solidFill>
        </p:grpSpPr>
        <p:sp>
          <p:nvSpPr>
            <p:cNvPr id="33" name="Freeform 136"/>
            <p:cNvSpPr>
              <a:spLocks noEditPoints="1"/>
            </p:cNvSpPr>
            <p:nvPr/>
          </p:nvSpPr>
          <p:spPr bwMode="auto">
            <a:xfrm>
              <a:off x="889" y="3358"/>
              <a:ext cx="359" cy="364"/>
            </a:xfrm>
            <a:custGeom>
              <a:avLst/>
              <a:gdLst>
                <a:gd name="T0" fmla="*/ 97 w 152"/>
                <a:gd name="T1" fmla="*/ 144 h 154"/>
                <a:gd name="T2" fmla="*/ 142 w 152"/>
                <a:gd name="T3" fmla="*/ 144 h 154"/>
                <a:gd name="T4" fmla="*/ 142 w 152"/>
                <a:gd name="T5" fmla="*/ 99 h 154"/>
                <a:gd name="T6" fmla="*/ 97 w 152"/>
                <a:gd name="T7" fmla="*/ 99 h 154"/>
                <a:gd name="T8" fmla="*/ 97 w 152"/>
                <a:gd name="T9" fmla="*/ 144 h 154"/>
                <a:gd name="T10" fmla="*/ 5 w 152"/>
                <a:gd name="T11" fmla="*/ 28 h 154"/>
                <a:gd name="T12" fmla="*/ 5 w 152"/>
                <a:gd name="T13" fmla="*/ 17 h 154"/>
                <a:gd name="T14" fmla="*/ 16 w 152"/>
                <a:gd name="T15" fmla="*/ 18 h 154"/>
                <a:gd name="T16" fmla="*/ 31 w 152"/>
                <a:gd name="T17" fmla="*/ 34 h 154"/>
                <a:gd name="T18" fmla="*/ 57 w 152"/>
                <a:gd name="T19" fmla="*/ 4 h 154"/>
                <a:gd name="T20" fmla="*/ 69 w 152"/>
                <a:gd name="T21" fmla="*/ 3 h 154"/>
                <a:gd name="T22" fmla="*/ 69 w 152"/>
                <a:gd name="T23" fmla="*/ 14 h 154"/>
                <a:gd name="T24" fmla="*/ 36 w 152"/>
                <a:gd name="T25" fmla="*/ 51 h 154"/>
                <a:gd name="T26" fmla="*/ 25 w 152"/>
                <a:gd name="T27" fmla="*/ 51 h 154"/>
                <a:gd name="T28" fmla="*/ 5 w 152"/>
                <a:gd name="T29" fmla="*/ 28 h 154"/>
                <a:gd name="T30" fmla="*/ 97 w 152"/>
                <a:gd name="T31" fmla="*/ 13 h 154"/>
                <a:gd name="T32" fmla="*/ 97 w 152"/>
                <a:gd name="T33" fmla="*/ 57 h 154"/>
                <a:gd name="T34" fmla="*/ 142 w 152"/>
                <a:gd name="T35" fmla="*/ 57 h 154"/>
                <a:gd name="T36" fmla="*/ 142 w 152"/>
                <a:gd name="T37" fmla="*/ 13 h 154"/>
                <a:gd name="T38" fmla="*/ 97 w 152"/>
                <a:gd name="T39" fmla="*/ 13 h 154"/>
                <a:gd name="T40" fmla="*/ 87 w 152"/>
                <a:gd name="T41" fmla="*/ 62 h 154"/>
                <a:gd name="T42" fmla="*/ 87 w 152"/>
                <a:gd name="T43" fmla="*/ 2 h 154"/>
                <a:gd name="T44" fmla="*/ 152 w 152"/>
                <a:gd name="T45" fmla="*/ 2 h 154"/>
                <a:gd name="T46" fmla="*/ 152 w 152"/>
                <a:gd name="T47" fmla="*/ 68 h 154"/>
                <a:gd name="T48" fmla="*/ 87 w 152"/>
                <a:gd name="T49" fmla="*/ 68 h 154"/>
                <a:gd name="T50" fmla="*/ 87 w 152"/>
                <a:gd name="T51" fmla="*/ 62 h 154"/>
                <a:gd name="T52" fmla="*/ 11 w 152"/>
                <a:gd name="T53" fmla="*/ 144 h 154"/>
                <a:gd name="T54" fmla="*/ 55 w 152"/>
                <a:gd name="T55" fmla="*/ 144 h 154"/>
                <a:gd name="T56" fmla="*/ 55 w 152"/>
                <a:gd name="T57" fmla="*/ 99 h 154"/>
                <a:gd name="T58" fmla="*/ 11 w 152"/>
                <a:gd name="T59" fmla="*/ 99 h 154"/>
                <a:gd name="T60" fmla="*/ 11 w 152"/>
                <a:gd name="T61" fmla="*/ 144 h 154"/>
                <a:gd name="T62" fmla="*/ 61 w 152"/>
                <a:gd name="T63" fmla="*/ 154 h 154"/>
                <a:gd name="T64" fmla="*/ 0 w 152"/>
                <a:gd name="T65" fmla="*/ 154 h 154"/>
                <a:gd name="T66" fmla="*/ 0 w 152"/>
                <a:gd name="T67" fmla="*/ 89 h 154"/>
                <a:gd name="T68" fmla="*/ 66 w 152"/>
                <a:gd name="T69" fmla="*/ 89 h 154"/>
                <a:gd name="T70" fmla="*/ 66 w 152"/>
                <a:gd name="T71" fmla="*/ 154 h 154"/>
                <a:gd name="T72" fmla="*/ 61 w 152"/>
                <a:gd name="T73" fmla="*/ 154 h 154"/>
                <a:gd name="T74" fmla="*/ 147 w 152"/>
                <a:gd name="T75" fmla="*/ 154 h 154"/>
                <a:gd name="T76" fmla="*/ 87 w 152"/>
                <a:gd name="T77" fmla="*/ 154 h 154"/>
                <a:gd name="T78" fmla="*/ 87 w 152"/>
                <a:gd name="T79" fmla="*/ 89 h 154"/>
                <a:gd name="T80" fmla="*/ 152 w 152"/>
                <a:gd name="T81" fmla="*/ 89 h 154"/>
                <a:gd name="T82" fmla="*/ 152 w 152"/>
                <a:gd name="T83" fmla="*/ 154 h 154"/>
                <a:gd name="T84" fmla="*/ 147 w 152"/>
                <a:gd name="T8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2" h="154">
                  <a:moveTo>
                    <a:pt x="97" y="144"/>
                  </a:moveTo>
                  <a:cubicBezTo>
                    <a:pt x="142" y="144"/>
                    <a:pt x="142" y="144"/>
                    <a:pt x="142" y="144"/>
                  </a:cubicBezTo>
                  <a:cubicBezTo>
                    <a:pt x="142" y="99"/>
                    <a:pt x="142" y="99"/>
                    <a:pt x="142" y="99"/>
                  </a:cubicBezTo>
                  <a:cubicBezTo>
                    <a:pt x="97" y="99"/>
                    <a:pt x="97" y="99"/>
                    <a:pt x="97" y="99"/>
                  </a:cubicBezTo>
                  <a:cubicBezTo>
                    <a:pt x="97" y="144"/>
                    <a:pt x="97" y="144"/>
                    <a:pt x="97" y="144"/>
                  </a:cubicBezTo>
                  <a:close/>
                  <a:moveTo>
                    <a:pt x="5" y="28"/>
                  </a:moveTo>
                  <a:cubicBezTo>
                    <a:pt x="2" y="25"/>
                    <a:pt x="2" y="20"/>
                    <a:pt x="5" y="17"/>
                  </a:cubicBezTo>
                  <a:cubicBezTo>
                    <a:pt x="9" y="14"/>
                    <a:pt x="14" y="15"/>
                    <a:pt x="16" y="18"/>
                  </a:cubicBezTo>
                  <a:cubicBezTo>
                    <a:pt x="31" y="34"/>
                    <a:pt x="31" y="34"/>
                    <a:pt x="31" y="34"/>
                  </a:cubicBezTo>
                  <a:cubicBezTo>
                    <a:pt x="57" y="4"/>
                    <a:pt x="57" y="4"/>
                    <a:pt x="57" y="4"/>
                  </a:cubicBezTo>
                  <a:cubicBezTo>
                    <a:pt x="60" y="1"/>
                    <a:pt x="65" y="0"/>
                    <a:pt x="69" y="3"/>
                  </a:cubicBezTo>
                  <a:cubicBezTo>
                    <a:pt x="72" y="6"/>
                    <a:pt x="72" y="11"/>
                    <a:pt x="69" y="14"/>
                  </a:cubicBezTo>
                  <a:cubicBezTo>
                    <a:pt x="36" y="51"/>
                    <a:pt x="36" y="51"/>
                    <a:pt x="36" y="51"/>
                  </a:cubicBezTo>
                  <a:cubicBezTo>
                    <a:pt x="33" y="54"/>
                    <a:pt x="28" y="54"/>
                    <a:pt x="25" y="51"/>
                  </a:cubicBezTo>
                  <a:cubicBezTo>
                    <a:pt x="5" y="28"/>
                    <a:pt x="5" y="28"/>
                    <a:pt x="5" y="28"/>
                  </a:cubicBezTo>
                  <a:close/>
                  <a:moveTo>
                    <a:pt x="97" y="13"/>
                  </a:moveTo>
                  <a:cubicBezTo>
                    <a:pt x="97" y="57"/>
                    <a:pt x="97" y="57"/>
                    <a:pt x="97" y="57"/>
                  </a:cubicBezTo>
                  <a:cubicBezTo>
                    <a:pt x="142" y="57"/>
                    <a:pt x="142" y="57"/>
                    <a:pt x="142" y="57"/>
                  </a:cubicBezTo>
                  <a:cubicBezTo>
                    <a:pt x="142" y="13"/>
                    <a:pt x="142" y="13"/>
                    <a:pt x="142" y="13"/>
                  </a:cubicBezTo>
                  <a:cubicBezTo>
                    <a:pt x="97" y="13"/>
                    <a:pt x="97" y="13"/>
                    <a:pt x="97" y="13"/>
                  </a:cubicBezTo>
                  <a:close/>
                  <a:moveTo>
                    <a:pt x="87" y="62"/>
                  </a:moveTo>
                  <a:cubicBezTo>
                    <a:pt x="87" y="2"/>
                    <a:pt x="87" y="2"/>
                    <a:pt x="87" y="2"/>
                  </a:cubicBezTo>
                  <a:cubicBezTo>
                    <a:pt x="109" y="2"/>
                    <a:pt x="130" y="2"/>
                    <a:pt x="152" y="2"/>
                  </a:cubicBezTo>
                  <a:cubicBezTo>
                    <a:pt x="152" y="68"/>
                    <a:pt x="152" y="68"/>
                    <a:pt x="152" y="68"/>
                  </a:cubicBezTo>
                  <a:cubicBezTo>
                    <a:pt x="87" y="68"/>
                    <a:pt x="87" y="68"/>
                    <a:pt x="87" y="68"/>
                  </a:cubicBezTo>
                  <a:cubicBezTo>
                    <a:pt x="87" y="62"/>
                    <a:pt x="87" y="62"/>
                    <a:pt x="87" y="62"/>
                  </a:cubicBezTo>
                  <a:close/>
                  <a:moveTo>
                    <a:pt x="11" y="144"/>
                  </a:moveTo>
                  <a:cubicBezTo>
                    <a:pt x="55" y="144"/>
                    <a:pt x="55" y="144"/>
                    <a:pt x="55" y="144"/>
                  </a:cubicBezTo>
                  <a:cubicBezTo>
                    <a:pt x="55" y="99"/>
                    <a:pt x="55" y="99"/>
                    <a:pt x="55" y="99"/>
                  </a:cubicBezTo>
                  <a:cubicBezTo>
                    <a:pt x="11" y="99"/>
                    <a:pt x="11" y="99"/>
                    <a:pt x="11" y="99"/>
                  </a:cubicBezTo>
                  <a:cubicBezTo>
                    <a:pt x="11" y="144"/>
                    <a:pt x="11" y="144"/>
                    <a:pt x="11" y="144"/>
                  </a:cubicBezTo>
                  <a:close/>
                  <a:moveTo>
                    <a:pt x="61" y="154"/>
                  </a:moveTo>
                  <a:cubicBezTo>
                    <a:pt x="41" y="154"/>
                    <a:pt x="20" y="154"/>
                    <a:pt x="0" y="154"/>
                  </a:cubicBezTo>
                  <a:cubicBezTo>
                    <a:pt x="0" y="89"/>
                    <a:pt x="0" y="89"/>
                    <a:pt x="0" y="89"/>
                  </a:cubicBezTo>
                  <a:cubicBezTo>
                    <a:pt x="22" y="89"/>
                    <a:pt x="44" y="89"/>
                    <a:pt x="66" y="89"/>
                  </a:cubicBezTo>
                  <a:cubicBezTo>
                    <a:pt x="66" y="154"/>
                    <a:pt x="66" y="154"/>
                    <a:pt x="66" y="154"/>
                  </a:cubicBezTo>
                  <a:cubicBezTo>
                    <a:pt x="61" y="154"/>
                    <a:pt x="61" y="154"/>
                    <a:pt x="61" y="154"/>
                  </a:cubicBezTo>
                  <a:close/>
                  <a:moveTo>
                    <a:pt x="147" y="154"/>
                  </a:moveTo>
                  <a:cubicBezTo>
                    <a:pt x="87" y="154"/>
                    <a:pt x="87" y="154"/>
                    <a:pt x="87" y="154"/>
                  </a:cubicBezTo>
                  <a:cubicBezTo>
                    <a:pt x="87" y="89"/>
                    <a:pt x="87" y="89"/>
                    <a:pt x="87" y="89"/>
                  </a:cubicBezTo>
                  <a:cubicBezTo>
                    <a:pt x="109" y="89"/>
                    <a:pt x="130" y="89"/>
                    <a:pt x="152" y="89"/>
                  </a:cubicBezTo>
                  <a:cubicBezTo>
                    <a:pt x="152" y="154"/>
                    <a:pt x="152" y="154"/>
                    <a:pt x="152" y="154"/>
                  </a:cubicBezTo>
                  <a:cubicBezTo>
                    <a:pt x="147" y="154"/>
                    <a:pt x="147" y="154"/>
                    <a:pt x="147" y="1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37"/>
            <p:cNvSpPr>
              <a:spLocks noEditPoints="1"/>
            </p:cNvSpPr>
            <p:nvPr/>
          </p:nvSpPr>
          <p:spPr bwMode="auto">
            <a:xfrm>
              <a:off x="764" y="3082"/>
              <a:ext cx="612" cy="789"/>
            </a:xfrm>
            <a:custGeom>
              <a:avLst/>
              <a:gdLst>
                <a:gd name="T0" fmla="*/ 26 w 259"/>
                <a:gd name="T1" fmla="*/ 36 h 334"/>
                <a:gd name="T2" fmla="*/ 60 w 259"/>
                <a:gd name="T3" fmla="*/ 36 h 334"/>
                <a:gd name="T4" fmla="*/ 60 w 259"/>
                <a:gd name="T5" fmla="*/ 52 h 334"/>
                <a:gd name="T6" fmla="*/ 26 w 259"/>
                <a:gd name="T7" fmla="*/ 52 h 334"/>
                <a:gd name="T8" fmla="*/ 19 w 259"/>
                <a:gd name="T9" fmla="*/ 55 h 334"/>
                <a:gd name="T10" fmla="*/ 16 w 259"/>
                <a:gd name="T11" fmla="*/ 62 h 334"/>
                <a:gd name="T12" fmla="*/ 16 w 259"/>
                <a:gd name="T13" fmla="*/ 308 h 334"/>
                <a:gd name="T14" fmla="*/ 26 w 259"/>
                <a:gd name="T15" fmla="*/ 318 h 334"/>
                <a:gd name="T16" fmla="*/ 233 w 259"/>
                <a:gd name="T17" fmla="*/ 318 h 334"/>
                <a:gd name="T18" fmla="*/ 243 w 259"/>
                <a:gd name="T19" fmla="*/ 308 h 334"/>
                <a:gd name="T20" fmla="*/ 243 w 259"/>
                <a:gd name="T21" fmla="*/ 62 h 334"/>
                <a:gd name="T22" fmla="*/ 240 w 259"/>
                <a:gd name="T23" fmla="*/ 55 h 334"/>
                <a:gd name="T24" fmla="*/ 233 w 259"/>
                <a:gd name="T25" fmla="*/ 52 h 334"/>
                <a:gd name="T26" fmla="*/ 199 w 259"/>
                <a:gd name="T27" fmla="*/ 52 h 334"/>
                <a:gd name="T28" fmla="*/ 199 w 259"/>
                <a:gd name="T29" fmla="*/ 36 h 334"/>
                <a:gd name="T30" fmla="*/ 233 w 259"/>
                <a:gd name="T31" fmla="*/ 36 h 334"/>
                <a:gd name="T32" fmla="*/ 251 w 259"/>
                <a:gd name="T33" fmla="*/ 44 h 334"/>
                <a:gd name="T34" fmla="*/ 259 w 259"/>
                <a:gd name="T35" fmla="*/ 62 h 334"/>
                <a:gd name="T36" fmla="*/ 259 w 259"/>
                <a:gd name="T37" fmla="*/ 308 h 334"/>
                <a:gd name="T38" fmla="*/ 233 w 259"/>
                <a:gd name="T39" fmla="*/ 334 h 334"/>
                <a:gd name="T40" fmla="*/ 26 w 259"/>
                <a:gd name="T41" fmla="*/ 334 h 334"/>
                <a:gd name="T42" fmla="*/ 0 w 259"/>
                <a:gd name="T43" fmla="*/ 308 h 334"/>
                <a:gd name="T44" fmla="*/ 0 w 259"/>
                <a:gd name="T45" fmla="*/ 62 h 334"/>
                <a:gd name="T46" fmla="*/ 7 w 259"/>
                <a:gd name="T47" fmla="*/ 44 h 334"/>
                <a:gd name="T48" fmla="*/ 26 w 259"/>
                <a:gd name="T49" fmla="*/ 36 h 334"/>
                <a:gd name="T50" fmla="*/ 129 w 259"/>
                <a:gd name="T51" fmla="*/ 0 h 334"/>
                <a:gd name="T52" fmla="*/ 149 w 259"/>
                <a:gd name="T53" fmla="*/ 5 h 334"/>
                <a:gd name="T54" fmla="*/ 157 w 259"/>
                <a:gd name="T55" fmla="*/ 25 h 334"/>
                <a:gd name="T56" fmla="*/ 157 w 259"/>
                <a:gd name="T57" fmla="*/ 25 h 334"/>
                <a:gd name="T58" fmla="*/ 188 w 259"/>
                <a:gd name="T59" fmla="*/ 25 h 334"/>
                <a:gd name="T60" fmla="*/ 188 w 259"/>
                <a:gd name="T61" fmla="*/ 64 h 334"/>
                <a:gd name="T62" fmla="*/ 71 w 259"/>
                <a:gd name="T63" fmla="*/ 64 h 334"/>
                <a:gd name="T64" fmla="*/ 71 w 259"/>
                <a:gd name="T65" fmla="*/ 25 h 334"/>
                <a:gd name="T66" fmla="*/ 102 w 259"/>
                <a:gd name="T67" fmla="*/ 25 h 334"/>
                <a:gd name="T68" fmla="*/ 102 w 259"/>
                <a:gd name="T69" fmla="*/ 25 h 334"/>
                <a:gd name="T70" fmla="*/ 110 w 259"/>
                <a:gd name="T71" fmla="*/ 5 h 334"/>
                <a:gd name="T72" fmla="*/ 129 w 259"/>
                <a:gd name="T73" fmla="*/ 0 h 334"/>
                <a:gd name="T74" fmla="*/ 138 w 259"/>
                <a:gd name="T75" fmla="*/ 16 h 334"/>
                <a:gd name="T76" fmla="*/ 129 w 259"/>
                <a:gd name="T77" fmla="*/ 13 h 334"/>
                <a:gd name="T78" fmla="*/ 121 w 259"/>
                <a:gd name="T79" fmla="*/ 16 h 334"/>
                <a:gd name="T80" fmla="*/ 118 w 259"/>
                <a:gd name="T81" fmla="*/ 25 h 334"/>
                <a:gd name="T82" fmla="*/ 121 w 259"/>
                <a:gd name="T83" fmla="*/ 33 h 334"/>
                <a:gd name="T84" fmla="*/ 129 w 259"/>
                <a:gd name="T85" fmla="*/ 36 h 334"/>
                <a:gd name="T86" fmla="*/ 130 w 259"/>
                <a:gd name="T87" fmla="*/ 36 h 334"/>
                <a:gd name="T88" fmla="*/ 138 w 259"/>
                <a:gd name="T89" fmla="*/ 33 h 334"/>
                <a:gd name="T90" fmla="*/ 141 w 259"/>
                <a:gd name="T91" fmla="*/ 25 h 334"/>
                <a:gd name="T92" fmla="*/ 138 w 259"/>
                <a:gd name="T93" fmla="*/ 16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9" h="334">
                  <a:moveTo>
                    <a:pt x="26" y="36"/>
                  </a:moveTo>
                  <a:cubicBezTo>
                    <a:pt x="60" y="36"/>
                    <a:pt x="60" y="36"/>
                    <a:pt x="60" y="36"/>
                  </a:cubicBezTo>
                  <a:cubicBezTo>
                    <a:pt x="60" y="52"/>
                    <a:pt x="60" y="52"/>
                    <a:pt x="60" y="52"/>
                  </a:cubicBezTo>
                  <a:cubicBezTo>
                    <a:pt x="26" y="52"/>
                    <a:pt x="26" y="52"/>
                    <a:pt x="26" y="52"/>
                  </a:cubicBezTo>
                  <a:cubicBezTo>
                    <a:pt x="23" y="52"/>
                    <a:pt x="21" y="53"/>
                    <a:pt x="19" y="55"/>
                  </a:cubicBezTo>
                  <a:cubicBezTo>
                    <a:pt x="17" y="57"/>
                    <a:pt x="16" y="59"/>
                    <a:pt x="16" y="62"/>
                  </a:cubicBezTo>
                  <a:cubicBezTo>
                    <a:pt x="16" y="308"/>
                    <a:pt x="16" y="308"/>
                    <a:pt x="16" y="308"/>
                  </a:cubicBezTo>
                  <a:cubicBezTo>
                    <a:pt x="16" y="314"/>
                    <a:pt x="20" y="318"/>
                    <a:pt x="26" y="318"/>
                  </a:cubicBezTo>
                  <a:cubicBezTo>
                    <a:pt x="233" y="318"/>
                    <a:pt x="233" y="318"/>
                    <a:pt x="233" y="318"/>
                  </a:cubicBezTo>
                  <a:cubicBezTo>
                    <a:pt x="239" y="318"/>
                    <a:pt x="243" y="314"/>
                    <a:pt x="243" y="308"/>
                  </a:cubicBezTo>
                  <a:cubicBezTo>
                    <a:pt x="243" y="62"/>
                    <a:pt x="243" y="62"/>
                    <a:pt x="243" y="62"/>
                  </a:cubicBezTo>
                  <a:cubicBezTo>
                    <a:pt x="243" y="59"/>
                    <a:pt x="242" y="57"/>
                    <a:pt x="240" y="55"/>
                  </a:cubicBezTo>
                  <a:cubicBezTo>
                    <a:pt x="238" y="53"/>
                    <a:pt x="236" y="52"/>
                    <a:pt x="233" y="52"/>
                  </a:cubicBezTo>
                  <a:cubicBezTo>
                    <a:pt x="199" y="52"/>
                    <a:pt x="199" y="52"/>
                    <a:pt x="199" y="52"/>
                  </a:cubicBezTo>
                  <a:cubicBezTo>
                    <a:pt x="199" y="36"/>
                    <a:pt x="199" y="36"/>
                    <a:pt x="199" y="36"/>
                  </a:cubicBezTo>
                  <a:cubicBezTo>
                    <a:pt x="233" y="36"/>
                    <a:pt x="233" y="36"/>
                    <a:pt x="233" y="36"/>
                  </a:cubicBezTo>
                  <a:cubicBezTo>
                    <a:pt x="240" y="36"/>
                    <a:pt x="246" y="39"/>
                    <a:pt x="251" y="44"/>
                  </a:cubicBezTo>
                  <a:cubicBezTo>
                    <a:pt x="256" y="49"/>
                    <a:pt x="259" y="55"/>
                    <a:pt x="259" y="62"/>
                  </a:cubicBezTo>
                  <a:cubicBezTo>
                    <a:pt x="259" y="308"/>
                    <a:pt x="259" y="308"/>
                    <a:pt x="259" y="308"/>
                  </a:cubicBezTo>
                  <a:cubicBezTo>
                    <a:pt x="259" y="322"/>
                    <a:pt x="247" y="334"/>
                    <a:pt x="233" y="334"/>
                  </a:cubicBezTo>
                  <a:cubicBezTo>
                    <a:pt x="26" y="334"/>
                    <a:pt x="26" y="334"/>
                    <a:pt x="26" y="334"/>
                  </a:cubicBezTo>
                  <a:cubicBezTo>
                    <a:pt x="12" y="334"/>
                    <a:pt x="0" y="322"/>
                    <a:pt x="0" y="308"/>
                  </a:cubicBezTo>
                  <a:cubicBezTo>
                    <a:pt x="0" y="62"/>
                    <a:pt x="0" y="62"/>
                    <a:pt x="0" y="62"/>
                  </a:cubicBezTo>
                  <a:cubicBezTo>
                    <a:pt x="0" y="55"/>
                    <a:pt x="3" y="49"/>
                    <a:pt x="7" y="44"/>
                  </a:cubicBezTo>
                  <a:cubicBezTo>
                    <a:pt x="12" y="39"/>
                    <a:pt x="19" y="36"/>
                    <a:pt x="26" y="36"/>
                  </a:cubicBezTo>
                  <a:close/>
                  <a:moveTo>
                    <a:pt x="129" y="0"/>
                  </a:moveTo>
                  <a:cubicBezTo>
                    <a:pt x="137" y="0"/>
                    <a:pt x="144" y="0"/>
                    <a:pt x="149" y="5"/>
                  </a:cubicBezTo>
                  <a:cubicBezTo>
                    <a:pt x="154" y="10"/>
                    <a:pt x="157" y="17"/>
                    <a:pt x="157" y="25"/>
                  </a:cubicBezTo>
                  <a:cubicBezTo>
                    <a:pt x="157" y="25"/>
                    <a:pt x="157" y="25"/>
                    <a:pt x="157" y="25"/>
                  </a:cubicBezTo>
                  <a:cubicBezTo>
                    <a:pt x="188" y="25"/>
                    <a:pt x="188" y="25"/>
                    <a:pt x="188" y="25"/>
                  </a:cubicBezTo>
                  <a:cubicBezTo>
                    <a:pt x="188" y="64"/>
                    <a:pt x="188" y="64"/>
                    <a:pt x="188" y="64"/>
                  </a:cubicBezTo>
                  <a:cubicBezTo>
                    <a:pt x="71" y="64"/>
                    <a:pt x="71" y="64"/>
                    <a:pt x="71" y="64"/>
                  </a:cubicBezTo>
                  <a:cubicBezTo>
                    <a:pt x="71" y="25"/>
                    <a:pt x="71" y="25"/>
                    <a:pt x="71" y="25"/>
                  </a:cubicBezTo>
                  <a:cubicBezTo>
                    <a:pt x="102" y="25"/>
                    <a:pt x="102" y="25"/>
                    <a:pt x="102" y="25"/>
                  </a:cubicBezTo>
                  <a:cubicBezTo>
                    <a:pt x="102" y="25"/>
                    <a:pt x="102" y="25"/>
                    <a:pt x="102" y="25"/>
                  </a:cubicBezTo>
                  <a:cubicBezTo>
                    <a:pt x="102" y="17"/>
                    <a:pt x="105" y="10"/>
                    <a:pt x="110" y="5"/>
                  </a:cubicBezTo>
                  <a:cubicBezTo>
                    <a:pt x="115" y="0"/>
                    <a:pt x="122" y="0"/>
                    <a:pt x="129" y="0"/>
                  </a:cubicBezTo>
                  <a:close/>
                  <a:moveTo>
                    <a:pt x="138" y="16"/>
                  </a:moveTo>
                  <a:cubicBezTo>
                    <a:pt x="136" y="14"/>
                    <a:pt x="133" y="13"/>
                    <a:pt x="129" y="13"/>
                  </a:cubicBezTo>
                  <a:cubicBezTo>
                    <a:pt x="126" y="13"/>
                    <a:pt x="123" y="14"/>
                    <a:pt x="121" y="16"/>
                  </a:cubicBezTo>
                  <a:cubicBezTo>
                    <a:pt x="119" y="18"/>
                    <a:pt x="118" y="21"/>
                    <a:pt x="118" y="25"/>
                  </a:cubicBezTo>
                  <a:cubicBezTo>
                    <a:pt x="118" y="28"/>
                    <a:pt x="119" y="31"/>
                    <a:pt x="121" y="33"/>
                  </a:cubicBezTo>
                  <a:cubicBezTo>
                    <a:pt x="123" y="35"/>
                    <a:pt x="126" y="36"/>
                    <a:pt x="129" y="36"/>
                  </a:cubicBezTo>
                  <a:cubicBezTo>
                    <a:pt x="130" y="36"/>
                    <a:pt x="130" y="36"/>
                    <a:pt x="130" y="36"/>
                  </a:cubicBezTo>
                  <a:cubicBezTo>
                    <a:pt x="133" y="36"/>
                    <a:pt x="136" y="35"/>
                    <a:pt x="138" y="33"/>
                  </a:cubicBezTo>
                  <a:cubicBezTo>
                    <a:pt x="140" y="31"/>
                    <a:pt x="141" y="28"/>
                    <a:pt x="141" y="25"/>
                  </a:cubicBezTo>
                  <a:cubicBezTo>
                    <a:pt x="141" y="21"/>
                    <a:pt x="140" y="18"/>
                    <a:pt x="13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 name="Group 141"/>
          <p:cNvGrpSpPr>
            <a:grpSpLocks noChangeAspect="1"/>
          </p:cNvGrpSpPr>
          <p:nvPr/>
        </p:nvGrpSpPr>
        <p:grpSpPr bwMode="auto">
          <a:xfrm>
            <a:off x="7240250" y="2514930"/>
            <a:ext cx="669199" cy="568251"/>
            <a:chOff x="-264" y="1985"/>
            <a:chExt cx="590" cy="501"/>
          </a:xfrm>
          <a:solidFill>
            <a:schemeClr val="bg1">
              <a:lumMod val="65000"/>
            </a:schemeClr>
          </a:solidFill>
        </p:grpSpPr>
        <p:sp>
          <p:nvSpPr>
            <p:cNvPr id="36" name="Freeform 142"/>
            <p:cNvSpPr>
              <a:spLocks noEditPoints="1"/>
            </p:cNvSpPr>
            <p:nvPr/>
          </p:nvSpPr>
          <p:spPr bwMode="auto">
            <a:xfrm>
              <a:off x="-161" y="2283"/>
              <a:ext cx="317" cy="127"/>
            </a:xfrm>
            <a:custGeom>
              <a:avLst/>
              <a:gdLst>
                <a:gd name="T0" fmla="*/ 0 w 317"/>
                <a:gd name="T1" fmla="*/ 127 h 127"/>
                <a:gd name="T2" fmla="*/ 317 w 317"/>
                <a:gd name="T3" fmla="*/ 0 h 127"/>
                <a:gd name="T4" fmla="*/ 55 w 317"/>
                <a:gd name="T5" fmla="*/ 90 h 127"/>
                <a:gd name="T6" fmla="*/ 33 w 317"/>
                <a:gd name="T7" fmla="*/ 68 h 127"/>
                <a:gd name="T8" fmla="*/ 55 w 317"/>
                <a:gd name="T9" fmla="*/ 90 h 127"/>
                <a:gd name="T10" fmla="*/ 33 w 317"/>
                <a:gd name="T11" fmla="*/ 49 h 127"/>
                <a:gd name="T12" fmla="*/ 55 w 317"/>
                <a:gd name="T13" fmla="*/ 28 h 127"/>
                <a:gd name="T14" fmla="*/ 92 w 317"/>
                <a:gd name="T15" fmla="*/ 90 h 127"/>
                <a:gd name="T16" fmla="*/ 71 w 317"/>
                <a:gd name="T17" fmla="*/ 68 h 127"/>
                <a:gd name="T18" fmla="*/ 92 w 317"/>
                <a:gd name="T19" fmla="*/ 90 h 127"/>
                <a:gd name="T20" fmla="*/ 71 w 317"/>
                <a:gd name="T21" fmla="*/ 49 h 127"/>
                <a:gd name="T22" fmla="*/ 92 w 317"/>
                <a:gd name="T23" fmla="*/ 28 h 127"/>
                <a:gd name="T24" fmla="*/ 133 w 317"/>
                <a:gd name="T25" fmla="*/ 90 h 127"/>
                <a:gd name="T26" fmla="*/ 111 w 317"/>
                <a:gd name="T27" fmla="*/ 68 h 127"/>
                <a:gd name="T28" fmla="*/ 133 w 317"/>
                <a:gd name="T29" fmla="*/ 90 h 127"/>
                <a:gd name="T30" fmla="*/ 111 w 317"/>
                <a:gd name="T31" fmla="*/ 49 h 127"/>
                <a:gd name="T32" fmla="*/ 133 w 317"/>
                <a:gd name="T33" fmla="*/ 28 h 127"/>
                <a:gd name="T34" fmla="*/ 170 w 317"/>
                <a:gd name="T35" fmla="*/ 90 h 127"/>
                <a:gd name="T36" fmla="*/ 152 w 317"/>
                <a:gd name="T37" fmla="*/ 68 h 127"/>
                <a:gd name="T38" fmla="*/ 170 w 317"/>
                <a:gd name="T39" fmla="*/ 90 h 127"/>
                <a:gd name="T40" fmla="*/ 152 w 317"/>
                <a:gd name="T41" fmla="*/ 49 h 127"/>
                <a:gd name="T42" fmla="*/ 170 w 317"/>
                <a:gd name="T43" fmla="*/ 28 h 127"/>
                <a:gd name="T44" fmla="*/ 211 w 317"/>
                <a:gd name="T45" fmla="*/ 90 h 127"/>
                <a:gd name="T46" fmla="*/ 189 w 317"/>
                <a:gd name="T47" fmla="*/ 68 h 127"/>
                <a:gd name="T48" fmla="*/ 211 w 317"/>
                <a:gd name="T49" fmla="*/ 90 h 127"/>
                <a:gd name="T50" fmla="*/ 189 w 317"/>
                <a:gd name="T51" fmla="*/ 49 h 127"/>
                <a:gd name="T52" fmla="*/ 211 w 317"/>
                <a:gd name="T53" fmla="*/ 28 h 127"/>
                <a:gd name="T54" fmla="*/ 251 w 317"/>
                <a:gd name="T55" fmla="*/ 90 h 127"/>
                <a:gd name="T56" fmla="*/ 229 w 317"/>
                <a:gd name="T57" fmla="*/ 68 h 127"/>
                <a:gd name="T58" fmla="*/ 251 w 317"/>
                <a:gd name="T59" fmla="*/ 90 h 127"/>
                <a:gd name="T60" fmla="*/ 229 w 317"/>
                <a:gd name="T61" fmla="*/ 49 h 127"/>
                <a:gd name="T62" fmla="*/ 251 w 317"/>
                <a:gd name="T63" fmla="*/ 28 h 127"/>
                <a:gd name="T64" fmla="*/ 288 w 317"/>
                <a:gd name="T65" fmla="*/ 90 h 127"/>
                <a:gd name="T66" fmla="*/ 267 w 317"/>
                <a:gd name="T67" fmla="*/ 68 h 127"/>
                <a:gd name="T68" fmla="*/ 288 w 317"/>
                <a:gd name="T69" fmla="*/ 90 h 127"/>
                <a:gd name="T70" fmla="*/ 267 w 317"/>
                <a:gd name="T71" fmla="*/ 49 h 127"/>
                <a:gd name="T72" fmla="*/ 288 w 317"/>
                <a:gd name="T73" fmla="*/ 28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7" h="127">
                  <a:moveTo>
                    <a:pt x="0" y="0"/>
                  </a:moveTo>
                  <a:lnTo>
                    <a:pt x="0" y="127"/>
                  </a:lnTo>
                  <a:lnTo>
                    <a:pt x="317" y="127"/>
                  </a:lnTo>
                  <a:lnTo>
                    <a:pt x="317" y="0"/>
                  </a:lnTo>
                  <a:lnTo>
                    <a:pt x="0" y="0"/>
                  </a:lnTo>
                  <a:close/>
                  <a:moveTo>
                    <a:pt x="55" y="90"/>
                  </a:moveTo>
                  <a:lnTo>
                    <a:pt x="33" y="90"/>
                  </a:lnTo>
                  <a:lnTo>
                    <a:pt x="33" y="68"/>
                  </a:lnTo>
                  <a:lnTo>
                    <a:pt x="55" y="68"/>
                  </a:lnTo>
                  <a:lnTo>
                    <a:pt x="55" y="90"/>
                  </a:lnTo>
                  <a:close/>
                  <a:moveTo>
                    <a:pt x="55" y="49"/>
                  </a:moveTo>
                  <a:lnTo>
                    <a:pt x="33" y="49"/>
                  </a:lnTo>
                  <a:lnTo>
                    <a:pt x="33" y="28"/>
                  </a:lnTo>
                  <a:lnTo>
                    <a:pt x="55" y="28"/>
                  </a:lnTo>
                  <a:lnTo>
                    <a:pt x="55" y="49"/>
                  </a:lnTo>
                  <a:close/>
                  <a:moveTo>
                    <a:pt x="92" y="90"/>
                  </a:moveTo>
                  <a:lnTo>
                    <a:pt x="71" y="90"/>
                  </a:lnTo>
                  <a:lnTo>
                    <a:pt x="71" y="68"/>
                  </a:lnTo>
                  <a:lnTo>
                    <a:pt x="92" y="68"/>
                  </a:lnTo>
                  <a:lnTo>
                    <a:pt x="92" y="90"/>
                  </a:lnTo>
                  <a:close/>
                  <a:moveTo>
                    <a:pt x="92" y="49"/>
                  </a:moveTo>
                  <a:lnTo>
                    <a:pt x="71" y="49"/>
                  </a:lnTo>
                  <a:lnTo>
                    <a:pt x="71" y="28"/>
                  </a:lnTo>
                  <a:lnTo>
                    <a:pt x="92" y="28"/>
                  </a:lnTo>
                  <a:lnTo>
                    <a:pt x="92" y="49"/>
                  </a:lnTo>
                  <a:close/>
                  <a:moveTo>
                    <a:pt x="133" y="90"/>
                  </a:moveTo>
                  <a:lnTo>
                    <a:pt x="111" y="90"/>
                  </a:lnTo>
                  <a:lnTo>
                    <a:pt x="111" y="68"/>
                  </a:lnTo>
                  <a:lnTo>
                    <a:pt x="133" y="68"/>
                  </a:lnTo>
                  <a:lnTo>
                    <a:pt x="133" y="90"/>
                  </a:lnTo>
                  <a:close/>
                  <a:moveTo>
                    <a:pt x="133" y="49"/>
                  </a:moveTo>
                  <a:lnTo>
                    <a:pt x="111" y="49"/>
                  </a:lnTo>
                  <a:lnTo>
                    <a:pt x="111" y="28"/>
                  </a:lnTo>
                  <a:lnTo>
                    <a:pt x="133" y="28"/>
                  </a:lnTo>
                  <a:lnTo>
                    <a:pt x="133" y="49"/>
                  </a:lnTo>
                  <a:close/>
                  <a:moveTo>
                    <a:pt x="170" y="90"/>
                  </a:moveTo>
                  <a:lnTo>
                    <a:pt x="152" y="90"/>
                  </a:lnTo>
                  <a:lnTo>
                    <a:pt x="152" y="68"/>
                  </a:lnTo>
                  <a:lnTo>
                    <a:pt x="170" y="68"/>
                  </a:lnTo>
                  <a:lnTo>
                    <a:pt x="170" y="90"/>
                  </a:lnTo>
                  <a:close/>
                  <a:moveTo>
                    <a:pt x="170" y="49"/>
                  </a:moveTo>
                  <a:lnTo>
                    <a:pt x="152" y="49"/>
                  </a:lnTo>
                  <a:lnTo>
                    <a:pt x="152" y="28"/>
                  </a:lnTo>
                  <a:lnTo>
                    <a:pt x="170" y="28"/>
                  </a:lnTo>
                  <a:lnTo>
                    <a:pt x="170" y="49"/>
                  </a:lnTo>
                  <a:close/>
                  <a:moveTo>
                    <a:pt x="211" y="90"/>
                  </a:moveTo>
                  <a:lnTo>
                    <a:pt x="189" y="90"/>
                  </a:lnTo>
                  <a:lnTo>
                    <a:pt x="189" y="68"/>
                  </a:lnTo>
                  <a:lnTo>
                    <a:pt x="211" y="68"/>
                  </a:lnTo>
                  <a:lnTo>
                    <a:pt x="211" y="90"/>
                  </a:lnTo>
                  <a:close/>
                  <a:moveTo>
                    <a:pt x="211" y="49"/>
                  </a:moveTo>
                  <a:lnTo>
                    <a:pt x="189" y="49"/>
                  </a:lnTo>
                  <a:lnTo>
                    <a:pt x="189" y="28"/>
                  </a:lnTo>
                  <a:lnTo>
                    <a:pt x="211" y="28"/>
                  </a:lnTo>
                  <a:lnTo>
                    <a:pt x="211" y="49"/>
                  </a:lnTo>
                  <a:close/>
                  <a:moveTo>
                    <a:pt x="251" y="90"/>
                  </a:moveTo>
                  <a:lnTo>
                    <a:pt x="229" y="90"/>
                  </a:lnTo>
                  <a:lnTo>
                    <a:pt x="229" y="68"/>
                  </a:lnTo>
                  <a:lnTo>
                    <a:pt x="251" y="68"/>
                  </a:lnTo>
                  <a:lnTo>
                    <a:pt x="251" y="90"/>
                  </a:lnTo>
                  <a:close/>
                  <a:moveTo>
                    <a:pt x="251" y="49"/>
                  </a:moveTo>
                  <a:lnTo>
                    <a:pt x="229" y="49"/>
                  </a:lnTo>
                  <a:lnTo>
                    <a:pt x="229" y="28"/>
                  </a:lnTo>
                  <a:lnTo>
                    <a:pt x="251" y="28"/>
                  </a:lnTo>
                  <a:lnTo>
                    <a:pt x="251" y="49"/>
                  </a:lnTo>
                  <a:close/>
                  <a:moveTo>
                    <a:pt x="288" y="90"/>
                  </a:moveTo>
                  <a:lnTo>
                    <a:pt x="267" y="90"/>
                  </a:lnTo>
                  <a:lnTo>
                    <a:pt x="267" y="68"/>
                  </a:lnTo>
                  <a:lnTo>
                    <a:pt x="288" y="68"/>
                  </a:lnTo>
                  <a:lnTo>
                    <a:pt x="288" y="90"/>
                  </a:lnTo>
                  <a:close/>
                  <a:moveTo>
                    <a:pt x="288" y="49"/>
                  </a:moveTo>
                  <a:lnTo>
                    <a:pt x="267" y="49"/>
                  </a:lnTo>
                  <a:lnTo>
                    <a:pt x="267" y="28"/>
                  </a:lnTo>
                  <a:lnTo>
                    <a:pt x="288" y="28"/>
                  </a:lnTo>
                  <a:lnTo>
                    <a:pt x="288" y="49"/>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37" name="Freeform 143"/>
            <p:cNvSpPr/>
            <p:nvPr/>
          </p:nvSpPr>
          <p:spPr bwMode="auto">
            <a:xfrm>
              <a:off x="47" y="2099"/>
              <a:ext cx="250" cy="118"/>
            </a:xfrm>
            <a:custGeom>
              <a:avLst/>
              <a:gdLst>
                <a:gd name="T0" fmla="*/ 206 w 250"/>
                <a:gd name="T1" fmla="*/ 59 h 118"/>
                <a:gd name="T2" fmla="*/ 196 w 250"/>
                <a:gd name="T3" fmla="*/ 75 h 118"/>
                <a:gd name="T4" fmla="*/ 182 w 250"/>
                <a:gd name="T5" fmla="*/ 0 h 118"/>
                <a:gd name="T6" fmla="*/ 156 w 250"/>
                <a:gd name="T7" fmla="*/ 59 h 118"/>
                <a:gd name="T8" fmla="*/ 95 w 250"/>
                <a:gd name="T9" fmla="*/ 59 h 118"/>
                <a:gd name="T10" fmla="*/ 83 w 250"/>
                <a:gd name="T11" fmla="*/ 75 h 118"/>
                <a:gd name="T12" fmla="*/ 69 w 250"/>
                <a:gd name="T13" fmla="*/ 0 h 118"/>
                <a:gd name="T14" fmla="*/ 43 w 250"/>
                <a:gd name="T15" fmla="*/ 59 h 118"/>
                <a:gd name="T16" fmla="*/ 0 w 250"/>
                <a:gd name="T17" fmla="*/ 59 h 118"/>
                <a:gd name="T18" fmla="*/ 0 w 250"/>
                <a:gd name="T19" fmla="*/ 73 h 118"/>
                <a:gd name="T20" fmla="*/ 52 w 250"/>
                <a:gd name="T21" fmla="*/ 73 h 118"/>
                <a:gd name="T22" fmla="*/ 64 w 250"/>
                <a:gd name="T23" fmla="*/ 47 h 118"/>
                <a:gd name="T24" fmla="*/ 78 w 250"/>
                <a:gd name="T25" fmla="*/ 118 h 118"/>
                <a:gd name="T26" fmla="*/ 102 w 250"/>
                <a:gd name="T27" fmla="*/ 73 h 118"/>
                <a:gd name="T28" fmla="*/ 165 w 250"/>
                <a:gd name="T29" fmla="*/ 73 h 118"/>
                <a:gd name="T30" fmla="*/ 175 w 250"/>
                <a:gd name="T31" fmla="*/ 47 h 118"/>
                <a:gd name="T32" fmla="*/ 189 w 250"/>
                <a:gd name="T33" fmla="*/ 118 h 118"/>
                <a:gd name="T34" fmla="*/ 215 w 250"/>
                <a:gd name="T35" fmla="*/ 73 h 118"/>
                <a:gd name="T36" fmla="*/ 250 w 250"/>
                <a:gd name="T37" fmla="*/ 73 h 118"/>
                <a:gd name="T38" fmla="*/ 250 w 250"/>
                <a:gd name="T39" fmla="*/ 59 h 118"/>
                <a:gd name="T40" fmla="*/ 206 w 250"/>
                <a:gd name="T41" fmla="*/ 5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0" h="118">
                  <a:moveTo>
                    <a:pt x="206" y="59"/>
                  </a:moveTo>
                  <a:lnTo>
                    <a:pt x="196" y="75"/>
                  </a:lnTo>
                  <a:lnTo>
                    <a:pt x="182" y="0"/>
                  </a:lnTo>
                  <a:lnTo>
                    <a:pt x="156" y="59"/>
                  </a:lnTo>
                  <a:lnTo>
                    <a:pt x="95" y="59"/>
                  </a:lnTo>
                  <a:lnTo>
                    <a:pt x="83" y="75"/>
                  </a:lnTo>
                  <a:lnTo>
                    <a:pt x="69" y="0"/>
                  </a:lnTo>
                  <a:lnTo>
                    <a:pt x="43" y="59"/>
                  </a:lnTo>
                  <a:lnTo>
                    <a:pt x="0" y="59"/>
                  </a:lnTo>
                  <a:lnTo>
                    <a:pt x="0" y="73"/>
                  </a:lnTo>
                  <a:lnTo>
                    <a:pt x="52" y="73"/>
                  </a:lnTo>
                  <a:lnTo>
                    <a:pt x="64" y="47"/>
                  </a:lnTo>
                  <a:lnTo>
                    <a:pt x="78" y="118"/>
                  </a:lnTo>
                  <a:lnTo>
                    <a:pt x="102" y="73"/>
                  </a:lnTo>
                  <a:lnTo>
                    <a:pt x="165" y="73"/>
                  </a:lnTo>
                  <a:lnTo>
                    <a:pt x="175" y="47"/>
                  </a:lnTo>
                  <a:lnTo>
                    <a:pt x="189" y="118"/>
                  </a:lnTo>
                  <a:lnTo>
                    <a:pt x="215" y="73"/>
                  </a:lnTo>
                  <a:lnTo>
                    <a:pt x="250" y="73"/>
                  </a:lnTo>
                  <a:lnTo>
                    <a:pt x="250" y="59"/>
                  </a:lnTo>
                  <a:lnTo>
                    <a:pt x="206" y="59"/>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38" name="Freeform 144"/>
            <p:cNvSpPr>
              <a:spLocks noEditPoints="1"/>
            </p:cNvSpPr>
            <p:nvPr/>
          </p:nvSpPr>
          <p:spPr bwMode="auto">
            <a:xfrm>
              <a:off x="-264" y="1985"/>
              <a:ext cx="590" cy="501"/>
            </a:xfrm>
            <a:custGeom>
              <a:avLst/>
              <a:gdLst>
                <a:gd name="T0" fmla="*/ 222 w 250"/>
                <a:gd name="T1" fmla="*/ 170 h 212"/>
                <a:gd name="T2" fmla="*/ 222 w 250"/>
                <a:gd name="T3" fmla="*/ 165 h 212"/>
                <a:gd name="T4" fmla="*/ 222 w 250"/>
                <a:gd name="T5" fmla="*/ 156 h 212"/>
                <a:gd name="T6" fmla="*/ 222 w 250"/>
                <a:gd name="T7" fmla="*/ 150 h 212"/>
                <a:gd name="T8" fmla="*/ 222 w 250"/>
                <a:gd name="T9" fmla="*/ 142 h 212"/>
                <a:gd name="T10" fmla="*/ 222 w 250"/>
                <a:gd name="T11" fmla="*/ 136 h 212"/>
                <a:gd name="T12" fmla="*/ 222 w 250"/>
                <a:gd name="T13" fmla="*/ 124 h 212"/>
                <a:gd name="T14" fmla="*/ 222 w 250"/>
                <a:gd name="T15" fmla="*/ 111 h 212"/>
                <a:gd name="T16" fmla="*/ 250 w 250"/>
                <a:gd name="T17" fmla="*/ 111 h 212"/>
                <a:gd name="T18" fmla="*/ 250 w 250"/>
                <a:gd name="T19" fmla="*/ 36 h 212"/>
                <a:gd name="T20" fmla="*/ 222 w 250"/>
                <a:gd name="T21" fmla="*/ 36 h 212"/>
                <a:gd name="T22" fmla="*/ 222 w 250"/>
                <a:gd name="T23" fmla="*/ 0 h 212"/>
                <a:gd name="T24" fmla="*/ 0 w 250"/>
                <a:gd name="T25" fmla="*/ 0 h 212"/>
                <a:gd name="T26" fmla="*/ 0 w 250"/>
                <a:gd name="T27" fmla="*/ 212 h 212"/>
                <a:gd name="T28" fmla="*/ 222 w 250"/>
                <a:gd name="T29" fmla="*/ 212 h 212"/>
                <a:gd name="T30" fmla="*/ 222 w 250"/>
                <a:gd name="T31" fmla="*/ 188 h 212"/>
                <a:gd name="T32" fmla="*/ 222 w 250"/>
                <a:gd name="T33" fmla="*/ 183 h 212"/>
                <a:gd name="T34" fmla="*/ 222 w 250"/>
                <a:gd name="T35" fmla="*/ 178 h 212"/>
                <a:gd name="T36" fmla="*/ 222 w 250"/>
                <a:gd name="T37" fmla="*/ 170 h 212"/>
                <a:gd name="T38" fmla="*/ 209 w 250"/>
                <a:gd name="T39" fmla="*/ 131 h 212"/>
                <a:gd name="T40" fmla="*/ 208 w 250"/>
                <a:gd name="T41" fmla="*/ 131 h 212"/>
                <a:gd name="T42" fmla="*/ 208 w 250"/>
                <a:gd name="T43" fmla="*/ 136 h 212"/>
                <a:gd name="T44" fmla="*/ 209 w 250"/>
                <a:gd name="T45" fmla="*/ 136 h 212"/>
                <a:gd name="T46" fmla="*/ 209 w 250"/>
                <a:gd name="T47" fmla="*/ 145 h 212"/>
                <a:gd name="T48" fmla="*/ 208 w 250"/>
                <a:gd name="T49" fmla="*/ 145 h 212"/>
                <a:gd name="T50" fmla="*/ 208 w 250"/>
                <a:gd name="T51" fmla="*/ 151 h 212"/>
                <a:gd name="T52" fmla="*/ 209 w 250"/>
                <a:gd name="T53" fmla="*/ 151 h 212"/>
                <a:gd name="T54" fmla="*/ 209 w 250"/>
                <a:gd name="T55" fmla="*/ 161 h 212"/>
                <a:gd name="T56" fmla="*/ 208 w 250"/>
                <a:gd name="T57" fmla="*/ 161 h 212"/>
                <a:gd name="T58" fmla="*/ 208 w 250"/>
                <a:gd name="T59" fmla="*/ 166 h 212"/>
                <a:gd name="T60" fmla="*/ 209 w 250"/>
                <a:gd name="T61" fmla="*/ 166 h 212"/>
                <a:gd name="T62" fmla="*/ 209 w 250"/>
                <a:gd name="T63" fmla="*/ 174 h 212"/>
                <a:gd name="T64" fmla="*/ 208 w 250"/>
                <a:gd name="T65" fmla="*/ 174 h 212"/>
                <a:gd name="T66" fmla="*/ 208 w 250"/>
                <a:gd name="T67" fmla="*/ 179 h 212"/>
                <a:gd name="T68" fmla="*/ 209 w 250"/>
                <a:gd name="T69" fmla="*/ 179 h 212"/>
                <a:gd name="T70" fmla="*/ 209 w 250"/>
                <a:gd name="T71" fmla="*/ 199 h 212"/>
                <a:gd name="T72" fmla="*/ 13 w 250"/>
                <a:gd name="T73" fmla="*/ 199 h 212"/>
                <a:gd name="T74" fmla="*/ 13 w 250"/>
                <a:gd name="T75" fmla="*/ 13 h 212"/>
                <a:gd name="T76" fmla="*/ 209 w 250"/>
                <a:gd name="T77" fmla="*/ 13 h 212"/>
                <a:gd name="T78" fmla="*/ 209 w 250"/>
                <a:gd name="T79" fmla="*/ 36 h 212"/>
                <a:gd name="T80" fmla="*/ 178 w 250"/>
                <a:gd name="T81" fmla="*/ 36 h 212"/>
                <a:gd name="T82" fmla="*/ 178 w 250"/>
                <a:gd name="T83" fmla="*/ 31 h 212"/>
                <a:gd name="T84" fmla="*/ 44 w 250"/>
                <a:gd name="T85" fmla="*/ 31 h 212"/>
                <a:gd name="T86" fmla="*/ 44 w 250"/>
                <a:gd name="T87" fmla="*/ 116 h 212"/>
                <a:gd name="T88" fmla="*/ 178 w 250"/>
                <a:gd name="T89" fmla="*/ 116 h 212"/>
                <a:gd name="T90" fmla="*/ 178 w 250"/>
                <a:gd name="T91" fmla="*/ 111 h 212"/>
                <a:gd name="T92" fmla="*/ 209 w 250"/>
                <a:gd name="T93" fmla="*/ 111 h 212"/>
                <a:gd name="T94" fmla="*/ 209 w 250"/>
                <a:gd name="T95" fmla="*/ 131 h 212"/>
                <a:gd name="T96" fmla="*/ 125 w 250"/>
                <a:gd name="T97" fmla="*/ 105 h 212"/>
                <a:gd name="T98" fmla="*/ 125 w 250"/>
                <a:gd name="T99" fmla="*/ 42 h 212"/>
                <a:gd name="T100" fmla="*/ 244 w 250"/>
                <a:gd name="T101" fmla="*/ 42 h 212"/>
                <a:gd name="T102" fmla="*/ 244 w 250"/>
                <a:gd name="T103" fmla="*/ 105 h 212"/>
                <a:gd name="T104" fmla="*/ 125 w 250"/>
                <a:gd name="T10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0" h="212">
                  <a:moveTo>
                    <a:pt x="222" y="170"/>
                  </a:moveTo>
                  <a:cubicBezTo>
                    <a:pt x="222" y="165"/>
                    <a:pt x="222" y="165"/>
                    <a:pt x="222" y="165"/>
                  </a:cubicBezTo>
                  <a:cubicBezTo>
                    <a:pt x="222" y="156"/>
                    <a:pt x="222" y="156"/>
                    <a:pt x="222" y="156"/>
                  </a:cubicBezTo>
                  <a:cubicBezTo>
                    <a:pt x="222" y="150"/>
                    <a:pt x="222" y="150"/>
                    <a:pt x="222" y="150"/>
                  </a:cubicBezTo>
                  <a:cubicBezTo>
                    <a:pt x="222" y="142"/>
                    <a:pt x="222" y="142"/>
                    <a:pt x="222" y="142"/>
                  </a:cubicBezTo>
                  <a:cubicBezTo>
                    <a:pt x="222" y="136"/>
                    <a:pt x="222" y="136"/>
                    <a:pt x="222" y="136"/>
                  </a:cubicBezTo>
                  <a:cubicBezTo>
                    <a:pt x="222" y="124"/>
                    <a:pt x="222" y="124"/>
                    <a:pt x="222" y="124"/>
                  </a:cubicBezTo>
                  <a:cubicBezTo>
                    <a:pt x="222" y="111"/>
                    <a:pt x="222" y="111"/>
                    <a:pt x="222" y="111"/>
                  </a:cubicBezTo>
                  <a:cubicBezTo>
                    <a:pt x="250" y="111"/>
                    <a:pt x="250" y="111"/>
                    <a:pt x="250" y="111"/>
                  </a:cubicBezTo>
                  <a:cubicBezTo>
                    <a:pt x="250" y="36"/>
                    <a:pt x="250" y="36"/>
                    <a:pt x="250" y="36"/>
                  </a:cubicBezTo>
                  <a:cubicBezTo>
                    <a:pt x="222" y="36"/>
                    <a:pt x="222" y="36"/>
                    <a:pt x="222" y="36"/>
                  </a:cubicBezTo>
                  <a:cubicBezTo>
                    <a:pt x="222" y="0"/>
                    <a:pt x="222" y="0"/>
                    <a:pt x="222" y="0"/>
                  </a:cubicBezTo>
                  <a:cubicBezTo>
                    <a:pt x="0" y="0"/>
                    <a:pt x="0" y="0"/>
                    <a:pt x="0" y="0"/>
                  </a:cubicBezTo>
                  <a:cubicBezTo>
                    <a:pt x="0" y="212"/>
                    <a:pt x="0" y="212"/>
                    <a:pt x="0" y="212"/>
                  </a:cubicBezTo>
                  <a:cubicBezTo>
                    <a:pt x="222" y="212"/>
                    <a:pt x="222" y="212"/>
                    <a:pt x="222" y="212"/>
                  </a:cubicBezTo>
                  <a:cubicBezTo>
                    <a:pt x="222" y="188"/>
                    <a:pt x="222" y="188"/>
                    <a:pt x="222" y="188"/>
                  </a:cubicBezTo>
                  <a:cubicBezTo>
                    <a:pt x="222" y="183"/>
                    <a:pt x="222" y="183"/>
                    <a:pt x="222" y="183"/>
                  </a:cubicBezTo>
                  <a:cubicBezTo>
                    <a:pt x="222" y="178"/>
                    <a:pt x="222" y="178"/>
                    <a:pt x="222" y="178"/>
                  </a:cubicBezTo>
                  <a:lnTo>
                    <a:pt x="222" y="170"/>
                  </a:lnTo>
                  <a:close/>
                  <a:moveTo>
                    <a:pt x="209" y="131"/>
                  </a:moveTo>
                  <a:cubicBezTo>
                    <a:pt x="209" y="131"/>
                    <a:pt x="209" y="131"/>
                    <a:pt x="208" y="131"/>
                  </a:cubicBezTo>
                  <a:cubicBezTo>
                    <a:pt x="208" y="136"/>
                    <a:pt x="208" y="136"/>
                    <a:pt x="208" y="136"/>
                  </a:cubicBezTo>
                  <a:cubicBezTo>
                    <a:pt x="209" y="136"/>
                    <a:pt x="209" y="136"/>
                    <a:pt x="209" y="136"/>
                  </a:cubicBezTo>
                  <a:cubicBezTo>
                    <a:pt x="209" y="145"/>
                    <a:pt x="209" y="145"/>
                    <a:pt x="209" y="145"/>
                  </a:cubicBezTo>
                  <a:cubicBezTo>
                    <a:pt x="209" y="145"/>
                    <a:pt x="209" y="145"/>
                    <a:pt x="208" y="145"/>
                  </a:cubicBezTo>
                  <a:cubicBezTo>
                    <a:pt x="208" y="151"/>
                    <a:pt x="208" y="151"/>
                    <a:pt x="208" y="151"/>
                  </a:cubicBezTo>
                  <a:cubicBezTo>
                    <a:pt x="209" y="151"/>
                    <a:pt x="209" y="151"/>
                    <a:pt x="209" y="151"/>
                  </a:cubicBezTo>
                  <a:cubicBezTo>
                    <a:pt x="209" y="161"/>
                    <a:pt x="209" y="161"/>
                    <a:pt x="209" y="161"/>
                  </a:cubicBezTo>
                  <a:cubicBezTo>
                    <a:pt x="209" y="161"/>
                    <a:pt x="209" y="161"/>
                    <a:pt x="208" y="161"/>
                  </a:cubicBezTo>
                  <a:cubicBezTo>
                    <a:pt x="208" y="166"/>
                    <a:pt x="208" y="166"/>
                    <a:pt x="208" y="166"/>
                  </a:cubicBezTo>
                  <a:cubicBezTo>
                    <a:pt x="209" y="166"/>
                    <a:pt x="209" y="166"/>
                    <a:pt x="209" y="166"/>
                  </a:cubicBezTo>
                  <a:cubicBezTo>
                    <a:pt x="209" y="174"/>
                    <a:pt x="209" y="174"/>
                    <a:pt x="209" y="174"/>
                  </a:cubicBezTo>
                  <a:cubicBezTo>
                    <a:pt x="209" y="174"/>
                    <a:pt x="209" y="174"/>
                    <a:pt x="208" y="174"/>
                  </a:cubicBezTo>
                  <a:cubicBezTo>
                    <a:pt x="208" y="179"/>
                    <a:pt x="208" y="179"/>
                    <a:pt x="208" y="179"/>
                  </a:cubicBezTo>
                  <a:cubicBezTo>
                    <a:pt x="209" y="179"/>
                    <a:pt x="209" y="179"/>
                    <a:pt x="209" y="179"/>
                  </a:cubicBezTo>
                  <a:cubicBezTo>
                    <a:pt x="209" y="199"/>
                    <a:pt x="209" y="199"/>
                    <a:pt x="209" y="199"/>
                  </a:cubicBezTo>
                  <a:cubicBezTo>
                    <a:pt x="13" y="199"/>
                    <a:pt x="13" y="199"/>
                    <a:pt x="13" y="199"/>
                  </a:cubicBezTo>
                  <a:cubicBezTo>
                    <a:pt x="13" y="13"/>
                    <a:pt x="13" y="13"/>
                    <a:pt x="13" y="13"/>
                  </a:cubicBezTo>
                  <a:cubicBezTo>
                    <a:pt x="209" y="13"/>
                    <a:pt x="209" y="13"/>
                    <a:pt x="209" y="13"/>
                  </a:cubicBezTo>
                  <a:cubicBezTo>
                    <a:pt x="209" y="36"/>
                    <a:pt x="209" y="36"/>
                    <a:pt x="209" y="36"/>
                  </a:cubicBezTo>
                  <a:cubicBezTo>
                    <a:pt x="178" y="36"/>
                    <a:pt x="178" y="36"/>
                    <a:pt x="178" y="36"/>
                  </a:cubicBezTo>
                  <a:cubicBezTo>
                    <a:pt x="178" y="31"/>
                    <a:pt x="178" y="31"/>
                    <a:pt x="178" y="31"/>
                  </a:cubicBezTo>
                  <a:cubicBezTo>
                    <a:pt x="44" y="31"/>
                    <a:pt x="44" y="31"/>
                    <a:pt x="44" y="31"/>
                  </a:cubicBezTo>
                  <a:cubicBezTo>
                    <a:pt x="44" y="116"/>
                    <a:pt x="44" y="116"/>
                    <a:pt x="44" y="116"/>
                  </a:cubicBezTo>
                  <a:cubicBezTo>
                    <a:pt x="178" y="116"/>
                    <a:pt x="178" y="116"/>
                    <a:pt x="178" y="116"/>
                  </a:cubicBezTo>
                  <a:cubicBezTo>
                    <a:pt x="178" y="111"/>
                    <a:pt x="178" y="111"/>
                    <a:pt x="178" y="111"/>
                  </a:cubicBezTo>
                  <a:cubicBezTo>
                    <a:pt x="209" y="111"/>
                    <a:pt x="209" y="111"/>
                    <a:pt x="209" y="111"/>
                  </a:cubicBezTo>
                  <a:lnTo>
                    <a:pt x="209" y="131"/>
                  </a:lnTo>
                  <a:close/>
                  <a:moveTo>
                    <a:pt x="125" y="105"/>
                  </a:moveTo>
                  <a:cubicBezTo>
                    <a:pt x="125" y="42"/>
                    <a:pt x="125" y="42"/>
                    <a:pt x="125" y="42"/>
                  </a:cubicBezTo>
                  <a:cubicBezTo>
                    <a:pt x="244" y="42"/>
                    <a:pt x="244" y="42"/>
                    <a:pt x="244" y="42"/>
                  </a:cubicBezTo>
                  <a:cubicBezTo>
                    <a:pt x="244" y="105"/>
                    <a:pt x="244" y="105"/>
                    <a:pt x="244" y="105"/>
                  </a:cubicBezTo>
                  <a:lnTo>
                    <a:pt x="125" y="105"/>
                  </a:lnTo>
                  <a:close/>
                </a:path>
              </a:pathLst>
            </a:custGeom>
            <a:grpFill/>
            <a:ln w="9525">
              <a:noFill/>
              <a:round/>
            </a:ln>
          </p:spPr>
          <p:txBody>
            <a:bodyPr vert="horz" wrap="square" lIns="91440" tIns="45720" rIns="91440" bIns="45720" numCol="1" anchor="t" anchorCtr="0" compatLnSpc="1"/>
            <a:lstStyle/>
            <a:p>
              <a:endParaRPr lang="zh-CN" altLang="en-US"/>
            </a:p>
          </p:txBody>
        </p:sp>
      </p:grpSp>
      <p:sp>
        <p:nvSpPr>
          <p:cNvPr id="39" name="Freeform 149"/>
          <p:cNvSpPr>
            <a:spLocks noEditPoints="1"/>
          </p:cNvSpPr>
          <p:nvPr/>
        </p:nvSpPr>
        <p:spPr bwMode="auto">
          <a:xfrm>
            <a:off x="5153366" y="2488931"/>
            <a:ext cx="722573" cy="645843"/>
          </a:xfrm>
          <a:custGeom>
            <a:avLst/>
            <a:gdLst>
              <a:gd name="T0" fmla="*/ 121 w 151"/>
              <a:gd name="T1" fmla="*/ 116 h 149"/>
              <a:gd name="T2" fmla="*/ 72 w 151"/>
              <a:gd name="T3" fmla="*/ 142 h 149"/>
              <a:gd name="T4" fmla="*/ 71 w 151"/>
              <a:gd name="T5" fmla="*/ 141 h 149"/>
              <a:gd name="T6" fmla="*/ 70 w 151"/>
              <a:gd name="T7" fmla="*/ 141 h 149"/>
              <a:gd name="T8" fmla="*/ 53 w 151"/>
              <a:gd name="T9" fmla="*/ 124 h 149"/>
              <a:gd name="T10" fmla="*/ 101 w 151"/>
              <a:gd name="T11" fmla="*/ 95 h 149"/>
              <a:gd name="T12" fmla="*/ 127 w 151"/>
              <a:gd name="T13" fmla="*/ 48 h 149"/>
              <a:gd name="T14" fmla="*/ 145 w 151"/>
              <a:gd name="T15" fmla="*/ 66 h 149"/>
              <a:gd name="T16" fmla="*/ 145 w 151"/>
              <a:gd name="T17" fmla="*/ 66 h 149"/>
              <a:gd name="T18" fmla="*/ 121 w 151"/>
              <a:gd name="T19" fmla="*/ 116 h 149"/>
              <a:gd name="T20" fmla="*/ 90 w 151"/>
              <a:gd name="T21" fmla="*/ 99 h 149"/>
              <a:gd name="T22" fmla="*/ 93 w 151"/>
              <a:gd name="T23" fmla="*/ 49 h 149"/>
              <a:gd name="T24" fmla="*/ 120 w 151"/>
              <a:gd name="T25" fmla="*/ 41 h 149"/>
              <a:gd name="T26" fmla="*/ 97 w 151"/>
              <a:gd name="T27" fmla="*/ 92 h 149"/>
              <a:gd name="T28" fmla="*/ 90 w 151"/>
              <a:gd name="T29" fmla="*/ 99 h 149"/>
              <a:gd name="T30" fmla="*/ 48 w 151"/>
              <a:gd name="T31" fmla="*/ 118 h 149"/>
              <a:gd name="T32" fmla="*/ 71 w 151"/>
              <a:gd name="T33" fmla="*/ 67 h 149"/>
              <a:gd name="T34" fmla="*/ 83 w 151"/>
              <a:gd name="T35" fmla="*/ 56 h 149"/>
              <a:gd name="T36" fmla="*/ 79 w 151"/>
              <a:gd name="T37" fmla="*/ 108 h 149"/>
              <a:gd name="T38" fmla="*/ 48 w 151"/>
              <a:gd name="T39" fmla="*/ 118 h 149"/>
              <a:gd name="T40" fmla="*/ 42 w 151"/>
              <a:gd name="T41" fmla="*/ 32 h 149"/>
              <a:gd name="T42" fmla="*/ 35 w 151"/>
              <a:gd name="T43" fmla="*/ 30 h 149"/>
              <a:gd name="T44" fmla="*/ 69 w 151"/>
              <a:gd name="T45" fmla="*/ 20 h 149"/>
              <a:gd name="T46" fmla="*/ 80 w 151"/>
              <a:gd name="T47" fmla="*/ 36 h 149"/>
              <a:gd name="T48" fmla="*/ 42 w 151"/>
              <a:gd name="T49" fmla="*/ 32 h 149"/>
              <a:gd name="T50" fmla="*/ 13 w 151"/>
              <a:gd name="T51" fmla="*/ 6 h 149"/>
              <a:gd name="T52" fmla="*/ 52 w 151"/>
              <a:gd name="T53" fmla="*/ 10 h 149"/>
              <a:gd name="T54" fmla="*/ 62 w 151"/>
              <a:gd name="T55" fmla="*/ 15 h 149"/>
              <a:gd name="T56" fmla="*/ 27 w 151"/>
              <a:gd name="T57" fmla="*/ 24 h 149"/>
              <a:gd name="T58" fmla="*/ 13 w 151"/>
              <a:gd name="T59" fmla="*/ 6 h 149"/>
              <a:gd name="T60" fmla="*/ 40 w 151"/>
              <a:gd name="T61" fmla="*/ 36 h 149"/>
              <a:gd name="T62" fmla="*/ 77 w 151"/>
              <a:gd name="T63" fmla="*/ 42 h 149"/>
              <a:gd name="T64" fmla="*/ 69 w 151"/>
              <a:gd name="T65" fmla="*/ 58 h 149"/>
              <a:gd name="T66" fmla="*/ 69 w 151"/>
              <a:gd name="T67" fmla="*/ 58 h 149"/>
              <a:gd name="T68" fmla="*/ 31 w 151"/>
              <a:gd name="T69" fmla="*/ 53 h 149"/>
              <a:gd name="T70" fmla="*/ 3 w 151"/>
              <a:gd name="T71" fmla="*/ 27 h 149"/>
              <a:gd name="T72" fmla="*/ 4 w 151"/>
              <a:gd name="T73" fmla="*/ 26 h 149"/>
              <a:gd name="T74" fmla="*/ 3 w 151"/>
              <a:gd name="T75" fmla="*/ 26 h 149"/>
              <a:gd name="T76" fmla="*/ 10 w 151"/>
              <a:gd name="T77" fmla="*/ 11 h 149"/>
              <a:gd name="T78" fmla="*/ 40 w 151"/>
              <a:gd name="T79" fmla="*/ 36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1" h="149">
                <a:moveTo>
                  <a:pt x="121" y="116"/>
                </a:moveTo>
                <a:cubicBezTo>
                  <a:pt x="101" y="137"/>
                  <a:pt x="79" y="149"/>
                  <a:pt x="72" y="142"/>
                </a:cubicBezTo>
                <a:cubicBezTo>
                  <a:pt x="72" y="142"/>
                  <a:pt x="71" y="141"/>
                  <a:pt x="71" y="141"/>
                </a:cubicBezTo>
                <a:cubicBezTo>
                  <a:pt x="70" y="141"/>
                  <a:pt x="70" y="141"/>
                  <a:pt x="70" y="141"/>
                </a:cubicBezTo>
                <a:cubicBezTo>
                  <a:pt x="53" y="124"/>
                  <a:pt x="53" y="124"/>
                  <a:pt x="53" y="124"/>
                </a:cubicBezTo>
                <a:cubicBezTo>
                  <a:pt x="63" y="127"/>
                  <a:pt x="83" y="115"/>
                  <a:pt x="101" y="95"/>
                </a:cubicBezTo>
                <a:cubicBezTo>
                  <a:pt x="119" y="77"/>
                  <a:pt x="128" y="58"/>
                  <a:pt x="127" y="48"/>
                </a:cubicBezTo>
                <a:cubicBezTo>
                  <a:pt x="145" y="66"/>
                  <a:pt x="145" y="66"/>
                  <a:pt x="145" y="66"/>
                </a:cubicBezTo>
                <a:cubicBezTo>
                  <a:pt x="145" y="66"/>
                  <a:pt x="145" y="66"/>
                  <a:pt x="145" y="66"/>
                </a:cubicBezTo>
                <a:cubicBezTo>
                  <a:pt x="151" y="73"/>
                  <a:pt x="141" y="95"/>
                  <a:pt x="121" y="116"/>
                </a:cubicBezTo>
                <a:close/>
                <a:moveTo>
                  <a:pt x="90" y="99"/>
                </a:moveTo>
                <a:cubicBezTo>
                  <a:pt x="93" y="49"/>
                  <a:pt x="93" y="49"/>
                  <a:pt x="93" y="49"/>
                </a:cubicBezTo>
                <a:cubicBezTo>
                  <a:pt x="105" y="40"/>
                  <a:pt x="116" y="37"/>
                  <a:pt x="120" y="41"/>
                </a:cubicBezTo>
                <a:cubicBezTo>
                  <a:pt x="128" y="48"/>
                  <a:pt x="117" y="70"/>
                  <a:pt x="97" y="92"/>
                </a:cubicBezTo>
                <a:cubicBezTo>
                  <a:pt x="95" y="95"/>
                  <a:pt x="92" y="97"/>
                  <a:pt x="90" y="99"/>
                </a:cubicBezTo>
                <a:close/>
                <a:moveTo>
                  <a:pt x="48" y="118"/>
                </a:moveTo>
                <a:cubicBezTo>
                  <a:pt x="41" y="112"/>
                  <a:pt x="51" y="89"/>
                  <a:pt x="71" y="67"/>
                </a:cubicBezTo>
                <a:cubicBezTo>
                  <a:pt x="75" y="64"/>
                  <a:pt x="79" y="60"/>
                  <a:pt x="83" y="56"/>
                </a:cubicBezTo>
                <a:cubicBezTo>
                  <a:pt x="79" y="108"/>
                  <a:pt x="79" y="108"/>
                  <a:pt x="79" y="108"/>
                </a:cubicBezTo>
                <a:cubicBezTo>
                  <a:pt x="65" y="118"/>
                  <a:pt x="53" y="123"/>
                  <a:pt x="48" y="118"/>
                </a:cubicBezTo>
                <a:close/>
                <a:moveTo>
                  <a:pt x="42" y="32"/>
                </a:moveTo>
                <a:cubicBezTo>
                  <a:pt x="39" y="32"/>
                  <a:pt x="37" y="30"/>
                  <a:pt x="35" y="30"/>
                </a:cubicBezTo>
                <a:cubicBezTo>
                  <a:pt x="69" y="20"/>
                  <a:pt x="69" y="20"/>
                  <a:pt x="69" y="20"/>
                </a:cubicBezTo>
                <a:cubicBezTo>
                  <a:pt x="77" y="27"/>
                  <a:pt x="82" y="32"/>
                  <a:pt x="80" y="36"/>
                </a:cubicBezTo>
                <a:cubicBezTo>
                  <a:pt x="77" y="43"/>
                  <a:pt x="60" y="41"/>
                  <a:pt x="42" y="32"/>
                </a:cubicBezTo>
                <a:close/>
                <a:moveTo>
                  <a:pt x="13" y="6"/>
                </a:moveTo>
                <a:cubicBezTo>
                  <a:pt x="16" y="0"/>
                  <a:pt x="33" y="1"/>
                  <a:pt x="52" y="10"/>
                </a:cubicBezTo>
                <a:cubicBezTo>
                  <a:pt x="56" y="12"/>
                  <a:pt x="59" y="13"/>
                  <a:pt x="62" y="15"/>
                </a:cubicBezTo>
                <a:cubicBezTo>
                  <a:pt x="27" y="24"/>
                  <a:pt x="27" y="24"/>
                  <a:pt x="27" y="24"/>
                </a:cubicBezTo>
                <a:cubicBezTo>
                  <a:pt x="17" y="18"/>
                  <a:pt x="11" y="10"/>
                  <a:pt x="13" y="6"/>
                </a:cubicBezTo>
                <a:close/>
                <a:moveTo>
                  <a:pt x="40" y="36"/>
                </a:moveTo>
                <a:cubicBezTo>
                  <a:pt x="56" y="43"/>
                  <a:pt x="71" y="46"/>
                  <a:pt x="77" y="42"/>
                </a:cubicBezTo>
                <a:cubicBezTo>
                  <a:pt x="69" y="58"/>
                  <a:pt x="69" y="58"/>
                  <a:pt x="69" y="58"/>
                </a:cubicBezTo>
                <a:cubicBezTo>
                  <a:pt x="69" y="58"/>
                  <a:pt x="69" y="58"/>
                  <a:pt x="69" y="58"/>
                </a:cubicBezTo>
                <a:cubicBezTo>
                  <a:pt x="66" y="64"/>
                  <a:pt x="49" y="61"/>
                  <a:pt x="31" y="53"/>
                </a:cubicBezTo>
                <a:cubicBezTo>
                  <a:pt x="13" y="45"/>
                  <a:pt x="0" y="33"/>
                  <a:pt x="3" y="27"/>
                </a:cubicBezTo>
                <a:cubicBezTo>
                  <a:pt x="3" y="27"/>
                  <a:pt x="4" y="27"/>
                  <a:pt x="4" y="26"/>
                </a:cubicBezTo>
                <a:cubicBezTo>
                  <a:pt x="3" y="26"/>
                  <a:pt x="3" y="26"/>
                  <a:pt x="3" y="26"/>
                </a:cubicBezTo>
                <a:cubicBezTo>
                  <a:pt x="10" y="11"/>
                  <a:pt x="10" y="11"/>
                  <a:pt x="10" y="11"/>
                </a:cubicBezTo>
                <a:cubicBezTo>
                  <a:pt x="11" y="18"/>
                  <a:pt x="23" y="28"/>
                  <a:pt x="40" y="36"/>
                </a:cubicBezTo>
                <a:close/>
              </a:path>
            </a:pathLst>
          </a:custGeom>
          <a:solidFill>
            <a:srgbClr val="830051"/>
          </a:solidFill>
          <a:ln>
            <a:noFill/>
          </a:ln>
        </p:spPr>
        <p:txBody>
          <a:bodyPr vert="horz" wrap="square" lIns="91440" tIns="45720" rIns="91440" bIns="45720" numCol="1" anchor="t" anchorCtr="0" compatLnSpc="1"/>
          <a:lstStyle/>
          <a:p>
            <a:endParaRPr lang="zh-CN" altLang="en-US"/>
          </a:p>
        </p:txBody>
      </p:sp>
      <p:sp>
        <p:nvSpPr>
          <p:cNvPr id="40" name="Rectangle 3_1"/>
          <p:cNvSpPr/>
          <p:nvPr/>
        </p:nvSpPr>
        <p:spPr>
          <a:xfrm rot="5400000">
            <a:off x="6398935" y="842820"/>
            <a:ext cx="34748" cy="5913459"/>
          </a:xfrm>
          <a:prstGeom prst="round2SameRect">
            <a:avLst>
              <a:gd name="adj1" fmla="val 0"/>
              <a:gd name="adj2" fmla="val 0"/>
            </a:avLst>
          </a:prstGeom>
          <a:solidFill>
            <a:srgbClr val="E480A4">
              <a:alpha val="2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41" name="TextBox 52"/>
          <p:cNvSpPr txBox="1"/>
          <p:nvPr/>
        </p:nvSpPr>
        <p:spPr>
          <a:xfrm>
            <a:off x="2649101" y="4204940"/>
            <a:ext cx="1620957" cy="338554"/>
          </a:xfrm>
          <a:prstGeom prst="rect">
            <a:avLst/>
          </a:prstGeom>
          <a:noFill/>
        </p:spPr>
        <p:txBody>
          <a:bodyPr wrap="none" rtlCol="0">
            <a:spAutoFit/>
          </a:bodyPr>
          <a:lstStyle/>
          <a:p>
            <a:pPr algn="ctr"/>
            <a:r>
              <a:rPr lang="zh-CN" altLang="en-US" sz="1600" dirty="0">
                <a:solidFill>
                  <a:schemeClr val="bg1">
                    <a:lumMod val="75000"/>
                  </a:schemeClr>
                </a:solidFill>
                <a:cs typeface="+mn-ea"/>
                <a:sym typeface="+mn-lt"/>
              </a:rPr>
              <a:t>诊断与风险评估</a:t>
            </a:r>
          </a:p>
        </p:txBody>
      </p:sp>
      <p:cxnSp>
        <p:nvCxnSpPr>
          <p:cNvPr id="42" name="直接箭头连接符 41"/>
          <p:cNvCxnSpPr>
            <a:stCxn id="44" idx="4"/>
          </p:cNvCxnSpPr>
          <p:nvPr/>
        </p:nvCxnSpPr>
        <p:spPr>
          <a:xfrm>
            <a:off x="5490229" y="3519075"/>
            <a:ext cx="0" cy="554725"/>
          </a:xfrm>
          <a:prstGeom prst="straightConnector1">
            <a:avLst/>
          </a:prstGeom>
          <a:solidFill>
            <a:schemeClr val="bg1"/>
          </a:solidFill>
          <a:ln w="57150">
            <a:solidFill>
              <a:srgbClr val="D1206E">
                <a:alpha val="32157"/>
              </a:srgb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43" name="椭圆 42"/>
          <p:cNvSpPr/>
          <p:nvPr/>
        </p:nvSpPr>
        <p:spPr>
          <a:xfrm>
            <a:off x="3388382" y="3736293"/>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44" name="椭圆 43"/>
          <p:cNvSpPr/>
          <p:nvPr/>
        </p:nvSpPr>
        <p:spPr>
          <a:xfrm>
            <a:off x="4745826" y="2045008"/>
            <a:ext cx="1488806" cy="1474067"/>
          </a:xfrm>
          <a:prstGeom prst="ellipse">
            <a:avLst/>
          </a:prstGeom>
          <a:noFill/>
          <a:ln w="76200">
            <a:gradFill>
              <a:gsLst>
                <a:gs pos="0">
                  <a:srgbClr val="821B52"/>
                </a:gs>
                <a:gs pos="100000">
                  <a:srgbClr val="E480A4"/>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45" name="直接箭头连接符 44"/>
          <p:cNvCxnSpPr>
            <a:stCxn id="48" idx="4"/>
          </p:cNvCxnSpPr>
          <p:nvPr/>
        </p:nvCxnSpPr>
        <p:spPr>
          <a:xfrm>
            <a:off x="3450501" y="3403035"/>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46" name="文本框 1"/>
          <p:cNvSpPr txBox="1"/>
          <p:nvPr/>
        </p:nvSpPr>
        <p:spPr>
          <a:xfrm>
            <a:off x="6609125" y="4256246"/>
            <a:ext cx="1845268" cy="246221"/>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侵入治疗策略</a:t>
            </a:r>
          </a:p>
        </p:txBody>
      </p:sp>
      <p:sp>
        <p:nvSpPr>
          <p:cNvPr id="47" name="椭圆 46"/>
          <p:cNvSpPr/>
          <p:nvPr/>
        </p:nvSpPr>
        <p:spPr>
          <a:xfrm>
            <a:off x="7466674" y="3741432"/>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48" name="椭圆 47"/>
          <p:cNvSpPr/>
          <p:nvPr/>
        </p:nvSpPr>
        <p:spPr>
          <a:xfrm>
            <a:off x="2835292" y="2184798"/>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49" name="直接箭头连接符 48"/>
          <p:cNvCxnSpPr>
            <a:stCxn id="52" idx="4"/>
          </p:cNvCxnSpPr>
          <p:nvPr/>
        </p:nvCxnSpPr>
        <p:spPr>
          <a:xfrm>
            <a:off x="7535790" y="3399767"/>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50" name="文本框 1"/>
          <p:cNvSpPr txBox="1"/>
          <p:nvPr/>
        </p:nvSpPr>
        <p:spPr>
          <a:xfrm>
            <a:off x="4662170" y="4220210"/>
            <a:ext cx="1659890" cy="307340"/>
          </a:xfrm>
          <a:prstGeom prst="rect">
            <a:avLst/>
          </a:prstGeom>
          <a:noFill/>
        </p:spPr>
        <p:txBody>
          <a:bodyPr wrap="square" lIns="0" tIns="0" rIns="0" bIns="0" rtlCol="0">
            <a:spAutoFit/>
          </a:bodyPr>
          <a:lstStyle/>
          <a:p>
            <a:pPr algn="ctr"/>
            <a:r>
              <a:rPr lang="zh-CN" altLang="en-US" sz="2000" b="1" dirty="0">
                <a:solidFill>
                  <a:srgbClr val="821B52"/>
                </a:solidFill>
                <a:cs typeface="+mn-ea"/>
                <a:sym typeface="Arial" panose="020B0604020202020204"/>
              </a:rPr>
              <a:t>抗栓药物治疗</a:t>
            </a:r>
          </a:p>
        </p:txBody>
      </p:sp>
      <p:sp>
        <p:nvSpPr>
          <p:cNvPr id="51" name="椭圆 50"/>
          <p:cNvSpPr/>
          <p:nvPr/>
        </p:nvSpPr>
        <p:spPr>
          <a:xfrm>
            <a:off x="5425695" y="3736293"/>
            <a:ext cx="130170" cy="130171"/>
          </a:xfrm>
          <a:prstGeom prst="ellipse">
            <a:avLst/>
          </a:prstGeom>
          <a:solidFill>
            <a:schemeClr val="bg1"/>
          </a:solidFill>
          <a:ln w="57150">
            <a:solidFill>
              <a:srgbClr val="8300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52" name="椭圆 51"/>
          <p:cNvSpPr/>
          <p:nvPr/>
        </p:nvSpPr>
        <p:spPr>
          <a:xfrm>
            <a:off x="6920580" y="2181530"/>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53" name="直接箭头连接符 52"/>
          <p:cNvCxnSpPr>
            <a:stCxn id="56" idx="4"/>
          </p:cNvCxnSpPr>
          <p:nvPr/>
        </p:nvCxnSpPr>
        <p:spPr>
          <a:xfrm>
            <a:off x="9362322" y="3403035"/>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54" name="文本框 1"/>
          <p:cNvSpPr txBox="1"/>
          <p:nvPr/>
        </p:nvSpPr>
        <p:spPr>
          <a:xfrm>
            <a:off x="8605211" y="4127996"/>
            <a:ext cx="1525015" cy="492443"/>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特殊人群与长期管理</a:t>
            </a:r>
          </a:p>
        </p:txBody>
      </p:sp>
      <p:sp>
        <p:nvSpPr>
          <p:cNvPr id="55" name="椭圆 54"/>
          <p:cNvSpPr/>
          <p:nvPr/>
        </p:nvSpPr>
        <p:spPr>
          <a:xfrm>
            <a:off x="9302634" y="3736293"/>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56" name="椭圆 55"/>
          <p:cNvSpPr/>
          <p:nvPr/>
        </p:nvSpPr>
        <p:spPr>
          <a:xfrm>
            <a:off x="8747112" y="2184798"/>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sp>
        <p:nvSpPr>
          <p:cNvPr id="57" name="iconfont-11624-5524664"/>
          <p:cNvSpPr>
            <a:spLocks noChangeAspect="1"/>
          </p:cNvSpPr>
          <p:nvPr/>
        </p:nvSpPr>
        <p:spPr bwMode="auto">
          <a:xfrm>
            <a:off x="9034263" y="2488930"/>
            <a:ext cx="720080" cy="593759"/>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bg1">
              <a:lumMod val="75000"/>
            </a:schemeClr>
          </a:solidFill>
          <a:ln>
            <a:no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13" name="文本框 12"/>
          <p:cNvSpPr txBox="1"/>
          <p:nvPr/>
        </p:nvSpPr>
        <p:spPr>
          <a:xfrm>
            <a:off x="975688" y="544016"/>
            <a:ext cx="739775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冠心病患者抗血栓治疗的决定因素</a:t>
            </a:r>
            <a:endParaRPr lang="zh-CN" altLang="en-US" sz="2400" b="1" dirty="0">
              <a:solidFill>
                <a:srgbClr val="AE1022"/>
              </a:solidFill>
            </a:endParaRPr>
          </a:p>
        </p:txBody>
      </p:sp>
      <p:sp>
        <p:nvSpPr>
          <p:cNvPr id="3" name="矩形 2"/>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8497" y="1005681"/>
            <a:ext cx="7696946" cy="5002148"/>
          </a:xfrm>
          <a:prstGeom prst="rect">
            <a:avLst/>
          </a:prstGeom>
        </p:spPr>
      </p:pic>
      <p:sp>
        <p:nvSpPr>
          <p:cNvPr id="7" name="矩形 6"/>
          <p:cNvSpPr/>
          <p:nvPr/>
        </p:nvSpPr>
        <p:spPr>
          <a:xfrm>
            <a:off x="1982913" y="1256150"/>
            <a:ext cx="1202076" cy="1672807"/>
          </a:xfrm>
          <a:prstGeom prst="rect">
            <a:avLst/>
          </a:prstGeom>
          <a:solidFill>
            <a:srgbClr val="AFD5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患者</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基线特征</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年龄</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性别</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种族</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缺血或出血事件史</a:t>
            </a:r>
          </a:p>
        </p:txBody>
      </p:sp>
      <p:sp>
        <p:nvSpPr>
          <p:cNvPr id="9" name="矩形 8"/>
          <p:cNvSpPr/>
          <p:nvPr/>
        </p:nvSpPr>
        <p:spPr>
          <a:xfrm>
            <a:off x="3445695" y="1256150"/>
            <a:ext cx="1340777" cy="1215607"/>
          </a:xfrm>
          <a:prstGeom prst="rect">
            <a:avLst/>
          </a:prstGeom>
          <a:solidFill>
            <a:srgbClr val="AFD5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临床表现</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400" dirty="0">
                <a:solidFill>
                  <a:schemeClr val="tx1"/>
                </a:solidFill>
                <a:latin typeface="Microsoft YaHei UI" panose="020B0503020204020204" pitchFamily="34" charset="-122"/>
                <a:ea typeface="Microsoft YaHei UI" panose="020B0503020204020204" pitchFamily="34" charset="-122"/>
              </a:rPr>
              <a:t>CCS vs ACS</a:t>
            </a:r>
          </a:p>
          <a:p>
            <a:pPr algn="ctr"/>
            <a:r>
              <a:rPr lang="en-US" altLang="zh-CN" sz="1400" dirty="0">
                <a:solidFill>
                  <a:schemeClr val="tx1"/>
                </a:solidFill>
                <a:latin typeface="Microsoft YaHei UI" panose="020B0503020204020204" pitchFamily="34" charset="-122"/>
                <a:ea typeface="Microsoft YaHei UI" panose="020B0503020204020204" pitchFamily="34" charset="-122"/>
              </a:rPr>
              <a:t>(NSTE-ACS or</a:t>
            </a:r>
          </a:p>
          <a:p>
            <a:pPr algn="ctr"/>
            <a:r>
              <a:rPr lang="en-US" altLang="zh-CN" sz="1400" dirty="0">
                <a:solidFill>
                  <a:schemeClr val="tx1"/>
                </a:solidFill>
                <a:latin typeface="Microsoft YaHei UI" panose="020B0503020204020204" pitchFamily="34" charset="-122"/>
                <a:ea typeface="Microsoft YaHei UI" panose="020B0503020204020204" pitchFamily="34" charset="-122"/>
              </a:rPr>
              <a:t>STEMI)</a:t>
            </a:r>
          </a:p>
        </p:txBody>
      </p:sp>
      <p:sp>
        <p:nvSpPr>
          <p:cNvPr id="11" name="矩形 10"/>
          <p:cNvSpPr/>
          <p:nvPr/>
        </p:nvSpPr>
        <p:spPr>
          <a:xfrm>
            <a:off x="5008650" y="1311836"/>
            <a:ext cx="1166119" cy="1104236"/>
          </a:xfrm>
          <a:prstGeom prst="rect">
            <a:avLst/>
          </a:prstGeom>
          <a:solidFill>
            <a:srgbClr val="AFD5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合并症</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慢性肾脏病</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糖尿病</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400" dirty="0">
                <a:solidFill>
                  <a:schemeClr val="tx1"/>
                </a:solidFill>
                <a:latin typeface="Microsoft YaHei UI" panose="020B0503020204020204" pitchFamily="34" charset="-122"/>
                <a:ea typeface="Microsoft YaHei UI" panose="020B0503020204020204" pitchFamily="34" charset="-122"/>
              </a:rPr>
              <a:t> </a:t>
            </a:r>
            <a:r>
              <a:rPr lang="zh-CN" altLang="en-US" sz="1400" dirty="0">
                <a:solidFill>
                  <a:schemeClr val="tx1"/>
                </a:solidFill>
                <a:latin typeface="Microsoft YaHei UI" panose="020B0503020204020204" pitchFamily="34" charset="-122"/>
                <a:ea typeface="Microsoft YaHei UI" panose="020B0503020204020204" pitchFamily="34" charset="-122"/>
              </a:rPr>
              <a:t>外周血管病</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心衰</a:t>
            </a:r>
            <a:endParaRPr lang="en-US" altLang="zh-CN" sz="1400" dirty="0">
              <a:solidFill>
                <a:schemeClr val="tx1"/>
              </a:solidFill>
              <a:latin typeface="Microsoft YaHei UI" panose="020B0503020204020204" pitchFamily="34" charset="-122"/>
              <a:ea typeface="Microsoft YaHei UI" panose="020B0503020204020204" pitchFamily="34" charset="-122"/>
            </a:endParaRPr>
          </a:p>
        </p:txBody>
      </p:sp>
      <p:sp>
        <p:nvSpPr>
          <p:cNvPr id="15" name="矩形 14"/>
          <p:cNvSpPr/>
          <p:nvPr/>
        </p:nvSpPr>
        <p:spPr>
          <a:xfrm>
            <a:off x="6435475" y="1240739"/>
            <a:ext cx="1281701" cy="1215607"/>
          </a:xfrm>
          <a:prstGeom prst="rect">
            <a:avLst/>
          </a:prstGeom>
          <a:solidFill>
            <a:srgbClr val="FAC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合并用药</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需要口服抗凝治疗</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多种药物相互作用</a:t>
            </a:r>
            <a:endParaRPr lang="en-US" altLang="zh-CN" sz="1400" dirty="0">
              <a:solidFill>
                <a:schemeClr val="tx1"/>
              </a:solidFill>
              <a:latin typeface="Microsoft YaHei UI" panose="020B0503020204020204" pitchFamily="34" charset="-122"/>
              <a:ea typeface="Microsoft YaHei UI" panose="020B0503020204020204" pitchFamily="34" charset="-122"/>
            </a:endParaRPr>
          </a:p>
        </p:txBody>
      </p:sp>
      <p:sp>
        <p:nvSpPr>
          <p:cNvPr id="17" name="矩形 16"/>
          <p:cNvSpPr/>
          <p:nvPr/>
        </p:nvSpPr>
        <p:spPr>
          <a:xfrm>
            <a:off x="7977882" y="1239918"/>
            <a:ext cx="1119884" cy="1617121"/>
          </a:xfrm>
          <a:prstGeom prst="rect">
            <a:avLst/>
          </a:prstGeom>
          <a:solidFill>
            <a:srgbClr val="FAC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介入因素</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400" dirty="0">
                <a:solidFill>
                  <a:schemeClr val="tx1"/>
                </a:solidFill>
                <a:latin typeface="Microsoft YaHei UI" panose="020B0503020204020204" pitchFamily="34" charset="-122"/>
                <a:ea typeface="Microsoft YaHei UI" panose="020B0503020204020204" pitchFamily="34" charset="-122"/>
              </a:rPr>
              <a:t>PCI vs CABG</a:t>
            </a: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股动脉 </a:t>
            </a:r>
            <a:r>
              <a:rPr lang="en-US" altLang="zh-CN" sz="1400" dirty="0">
                <a:solidFill>
                  <a:schemeClr val="tx1"/>
                </a:solidFill>
                <a:latin typeface="Microsoft YaHei UI" panose="020B0503020204020204" pitchFamily="34" charset="-122"/>
                <a:ea typeface="Microsoft YaHei UI" panose="020B0503020204020204" pitchFamily="34" charset="-122"/>
              </a:rPr>
              <a:t>vs </a:t>
            </a:r>
            <a:r>
              <a:rPr lang="zh-CN" altLang="en-US" sz="1400" dirty="0">
                <a:solidFill>
                  <a:schemeClr val="tx1"/>
                </a:solidFill>
                <a:latin typeface="Microsoft YaHei UI" panose="020B0503020204020204" pitchFamily="34" charset="-122"/>
                <a:ea typeface="Microsoft YaHei UI" panose="020B0503020204020204" pitchFamily="34" charset="-122"/>
              </a:rPr>
              <a:t>桡动脉入路</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400" dirty="0">
                <a:solidFill>
                  <a:schemeClr val="tx1"/>
                </a:solidFill>
                <a:latin typeface="Microsoft YaHei UI" panose="020B0503020204020204" pitchFamily="34" charset="-122"/>
                <a:ea typeface="Microsoft YaHei UI" panose="020B0503020204020204" pitchFamily="34" charset="-122"/>
              </a:rPr>
              <a:t>侵入性</a:t>
            </a:r>
            <a:r>
              <a:rPr lang="en-US" altLang="zh-CN" sz="1400" dirty="0">
                <a:solidFill>
                  <a:schemeClr val="tx1"/>
                </a:solidFill>
                <a:latin typeface="Microsoft YaHei UI" panose="020B0503020204020204" pitchFamily="34" charset="-122"/>
                <a:ea typeface="Microsoft YaHei UI" panose="020B0503020204020204" pitchFamily="34" charset="-122"/>
              </a:rPr>
              <a:t>vs </a:t>
            </a:r>
            <a:r>
              <a:rPr lang="zh-CN" altLang="en-US" sz="1400" dirty="0">
                <a:solidFill>
                  <a:schemeClr val="tx1"/>
                </a:solidFill>
                <a:latin typeface="Microsoft YaHei UI" panose="020B0503020204020204" pitchFamily="34" charset="-122"/>
                <a:ea typeface="Microsoft YaHei UI" panose="020B0503020204020204" pitchFamily="34" charset="-122"/>
              </a:rPr>
              <a:t>保守治疗</a:t>
            </a:r>
            <a:endParaRPr lang="en-US" altLang="zh-CN" sz="1400" dirty="0">
              <a:solidFill>
                <a:schemeClr val="tx1"/>
              </a:solidFill>
              <a:latin typeface="Microsoft YaHei UI" panose="020B0503020204020204" pitchFamily="34" charset="-122"/>
              <a:ea typeface="Microsoft YaHei UI" panose="020B0503020204020204" pitchFamily="34" charset="-122"/>
            </a:endParaRPr>
          </a:p>
        </p:txBody>
      </p:sp>
      <p:sp>
        <p:nvSpPr>
          <p:cNvPr id="19" name="矩形 18"/>
          <p:cNvSpPr/>
          <p:nvPr/>
        </p:nvSpPr>
        <p:spPr>
          <a:xfrm>
            <a:off x="3765480" y="3791987"/>
            <a:ext cx="3626776" cy="594257"/>
          </a:xfrm>
          <a:prstGeom prst="rect">
            <a:avLst/>
          </a:prstGeom>
          <a:solidFill>
            <a:srgbClr val="3BB9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icrosoft YaHei UI" panose="020B0503020204020204" pitchFamily="34" charset="-122"/>
                <a:ea typeface="Microsoft YaHei UI" panose="020B0503020204020204" pitchFamily="34" charset="-122"/>
              </a:rPr>
              <a:t>抗血栓治疗</a:t>
            </a:r>
            <a:endParaRPr lang="en-US" altLang="zh-CN" b="1" dirty="0">
              <a:solidFill>
                <a:schemeClr val="tx1"/>
              </a:solidFill>
              <a:latin typeface="Microsoft YaHei UI" panose="020B0503020204020204" pitchFamily="34" charset="-122"/>
              <a:ea typeface="Microsoft YaHei UI" panose="020B0503020204020204" pitchFamily="34" charset="-122"/>
            </a:endParaRPr>
          </a:p>
          <a:p>
            <a:pPr algn="ct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600" dirty="0">
                <a:solidFill>
                  <a:schemeClr val="tx1"/>
                </a:solidFill>
                <a:latin typeface="Microsoft YaHei UI" panose="020B0503020204020204" pitchFamily="34" charset="-122"/>
                <a:ea typeface="Microsoft YaHei UI" panose="020B0503020204020204" pitchFamily="34" charset="-122"/>
              </a:rPr>
              <a:t>药物选择</a:t>
            </a:r>
            <a:r>
              <a:rPr lang="en-US" altLang="zh-CN" sz="1600" dirty="0">
                <a:solidFill>
                  <a:schemeClr val="tx1"/>
                </a:solidFill>
                <a:latin typeface="Microsoft YaHei UI" panose="020B0503020204020204" pitchFamily="34" charset="-122"/>
                <a:ea typeface="Microsoft YaHei UI" panose="020B0503020204020204" pitchFamily="34" charset="-122"/>
              </a:rPr>
              <a:t>/</a:t>
            </a:r>
            <a:r>
              <a:rPr lang="zh-CN" altLang="en-US" sz="1600" dirty="0">
                <a:solidFill>
                  <a:schemeClr val="tx1"/>
                </a:solidFill>
                <a:latin typeface="Microsoft YaHei UI" panose="020B0503020204020204" pitchFamily="34" charset="-122"/>
                <a:ea typeface="Microsoft YaHei UI" panose="020B0503020204020204" pitchFamily="34" charset="-122"/>
              </a:rPr>
              <a:t>药物剂量</a:t>
            </a:r>
            <a:r>
              <a:rPr lang="en-US" altLang="zh-CN" sz="1600" dirty="0">
                <a:solidFill>
                  <a:schemeClr val="tx1"/>
                </a:solidFill>
                <a:latin typeface="Microsoft YaHei UI" panose="020B0503020204020204" pitchFamily="34" charset="-122"/>
                <a:ea typeface="Microsoft YaHei UI" panose="020B0503020204020204" pitchFamily="34" charset="-122"/>
              </a:rPr>
              <a:t>/</a:t>
            </a:r>
            <a:r>
              <a:rPr lang="zh-CN" altLang="en-US" sz="1600" dirty="0">
                <a:solidFill>
                  <a:schemeClr val="tx1"/>
                </a:solidFill>
                <a:latin typeface="Microsoft YaHei UI" panose="020B0503020204020204" pitchFamily="34" charset="-122"/>
                <a:ea typeface="Microsoft YaHei UI" panose="020B0503020204020204" pitchFamily="34" charset="-122"/>
              </a:rPr>
              <a:t>治疗时程</a:t>
            </a:r>
          </a:p>
        </p:txBody>
      </p:sp>
      <p:sp>
        <p:nvSpPr>
          <p:cNvPr id="21" name="矩形 20"/>
          <p:cNvSpPr/>
          <p:nvPr/>
        </p:nvSpPr>
        <p:spPr>
          <a:xfrm>
            <a:off x="2304621" y="4992419"/>
            <a:ext cx="1507093" cy="3249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缺血风险</a:t>
            </a:r>
          </a:p>
        </p:txBody>
      </p:sp>
      <p:sp>
        <p:nvSpPr>
          <p:cNvPr id="23" name="矩形 22"/>
          <p:cNvSpPr/>
          <p:nvPr/>
        </p:nvSpPr>
        <p:spPr>
          <a:xfrm>
            <a:off x="7362931" y="5038276"/>
            <a:ext cx="1507093" cy="3249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EE272C"/>
                </a:solidFill>
                <a:latin typeface="Microsoft YaHei UI" panose="020B0503020204020204" pitchFamily="34" charset="-122"/>
                <a:ea typeface="Microsoft YaHei UI" panose="020B0503020204020204" pitchFamily="34" charset="-122"/>
              </a:rPr>
              <a:t>出血风险</a:t>
            </a:r>
          </a:p>
        </p:txBody>
      </p:sp>
      <p:sp>
        <p:nvSpPr>
          <p:cNvPr id="2" name="矩形 1"/>
          <p:cNvSpPr/>
          <p:nvPr/>
        </p:nvSpPr>
        <p:spPr>
          <a:xfrm>
            <a:off x="884991" y="6333827"/>
            <a:ext cx="3037569"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CCS</a:t>
            </a:r>
            <a:r>
              <a:rPr lang="zh-CN" altLang="en-US" sz="1400" dirty="0">
                <a:solidFill>
                  <a:schemeClr val="tx1"/>
                </a:solidFill>
                <a:latin typeface="Microsoft YaHei UI" panose="020B0503020204020204" pitchFamily="34" charset="-122"/>
                <a:ea typeface="Microsoft YaHei UI" panose="020B0503020204020204" pitchFamily="34" charset="-122"/>
              </a:rPr>
              <a:t>：慢性冠脉综合征</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13" name="文本框 12"/>
          <p:cNvSpPr txBox="1"/>
          <p:nvPr/>
        </p:nvSpPr>
        <p:spPr>
          <a:xfrm>
            <a:off x="975688" y="292303"/>
            <a:ext cx="7397750"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患者抗血栓治疗药理作用靶点</a:t>
            </a:r>
            <a:endParaRPr lang="zh-CN" altLang="en-US" sz="2400" b="1" dirty="0">
              <a:solidFill>
                <a:srgbClr val="AE1022"/>
              </a:solidFill>
            </a:endParaRPr>
          </a:p>
        </p:txBody>
      </p:sp>
      <p:sp>
        <p:nvSpPr>
          <p:cNvPr id="3" name="矩形 2"/>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850" y="867911"/>
            <a:ext cx="6867575" cy="4957799"/>
          </a:xfrm>
          <a:prstGeom prst="rect">
            <a:avLst/>
          </a:prstGeom>
        </p:spPr>
      </p:pic>
      <p:sp>
        <p:nvSpPr>
          <p:cNvPr id="5" name="矩形 4"/>
          <p:cNvSpPr/>
          <p:nvPr/>
        </p:nvSpPr>
        <p:spPr>
          <a:xfrm>
            <a:off x="3629986" y="1036872"/>
            <a:ext cx="1111537" cy="540215"/>
          </a:xfrm>
          <a:prstGeom prst="rect">
            <a:avLst/>
          </a:prstGeom>
          <a:solidFill>
            <a:srgbClr val="FAE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阿哌沙班</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依度沙班</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利伐沙班</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8" name="矩形 7"/>
          <p:cNvSpPr/>
          <p:nvPr/>
        </p:nvSpPr>
        <p:spPr>
          <a:xfrm>
            <a:off x="5102615" y="944186"/>
            <a:ext cx="1164621" cy="461665"/>
          </a:xfrm>
          <a:prstGeom prst="rect">
            <a:avLst/>
          </a:prstGeom>
          <a:solidFill>
            <a:srgbClr val="FAE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F26B68"/>
                </a:solidFill>
                <a:latin typeface="Microsoft YaHei UI" panose="020B0503020204020204" pitchFamily="34" charset="-122"/>
                <a:ea typeface="Microsoft YaHei UI" panose="020B0503020204020204" pitchFamily="34" charset="-122"/>
              </a:rPr>
              <a:t>依诺肝素</a:t>
            </a:r>
            <a:endParaRPr lang="en-US" altLang="zh-CN" sz="1200" b="1" dirty="0">
              <a:solidFill>
                <a:srgbClr val="F26B68"/>
              </a:solidFill>
              <a:latin typeface="Microsoft YaHei UI" panose="020B0503020204020204" pitchFamily="34" charset="-122"/>
              <a:ea typeface="Microsoft YaHei UI" panose="020B0503020204020204" pitchFamily="34" charset="-122"/>
            </a:endParaRPr>
          </a:p>
          <a:p>
            <a:pPr algn="ctr"/>
            <a:r>
              <a:rPr lang="zh-CN" altLang="en-US" sz="1200" b="1" dirty="0">
                <a:solidFill>
                  <a:srgbClr val="F26B68"/>
                </a:solidFill>
                <a:latin typeface="Microsoft YaHei UI" panose="020B0503020204020204" pitchFamily="34" charset="-122"/>
                <a:ea typeface="Microsoft YaHei UI" panose="020B0503020204020204" pitchFamily="34" charset="-122"/>
              </a:rPr>
              <a:t>磺达肝癸钠</a:t>
            </a:r>
            <a:endParaRPr lang="en-US" altLang="zh-CN" sz="1200" b="1" dirty="0">
              <a:solidFill>
                <a:srgbClr val="F26B68"/>
              </a:solidFill>
              <a:latin typeface="Microsoft YaHei UI" panose="020B0503020204020204" pitchFamily="34" charset="-122"/>
              <a:ea typeface="Microsoft YaHei UI" panose="020B0503020204020204" pitchFamily="34" charset="-122"/>
            </a:endParaRPr>
          </a:p>
        </p:txBody>
      </p:sp>
      <p:sp>
        <p:nvSpPr>
          <p:cNvPr id="10" name="矩形 9"/>
          <p:cNvSpPr/>
          <p:nvPr/>
        </p:nvSpPr>
        <p:spPr>
          <a:xfrm>
            <a:off x="7607798" y="1530853"/>
            <a:ext cx="950576" cy="423809"/>
          </a:xfrm>
          <a:prstGeom prst="rect">
            <a:avLst/>
          </a:prstGeom>
          <a:solidFill>
            <a:srgbClr val="FAE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F26B68"/>
                </a:solidFill>
                <a:latin typeface="Microsoft YaHei UI" panose="020B0503020204020204" pitchFamily="34" charset="-122"/>
                <a:ea typeface="Microsoft YaHei UI" panose="020B0503020204020204" pitchFamily="34" charset="-122"/>
              </a:rPr>
              <a:t>比伐芦定</a:t>
            </a:r>
            <a:endParaRPr lang="en-US" altLang="zh-CN" sz="1200" b="1" dirty="0">
              <a:solidFill>
                <a:srgbClr val="F26B68"/>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达比加群酯</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12" name="矩形 11"/>
          <p:cNvSpPr/>
          <p:nvPr/>
        </p:nvSpPr>
        <p:spPr>
          <a:xfrm>
            <a:off x="8828094" y="892556"/>
            <a:ext cx="305417" cy="1994486"/>
          </a:xfrm>
          <a:prstGeom prst="rect">
            <a:avLst/>
          </a:prstGeom>
          <a:solidFill>
            <a:srgbClr val="F79A7B"/>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抗凝药物</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14" name="矩形 13"/>
          <p:cNvSpPr/>
          <p:nvPr/>
        </p:nvSpPr>
        <p:spPr>
          <a:xfrm>
            <a:off x="8828094" y="3491841"/>
            <a:ext cx="305417" cy="1994486"/>
          </a:xfrm>
          <a:prstGeom prst="rect">
            <a:avLst/>
          </a:prstGeom>
          <a:solidFill>
            <a:srgbClr val="A4BEE5"/>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抗血小板药物</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6" name="矩形 25"/>
          <p:cNvSpPr/>
          <p:nvPr/>
        </p:nvSpPr>
        <p:spPr>
          <a:xfrm>
            <a:off x="2348850" y="2486178"/>
            <a:ext cx="1092700" cy="400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组织因子</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（组织病变）</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8" name="矩形 27"/>
          <p:cNvSpPr/>
          <p:nvPr/>
        </p:nvSpPr>
        <p:spPr>
          <a:xfrm>
            <a:off x="3852123" y="2477415"/>
            <a:ext cx="889400" cy="400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凝血</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级联反应</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32" name="矩形 31"/>
          <p:cNvSpPr/>
          <p:nvPr/>
        </p:nvSpPr>
        <p:spPr>
          <a:xfrm>
            <a:off x="5126266" y="2486178"/>
            <a:ext cx="957426" cy="2669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凝血酶原</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34" name="矩形 33"/>
          <p:cNvSpPr/>
          <p:nvPr/>
        </p:nvSpPr>
        <p:spPr>
          <a:xfrm>
            <a:off x="7496522" y="2234663"/>
            <a:ext cx="957426" cy="2669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纤维蛋白原</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36" name="矩形 35"/>
          <p:cNvSpPr/>
          <p:nvPr/>
        </p:nvSpPr>
        <p:spPr>
          <a:xfrm>
            <a:off x="6945142" y="4174766"/>
            <a:ext cx="957426" cy="2669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血栓</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38" name="矩形 37"/>
          <p:cNvSpPr/>
          <p:nvPr/>
        </p:nvSpPr>
        <p:spPr>
          <a:xfrm>
            <a:off x="4619620" y="4168119"/>
            <a:ext cx="805135" cy="1717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活化</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40" name="矩形 39"/>
          <p:cNvSpPr/>
          <p:nvPr/>
        </p:nvSpPr>
        <p:spPr>
          <a:xfrm>
            <a:off x="3080925" y="3301009"/>
            <a:ext cx="957426" cy="266926"/>
          </a:xfrm>
          <a:prstGeom prst="rect">
            <a:avLst/>
          </a:prstGeom>
          <a:solidFill>
            <a:srgbClr val="DC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阿司匹林</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42" name="矩形 41"/>
          <p:cNvSpPr/>
          <p:nvPr/>
        </p:nvSpPr>
        <p:spPr>
          <a:xfrm>
            <a:off x="6468435" y="2553132"/>
            <a:ext cx="740571" cy="199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F26B68"/>
                </a:solidFill>
                <a:latin typeface="Microsoft YaHei UI" panose="020B0503020204020204" pitchFamily="34" charset="-122"/>
                <a:ea typeface="Microsoft YaHei UI" panose="020B0503020204020204" pitchFamily="34" charset="-122"/>
              </a:rPr>
              <a:t>凝血酶</a:t>
            </a:r>
            <a:endParaRPr lang="en-US" altLang="zh-CN" sz="1200" b="1" dirty="0">
              <a:solidFill>
                <a:srgbClr val="F26B68"/>
              </a:solidFill>
              <a:latin typeface="Microsoft YaHei UI" panose="020B0503020204020204" pitchFamily="34" charset="-122"/>
              <a:ea typeface="Microsoft YaHei UI" panose="020B0503020204020204" pitchFamily="34" charset="-122"/>
            </a:endParaRPr>
          </a:p>
        </p:txBody>
      </p:sp>
      <p:sp>
        <p:nvSpPr>
          <p:cNvPr id="44" name="矩形 43"/>
          <p:cNvSpPr/>
          <p:nvPr/>
        </p:nvSpPr>
        <p:spPr>
          <a:xfrm>
            <a:off x="7397446" y="2878279"/>
            <a:ext cx="811606" cy="1936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F26B68"/>
                </a:solidFill>
                <a:latin typeface="Microsoft YaHei UI" panose="020B0503020204020204" pitchFamily="34" charset="-122"/>
                <a:ea typeface="Microsoft YaHei UI" panose="020B0503020204020204" pitchFamily="34" charset="-122"/>
              </a:rPr>
              <a:t>纤维蛋白</a:t>
            </a:r>
            <a:endParaRPr lang="en-US" altLang="zh-CN" sz="1200" b="1" dirty="0">
              <a:solidFill>
                <a:srgbClr val="F26B68"/>
              </a:solidFill>
              <a:latin typeface="Microsoft YaHei UI" panose="020B0503020204020204" pitchFamily="34" charset="-122"/>
              <a:ea typeface="Microsoft YaHei UI" panose="020B0503020204020204" pitchFamily="34" charset="-122"/>
            </a:endParaRPr>
          </a:p>
        </p:txBody>
      </p:sp>
      <p:sp>
        <p:nvSpPr>
          <p:cNvPr id="46" name="矩形 45"/>
          <p:cNvSpPr/>
          <p:nvPr/>
        </p:nvSpPr>
        <p:spPr>
          <a:xfrm>
            <a:off x="3087774" y="4844269"/>
            <a:ext cx="1037299" cy="806829"/>
          </a:xfrm>
          <a:prstGeom prst="rect">
            <a:avLst/>
          </a:prstGeom>
          <a:solidFill>
            <a:srgbClr val="DC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氯吡格雷</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普拉格雷</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替格瑞洛</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rgbClr val="EE282D"/>
                </a:solidFill>
                <a:latin typeface="Microsoft YaHei UI" panose="020B0503020204020204" pitchFamily="34" charset="-122"/>
                <a:ea typeface="Microsoft YaHei UI" panose="020B0503020204020204" pitchFamily="34" charset="-122"/>
              </a:rPr>
              <a:t>坎格瑞洛</a:t>
            </a:r>
            <a:endParaRPr lang="en-US" altLang="zh-CN" sz="1200" b="1" dirty="0">
              <a:solidFill>
                <a:srgbClr val="EE282D"/>
              </a:solidFill>
              <a:latin typeface="Microsoft YaHei UI" panose="020B0503020204020204" pitchFamily="34" charset="-122"/>
              <a:ea typeface="Microsoft YaHei UI" panose="020B0503020204020204" pitchFamily="34" charset="-122"/>
            </a:endParaRPr>
          </a:p>
        </p:txBody>
      </p:sp>
      <p:sp>
        <p:nvSpPr>
          <p:cNvPr id="48" name="矩形 47"/>
          <p:cNvSpPr/>
          <p:nvPr/>
        </p:nvSpPr>
        <p:spPr>
          <a:xfrm>
            <a:off x="4438436" y="4921677"/>
            <a:ext cx="1741469" cy="806829"/>
          </a:xfrm>
          <a:prstGeom prst="rect">
            <a:avLst/>
          </a:prstGeom>
          <a:solidFill>
            <a:srgbClr val="DC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a:solidFill>
                  <a:srgbClr val="EE282D"/>
                </a:solidFill>
                <a:latin typeface="Microsoft YaHei UI" panose="020B0503020204020204" pitchFamily="34" charset="-122"/>
                <a:ea typeface="Microsoft YaHei UI" panose="020B0503020204020204" pitchFamily="34" charset="-122"/>
              </a:rPr>
              <a:t>GPⅡb</a:t>
            </a:r>
            <a:r>
              <a:rPr lang="en-US" altLang="zh-CN" sz="1200" b="1" dirty="0">
                <a:solidFill>
                  <a:srgbClr val="EE282D"/>
                </a:solidFill>
                <a:latin typeface="Microsoft YaHei UI" panose="020B0503020204020204" pitchFamily="34" charset="-122"/>
                <a:ea typeface="Microsoft YaHei UI" panose="020B0503020204020204" pitchFamily="34" charset="-122"/>
              </a:rPr>
              <a:t>/</a:t>
            </a:r>
            <a:r>
              <a:rPr lang="en-US" altLang="zh-CN" sz="1200" b="1" dirty="0" err="1">
                <a:solidFill>
                  <a:srgbClr val="EE282D"/>
                </a:solidFill>
                <a:latin typeface="Microsoft YaHei UI" panose="020B0503020204020204" pitchFamily="34" charset="-122"/>
                <a:ea typeface="Microsoft YaHei UI" panose="020B0503020204020204" pitchFamily="34" charset="-122"/>
              </a:rPr>
              <a:t>Ⅲa</a:t>
            </a:r>
            <a:r>
              <a:rPr lang="zh-CN" altLang="en-US" sz="1200" b="1" dirty="0">
                <a:solidFill>
                  <a:srgbClr val="EE282D"/>
                </a:solidFill>
                <a:latin typeface="Microsoft YaHei UI" panose="020B0503020204020204" pitchFamily="34" charset="-122"/>
                <a:ea typeface="Microsoft YaHei UI" panose="020B0503020204020204" pitchFamily="34" charset="-122"/>
              </a:rPr>
              <a:t>抑制剂：</a:t>
            </a:r>
            <a:endParaRPr lang="en-US" altLang="zh-CN" sz="1200" b="1" dirty="0">
              <a:solidFill>
                <a:srgbClr val="EE282D"/>
              </a:solidFill>
              <a:latin typeface="Microsoft YaHei UI" panose="020B0503020204020204" pitchFamily="34" charset="-122"/>
              <a:ea typeface="Microsoft YaHei UI" panose="020B0503020204020204" pitchFamily="34" charset="-122"/>
            </a:endParaRPr>
          </a:p>
          <a:p>
            <a:pPr algn="ctr"/>
            <a:r>
              <a:rPr lang="zh-CN" altLang="en-US" sz="1200" b="1" dirty="0">
                <a:solidFill>
                  <a:srgbClr val="EE282D"/>
                </a:solidFill>
                <a:latin typeface="Microsoft YaHei UI" panose="020B0503020204020204" pitchFamily="34" charset="-122"/>
                <a:ea typeface="Microsoft YaHei UI" panose="020B0503020204020204" pitchFamily="34" charset="-122"/>
              </a:rPr>
              <a:t>依替巴肽</a:t>
            </a:r>
            <a:endParaRPr lang="en-US" altLang="zh-CN" sz="1200" b="1" dirty="0">
              <a:solidFill>
                <a:srgbClr val="EE282D"/>
              </a:solidFill>
              <a:latin typeface="Microsoft YaHei UI" panose="020B0503020204020204" pitchFamily="34" charset="-122"/>
              <a:ea typeface="Microsoft YaHei UI" panose="020B0503020204020204" pitchFamily="34" charset="-122"/>
            </a:endParaRPr>
          </a:p>
          <a:p>
            <a:pPr algn="ctr"/>
            <a:r>
              <a:rPr lang="zh-CN" altLang="en-US" sz="1200" b="1" dirty="0">
                <a:solidFill>
                  <a:srgbClr val="EE282D"/>
                </a:solidFill>
                <a:latin typeface="Microsoft YaHei UI" panose="020B0503020204020204" pitchFamily="34" charset="-122"/>
                <a:ea typeface="Microsoft YaHei UI" panose="020B0503020204020204" pitchFamily="34" charset="-122"/>
              </a:rPr>
              <a:t>替罗非班</a:t>
            </a:r>
            <a:endParaRPr lang="en-US" altLang="zh-CN" sz="1200" b="1" dirty="0">
              <a:solidFill>
                <a:srgbClr val="EE282D"/>
              </a:solidFill>
              <a:latin typeface="Microsoft YaHei UI" panose="020B0503020204020204" pitchFamily="34" charset="-122"/>
              <a:ea typeface="Microsoft YaHei UI" panose="020B0503020204020204" pitchFamily="34" charset="-122"/>
            </a:endParaRPr>
          </a:p>
          <a:p>
            <a:pPr algn="ctr"/>
            <a:r>
              <a:rPr lang="zh-CN" altLang="en-US" sz="1200" b="1" dirty="0">
                <a:solidFill>
                  <a:srgbClr val="EE282D"/>
                </a:solidFill>
                <a:latin typeface="Microsoft YaHei UI" panose="020B0503020204020204" pitchFamily="34" charset="-122"/>
                <a:ea typeface="Microsoft YaHei UI" panose="020B0503020204020204" pitchFamily="34" charset="-122"/>
              </a:rPr>
              <a:t>（阿昔单抗）</a:t>
            </a:r>
            <a:endParaRPr lang="en-US" altLang="zh-CN" sz="1200" b="1" dirty="0">
              <a:solidFill>
                <a:srgbClr val="EE282D"/>
              </a:solidFill>
              <a:latin typeface="Microsoft YaHei UI" panose="020B0503020204020204" pitchFamily="34" charset="-122"/>
              <a:ea typeface="Microsoft YaHei UI" panose="020B0503020204020204" pitchFamily="34" charset="-122"/>
            </a:endParaRPr>
          </a:p>
        </p:txBody>
      </p:sp>
      <p:sp>
        <p:nvSpPr>
          <p:cNvPr id="50" name="矩形 49"/>
          <p:cNvSpPr/>
          <p:nvPr/>
        </p:nvSpPr>
        <p:spPr>
          <a:xfrm>
            <a:off x="6998397" y="4378494"/>
            <a:ext cx="621199" cy="266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b="1" dirty="0">
                <a:solidFill>
                  <a:schemeClr val="tx1"/>
                </a:solidFill>
                <a:latin typeface="Microsoft YaHei UI" panose="020B0503020204020204" pitchFamily="34" charset="-122"/>
                <a:ea typeface="Microsoft YaHei UI" panose="020B0503020204020204" pitchFamily="34" charset="-122"/>
              </a:rPr>
              <a:t>血小板</a:t>
            </a:r>
            <a:endParaRPr lang="en-US" altLang="zh-CN" sz="1100" b="1" dirty="0">
              <a:solidFill>
                <a:schemeClr val="tx1"/>
              </a:solidFill>
              <a:latin typeface="Microsoft YaHei UI" panose="020B0503020204020204" pitchFamily="34" charset="-122"/>
              <a:ea typeface="Microsoft YaHei UI" panose="020B0503020204020204" pitchFamily="34" charset="-122"/>
            </a:endParaRPr>
          </a:p>
        </p:txBody>
      </p:sp>
      <p:sp>
        <p:nvSpPr>
          <p:cNvPr id="52" name="矩形 51"/>
          <p:cNvSpPr/>
          <p:nvPr/>
        </p:nvSpPr>
        <p:spPr>
          <a:xfrm>
            <a:off x="6998618" y="4644382"/>
            <a:ext cx="957426" cy="197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b="1" dirty="0">
                <a:solidFill>
                  <a:schemeClr val="tx1"/>
                </a:solidFill>
                <a:latin typeface="Microsoft YaHei UI" panose="020B0503020204020204" pitchFamily="34" charset="-122"/>
                <a:ea typeface="Microsoft YaHei UI" panose="020B0503020204020204" pitchFamily="34" charset="-122"/>
              </a:rPr>
              <a:t>可溶性介质</a:t>
            </a:r>
            <a:endParaRPr lang="en-US" altLang="zh-CN" sz="1100" b="1" dirty="0">
              <a:solidFill>
                <a:schemeClr val="tx1"/>
              </a:solidFill>
              <a:latin typeface="Microsoft YaHei UI" panose="020B0503020204020204" pitchFamily="34" charset="-122"/>
              <a:ea typeface="Microsoft YaHei UI" panose="020B0503020204020204" pitchFamily="34" charset="-122"/>
            </a:endParaRPr>
          </a:p>
        </p:txBody>
      </p:sp>
      <p:sp>
        <p:nvSpPr>
          <p:cNvPr id="56" name="矩形 55"/>
          <p:cNvSpPr/>
          <p:nvPr/>
        </p:nvSpPr>
        <p:spPr>
          <a:xfrm>
            <a:off x="6998618" y="4906007"/>
            <a:ext cx="1210434" cy="180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b="1" dirty="0" err="1">
                <a:solidFill>
                  <a:schemeClr val="tx1"/>
                </a:solidFill>
                <a:latin typeface="Microsoft YaHei UI" panose="020B0503020204020204" pitchFamily="34" charset="-122"/>
                <a:ea typeface="Microsoft YaHei UI" panose="020B0503020204020204" pitchFamily="34" charset="-122"/>
              </a:rPr>
              <a:t>GPⅡb</a:t>
            </a:r>
            <a:r>
              <a:rPr lang="en-US" altLang="zh-CN" sz="1100" b="1" dirty="0">
                <a:solidFill>
                  <a:schemeClr val="tx1"/>
                </a:solidFill>
                <a:latin typeface="Microsoft YaHei UI" panose="020B0503020204020204" pitchFamily="34" charset="-122"/>
                <a:ea typeface="Microsoft YaHei UI" panose="020B0503020204020204" pitchFamily="34" charset="-122"/>
              </a:rPr>
              <a:t>/</a:t>
            </a:r>
            <a:r>
              <a:rPr lang="en-US" altLang="zh-CN" sz="1100" b="1" dirty="0" err="1">
                <a:solidFill>
                  <a:schemeClr val="tx1"/>
                </a:solidFill>
                <a:latin typeface="Microsoft YaHei UI" panose="020B0503020204020204" pitchFamily="34" charset="-122"/>
                <a:ea typeface="Microsoft YaHei UI" panose="020B0503020204020204" pitchFamily="34" charset="-122"/>
              </a:rPr>
              <a:t>Ⅲa</a:t>
            </a:r>
            <a:r>
              <a:rPr lang="zh-CN" altLang="en-US" sz="1100" b="1" dirty="0">
                <a:solidFill>
                  <a:schemeClr val="tx1"/>
                </a:solidFill>
                <a:latin typeface="Microsoft YaHei UI" panose="020B0503020204020204" pitchFamily="34" charset="-122"/>
                <a:ea typeface="Microsoft YaHei UI" panose="020B0503020204020204" pitchFamily="34" charset="-122"/>
              </a:rPr>
              <a:t>受体</a:t>
            </a:r>
            <a:endParaRPr lang="en-US" altLang="zh-CN" sz="1100" b="1" dirty="0">
              <a:solidFill>
                <a:schemeClr val="tx1"/>
              </a:solidFill>
              <a:latin typeface="Microsoft YaHei UI" panose="020B0503020204020204" pitchFamily="34" charset="-122"/>
              <a:ea typeface="Microsoft YaHei UI" panose="020B0503020204020204" pitchFamily="34" charset="-122"/>
            </a:endParaRPr>
          </a:p>
        </p:txBody>
      </p:sp>
      <p:sp>
        <p:nvSpPr>
          <p:cNvPr id="58" name="矩形 57"/>
          <p:cNvSpPr/>
          <p:nvPr/>
        </p:nvSpPr>
        <p:spPr>
          <a:xfrm>
            <a:off x="6993260" y="5127997"/>
            <a:ext cx="1455552" cy="307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b="1" dirty="0">
                <a:solidFill>
                  <a:schemeClr val="tx1"/>
                </a:solidFill>
                <a:latin typeface="Microsoft YaHei UI" panose="020B0503020204020204" pitchFamily="34" charset="-122"/>
                <a:ea typeface="Microsoft YaHei UI" panose="020B0503020204020204" pitchFamily="34" charset="-122"/>
              </a:rPr>
              <a:t>凝集的凝血酶</a:t>
            </a:r>
            <a:r>
              <a:rPr lang="en-US" altLang="zh-CN" sz="1100" b="1" dirty="0">
                <a:solidFill>
                  <a:schemeClr val="tx1"/>
                </a:solidFill>
                <a:latin typeface="Microsoft YaHei UI" panose="020B0503020204020204" pitchFamily="34" charset="-122"/>
                <a:ea typeface="Microsoft YaHei UI" panose="020B0503020204020204" pitchFamily="34" charset="-122"/>
              </a:rPr>
              <a:t>/</a:t>
            </a:r>
            <a:r>
              <a:rPr lang="zh-CN" altLang="en-US" sz="1100" b="1" dirty="0">
                <a:solidFill>
                  <a:schemeClr val="tx1"/>
                </a:solidFill>
                <a:latin typeface="Microsoft YaHei UI" panose="020B0503020204020204" pitchFamily="34" charset="-122"/>
                <a:ea typeface="Microsoft YaHei UI" panose="020B0503020204020204" pitchFamily="34" charset="-122"/>
              </a:rPr>
              <a:t>凝血因子</a:t>
            </a:r>
            <a:r>
              <a:rPr lang="en-US" altLang="zh-CN" sz="1100" b="1" dirty="0" err="1">
                <a:solidFill>
                  <a:schemeClr val="tx1"/>
                </a:solidFill>
                <a:latin typeface="Microsoft YaHei UI" panose="020B0503020204020204" pitchFamily="34" charset="-122"/>
                <a:ea typeface="Microsoft YaHei UI" panose="020B0503020204020204" pitchFamily="34" charset="-122"/>
              </a:rPr>
              <a:t>Xa</a:t>
            </a:r>
            <a:endParaRPr lang="en-US" altLang="zh-CN" sz="1100" b="1" dirty="0">
              <a:solidFill>
                <a:schemeClr val="tx1"/>
              </a:solidFill>
              <a:latin typeface="Microsoft YaHei UI" panose="020B0503020204020204" pitchFamily="34" charset="-122"/>
              <a:ea typeface="Microsoft YaHei UI" panose="020B0503020204020204" pitchFamily="34" charset="-122"/>
            </a:endParaRPr>
          </a:p>
        </p:txBody>
      </p:sp>
      <p:sp>
        <p:nvSpPr>
          <p:cNvPr id="6" name="矩形 5"/>
          <p:cNvSpPr/>
          <p:nvPr/>
        </p:nvSpPr>
        <p:spPr>
          <a:xfrm>
            <a:off x="969472" y="5829513"/>
            <a:ext cx="9271014"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VKA</a:t>
            </a:r>
            <a:r>
              <a:rPr lang="zh-CN" altLang="en-US" sz="1400" dirty="0">
                <a:solidFill>
                  <a:schemeClr val="tx1"/>
                </a:solidFill>
                <a:latin typeface="Microsoft YaHei UI" panose="020B0503020204020204" pitchFamily="34" charset="-122"/>
                <a:ea typeface="Microsoft YaHei UI" panose="020B0503020204020204" pitchFamily="34" charset="-122"/>
              </a:rPr>
              <a:t>：维生素</a:t>
            </a:r>
            <a:r>
              <a:rPr lang="en-US" altLang="zh-CN" sz="1400" dirty="0">
                <a:solidFill>
                  <a:schemeClr val="tx1"/>
                </a:solidFill>
                <a:latin typeface="Microsoft YaHei UI" panose="020B0503020204020204" pitchFamily="34" charset="-122"/>
                <a:ea typeface="Microsoft YaHei UI" panose="020B0503020204020204" pitchFamily="34" charset="-122"/>
              </a:rPr>
              <a:t>K</a:t>
            </a:r>
            <a:r>
              <a:rPr lang="zh-CN" altLang="en-US" sz="1400" dirty="0">
                <a:solidFill>
                  <a:schemeClr val="tx1"/>
                </a:solidFill>
                <a:latin typeface="Microsoft YaHei UI" panose="020B0503020204020204" pitchFamily="34" charset="-122"/>
                <a:ea typeface="Microsoft YaHei UI" panose="020B0503020204020204" pitchFamily="34" charset="-122"/>
              </a:rPr>
              <a:t>拮抗剂；</a:t>
            </a:r>
            <a:r>
              <a:rPr lang="en-US" altLang="zh-CN" sz="1400" dirty="0">
                <a:solidFill>
                  <a:schemeClr val="tx1"/>
                </a:solidFill>
                <a:latin typeface="Microsoft YaHei UI" panose="020B0503020204020204" pitchFamily="34" charset="-122"/>
                <a:ea typeface="Microsoft YaHei UI" panose="020B0503020204020204" pitchFamily="34" charset="-122"/>
              </a:rPr>
              <a:t>UFH</a:t>
            </a:r>
            <a:r>
              <a:rPr lang="zh-CN" altLang="en-US" sz="1400" dirty="0">
                <a:solidFill>
                  <a:schemeClr val="tx1"/>
                </a:solidFill>
                <a:latin typeface="Microsoft YaHei UI" panose="020B0503020204020204" pitchFamily="34" charset="-122"/>
                <a:ea typeface="Microsoft YaHei UI" panose="020B0503020204020204" pitchFamily="34" charset="-122"/>
              </a:rPr>
              <a:t>：普通肝素；</a:t>
            </a:r>
            <a:r>
              <a:rPr lang="en-US" altLang="zh-CN" sz="1400" dirty="0" err="1">
                <a:solidFill>
                  <a:schemeClr val="tx1"/>
                </a:solidFill>
                <a:latin typeface="Microsoft YaHei UI" panose="020B0503020204020204" pitchFamily="34" charset="-122"/>
                <a:ea typeface="Microsoft YaHei UI" panose="020B0503020204020204" pitchFamily="34" charset="-122"/>
              </a:rPr>
              <a:t>FXa</a:t>
            </a:r>
            <a:r>
              <a:rPr lang="zh-CN" altLang="en-US" sz="1400" dirty="0">
                <a:solidFill>
                  <a:schemeClr val="tx1"/>
                </a:solidFill>
                <a:latin typeface="Microsoft YaHei UI" panose="020B0503020204020204" pitchFamily="34" charset="-122"/>
                <a:ea typeface="Microsoft YaHei UI" panose="020B0503020204020204" pitchFamily="34" charset="-122"/>
              </a:rPr>
              <a:t>：凝血因子</a:t>
            </a:r>
            <a:r>
              <a:rPr lang="en-US" altLang="zh-CN" sz="1400" dirty="0" err="1">
                <a:solidFill>
                  <a:schemeClr val="tx1"/>
                </a:solidFill>
                <a:latin typeface="Microsoft YaHei UI" panose="020B0503020204020204" pitchFamily="34" charset="-122"/>
                <a:ea typeface="Microsoft YaHei UI" panose="020B0503020204020204" pitchFamily="34" charset="-122"/>
              </a:rPr>
              <a:t>Xa</a:t>
            </a:r>
            <a:r>
              <a:rPr lang="zh-CN" altLang="en-US" sz="1400" dirty="0">
                <a:solidFill>
                  <a:schemeClr val="tx1"/>
                </a:solidFill>
                <a:latin typeface="Microsoft YaHei UI" panose="020B0503020204020204" pitchFamily="34" charset="-122"/>
                <a:ea typeface="Microsoft YaHei UI" panose="020B0503020204020204" pitchFamily="34" charset="-122"/>
              </a:rPr>
              <a:t>；</a:t>
            </a:r>
            <a:r>
              <a:rPr lang="en-US" altLang="zh-CN" sz="1400" dirty="0">
                <a:solidFill>
                  <a:schemeClr val="tx1"/>
                </a:solidFill>
                <a:latin typeface="Microsoft YaHei UI" panose="020B0503020204020204" pitchFamily="34" charset="-122"/>
                <a:ea typeface="Microsoft YaHei UI" panose="020B0503020204020204" pitchFamily="34" charset="-122"/>
              </a:rPr>
              <a:t>TxA</a:t>
            </a:r>
            <a:r>
              <a:rPr lang="en-US" altLang="zh-CN" sz="1400" baseline="-25000" dirty="0">
                <a:solidFill>
                  <a:schemeClr val="tx1"/>
                </a:solidFill>
                <a:latin typeface="Microsoft YaHei UI" panose="020B0503020204020204" pitchFamily="34" charset="-122"/>
                <a:ea typeface="Microsoft YaHei UI" panose="020B0503020204020204" pitchFamily="34" charset="-122"/>
              </a:rPr>
              <a:t>2</a:t>
            </a:r>
            <a:r>
              <a:rPr lang="zh-CN" altLang="en-US" sz="1400" dirty="0">
                <a:solidFill>
                  <a:schemeClr val="tx1"/>
                </a:solidFill>
                <a:latin typeface="Microsoft YaHei UI" panose="020B0503020204020204" pitchFamily="34" charset="-122"/>
                <a:ea typeface="Microsoft YaHei UI" panose="020B0503020204020204" pitchFamily="34" charset="-122"/>
              </a:rPr>
              <a:t>：血栓烷</a:t>
            </a:r>
            <a:r>
              <a:rPr lang="en-US" altLang="zh-CN" sz="1400" dirty="0">
                <a:solidFill>
                  <a:schemeClr val="tx1"/>
                </a:solidFill>
                <a:latin typeface="Microsoft YaHei UI" panose="020B0503020204020204" pitchFamily="34" charset="-122"/>
                <a:ea typeface="Microsoft YaHei UI" panose="020B0503020204020204" pitchFamily="34" charset="-122"/>
              </a:rPr>
              <a:t>A</a:t>
            </a:r>
            <a:r>
              <a:rPr lang="en-US" altLang="zh-CN" sz="1400" baseline="-25000" dirty="0">
                <a:solidFill>
                  <a:schemeClr val="tx1"/>
                </a:solidFill>
                <a:latin typeface="Microsoft YaHei UI" panose="020B0503020204020204" pitchFamily="34" charset="-122"/>
                <a:ea typeface="Microsoft YaHei UI" panose="020B0503020204020204" pitchFamily="34" charset="-122"/>
              </a:rPr>
              <a:t>2</a:t>
            </a:r>
            <a:r>
              <a:rPr lang="zh-CN" altLang="en-US" sz="1400" dirty="0">
                <a:solidFill>
                  <a:schemeClr val="tx1"/>
                </a:solidFill>
                <a:latin typeface="Microsoft YaHei UI" panose="020B0503020204020204" pitchFamily="34" charset="-122"/>
                <a:ea typeface="Microsoft YaHei UI" panose="020B0503020204020204" pitchFamily="34" charset="-122"/>
              </a:rPr>
              <a:t>；</a:t>
            </a:r>
            <a:r>
              <a:rPr lang="en-US" altLang="zh-CN" sz="1400" dirty="0">
                <a:solidFill>
                  <a:schemeClr val="tx1"/>
                </a:solidFill>
                <a:latin typeface="Microsoft YaHei UI" panose="020B0503020204020204" pitchFamily="34" charset="-122"/>
                <a:ea typeface="Microsoft YaHei UI" panose="020B0503020204020204" pitchFamily="34" charset="-122"/>
              </a:rPr>
              <a:t>GP</a:t>
            </a:r>
            <a:r>
              <a:rPr lang="zh-CN" altLang="en-US" sz="1400" dirty="0">
                <a:solidFill>
                  <a:schemeClr val="tx1"/>
                </a:solidFill>
                <a:latin typeface="Microsoft YaHei UI" panose="020B0503020204020204" pitchFamily="34" charset="-122"/>
                <a:ea typeface="Microsoft YaHei UI" panose="020B0503020204020204" pitchFamily="34" charset="-122"/>
              </a:rPr>
              <a:t>：糖蛋白；</a:t>
            </a:r>
            <a:r>
              <a:rPr lang="en-US" altLang="zh-CN" sz="1400" dirty="0">
                <a:solidFill>
                  <a:schemeClr val="tx1"/>
                </a:solidFill>
                <a:latin typeface="Microsoft YaHei UI" panose="020B0503020204020204" pitchFamily="34" charset="-122"/>
                <a:ea typeface="Microsoft YaHei UI" panose="020B0503020204020204" pitchFamily="34" charset="-122"/>
              </a:rPr>
              <a:t>ADP</a:t>
            </a:r>
            <a:r>
              <a:rPr lang="zh-CN" altLang="en-US" sz="1400" dirty="0">
                <a:solidFill>
                  <a:schemeClr val="tx1"/>
                </a:solidFill>
                <a:latin typeface="Microsoft YaHei UI" panose="020B0503020204020204" pitchFamily="34" charset="-122"/>
                <a:ea typeface="Microsoft YaHei UI" panose="020B0503020204020204" pitchFamily="34" charset="-122"/>
              </a:rPr>
              <a:t>：腺苷二磷酸</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13" name="文本框 12"/>
          <p:cNvSpPr txBox="1"/>
          <p:nvPr/>
        </p:nvSpPr>
        <p:spPr>
          <a:xfrm>
            <a:off x="540498" y="1214409"/>
            <a:ext cx="2905840" cy="1200329"/>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行</a:t>
            </a:r>
            <a:r>
              <a:rPr lang="en-US" altLang="zh-CN" sz="2400" b="1" dirty="0">
                <a:solidFill>
                  <a:srgbClr val="AE1022"/>
                </a:solidFill>
                <a:latin typeface="Microsoft YaHei UI" panose="020B0503020204020204" pitchFamily="34" charset="-122"/>
                <a:ea typeface="Microsoft YaHei UI" panose="020B0503020204020204" pitchFamily="34" charset="-122"/>
              </a:rPr>
              <a:t>PCI</a:t>
            </a:r>
            <a:r>
              <a:rPr lang="zh-CN" altLang="en-US" sz="2400" b="1" dirty="0">
                <a:solidFill>
                  <a:srgbClr val="AE1022"/>
                </a:solidFill>
                <a:latin typeface="Microsoft YaHei UI" panose="020B0503020204020204" pitchFamily="34" charset="-122"/>
                <a:ea typeface="Microsoft YaHei UI" panose="020B0503020204020204" pitchFamily="34" charset="-122"/>
              </a:rPr>
              <a:t>治疗的无房颤</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患者抗血栓策略</a:t>
            </a:r>
            <a:endParaRPr lang="zh-CN" altLang="en-US" sz="2400" b="1" dirty="0">
              <a:solidFill>
                <a:srgbClr val="AE1022"/>
              </a:solidFill>
            </a:endParaRPr>
          </a:p>
        </p:txBody>
      </p:sp>
      <p:sp>
        <p:nvSpPr>
          <p:cNvPr id="3" name="矩形 2"/>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l="221" t="1185" r="-74"/>
          <a:stretch>
            <a:fillRect/>
          </a:stretch>
        </p:blipFill>
        <p:spPr>
          <a:xfrm>
            <a:off x="3210676" y="82193"/>
            <a:ext cx="7181634" cy="6096786"/>
          </a:xfrm>
          <a:prstGeom prst="rect">
            <a:avLst/>
          </a:prstGeom>
        </p:spPr>
      </p:pic>
      <p:sp>
        <p:nvSpPr>
          <p:cNvPr id="7" name="矩形 6"/>
          <p:cNvSpPr/>
          <p:nvPr/>
        </p:nvSpPr>
        <p:spPr>
          <a:xfrm>
            <a:off x="7650930" y="796990"/>
            <a:ext cx="820209" cy="158151"/>
          </a:xfrm>
          <a:prstGeom prst="rect">
            <a:avLst/>
          </a:prstGeom>
          <a:solidFill>
            <a:srgbClr val="FFDC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依诺肝素</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 name="矩形 1"/>
          <p:cNvSpPr/>
          <p:nvPr/>
        </p:nvSpPr>
        <p:spPr>
          <a:xfrm>
            <a:off x="140448" y="4263776"/>
            <a:ext cx="2614779" cy="165853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a:t>
            </a:r>
            <a:r>
              <a:rPr lang="zh-CN" altLang="en-US" sz="1400" dirty="0">
                <a:solidFill>
                  <a:schemeClr val="tx1"/>
                </a:solidFill>
                <a:latin typeface="Microsoft YaHei UI" panose="020B0503020204020204" pitchFamily="34" charset="-122"/>
                <a:ea typeface="Microsoft YaHei UI" panose="020B0503020204020204" pitchFamily="34" charset="-122"/>
              </a:rPr>
              <a:t>：如患者无法应用替格瑞洛和普拉格雷，或进行</a:t>
            </a:r>
            <a:r>
              <a:rPr lang="en-US" altLang="zh-CN" sz="1400" dirty="0">
                <a:solidFill>
                  <a:schemeClr val="tx1"/>
                </a:solidFill>
                <a:latin typeface="Microsoft YaHei UI" panose="020B0503020204020204" pitchFamily="34" charset="-122"/>
                <a:ea typeface="Microsoft YaHei UI" panose="020B0503020204020204" pitchFamily="34" charset="-122"/>
              </a:rPr>
              <a:t>DAPT</a:t>
            </a:r>
            <a:r>
              <a:rPr lang="zh-CN" altLang="en-US" sz="1400" dirty="0">
                <a:solidFill>
                  <a:schemeClr val="tx1"/>
                </a:solidFill>
                <a:latin typeface="Microsoft YaHei UI" panose="020B0503020204020204" pitchFamily="34" charset="-122"/>
                <a:ea typeface="Microsoft YaHei UI" panose="020B0503020204020204" pitchFamily="34" charset="-122"/>
              </a:rPr>
              <a:t>降阶治疗，可在</a:t>
            </a:r>
            <a:r>
              <a:rPr lang="en-US" altLang="zh-CN" sz="1400" dirty="0">
                <a:solidFill>
                  <a:schemeClr val="tx1"/>
                </a:solidFill>
                <a:latin typeface="Microsoft YaHei UI" panose="020B0503020204020204" pitchFamily="34" charset="-122"/>
                <a:ea typeface="Microsoft YaHei UI" panose="020B0503020204020204" pitchFamily="34" charset="-122"/>
              </a:rPr>
              <a:t>12</a:t>
            </a:r>
            <a:r>
              <a:rPr lang="zh-CN" altLang="en-US" sz="1400" dirty="0">
                <a:solidFill>
                  <a:schemeClr val="tx1"/>
                </a:solidFill>
                <a:latin typeface="Microsoft YaHei UI" panose="020B0503020204020204" pitchFamily="34" charset="-122"/>
                <a:ea typeface="Microsoft YaHei UI" panose="020B0503020204020204" pitchFamily="34" charset="-122"/>
              </a:rPr>
              <a:t>个月</a:t>
            </a:r>
            <a:r>
              <a:rPr lang="en-US" altLang="zh-CN" sz="1400" dirty="0">
                <a:solidFill>
                  <a:schemeClr val="tx1"/>
                </a:solidFill>
                <a:latin typeface="Microsoft YaHei UI" panose="020B0503020204020204" pitchFamily="34" charset="-122"/>
                <a:ea typeface="Microsoft YaHei UI" panose="020B0503020204020204" pitchFamily="34" charset="-122"/>
              </a:rPr>
              <a:t>DAPT</a:t>
            </a:r>
            <a:r>
              <a:rPr lang="zh-CN" altLang="en-US" sz="1400" dirty="0">
                <a:solidFill>
                  <a:schemeClr val="tx1"/>
                </a:solidFill>
                <a:latin typeface="Microsoft YaHei UI" panose="020B0503020204020204" pitchFamily="34" charset="-122"/>
                <a:ea typeface="Microsoft YaHei UI" panose="020B0503020204020204" pitchFamily="34" charset="-122"/>
              </a:rPr>
              <a:t>中应用氯吡格雷；</a:t>
            </a:r>
            <a:r>
              <a:rPr lang="en-US" altLang="zh-CN" sz="1400" dirty="0">
                <a:solidFill>
                  <a:schemeClr val="tx1"/>
                </a:solidFill>
                <a:latin typeface="Microsoft YaHei UI" panose="020B0503020204020204" pitchFamily="34" charset="-122"/>
                <a:ea typeface="Microsoft YaHei UI" panose="020B0503020204020204" pitchFamily="34" charset="-122"/>
              </a:rPr>
              <a:t>b</a:t>
            </a:r>
            <a:r>
              <a:rPr lang="zh-CN" altLang="en-US" sz="1400" dirty="0">
                <a:solidFill>
                  <a:schemeClr val="tx1"/>
                </a:solidFill>
                <a:latin typeface="Microsoft YaHei UI" panose="020B0503020204020204" pitchFamily="34" charset="-122"/>
                <a:ea typeface="Microsoft YaHei UI" panose="020B0503020204020204" pitchFamily="34" charset="-122"/>
              </a:rPr>
              <a:t>：如患者无法应用替格瑞洛，可用普拉格雷或氯吡格雷</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 name="矩形 1"/>
          <p:cNvSpPr/>
          <p:nvPr/>
        </p:nvSpPr>
        <p:spPr>
          <a:xfrm>
            <a:off x="956562" y="6370442"/>
            <a:ext cx="2729225"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LD</a:t>
            </a:r>
            <a:r>
              <a:rPr lang="zh-CN" altLang="en-US" sz="1400" dirty="0">
                <a:solidFill>
                  <a:schemeClr val="tx1"/>
                </a:solidFill>
                <a:latin typeface="Microsoft YaHei UI" panose="020B0503020204020204" pitchFamily="34" charset="-122"/>
                <a:ea typeface="Microsoft YaHei UI" panose="020B0503020204020204" pitchFamily="34" charset="-122"/>
              </a:rPr>
              <a:t>：负荷剂量；</a:t>
            </a:r>
            <a:r>
              <a:rPr lang="en-US" altLang="zh-CN" sz="1400" dirty="0">
                <a:solidFill>
                  <a:schemeClr val="tx1"/>
                </a:solidFill>
                <a:latin typeface="Microsoft YaHei UI" panose="020B0503020204020204" pitchFamily="34" charset="-122"/>
                <a:ea typeface="Microsoft YaHei UI" panose="020B0503020204020204" pitchFamily="34" charset="-122"/>
              </a:rPr>
              <a:t>MD</a:t>
            </a:r>
            <a:r>
              <a:rPr lang="zh-CN" altLang="en-US" sz="1400" dirty="0">
                <a:solidFill>
                  <a:schemeClr val="tx1"/>
                </a:solidFill>
                <a:latin typeface="Microsoft YaHei UI" panose="020B0503020204020204" pitchFamily="34" charset="-122"/>
                <a:ea typeface="Microsoft YaHei UI" panose="020B0503020204020204" pitchFamily="34" charset="-122"/>
              </a:rPr>
              <a:t>：维持剂量</a:t>
            </a:r>
          </a:p>
        </p:txBody>
      </p:sp>
      <p:pic>
        <p:nvPicPr>
          <p:cNvPr id="3" name="图片 2">
            <a:extLst>
              <a:ext uri="{FF2B5EF4-FFF2-40B4-BE49-F238E27FC236}">
                <a16:creationId xmlns:a16="http://schemas.microsoft.com/office/drawing/2014/main" id="{4C00B200-69E8-4776-A57B-464AD38D18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1" y="1157091"/>
            <a:ext cx="7594457" cy="669729"/>
          </a:xfrm>
          <a:prstGeom prst="rect">
            <a:avLst/>
          </a:prstGeom>
        </p:spPr>
      </p:pic>
      <p:sp>
        <p:nvSpPr>
          <p:cNvPr id="7" name="矩形 6">
            <a:extLst>
              <a:ext uri="{FF2B5EF4-FFF2-40B4-BE49-F238E27FC236}">
                <a16:creationId xmlns:a16="http://schemas.microsoft.com/office/drawing/2014/main" id="{4D9CA5C3-29B8-4DC9-8547-9E5D5C581BB4}"/>
              </a:ext>
            </a:extLst>
          </p:cNvPr>
          <p:cNvSpPr/>
          <p:nvPr/>
        </p:nvSpPr>
        <p:spPr>
          <a:xfrm>
            <a:off x="965051" y="2202314"/>
            <a:ext cx="7597197" cy="6207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推荐对所有无禁忌证的患者口服阿司匹林治疗，</a:t>
            </a:r>
            <a:r>
              <a:rPr lang="en-US" altLang="zh-CN" dirty="0">
                <a:latin typeface="Microsoft YaHei UI" panose="020B0503020204020204" pitchFamily="34" charset="-122"/>
                <a:ea typeface="Microsoft YaHei UI" panose="020B0503020204020204" pitchFamily="34" charset="-122"/>
              </a:rPr>
              <a:t>LD</a:t>
            </a:r>
            <a:r>
              <a:rPr lang="zh-CN" altLang="en-US" dirty="0">
                <a:latin typeface="Microsoft YaHei UI" panose="020B0503020204020204" pitchFamily="34" charset="-122"/>
                <a:ea typeface="Microsoft YaHei UI" panose="020B0503020204020204" pitchFamily="34" charset="-122"/>
              </a:rPr>
              <a:t>为</a:t>
            </a:r>
            <a:r>
              <a:rPr lang="en-US" altLang="zh-CN" dirty="0">
                <a:latin typeface="Microsoft YaHei UI" panose="020B0503020204020204" pitchFamily="34" charset="-122"/>
                <a:ea typeface="Microsoft YaHei UI" panose="020B0503020204020204" pitchFamily="34" charset="-122"/>
              </a:rPr>
              <a:t>150-300mg</a:t>
            </a:r>
            <a:r>
              <a:rPr lang="zh-CN" altLang="en-US" dirty="0">
                <a:latin typeface="Microsoft YaHei UI" panose="020B0503020204020204" pitchFamily="34" charset="-122"/>
                <a:ea typeface="Microsoft YaHei UI" panose="020B0503020204020204" pitchFamily="34" charset="-122"/>
              </a:rPr>
              <a:t>（或静脉注射</a:t>
            </a:r>
            <a:r>
              <a:rPr lang="en-US" altLang="zh-CN" dirty="0">
                <a:latin typeface="Microsoft YaHei UI" panose="020B0503020204020204" pitchFamily="34" charset="-122"/>
                <a:ea typeface="Microsoft YaHei UI" panose="020B0503020204020204" pitchFamily="34" charset="-122"/>
              </a:rPr>
              <a:t>75-250mg</a:t>
            </a:r>
            <a:r>
              <a:rPr lang="zh-CN" altLang="en-US" dirty="0">
                <a:latin typeface="Microsoft YaHei UI" panose="020B0503020204020204" pitchFamily="34" charset="-122"/>
                <a:ea typeface="Microsoft YaHei UI" panose="020B0503020204020204" pitchFamily="34" charset="-122"/>
              </a:rPr>
              <a:t>），随后每日口服</a:t>
            </a:r>
            <a:r>
              <a:rPr lang="en-US" altLang="zh-CN" dirty="0">
                <a:latin typeface="Microsoft YaHei UI" panose="020B0503020204020204" pitchFamily="34" charset="-122"/>
                <a:ea typeface="Microsoft YaHei UI" panose="020B0503020204020204" pitchFamily="34" charset="-122"/>
              </a:rPr>
              <a:t>75-100mg</a:t>
            </a:r>
            <a:r>
              <a:rPr lang="zh-CN" altLang="en-US" dirty="0">
                <a:latin typeface="Microsoft YaHei UI" panose="020B0503020204020204" pitchFamily="34" charset="-122"/>
                <a:ea typeface="Microsoft YaHei UI" panose="020B0503020204020204" pitchFamily="34" charset="-122"/>
              </a:rPr>
              <a:t>长期维持</a:t>
            </a:r>
          </a:p>
        </p:txBody>
      </p:sp>
      <p:sp>
        <p:nvSpPr>
          <p:cNvPr id="9" name="矩形 8">
            <a:extLst>
              <a:ext uri="{FF2B5EF4-FFF2-40B4-BE49-F238E27FC236}">
                <a16:creationId xmlns:a16="http://schemas.microsoft.com/office/drawing/2014/main" id="{231F589A-3229-423C-9E36-333CFB4DE42B}"/>
              </a:ext>
            </a:extLst>
          </p:cNvPr>
          <p:cNvSpPr/>
          <p:nvPr/>
        </p:nvSpPr>
        <p:spPr>
          <a:xfrm>
            <a:off x="956562" y="3796770"/>
            <a:ext cx="7605400" cy="6142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对于行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治疗的初次应用</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受体抑制剂患者推荐普拉格雷（</a:t>
            </a:r>
            <a:r>
              <a:rPr lang="en-US" altLang="zh-CN" dirty="0">
                <a:latin typeface="Microsoft YaHei UI" panose="020B0503020204020204" pitchFamily="34" charset="-122"/>
                <a:ea typeface="Microsoft YaHei UI" panose="020B0503020204020204" pitchFamily="34" charset="-122"/>
              </a:rPr>
              <a:t>LD</a:t>
            </a:r>
            <a:r>
              <a:rPr lang="zh-CN" altLang="en-US"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60mg</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MD</a:t>
            </a:r>
            <a:r>
              <a:rPr lang="zh-CN" altLang="en-US"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10mg/</a:t>
            </a:r>
            <a:r>
              <a:rPr lang="zh-CN" altLang="en-US" dirty="0">
                <a:latin typeface="Microsoft YaHei UI" panose="020B0503020204020204" pitchFamily="34" charset="-122"/>
                <a:ea typeface="Microsoft YaHei UI" panose="020B0503020204020204" pitchFamily="34" charset="-122"/>
              </a:rPr>
              <a:t>日，年龄≥</a:t>
            </a:r>
            <a:r>
              <a:rPr lang="en-US" altLang="zh-CN" dirty="0">
                <a:latin typeface="Microsoft YaHei UI" panose="020B0503020204020204" pitchFamily="34" charset="-122"/>
                <a:ea typeface="Microsoft YaHei UI" panose="020B0503020204020204" pitchFamily="34" charset="-122"/>
              </a:rPr>
              <a:t>75</a:t>
            </a:r>
            <a:r>
              <a:rPr lang="zh-CN" altLang="en-US" dirty="0">
                <a:latin typeface="Microsoft YaHei UI" panose="020B0503020204020204" pitchFamily="34" charset="-122"/>
                <a:ea typeface="Microsoft YaHei UI" panose="020B0503020204020204" pitchFamily="34" charset="-122"/>
              </a:rPr>
              <a:t>岁或体重＜</a:t>
            </a:r>
            <a:r>
              <a:rPr lang="en-US" altLang="zh-CN" dirty="0">
                <a:latin typeface="Microsoft YaHei UI" panose="020B0503020204020204" pitchFamily="34" charset="-122"/>
                <a:ea typeface="Microsoft YaHei UI" panose="020B0503020204020204" pitchFamily="34" charset="-122"/>
              </a:rPr>
              <a:t>60kg</a:t>
            </a:r>
            <a:r>
              <a:rPr lang="zh-CN" altLang="en-US"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5mg/</a:t>
            </a:r>
            <a:r>
              <a:rPr lang="zh-CN" altLang="en-US" dirty="0">
                <a:latin typeface="Microsoft YaHei UI" panose="020B0503020204020204" pitchFamily="34" charset="-122"/>
                <a:ea typeface="Microsoft YaHei UI" panose="020B0503020204020204" pitchFamily="34" charset="-122"/>
              </a:rPr>
              <a:t>日）</a:t>
            </a:r>
          </a:p>
        </p:txBody>
      </p:sp>
      <p:pic>
        <p:nvPicPr>
          <p:cNvPr id="10" name="图片 9">
            <a:extLst>
              <a:ext uri="{FF2B5EF4-FFF2-40B4-BE49-F238E27FC236}">
                <a16:creationId xmlns:a16="http://schemas.microsoft.com/office/drawing/2014/main" id="{FB493F55-268B-4092-9DAC-C8E44793D0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2" y="1805426"/>
            <a:ext cx="9313747" cy="375008"/>
          </a:xfrm>
          <a:prstGeom prst="rect">
            <a:avLst/>
          </a:prstGeom>
        </p:spPr>
      </p:pic>
      <p:sp>
        <p:nvSpPr>
          <p:cNvPr id="11" name="文本框 10">
            <a:extLst>
              <a:ext uri="{FF2B5EF4-FFF2-40B4-BE49-F238E27FC236}">
                <a16:creationId xmlns:a16="http://schemas.microsoft.com/office/drawing/2014/main" id="{37E559CF-61FC-4859-BBD6-ACBEA9C08AF9}"/>
              </a:ext>
            </a:extLst>
          </p:cNvPr>
          <p:cNvSpPr txBox="1"/>
          <p:nvPr/>
        </p:nvSpPr>
        <p:spPr>
          <a:xfrm>
            <a:off x="973019" y="1825517"/>
            <a:ext cx="158615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抗血小板治疗</a:t>
            </a:r>
          </a:p>
        </p:txBody>
      </p:sp>
      <p:pic>
        <p:nvPicPr>
          <p:cNvPr id="12" name="图片 11">
            <a:extLst>
              <a:ext uri="{FF2B5EF4-FFF2-40B4-BE49-F238E27FC236}">
                <a16:creationId xmlns:a16="http://schemas.microsoft.com/office/drawing/2014/main" id="{23B2CB58-3BCE-455D-92B7-140B3E5108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6408" y="1157091"/>
            <a:ext cx="793938" cy="669729"/>
          </a:xfrm>
          <a:prstGeom prst="rect">
            <a:avLst/>
          </a:prstGeom>
        </p:spPr>
      </p:pic>
      <p:pic>
        <p:nvPicPr>
          <p:cNvPr id="14" name="图片 13">
            <a:extLst>
              <a:ext uri="{FF2B5EF4-FFF2-40B4-BE49-F238E27FC236}">
                <a16:creationId xmlns:a16="http://schemas.microsoft.com/office/drawing/2014/main" id="{FAF8B24B-798F-402A-91EB-9692EBAB9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4150" y="1157091"/>
            <a:ext cx="824229" cy="669729"/>
          </a:xfrm>
          <a:prstGeom prst="rect">
            <a:avLst/>
          </a:prstGeom>
        </p:spPr>
      </p:pic>
      <p:sp>
        <p:nvSpPr>
          <p:cNvPr id="17" name="文本框 16">
            <a:extLst>
              <a:ext uri="{FF2B5EF4-FFF2-40B4-BE49-F238E27FC236}">
                <a16:creationId xmlns:a16="http://schemas.microsoft.com/office/drawing/2014/main" id="{2170C9F8-7E6D-4B1B-A613-036B587E4941}"/>
              </a:ext>
            </a:extLst>
          </p:cNvPr>
          <p:cNvSpPr txBox="1"/>
          <p:nvPr/>
        </p:nvSpPr>
        <p:spPr>
          <a:xfrm>
            <a:off x="974632" y="1307289"/>
            <a:ext cx="205483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33" name="文本框 32">
            <a:extLst>
              <a:ext uri="{FF2B5EF4-FFF2-40B4-BE49-F238E27FC236}">
                <a16:creationId xmlns:a16="http://schemas.microsoft.com/office/drawing/2014/main" id="{D381A8A1-A138-48CD-9A6C-1B1D0D42016E}"/>
              </a:ext>
            </a:extLst>
          </p:cNvPr>
          <p:cNvSpPr txBox="1"/>
          <p:nvPr/>
        </p:nvSpPr>
        <p:spPr>
          <a:xfrm>
            <a:off x="8700439" y="1174639"/>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35" name="文本框 34">
            <a:extLst>
              <a:ext uri="{FF2B5EF4-FFF2-40B4-BE49-F238E27FC236}">
                <a16:creationId xmlns:a16="http://schemas.microsoft.com/office/drawing/2014/main" id="{7174EF6C-1185-48F9-8674-61F4C2D04FB3}"/>
              </a:ext>
            </a:extLst>
          </p:cNvPr>
          <p:cNvSpPr txBox="1"/>
          <p:nvPr/>
        </p:nvSpPr>
        <p:spPr>
          <a:xfrm>
            <a:off x="9540741" y="1174639"/>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37" name="文本框 36">
            <a:extLst>
              <a:ext uri="{FF2B5EF4-FFF2-40B4-BE49-F238E27FC236}">
                <a16:creationId xmlns:a16="http://schemas.microsoft.com/office/drawing/2014/main" id="{E697D877-A1E5-462F-AE5B-5FEE61553EC0}"/>
              </a:ext>
            </a:extLst>
          </p:cNvPr>
          <p:cNvSpPr txBox="1"/>
          <p:nvPr/>
        </p:nvSpPr>
        <p:spPr>
          <a:xfrm>
            <a:off x="1032657" y="407043"/>
            <a:ext cx="9197696"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行</a:t>
            </a:r>
            <a:r>
              <a:rPr lang="en-US" altLang="zh-CN" sz="2400" b="1" dirty="0">
                <a:solidFill>
                  <a:srgbClr val="AE1022"/>
                </a:solidFill>
                <a:latin typeface="Microsoft YaHei UI" panose="020B0503020204020204" pitchFamily="34" charset="-122"/>
                <a:ea typeface="Microsoft YaHei UI" panose="020B0503020204020204" pitchFamily="34" charset="-122"/>
              </a:rPr>
              <a:t>PCI</a:t>
            </a:r>
            <a:r>
              <a:rPr lang="zh-CN" altLang="en-US" sz="2400" b="1" dirty="0">
                <a:solidFill>
                  <a:srgbClr val="AE1022"/>
                </a:solidFill>
                <a:latin typeface="Microsoft YaHei UI" panose="020B0503020204020204" pitchFamily="34" charset="-122"/>
                <a:ea typeface="Microsoft YaHei UI" panose="020B0503020204020204" pitchFamily="34" charset="-122"/>
              </a:rPr>
              <a:t>治疗的无房颤</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患者抗血栓治疗指南推荐</a:t>
            </a:r>
            <a:endParaRPr lang="zh-CN" altLang="en-US" sz="2400" b="1" dirty="0">
              <a:solidFill>
                <a:srgbClr val="AE1022"/>
              </a:solidFill>
            </a:endParaRPr>
          </a:p>
        </p:txBody>
      </p:sp>
      <p:sp>
        <p:nvSpPr>
          <p:cNvPr id="39" name="矩形 38">
            <a:extLst>
              <a:ext uri="{FF2B5EF4-FFF2-40B4-BE49-F238E27FC236}">
                <a16:creationId xmlns:a16="http://schemas.microsoft.com/office/drawing/2014/main" id="{35786B11-D794-4BA3-BA1A-AD5A5A93F03E}"/>
              </a:ext>
            </a:extLst>
          </p:cNvPr>
          <p:cNvSpPr/>
          <p:nvPr/>
        </p:nvSpPr>
        <p:spPr>
          <a:xfrm>
            <a:off x="956562" y="4790669"/>
            <a:ext cx="7605400"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仅当替格瑞洛和普拉格雷无法获得、不能耐受或存在禁忌证时，推荐应用氯吡格雷治疗（</a:t>
            </a:r>
            <a:r>
              <a:rPr lang="en-US" altLang="zh-CN" dirty="0">
                <a:latin typeface="Microsoft YaHei UI" panose="020B0503020204020204" pitchFamily="34" charset="-122"/>
                <a:ea typeface="Microsoft YaHei UI" panose="020B0503020204020204" pitchFamily="34" charset="-122"/>
              </a:rPr>
              <a:t>LD 300-600mg</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MD 75mg/</a:t>
            </a:r>
            <a:r>
              <a:rPr lang="zh-CN" altLang="en-US" dirty="0">
                <a:latin typeface="Microsoft YaHei UI" panose="020B0503020204020204" pitchFamily="34" charset="-122"/>
                <a:ea typeface="Microsoft YaHei UI" panose="020B0503020204020204" pitchFamily="34" charset="-122"/>
              </a:rPr>
              <a:t>日）</a:t>
            </a:r>
          </a:p>
        </p:txBody>
      </p:sp>
      <p:sp>
        <p:nvSpPr>
          <p:cNvPr id="41" name="矩形 40">
            <a:extLst>
              <a:ext uri="{FF2B5EF4-FFF2-40B4-BE49-F238E27FC236}">
                <a16:creationId xmlns:a16="http://schemas.microsoft.com/office/drawing/2014/main" id="{FEAD6344-4E80-43AE-9FCF-BB3F971CA538}"/>
              </a:ext>
            </a:extLst>
          </p:cNvPr>
          <p:cNvSpPr/>
          <p:nvPr/>
        </p:nvSpPr>
        <p:spPr>
          <a:xfrm>
            <a:off x="956562" y="4446933"/>
            <a:ext cx="7605400"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无论侵入或保守治疗均推荐替格瑞洛（</a:t>
            </a:r>
            <a:r>
              <a:rPr lang="en-US" altLang="zh-CN" dirty="0">
                <a:latin typeface="Microsoft YaHei UI" panose="020B0503020204020204" pitchFamily="34" charset="-122"/>
                <a:ea typeface="Microsoft YaHei UI" panose="020B0503020204020204" pitchFamily="34" charset="-122"/>
              </a:rPr>
              <a:t>LD</a:t>
            </a:r>
            <a:r>
              <a:rPr lang="zh-CN" altLang="en-US"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180mg</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MD</a:t>
            </a:r>
            <a:r>
              <a:rPr lang="zh-CN" altLang="en-US"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90mg  2/</a:t>
            </a:r>
            <a:r>
              <a:rPr lang="zh-CN" altLang="en-US" dirty="0">
                <a:latin typeface="Microsoft YaHei UI" panose="020B0503020204020204" pitchFamily="34" charset="-122"/>
                <a:ea typeface="Microsoft YaHei UI" panose="020B0503020204020204" pitchFamily="34" charset="-122"/>
              </a:rPr>
              <a:t>日）</a:t>
            </a:r>
          </a:p>
        </p:txBody>
      </p:sp>
      <p:pic>
        <p:nvPicPr>
          <p:cNvPr id="43" name="图片 42">
            <a:extLst>
              <a:ext uri="{FF2B5EF4-FFF2-40B4-BE49-F238E27FC236}">
                <a16:creationId xmlns:a16="http://schemas.microsoft.com/office/drawing/2014/main" id="{EB23B6A6-1C67-435D-9AF7-26C0470F3F04}"/>
              </a:ext>
            </a:extLst>
          </p:cNvPr>
          <p:cNvPicPr>
            <a:picLocks noChangeAspect="1"/>
          </p:cNvPicPr>
          <p:nvPr/>
        </p:nvPicPr>
        <p:blipFill rotWithShape="1">
          <a:blip r:embed="rId4">
            <a:extLst>
              <a:ext uri="{28A0092B-C50C-407E-A947-70E740481C1C}">
                <a14:useLocalDpi xmlns:a14="http://schemas.microsoft.com/office/drawing/2010/main" val="0"/>
              </a:ext>
            </a:extLst>
          </a:blip>
          <a:srcRect b="44751"/>
          <a:stretch/>
        </p:blipFill>
        <p:spPr>
          <a:xfrm>
            <a:off x="8601879" y="2193104"/>
            <a:ext cx="1686499" cy="3220725"/>
          </a:xfrm>
          <a:prstGeom prst="rect">
            <a:avLst/>
          </a:prstGeom>
        </p:spPr>
      </p:pic>
      <p:sp>
        <p:nvSpPr>
          <p:cNvPr id="45" name="矩形 44">
            <a:extLst>
              <a:ext uri="{FF2B5EF4-FFF2-40B4-BE49-F238E27FC236}">
                <a16:creationId xmlns:a16="http://schemas.microsoft.com/office/drawing/2014/main" id="{5113669F-96E8-4E35-9DE1-0B76F3BC1E88}"/>
              </a:ext>
            </a:extLst>
          </p:cNvPr>
          <p:cNvSpPr/>
          <p:nvPr/>
        </p:nvSpPr>
        <p:spPr>
          <a:xfrm>
            <a:off x="966701" y="2864696"/>
            <a:ext cx="7597197" cy="88883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除存在禁忌证或较高出血风险外，推荐患者在阿司匹林基础上联用一种</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受体抑制剂至少</a:t>
            </a:r>
            <a:r>
              <a:rPr lang="en-US" altLang="zh-CN" dirty="0">
                <a:latin typeface="Microsoft YaHei UI" panose="020B0503020204020204" pitchFamily="34" charset="-122"/>
                <a:ea typeface="Microsoft YaHei UI" panose="020B0503020204020204" pitchFamily="34" charset="-122"/>
              </a:rPr>
              <a:t>12</a:t>
            </a:r>
            <a:r>
              <a:rPr lang="zh-CN" altLang="en-US" dirty="0">
                <a:latin typeface="Microsoft YaHei UI" panose="020B0503020204020204" pitchFamily="34" charset="-122"/>
                <a:ea typeface="Microsoft YaHei UI" panose="020B0503020204020204" pitchFamily="34" charset="-122"/>
              </a:rPr>
              <a:t>个月，</a:t>
            </a:r>
            <a:endParaRPr lang="en-US" altLang="zh-CN" dirty="0">
              <a:latin typeface="Microsoft YaHei UI" panose="020B0503020204020204" pitchFamily="34" charset="-122"/>
              <a:ea typeface="Microsoft YaHei UI" panose="020B0503020204020204" pitchFamily="34" charset="-122"/>
            </a:endParaRPr>
          </a:p>
          <a:p>
            <a:r>
              <a:rPr lang="zh-CN" altLang="en-US" dirty="0">
                <a:latin typeface="Microsoft YaHei UI" panose="020B0503020204020204" pitchFamily="34" charset="-122"/>
                <a:ea typeface="Microsoft YaHei UI" panose="020B0503020204020204" pitchFamily="34" charset="-122"/>
              </a:rPr>
              <a:t>药物选择包括：</a:t>
            </a:r>
            <a:endParaRPr lang="en-US" altLang="zh-CN" dirty="0">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1" y="1393393"/>
            <a:ext cx="7594457" cy="669729"/>
          </a:xfrm>
          <a:prstGeom prst="rect">
            <a:avLst/>
          </a:prstGeom>
        </p:spPr>
      </p:pic>
      <p:sp>
        <p:nvSpPr>
          <p:cNvPr id="15" name="矩形 14"/>
          <p:cNvSpPr/>
          <p:nvPr/>
        </p:nvSpPr>
        <p:spPr>
          <a:xfrm>
            <a:off x="965051" y="2438616"/>
            <a:ext cx="7597197" cy="29293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患者应考虑应用普拉格雷优先于替格瑞洛</a:t>
            </a:r>
          </a:p>
        </p:txBody>
      </p:sp>
      <p:sp>
        <p:nvSpPr>
          <p:cNvPr id="16" name="矩形 15"/>
          <p:cNvSpPr/>
          <p:nvPr/>
        </p:nvSpPr>
        <p:spPr>
          <a:xfrm>
            <a:off x="956562" y="3446470"/>
            <a:ext cx="7605400" cy="6142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可考虑对无早期侵入性治疗计划及无高出血风险的患者行</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受体抑制剂预治疗</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32" y="2041728"/>
            <a:ext cx="9313747" cy="375008"/>
          </a:xfrm>
          <a:prstGeom prst="rect">
            <a:avLst/>
          </a:prstGeom>
        </p:spPr>
      </p:pic>
      <p:sp>
        <p:nvSpPr>
          <p:cNvPr id="19" name="文本框 18"/>
          <p:cNvSpPr txBox="1"/>
          <p:nvPr/>
        </p:nvSpPr>
        <p:spPr>
          <a:xfrm>
            <a:off x="973019" y="2061819"/>
            <a:ext cx="158615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抗血小板治疗</a:t>
            </a: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6408" y="1393393"/>
            <a:ext cx="793938" cy="669729"/>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4150" y="1393393"/>
            <a:ext cx="824229" cy="669729"/>
          </a:xfrm>
          <a:prstGeom prst="rect">
            <a:avLst/>
          </a:prstGeom>
        </p:spPr>
      </p:pic>
      <p:sp>
        <p:nvSpPr>
          <p:cNvPr id="23" name="文本框 22"/>
          <p:cNvSpPr txBox="1"/>
          <p:nvPr/>
        </p:nvSpPr>
        <p:spPr>
          <a:xfrm>
            <a:off x="974632" y="1543591"/>
            <a:ext cx="205483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700439" y="1410941"/>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540741" y="1410941"/>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1032657" y="643345"/>
            <a:ext cx="9197696"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行</a:t>
            </a:r>
            <a:r>
              <a:rPr lang="en-US" altLang="zh-CN" sz="2400" b="1" dirty="0">
                <a:solidFill>
                  <a:srgbClr val="AE1022"/>
                </a:solidFill>
                <a:latin typeface="Microsoft YaHei UI" panose="020B0503020204020204" pitchFamily="34" charset="-122"/>
                <a:ea typeface="Microsoft YaHei UI" panose="020B0503020204020204" pitchFamily="34" charset="-122"/>
              </a:rPr>
              <a:t>PCI</a:t>
            </a:r>
            <a:r>
              <a:rPr lang="zh-CN" altLang="en-US" sz="2400" b="1" dirty="0">
                <a:solidFill>
                  <a:srgbClr val="AE1022"/>
                </a:solidFill>
                <a:latin typeface="Microsoft YaHei UI" panose="020B0503020204020204" pitchFamily="34" charset="-122"/>
                <a:ea typeface="Microsoft YaHei UI" panose="020B0503020204020204" pitchFamily="34" charset="-122"/>
              </a:rPr>
              <a:t>治疗的无房颤</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患者抗血栓治疗指南推荐</a:t>
            </a:r>
            <a:endParaRPr lang="zh-CN" altLang="en-US" sz="2400" b="1" dirty="0">
              <a:solidFill>
                <a:srgbClr val="AE1022"/>
              </a:solidFill>
            </a:endParaRPr>
          </a:p>
        </p:txBody>
      </p:sp>
      <p:sp>
        <p:nvSpPr>
          <p:cNvPr id="29" name="矩形 28"/>
          <p:cNvSpPr/>
          <p:nvPr/>
        </p:nvSpPr>
        <p:spPr>
          <a:xfrm>
            <a:off x="956562" y="4440710"/>
            <a:ext cx="7605400"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不推荐对冠脉解剖不明确且计划行侵入性治疗的患者常规应用</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受体抑制剂预治疗</a:t>
            </a:r>
          </a:p>
        </p:txBody>
      </p:sp>
      <p:sp>
        <p:nvSpPr>
          <p:cNvPr id="30" name="矩形 29"/>
          <p:cNvSpPr/>
          <p:nvPr/>
        </p:nvSpPr>
        <p:spPr>
          <a:xfrm>
            <a:off x="956562" y="4096456"/>
            <a:ext cx="7605400"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不推荐对冠脉解剖不明确的患者应用</a:t>
            </a:r>
            <a:r>
              <a:rPr lang="en-US" altLang="zh-CN" dirty="0">
                <a:latin typeface="Microsoft YaHei UI" panose="020B0503020204020204" pitchFamily="34" charset="-122"/>
                <a:ea typeface="Microsoft YaHei UI" panose="020B0503020204020204" pitchFamily="34" charset="-122"/>
              </a:rPr>
              <a:t>GP IIb/IIIa</a:t>
            </a:r>
            <a:r>
              <a:rPr lang="zh-CN" altLang="en-US" dirty="0">
                <a:latin typeface="Microsoft YaHei UI" panose="020B0503020204020204" pitchFamily="34" charset="-122"/>
                <a:ea typeface="Microsoft YaHei UI" panose="020B0503020204020204" pitchFamily="34" charset="-122"/>
              </a:rPr>
              <a:t>拮抗剂治疗</a:t>
            </a:r>
          </a:p>
        </p:txBody>
      </p:sp>
      <p:sp>
        <p:nvSpPr>
          <p:cNvPr id="5" name="矩形 4"/>
          <p:cNvSpPr/>
          <p:nvPr/>
        </p:nvSpPr>
        <p:spPr>
          <a:xfrm>
            <a:off x="966701" y="3100998"/>
            <a:ext cx="7597197" cy="31719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可考虑对行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的初始</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受体抑制剂患者应用坎格瑞洛</a:t>
            </a:r>
            <a:endParaRPr lang="en-US" altLang="zh-CN" dirty="0">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t="54915"/>
          <a:stretch>
            <a:fillRect/>
          </a:stretch>
        </p:blipFill>
        <p:spPr>
          <a:xfrm>
            <a:off x="8601880" y="2416736"/>
            <a:ext cx="1686499" cy="2628276"/>
          </a:xfrm>
          <a:prstGeom prst="rect">
            <a:avLst/>
          </a:prstGeom>
        </p:spPr>
      </p:pic>
      <p:sp>
        <p:nvSpPr>
          <p:cNvPr id="7" name="矩形 6"/>
          <p:cNvSpPr/>
          <p:nvPr/>
        </p:nvSpPr>
        <p:spPr>
          <a:xfrm>
            <a:off x="973455" y="2774315"/>
            <a:ext cx="7590790" cy="29273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当有证据提示无复流或血栓并发症时，考虑应用</a:t>
            </a:r>
            <a:r>
              <a:rPr lang="en-US" altLang="zh-CN" dirty="0">
                <a:latin typeface="Microsoft YaHei UI" panose="020B0503020204020204" pitchFamily="34" charset="-122"/>
                <a:ea typeface="Microsoft YaHei UI" panose="020B0503020204020204" pitchFamily="34" charset="-122"/>
              </a:rPr>
              <a:t>GP IIb/IIIa</a:t>
            </a:r>
            <a:r>
              <a:rPr lang="zh-CN" altLang="en-US" dirty="0">
                <a:latin typeface="Microsoft YaHei UI" panose="020B0503020204020204" pitchFamily="34" charset="-122"/>
                <a:ea typeface="Microsoft YaHei UI" panose="020B0503020204020204" pitchFamily="34" charset="-122"/>
              </a:rPr>
              <a:t>拮抗剂补救</a:t>
            </a:r>
          </a:p>
        </p:txBody>
      </p:sp>
      <p:sp>
        <p:nvSpPr>
          <p:cNvPr id="4" name="矩形: 圆角 3"/>
          <p:cNvSpPr/>
          <p:nvPr/>
        </p:nvSpPr>
        <p:spPr>
          <a:xfrm>
            <a:off x="849362" y="2412664"/>
            <a:ext cx="10551560" cy="379796"/>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9" name="文本框 8"/>
          <p:cNvSpPr txBox="1"/>
          <p:nvPr/>
        </p:nvSpPr>
        <p:spPr>
          <a:xfrm>
            <a:off x="10466312" y="2362774"/>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10" name="矩形: 圆角 9"/>
          <p:cNvSpPr/>
          <p:nvPr/>
        </p:nvSpPr>
        <p:spPr>
          <a:xfrm>
            <a:off x="849362" y="4403743"/>
            <a:ext cx="10551560" cy="656025"/>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11" name="文本框 10"/>
          <p:cNvSpPr txBox="1"/>
          <p:nvPr/>
        </p:nvSpPr>
        <p:spPr>
          <a:xfrm>
            <a:off x="10445764" y="4514438"/>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12" name="矩形: 圆角 11"/>
          <p:cNvSpPr/>
          <p:nvPr/>
        </p:nvSpPr>
        <p:spPr>
          <a:xfrm>
            <a:off x="849362" y="3461226"/>
            <a:ext cx="10551560" cy="630461"/>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14" name="文本框 13"/>
          <p:cNvSpPr txBox="1"/>
          <p:nvPr/>
        </p:nvSpPr>
        <p:spPr>
          <a:xfrm>
            <a:off x="10461691" y="3517940"/>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36" y="874556"/>
            <a:ext cx="8448319" cy="669729"/>
          </a:xfrm>
          <a:prstGeom prst="rect">
            <a:avLst/>
          </a:prstGeom>
        </p:spPr>
      </p:pic>
      <p:sp>
        <p:nvSpPr>
          <p:cNvPr id="16" name="矩形 15"/>
          <p:cNvSpPr/>
          <p:nvPr/>
        </p:nvSpPr>
        <p:spPr>
          <a:xfrm>
            <a:off x="392337" y="1921213"/>
            <a:ext cx="8441192" cy="6142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推荐对所有患者在诊断时，尤其血运重建时根据缺血及出血风险在抗血小板治疗的基础上应用肠外抗凝治疗</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37" y="1522891"/>
            <a:ext cx="10167609" cy="375008"/>
          </a:xfrm>
          <a:prstGeom prst="rect">
            <a:avLst/>
          </a:prstGeom>
        </p:spPr>
      </p:pic>
      <p:sp>
        <p:nvSpPr>
          <p:cNvPr id="19" name="文本框 18"/>
          <p:cNvSpPr txBox="1"/>
          <p:nvPr/>
        </p:nvSpPr>
        <p:spPr>
          <a:xfrm>
            <a:off x="392337" y="1542982"/>
            <a:ext cx="2748951"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围术期抗凝治疗</a:t>
            </a: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7975" y="874556"/>
            <a:ext cx="793938" cy="669729"/>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5717" y="874556"/>
            <a:ext cx="824229" cy="669729"/>
          </a:xfrm>
          <a:prstGeom prst="rect">
            <a:avLst/>
          </a:prstGeom>
        </p:spPr>
      </p:pic>
      <p:sp>
        <p:nvSpPr>
          <p:cNvPr id="23" name="文本框 22"/>
          <p:cNvSpPr txBox="1"/>
          <p:nvPr/>
        </p:nvSpPr>
        <p:spPr>
          <a:xfrm>
            <a:off x="421092" y="1024754"/>
            <a:ext cx="2879938"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972006" y="892104"/>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812308" y="892104"/>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8" name="文本框 27"/>
          <p:cNvSpPr txBox="1"/>
          <p:nvPr/>
        </p:nvSpPr>
        <p:spPr>
          <a:xfrm>
            <a:off x="1032657" y="407043"/>
            <a:ext cx="9197696"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行</a:t>
            </a:r>
            <a:r>
              <a:rPr lang="en-US" altLang="zh-CN" sz="2400" b="1" dirty="0">
                <a:solidFill>
                  <a:srgbClr val="AE1022"/>
                </a:solidFill>
                <a:latin typeface="Microsoft YaHei UI" panose="020B0503020204020204" pitchFamily="34" charset="-122"/>
                <a:ea typeface="Microsoft YaHei UI" panose="020B0503020204020204" pitchFamily="34" charset="-122"/>
              </a:rPr>
              <a:t>PCI</a:t>
            </a:r>
            <a:r>
              <a:rPr lang="zh-CN" altLang="en-US" sz="2400" b="1" dirty="0">
                <a:solidFill>
                  <a:srgbClr val="AE1022"/>
                </a:solidFill>
                <a:latin typeface="Microsoft YaHei UI" panose="020B0503020204020204" pitchFamily="34" charset="-122"/>
                <a:ea typeface="Microsoft YaHei UI" panose="020B0503020204020204" pitchFamily="34" charset="-122"/>
              </a:rPr>
              <a:t>治疗的无房颤</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患者抗血栓治疗指南推荐</a:t>
            </a:r>
            <a:endParaRPr lang="zh-CN" altLang="en-US" sz="2400" b="1" dirty="0">
              <a:solidFill>
                <a:srgbClr val="AE1022"/>
              </a:solidFill>
            </a:endParaRPr>
          </a:p>
        </p:txBody>
      </p:sp>
      <p:sp>
        <p:nvSpPr>
          <p:cNvPr id="29" name="矩形 28"/>
          <p:cNvSpPr/>
          <p:nvPr/>
        </p:nvSpPr>
        <p:spPr>
          <a:xfrm>
            <a:off x="392336" y="3875865"/>
            <a:ext cx="8441193"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推荐根据缺血和出血风险，有效性和安全性评估抗凝治疗</a:t>
            </a:r>
          </a:p>
        </p:txBody>
      </p:sp>
      <p:sp>
        <p:nvSpPr>
          <p:cNvPr id="30" name="矩形 29"/>
          <p:cNvSpPr/>
          <p:nvPr/>
        </p:nvSpPr>
        <p:spPr>
          <a:xfrm>
            <a:off x="392336" y="3222898"/>
            <a:ext cx="8441193" cy="61420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当因药物治疗或运输条件限制，不能在规定时间内转运行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，推荐应用磺达肝癸钠；在此情况下，推荐在</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时单次应用普通肝素</a:t>
            </a:r>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7003" y="1896775"/>
            <a:ext cx="1714503" cy="3985410"/>
          </a:xfrm>
          <a:prstGeom prst="rect">
            <a:avLst/>
          </a:prstGeom>
        </p:spPr>
      </p:pic>
      <p:sp>
        <p:nvSpPr>
          <p:cNvPr id="11" name="矩形 10"/>
          <p:cNvSpPr/>
          <p:nvPr/>
        </p:nvSpPr>
        <p:spPr>
          <a:xfrm>
            <a:off x="392337" y="2575489"/>
            <a:ext cx="8441192" cy="6142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治疗患者推荐静注普通肝素（</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时</a:t>
            </a:r>
            <a:r>
              <a:rPr lang="en-US" altLang="zh-CN" dirty="0">
                <a:latin typeface="Microsoft YaHei UI" panose="020B0503020204020204" pitchFamily="34" charset="-122"/>
                <a:ea typeface="Microsoft YaHei UI" panose="020B0503020204020204" pitchFamily="34" charset="-122"/>
              </a:rPr>
              <a:t>70-100IU/kg</a:t>
            </a:r>
            <a:r>
              <a:rPr lang="zh-CN" altLang="en-US" dirty="0">
                <a:latin typeface="Microsoft YaHei UI" panose="020B0503020204020204" pitchFamily="34" charset="-122"/>
                <a:ea typeface="Microsoft YaHei UI" panose="020B0503020204020204" pitchFamily="34" charset="-122"/>
              </a:rPr>
              <a:t>；或联用</a:t>
            </a:r>
            <a:r>
              <a:rPr lang="en-US" altLang="zh-CN" dirty="0">
                <a:latin typeface="Microsoft YaHei UI" panose="020B0503020204020204" pitchFamily="34" charset="-122"/>
                <a:ea typeface="Microsoft YaHei UI" panose="020B0503020204020204" pitchFamily="34" charset="-122"/>
              </a:rPr>
              <a:t>GP IIb/IIIa</a:t>
            </a:r>
            <a:r>
              <a:rPr lang="zh-CN" altLang="en-US" dirty="0">
                <a:latin typeface="Microsoft YaHei UI" panose="020B0503020204020204" pitchFamily="34" charset="-122"/>
                <a:ea typeface="Microsoft YaHei UI" panose="020B0503020204020204" pitchFamily="34" charset="-122"/>
              </a:rPr>
              <a:t>抑制剂时</a:t>
            </a:r>
            <a:r>
              <a:rPr lang="en-US" altLang="zh-CN" dirty="0">
                <a:latin typeface="Microsoft YaHei UI" panose="020B0503020204020204" pitchFamily="34" charset="-122"/>
                <a:ea typeface="Microsoft YaHei UI" panose="020B0503020204020204" pitchFamily="34" charset="-122"/>
              </a:rPr>
              <a:t>50-70IU/kg</a:t>
            </a:r>
            <a:r>
              <a:rPr lang="zh-CN" altLang="en-US" dirty="0">
                <a:latin typeface="Microsoft YaHei UI" panose="020B0503020204020204" pitchFamily="34" charset="-122"/>
                <a:ea typeface="Microsoft YaHei UI" panose="020B0503020204020204" pitchFamily="34" charset="-122"/>
              </a:rPr>
              <a:t>；维持</a:t>
            </a:r>
            <a:r>
              <a:rPr lang="en-US" altLang="zh-CN" dirty="0">
                <a:latin typeface="Microsoft YaHei UI" panose="020B0503020204020204" pitchFamily="34" charset="-122"/>
                <a:ea typeface="Microsoft YaHei UI" panose="020B0503020204020204" pitchFamily="34" charset="-122"/>
              </a:rPr>
              <a:t>ACT</a:t>
            </a:r>
            <a:r>
              <a:rPr lang="zh-CN" altLang="en-US" dirty="0">
                <a:latin typeface="Microsoft YaHei UI" panose="020B0503020204020204" pitchFamily="34" charset="-122"/>
                <a:ea typeface="Microsoft YaHei UI" panose="020B0503020204020204" pitchFamily="34" charset="-122"/>
              </a:rPr>
              <a:t>在</a:t>
            </a:r>
            <a:r>
              <a:rPr lang="en-US" altLang="zh-CN" dirty="0">
                <a:latin typeface="Microsoft YaHei UI" panose="020B0503020204020204" pitchFamily="34" charset="-122"/>
                <a:ea typeface="Microsoft YaHei UI" panose="020B0503020204020204" pitchFamily="34" charset="-122"/>
              </a:rPr>
              <a:t>250-350s</a:t>
            </a:r>
            <a:r>
              <a:rPr lang="zh-CN" altLang="en-US" dirty="0">
                <a:latin typeface="Microsoft YaHei UI" panose="020B0503020204020204" pitchFamily="34" charset="-122"/>
                <a:ea typeface="Microsoft YaHei UI" panose="020B0503020204020204" pitchFamily="34" charset="-122"/>
              </a:rPr>
              <a:t>；联用</a:t>
            </a:r>
            <a:r>
              <a:rPr lang="en-US" altLang="zh-CN" dirty="0">
                <a:latin typeface="Microsoft YaHei UI" panose="020B0503020204020204" pitchFamily="34" charset="-122"/>
                <a:ea typeface="Microsoft YaHei UI" panose="020B0503020204020204" pitchFamily="34" charset="-122"/>
              </a:rPr>
              <a:t>GP IIb/IIIa</a:t>
            </a:r>
            <a:r>
              <a:rPr lang="zh-CN" altLang="en-US" dirty="0">
                <a:latin typeface="Microsoft YaHei UI" panose="020B0503020204020204" pitchFamily="34" charset="-122"/>
                <a:ea typeface="Microsoft YaHei UI" panose="020B0503020204020204" pitchFamily="34" charset="-122"/>
              </a:rPr>
              <a:t>抑制剂时</a:t>
            </a:r>
            <a:r>
              <a:rPr lang="en-US" altLang="zh-CN" dirty="0">
                <a:latin typeface="Microsoft YaHei UI" panose="020B0503020204020204" pitchFamily="34" charset="-122"/>
                <a:ea typeface="Microsoft YaHei UI" panose="020B0503020204020204" pitchFamily="34" charset="-122"/>
              </a:rPr>
              <a:t>200-250s</a:t>
            </a:r>
            <a:r>
              <a:rPr lang="zh-CN" altLang="en-US" dirty="0">
                <a:latin typeface="Microsoft YaHei UI" panose="020B0503020204020204" pitchFamily="34" charset="-122"/>
                <a:ea typeface="Microsoft YaHei UI" panose="020B0503020204020204" pitchFamily="34" charset="-122"/>
              </a:rPr>
              <a:t>）</a:t>
            </a:r>
          </a:p>
        </p:txBody>
      </p:sp>
      <p:sp>
        <p:nvSpPr>
          <p:cNvPr id="12" name="矩形 11"/>
          <p:cNvSpPr/>
          <p:nvPr/>
        </p:nvSpPr>
        <p:spPr>
          <a:xfrm>
            <a:off x="393711" y="4521103"/>
            <a:ext cx="8441193" cy="30895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术前皮下注射依诺肝素预治疗的患者</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术中可考虑继续应用依诺肝素抗凝</a:t>
            </a:r>
          </a:p>
        </p:txBody>
      </p:sp>
      <p:sp>
        <p:nvSpPr>
          <p:cNvPr id="14" name="矩形 13"/>
          <p:cNvSpPr/>
          <p:nvPr/>
        </p:nvSpPr>
        <p:spPr>
          <a:xfrm>
            <a:off x="392335" y="4873665"/>
            <a:ext cx="8441193" cy="30895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侵入性治疗后应考虑立即停止肠外抗凝治疗</a:t>
            </a:r>
          </a:p>
        </p:txBody>
      </p:sp>
      <p:sp>
        <p:nvSpPr>
          <p:cNvPr id="17" name="矩形 16"/>
          <p:cNvSpPr/>
          <p:nvPr/>
        </p:nvSpPr>
        <p:spPr>
          <a:xfrm>
            <a:off x="392334" y="5209737"/>
            <a:ext cx="8441193" cy="30895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可考虑应用比伐芦定作为普通肝素的替代方案</a:t>
            </a:r>
          </a:p>
        </p:txBody>
      </p:sp>
      <p:sp>
        <p:nvSpPr>
          <p:cNvPr id="35" name="矩形 34"/>
          <p:cNvSpPr/>
          <p:nvPr/>
        </p:nvSpPr>
        <p:spPr>
          <a:xfrm>
            <a:off x="392570" y="5546652"/>
            <a:ext cx="8441193" cy="30895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不推荐低分子肝素和普通肝素的交叉应用</a:t>
            </a:r>
          </a:p>
        </p:txBody>
      </p:sp>
      <p:sp>
        <p:nvSpPr>
          <p:cNvPr id="2" name="矩形: 圆角 1"/>
          <p:cNvSpPr/>
          <p:nvPr/>
        </p:nvSpPr>
        <p:spPr>
          <a:xfrm>
            <a:off x="392334" y="5161373"/>
            <a:ext cx="11168010" cy="379796"/>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3" name="矩形 2"/>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4" name="文本框 3"/>
          <p:cNvSpPr txBox="1"/>
          <p:nvPr/>
        </p:nvSpPr>
        <p:spPr>
          <a:xfrm>
            <a:off x="10559946" y="5127576"/>
            <a:ext cx="848803" cy="461665"/>
          </a:xfrm>
          <a:prstGeom prst="rect">
            <a:avLst/>
          </a:prstGeom>
          <a:noFill/>
        </p:spPr>
        <p:txBody>
          <a:bodyPr wrap="square" rtlCol="0">
            <a:spAutoFit/>
          </a:bodyPr>
          <a:lstStyle/>
          <a:p>
            <a:r>
              <a:rPr lang="zh-CN" altLang="en-US" sz="1200" b="1" dirty="0">
                <a:solidFill>
                  <a:srgbClr val="AE1022"/>
                </a:solidFill>
                <a:latin typeface="Microsoft YaHei UI" panose="020B0503020204020204" pitchFamily="34" charset="-122"/>
                <a:ea typeface="Microsoft YaHei UI" panose="020B0503020204020204" pitchFamily="34" charset="-122"/>
              </a:rPr>
              <a:t>由</a:t>
            </a:r>
            <a:r>
              <a:rPr lang="en-US" altLang="zh-CN" sz="1200" b="1" dirty="0">
                <a:solidFill>
                  <a:srgbClr val="AE1022"/>
                </a:solidFill>
                <a:latin typeface="Microsoft YaHei UI" panose="020B0503020204020204" pitchFamily="34" charset="-122"/>
                <a:ea typeface="Microsoft YaHei UI" panose="020B0503020204020204" pitchFamily="34" charset="-122"/>
              </a:rPr>
              <a:t>Ⅰ</a:t>
            </a:r>
            <a:r>
              <a:rPr lang="zh-CN" altLang="en-US" sz="1200" b="1" dirty="0">
                <a:solidFill>
                  <a:srgbClr val="AE1022"/>
                </a:solidFill>
                <a:latin typeface="Microsoft YaHei UI" panose="020B0503020204020204" pitchFamily="34" charset="-122"/>
                <a:ea typeface="Microsoft YaHei UI" panose="020B0503020204020204" pitchFamily="34" charset="-122"/>
              </a:rPr>
              <a:t>类降为</a:t>
            </a:r>
            <a:r>
              <a:rPr lang="en-US" altLang="zh-CN" sz="1200" b="1" dirty="0" err="1">
                <a:solidFill>
                  <a:srgbClr val="AE1022"/>
                </a:solidFill>
                <a:latin typeface="Microsoft YaHei UI" panose="020B0503020204020204" pitchFamily="34" charset="-122"/>
                <a:ea typeface="Microsoft YaHei UI" panose="020B0503020204020204" pitchFamily="34" charset="-122"/>
              </a:rPr>
              <a:t>Ⅱb</a:t>
            </a:r>
            <a:r>
              <a:rPr lang="zh-CN" altLang="en-US" sz="1200" b="1" dirty="0">
                <a:solidFill>
                  <a:srgbClr val="AE1022"/>
                </a:solidFill>
                <a:latin typeface="Microsoft YaHei UI" panose="020B0503020204020204" pitchFamily="34" charset="-122"/>
                <a:ea typeface="Microsoft YaHei UI" panose="020B0503020204020204" pitchFamily="34" charset="-122"/>
              </a:rPr>
              <a:t>类</a:t>
            </a:r>
            <a:endParaRPr lang="zh-CN" altLang="en-US" sz="1200" b="1" dirty="0">
              <a:solidFill>
                <a:srgbClr val="AE1022"/>
              </a:solidFill>
            </a:endParaRPr>
          </a:p>
        </p:txBody>
      </p:sp>
      <p:sp>
        <p:nvSpPr>
          <p:cNvPr id="5" name="箭头: 下 4"/>
          <p:cNvSpPr/>
          <p:nvPr/>
        </p:nvSpPr>
        <p:spPr>
          <a:xfrm>
            <a:off x="11291298" y="5209737"/>
            <a:ext cx="153761" cy="308952"/>
          </a:xfrm>
          <a:prstGeom prst="downArrow">
            <a:avLst>
              <a:gd name="adj1" fmla="val 50000"/>
              <a:gd name="adj2" fmla="val 50000"/>
            </a:avLst>
          </a:prstGeom>
          <a:solidFill>
            <a:srgbClr val="C3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56562" y="6370442"/>
            <a:ext cx="2729225"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ACT</a:t>
            </a:r>
            <a:r>
              <a:rPr lang="zh-CN" altLang="en-US" sz="1400" dirty="0">
                <a:solidFill>
                  <a:schemeClr val="tx1"/>
                </a:solidFill>
                <a:latin typeface="Microsoft YaHei UI" panose="020B0503020204020204" pitchFamily="34" charset="-122"/>
                <a:ea typeface="Microsoft YaHei UI" panose="020B0503020204020204" pitchFamily="34" charset="-122"/>
              </a:rPr>
              <a:t>：活化凝血时间</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499" y="889970"/>
            <a:ext cx="10448818" cy="369333"/>
          </a:xfrm>
          <a:prstGeom prst="rect">
            <a:avLst/>
          </a:prstGeom>
        </p:spPr>
      </p:pic>
      <p:sp>
        <p:nvSpPr>
          <p:cNvPr id="16" name="矩形 15"/>
          <p:cNvSpPr/>
          <p:nvPr/>
        </p:nvSpPr>
        <p:spPr>
          <a:xfrm>
            <a:off x="142874" y="2307070"/>
            <a:ext cx="10599971" cy="30477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延长治疗的</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方案（包括阿司匹林</a:t>
            </a:r>
            <a:r>
              <a:rPr lang="en-US" altLang="zh-CN" dirty="0">
                <a:latin typeface="Microsoft YaHei UI" panose="020B0503020204020204" pitchFamily="34" charset="-122"/>
                <a:ea typeface="Microsoft YaHei UI" panose="020B0503020204020204" pitchFamily="34" charset="-122"/>
              </a:rPr>
              <a:t>75-100mg</a:t>
            </a:r>
            <a:r>
              <a:rPr lang="zh-CN" altLang="en-US" dirty="0">
                <a:latin typeface="Microsoft YaHei UI" panose="020B0503020204020204" pitchFamily="34" charset="-122"/>
                <a:ea typeface="Microsoft YaHei UI" panose="020B0503020204020204" pitchFamily="34" charset="-122"/>
              </a:rPr>
              <a:t> 口服 </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日）</a:t>
            </a:r>
          </a:p>
        </p:txBody>
      </p:sp>
      <p:sp>
        <p:nvSpPr>
          <p:cNvPr id="17" name="矩形 16"/>
          <p:cNvSpPr/>
          <p:nvPr/>
        </p:nvSpPr>
        <p:spPr>
          <a:xfrm>
            <a:off x="142875" y="1283630"/>
            <a:ext cx="10599972" cy="30751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延长治疗的</a:t>
            </a:r>
            <a:r>
              <a:rPr lang="en-US" altLang="zh-CN" dirty="0">
                <a:latin typeface="Microsoft YaHei UI" panose="020B0503020204020204" pitchFamily="34" charset="-122"/>
                <a:ea typeface="Microsoft YaHei UI" panose="020B0503020204020204" pitchFamily="34" charset="-122"/>
              </a:rPr>
              <a:t>DAT</a:t>
            </a:r>
            <a:r>
              <a:rPr lang="zh-CN" altLang="en-US" dirty="0">
                <a:latin typeface="Microsoft YaHei UI" panose="020B0503020204020204" pitchFamily="34" charset="-122"/>
                <a:ea typeface="Microsoft YaHei UI" panose="020B0503020204020204" pitchFamily="34" charset="-122"/>
              </a:rPr>
              <a:t>方案（包括阿司匹林</a:t>
            </a:r>
            <a:r>
              <a:rPr lang="en-US" altLang="zh-CN" dirty="0">
                <a:latin typeface="Microsoft YaHei UI" panose="020B0503020204020204" pitchFamily="34" charset="-122"/>
                <a:ea typeface="Microsoft YaHei UI" panose="020B0503020204020204" pitchFamily="34" charset="-122"/>
              </a:rPr>
              <a:t>75-100mg</a:t>
            </a:r>
            <a:r>
              <a:rPr lang="zh-CN" altLang="en-US" dirty="0">
                <a:latin typeface="Microsoft YaHei UI" panose="020B0503020204020204" pitchFamily="34" charset="-122"/>
                <a:ea typeface="Microsoft YaHei UI" panose="020B0503020204020204" pitchFamily="34" charset="-122"/>
              </a:rPr>
              <a:t> 口服 </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日）</a:t>
            </a:r>
          </a:p>
        </p:txBody>
      </p:sp>
      <p:sp>
        <p:nvSpPr>
          <p:cNvPr id="23" name="文本框 22"/>
          <p:cNvSpPr txBox="1"/>
          <p:nvPr/>
        </p:nvSpPr>
        <p:spPr>
          <a:xfrm>
            <a:off x="1015365" y="878205"/>
            <a:ext cx="709930" cy="368300"/>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药物</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354771" y="325786"/>
            <a:ext cx="9197696"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延长双联抗血栓或抗血小板治疗的方案选择</a:t>
            </a:r>
          </a:p>
        </p:txBody>
      </p:sp>
      <p:sp>
        <p:nvSpPr>
          <p:cNvPr id="20" name="矩形 19"/>
          <p:cNvSpPr/>
          <p:nvPr/>
        </p:nvSpPr>
        <p:spPr>
          <a:xfrm>
            <a:off x="142875" y="1647148"/>
            <a:ext cx="2211320"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利伐沙班（</a:t>
            </a:r>
            <a:r>
              <a:rPr lang="en-US" altLang="zh-CN" sz="1200" dirty="0">
                <a:latin typeface="Microsoft YaHei UI" panose="020B0503020204020204" pitchFamily="34" charset="-122"/>
                <a:ea typeface="Microsoft YaHei UI" panose="020B0503020204020204" pitchFamily="34" charset="-122"/>
              </a:rPr>
              <a:t>COMPASS</a:t>
            </a:r>
            <a:r>
              <a:rPr lang="zh-CN" altLang="en-US" sz="1200" dirty="0">
                <a:latin typeface="Microsoft YaHei UI" panose="020B0503020204020204" pitchFamily="34" charset="-122"/>
                <a:ea typeface="Microsoft YaHei UI" panose="020B0503020204020204" pitchFamily="34" charset="-122"/>
              </a:rPr>
              <a:t>研究，平均</a:t>
            </a:r>
            <a:r>
              <a:rPr lang="en-US" altLang="zh-CN" sz="1200" dirty="0">
                <a:latin typeface="Microsoft YaHei UI" panose="020B0503020204020204" pitchFamily="34" charset="-122"/>
                <a:ea typeface="Microsoft YaHei UI" panose="020B0503020204020204" pitchFamily="34" charset="-122"/>
              </a:rPr>
              <a:t>23</a:t>
            </a:r>
            <a:r>
              <a:rPr lang="zh-CN" altLang="en-US" sz="1200" dirty="0">
                <a:latin typeface="Microsoft YaHei UI" panose="020B0503020204020204" pitchFamily="34" charset="-122"/>
                <a:ea typeface="Microsoft YaHei UI" panose="020B0503020204020204" pitchFamily="34" charset="-122"/>
              </a:rPr>
              <a:t>个月）</a:t>
            </a:r>
            <a:endParaRPr lang="zh-CN" altLang="en-US" dirty="0">
              <a:latin typeface="Microsoft YaHei UI" panose="020B0503020204020204" pitchFamily="34" charset="-122"/>
              <a:ea typeface="Microsoft YaHei UI" panose="020B0503020204020204" pitchFamily="34" charset="-122"/>
            </a:endParaRPr>
          </a:p>
        </p:txBody>
      </p:sp>
      <p:sp>
        <p:nvSpPr>
          <p:cNvPr id="14" name="文本框 13"/>
          <p:cNvSpPr txBox="1"/>
          <p:nvPr/>
        </p:nvSpPr>
        <p:spPr>
          <a:xfrm>
            <a:off x="2835965" y="885023"/>
            <a:ext cx="64355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剂量</a:t>
            </a:r>
          </a:p>
        </p:txBody>
      </p:sp>
      <p:sp>
        <p:nvSpPr>
          <p:cNvPr id="3" name="矩形 2"/>
          <p:cNvSpPr/>
          <p:nvPr/>
        </p:nvSpPr>
        <p:spPr>
          <a:xfrm>
            <a:off x="2416439" y="1647542"/>
            <a:ext cx="1426096"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2.5mg </a:t>
            </a:r>
            <a:r>
              <a:rPr lang="zh-CN" altLang="en-US" dirty="0">
                <a:latin typeface="Microsoft YaHei UI" panose="020B0503020204020204" pitchFamily="34" charset="-122"/>
                <a:ea typeface="Microsoft YaHei UI" panose="020B0503020204020204" pitchFamily="34" charset="-122"/>
              </a:rPr>
              <a:t>口服 </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日</a:t>
            </a:r>
          </a:p>
        </p:txBody>
      </p:sp>
      <p:sp>
        <p:nvSpPr>
          <p:cNvPr id="7" name="文本框 6"/>
          <p:cNvSpPr txBox="1"/>
          <p:nvPr/>
        </p:nvSpPr>
        <p:spPr>
          <a:xfrm>
            <a:off x="4916245" y="883081"/>
            <a:ext cx="64355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指征</a:t>
            </a:r>
          </a:p>
        </p:txBody>
      </p:sp>
      <p:sp>
        <p:nvSpPr>
          <p:cNvPr id="8" name="矩形 7"/>
          <p:cNvSpPr/>
          <p:nvPr/>
        </p:nvSpPr>
        <p:spPr>
          <a:xfrm>
            <a:off x="3904779" y="1654532"/>
            <a:ext cx="2756599"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高缺血风险的冠心病或有症状的外周血管病患者</a:t>
            </a:r>
          </a:p>
        </p:txBody>
      </p:sp>
      <p:sp>
        <p:nvSpPr>
          <p:cNvPr id="13" name="文本框 12"/>
          <p:cNvSpPr txBox="1"/>
          <p:nvPr/>
        </p:nvSpPr>
        <p:spPr>
          <a:xfrm>
            <a:off x="6661378" y="896771"/>
            <a:ext cx="1910994"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NNT</a:t>
            </a:r>
            <a:r>
              <a:rPr lang="zh-CN" altLang="en-US" b="1" dirty="0">
                <a:latin typeface="Microsoft YaHei UI" panose="020B0503020204020204" pitchFamily="34" charset="-122"/>
                <a:ea typeface="Microsoft YaHei UI" panose="020B0503020204020204" pitchFamily="34" charset="-122"/>
              </a:rPr>
              <a:t>（缺血事件）</a:t>
            </a:r>
            <a:endParaRPr lang="en-US" altLang="zh-CN" b="1" dirty="0">
              <a:latin typeface="Microsoft YaHei UI" panose="020B0503020204020204" pitchFamily="34" charset="-122"/>
              <a:ea typeface="Microsoft YaHei UI" panose="020B0503020204020204" pitchFamily="34" charset="-122"/>
            </a:endParaRPr>
          </a:p>
        </p:txBody>
      </p:sp>
      <p:sp>
        <p:nvSpPr>
          <p:cNvPr id="15" name="文本框 14"/>
          <p:cNvSpPr txBox="1"/>
          <p:nvPr/>
        </p:nvSpPr>
        <p:spPr>
          <a:xfrm>
            <a:off x="8670592" y="894918"/>
            <a:ext cx="2050492"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NNH</a:t>
            </a:r>
            <a:r>
              <a:rPr lang="zh-CN" altLang="en-US" b="1" dirty="0">
                <a:latin typeface="Microsoft YaHei UI" panose="020B0503020204020204" pitchFamily="34" charset="-122"/>
                <a:ea typeface="Microsoft YaHei UI" panose="020B0503020204020204" pitchFamily="34" charset="-122"/>
              </a:rPr>
              <a:t>（出血事件）</a:t>
            </a:r>
            <a:endParaRPr lang="en-US" altLang="zh-CN" b="1" dirty="0">
              <a:latin typeface="Microsoft YaHei UI" panose="020B0503020204020204" pitchFamily="34" charset="-122"/>
              <a:ea typeface="Microsoft YaHei UI" panose="020B0503020204020204" pitchFamily="34" charset="-122"/>
            </a:endParaRPr>
          </a:p>
        </p:txBody>
      </p:sp>
      <p:sp>
        <p:nvSpPr>
          <p:cNvPr id="19" name="矩形 18"/>
          <p:cNvSpPr/>
          <p:nvPr/>
        </p:nvSpPr>
        <p:spPr>
          <a:xfrm>
            <a:off x="6723623" y="1648518"/>
            <a:ext cx="1906670"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77</a:t>
            </a:r>
            <a:endParaRPr lang="zh-CN" altLang="en-US" dirty="0">
              <a:latin typeface="Microsoft YaHei UI" panose="020B0503020204020204" pitchFamily="34" charset="-122"/>
              <a:ea typeface="Microsoft YaHei UI" panose="020B0503020204020204" pitchFamily="34" charset="-122"/>
            </a:endParaRPr>
          </a:p>
        </p:txBody>
      </p:sp>
      <p:sp>
        <p:nvSpPr>
          <p:cNvPr id="21" name="矩形 20"/>
          <p:cNvSpPr/>
          <p:nvPr/>
        </p:nvSpPr>
        <p:spPr>
          <a:xfrm>
            <a:off x="8707151" y="1646270"/>
            <a:ext cx="2035696"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84</a:t>
            </a:r>
            <a:endParaRPr lang="zh-CN" altLang="en-US" dirty="0">
              <a:latin typeface="Microsoft YaHei UI" panose="020B0503020204020204" pitchFamily="34" charset="-122"/>
              <a:ea typeface="Microsoft YaHei UI" panose="020B0503020204020204" pitchFamily="34" charset="-122"/>
            </a:endParaRPr>
          </a:p>
        </p:txBody>
      </p:sp>
      <p:sp>
        <p:nvSpPr>
          <p:cNvPr id="22" name="矩形 21"/>
          <p:cNvSpPr/>
          <p:nvPr/>
        </p:nvSpPr>
        <p:spPr>
          <a:xfrm>
            <a:off x="142875" y="2682864"/>
            <a:ext cx="2211320"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氯吡格雷</a:t>
            </a:r>
            <a:endParaRPr lang="en-US" altLang="zh-CN" dirty="0">
              <a:latin typeface="Microsoft YaHei UI" panose="020B0503020204020204" pitchFamily="34" charset="-122"/>
              <a:ea typeface="Microsoft YaHei UI" panose="020B0503020204020204" pitchFamily="34" charset="-122"/>
            </a:endParaRPr>
          </a:p>
          <a:p>
            <a:pPr algn="ct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DAPT</a:t>
            </a:r>
            <a:r>
              <a:rPr lang="zh-CN" altLang="en-US" sz="1200" dirty="0">
                <a:latin typeface="Microsoft YaHei UI" panose="020B0503020204020204" pitchFamily="34" charset="-122"/>
                <a:ea typeface="Microsoft YaHei UI" panose="020B0503020204020204" pitchFamily="34" charset="-122"/>
              </a:rPr>
              <a:t>研究，平均</a:t>
            </a:r>
            <a:r>
              <a:rPr lang="en-US" altLang="zh-CN" sz="1200" dirty="0">
                <a:latin typeface="Microsoft YaHei UI" panose="020B0503020204020204" pitchFamily="34" charset="-122"/>
                <a:ea typeface="Microsoft YaHei UI" panose="020B0503020204020204" pitchFamily="34" charset="-122"/>
              </a:rPr>
              <a:t>30</a:t>
            </a:r>
            <a:r>
              <a:rPr lang="zh-CN" altLang="en-US" sz="1200" dirty="0">
                <a:latin typeface="Microsoft YaHei UI" panose="020B0503020204020204" pitchFamily="34" charset="-122"/>
                <a:ea typeface="Microsoft YaHei UI" panose="020B0503020204020204" pitchFamily="34" charset="-122"/>
              </a:rPr>
              <a:t>个月）</a:t>
            </a:r>
          </a:p>
        </p:txBody>
      </p:sp>
      <p:sp>
        <p:nvSpPr>
          <p:cNvPr id="26" name="矩形 25"/>
          <p:cNvSpPr/>
          <p:nvPr/>
        </p:nvSpPr>
        <p:spPr>
          <a:xfrm>
            <a:off x="2416439" y="2682864"/>
            <a:ext cx="1426096"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75mg 1/</a:t>
            </a:r>
            <a:r>
              <a:rPr lang="zh-CN" altLang="en-US" dirty="0">
                <a:latin typeface="Microsoft YaHei UI" panose="020B0503020204020204" pitchFamily="34" charset="-122"/>
                <a:ea typeface="Microsoft YaHei UI" panose="020B0503020204020204" pitchFamily="34" charset="-122"/>
              </a:rPr>
              <a:t>日</a:t>
            </a:r>
          </a:p>
        </p:txBody>
      </p:sp>
      <p:sp>
        <p:nvSpPr>
          <p:cNvPr id="38" name="矩形 37"/>
          <p:cNvSpPr/>
          <p:nvPr/>
        </p:nvSpPr>
        <p:spPr>
          <a:xfrm>
            <a:off x="3904779" y="2678550"/>
            <a:ext cx="2756599"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已耐受</a:t>
            </a:r>
            <a:r>
              <a:rPr lang="en-US" altLang="zh-CN" dirty="0">
                <a:latin typeface="Microsoft YaHei UI" panose="020B0503020204020204" pitchFamily="34" charset="-122"/>
                <a:ea typeface="Microsoft YaHei UI" panose="020B0503020204020204" pitchFamily="34" charset="-122"/>
              </a:rPr>
              <a:t>DAPT1</a:t>
            </a:r>
            <a:r>
              <a:rPr lang="zh-CN" altLang="en-US" dirty="0">
                <a:latin typeface="Microsoft YaHei UI" panose="020B0503020204020204" pitchFamily="34" charset="-122"/>
                <a:ea typeface="Microsoft YaHei UI" panose="020B0503020204020204" pitchFamily="34" charset="-122"/>
              </a:rPr>
              <a:t>年的心肌梗死后患者</a:t>
            </a:r>
          </a:p>
        </p:txBody>
      </p:sp>
      <p:sp>
        <p:nvSpPr>
          <p:cNvPr id="42" name="矩形 41"/>
          <p:cNvSpPr/>
          <p:nvPr/>
        </p:nvSpPr>
        <p:spPr>
          <a:xfrm>
            <a:off x="6723623" y="2678672"/>
            <a:ext cx="1906670"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63</a:t>
            </a:r>
            <a:endParaRPr lang="zh-CN" altLang="en-US" dirty="0">
              <a:latin typeface="Microsoft YaHei UI" panose="020B0503020204020204" pitchFamily="34" charset="-122"/>
              <a:ea typeface="Microsoft YaHei UI" panose="020B0503020204020204" pitchFamily="34" charset="-122"/>
            </a:endParaRPr>
          </a:p>
        </p:txBody>
      </p:sp>
      <p:sp>
        <p:nvSpPr>
          <p:cNvPr id="50" name="矩形 49"/>
          <p:cNvSpPr/>
          <p:nvPr/>
        </p:nvSpPr>
        <p:spPr>
          <a:xfrm>
            <a:off x="8707149" y="2679346"/>
            <a:ext cx="2035696" cy="59679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105</a:t>
            </a:r>
            <a:endParaRPr lang="zh-CN" altLang="en-US" dirty="0">
              <a:latin typeface="Microsoft YaHei UI" panose="020B0503020204020204" pitchFamily="34" charset="-122"/>
              <a:ea typeface="Microsoft YaHei UI" panose="020B0503020204020204" pitchFamily="34" charset="-122"/>
            </a:endParaRPr>
          </a:p>
        </p:txBody>
      </p:sp>
      <p:sp>
        <p:nvSpPr>
          <p:cNvPr id="52" name="矩形 51"/>
          <p:cNvSpPr/>
          <p:nvPr/>
        </p:nvSpPr>
        <p:spPr>
          <a:xfrm>
            <a:off x="142875" y="3333685"/>
            <a:ext cx="2211320" cy="14848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普拉格雷</a:t>
            </a:r>
            <a:endParaRPr lang="en-US" altLang="zh-CN" dirty="0">
              <a:latin typeface="Microsoft YaHei UI" panose="020B0503020204020204" pitchFamily="34" charset="-122"/>
              <a:ea typeface="Microsoft YaHei UI" panose="020B0503020204020204" pitchFamily="34" charset="-122"/>
            </a:endParaRPr>
          </a:p>
          <a:p>
            <a:pPr algn="ct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研究，</a:t>
            </a:r>
            <a:r>
              <a:rPr lang="zh-CN" altLang="en-US" sz="1800" dirty="0">
                <a:latin typeface="Microsoft YaHei UI" panose="020B0503020204020204" pitchFamily="34" charset="-122"/>
                <a:ea typeface="Microsoft YaHei UI" panose="020B0503020204020204" pitchFamily="34" charset="-122"/>
              </a:rPr>
              <a:t>平均</a:t>
            </a:r>
            <a:r>
              <a:rPr lang="en-US" altLang="zh-CN" sz="1800" dirty="0">
                <a:latin typeface="Microsoft YaHei UI" panose="020B0503020204020204" pitchFamily="34" charset="-122"/>
                <a:ea typeface="Microsoft YaHei UI" panose="020B0503020204020204" pitchFamily="34" charset="-122"/>
              </a:rPr>
              <a:t>30</a:t>
            </a:r>
            <a:r>
              <a:rPr lang="zh-CN" altLang="en-US" sz="1800" dirty="0">
                <a:latin typeface="Microsoft YaHei UI" panose="020B0503020204020204" pitchFamily="34" charset="-122"/>
                <a:ea typeface="Microsoft YaHei UI" panose="020B0503020204020204" pitchFamily="34" charset="-122"/>
              </a:rPr>
              <a:t>个月</a:t>
            </a:r>
            <a:r>
              <a:rPr lang="zh-CN" altLang="en-US" dirty="0">
                <a:latin typeface="Microsoft YaHei UI" panose="020B0503020204020204" pitchFamily="34" charset="-122"/>
                <a:ea typeface="Microsoft YaHei UI" panose="020B0503020204020204" pitchFamily="34" charset="-122"/>
              </a:rPr>
              <a:t>）</a:t>
            </a:r>
          </a:p>
        </p:txBody>
      </p:sp>
      <p:sp>
        <p:nvSpPr>
          <p:cNvPr id="56" name="矩形 55"/>
          <p:cNvSpPr/>
          <p:nvPr/>
        </p:nvSpPr>
        <p:spPr>
          <a:xfrm>
            <a:off x="2416439" y="3332219"/>
            <a:ext cx="1426096" cy="148628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10mg/</a:t>
            </a:r>
            <a:r>
              <a:rPr lang="zh-CN" altLang="en-US" dirty="0">
                <a:latin typeface="Microsoft YaHei UI" panose="020B0503020204020204" pitchFamily="34" charset="-122"/>
                <a:ea typeface="Microsoft YaHei UI" panose="020B0503020204020204" pitchFamily="34" charset="-122"/>
              </a:rPr>
              <a:t>日</a:t>
            </a:r>
            <a:r>
              <a:rPr lang="en-US" altLang="zh-CN" dirty="0">
                <a:latin typeface="Microsoft YaHei UI" panose="020B0503020204020204" pitchFamily="34" charset="-122"/>
                <a:ea typeface="Microsoft YaHei UI" panose="020B0503020204020204" pitchFamily="34" charset="-122"/>
              </a:rPr>
              <a:t>5mg/</a:t>
            </a:r>
            <a:r>
              <a:rPr lang="zh-CN" altLang="en-US" dirty="0">
                <a:latin typeface="Microsoft YaHei UI" panose="020B0503020204020204" pitchFamily="34" charset="-122"/>
                <a:ea typeface="Microsoft YaHei UI" panose="020B0503020204020204" pitchFamily="34" charset="-122"/>
              </a:rPr>
              <a:t>日（如年龄</a:t>
            </a:r>
            <a:r>
              <a:rPr lang="en-US" altLang="zh-CN" dirty="0">
                <a:latin typeface="Microsoft YaHei UI" panose="020B0503020204020204" pitchFamily="34" charset="-122"/>
                <a:ea typeface="Microsoft YaHei UI" panose="020B0503020204020204" pitchFamily="34" charset="-122"/>
              </a:rPr>
              <a:t>&gt;75</a:t>
            </a:r>
            <a:r>
              <a:rPr lang="zh-CN" altLang="en-US" dirty="0">
                <a:latin typeface="Microsoft YaHei UI" panose="020B0503020204020204" pitchFamily="34" charset="-122"/>
                <a:ea typeface="Microsoft YaHei UI" panose="020B0503020204020204" pitchFamily="34" charset="-122"/>
              </a:rPr>
              <a:t>岁体重</a:t>
            </a:r>
            <a:r>
              <a:rPr lang="en-US" altLang="zh-CN" dirty="0">
                <a:latin typeface="Microsoft YaHei UI" panose="020B0503020204020204" pitchFamily="34" charset="-122"/>
                <a:ea typeface="Microsoft YaHei UI" panose="020B0503020204020204" pitchFamily="34" charset="-122"/>
              </a:rPr>
              <a:t>&lt;60kg</a:t>
            </a:r>
            <a:r>
              <a:rPr lang="zh-CN" altLang="en-US" dirty="0">
                <a:latin typeface="Microsoft YaHei UI" panose="020B0503020204020204" pitchFamily="34" charset="-122"/>
                <a:ea typeface="Microsoft YaHei UI" panose="020B0503020204020204" pitchFamily="34" charset="-122"/>
              </a:rPr>
              <a:t>）</a:t>
            </a:r>
          </a:p>
        </p:txBody>
      </p:sp>
      <p:sp>
        <p:nvSpPr>
          <p:cNvPr id="58" name="矩形 57"/>
          <p:cNvSpPr/>
          <p:nvPr/>
        </p:nvSpPr>
        <p:spPr>
          <a:xfrm>
            <a:off x="3904778" y="3334130"/>
            <a:ext cx="2756599" cy="148437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已耐受</a:t>
            </a:r>
            <a:r>
              <a:rPr lang="en-US" altLang="zh-CN" dirty="0">
                <a:latin typeface="Microsoft YaHei UI" panose="020B0503020204020204" pitchFamily="34" charset="-122"/>
                <a:ea typeface="Microsoft YaHei UI" panose="020B0503020204020204" pitchFamily="34" charset="-122"/>
              </a:rPr>
              <a:t>DAPT1</a:t>
            </a:r>
            <a:r>
              <a:rPr lang="zh-CN" altLang="en-US" dirty="0">
                <a:latin typeface="Microsoft YaHei UI" panose="020B0503020204020204" pitchFamily="34" charset="-122"/>
                <a:ea typeface="Microsoft YaHei UI" panose="020B0503020204020204" pitchFamily="34" charset="-122"/>
              </a:rPr>
              <a:t>年的</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后心肌梗死患者</a:t>
            </a:r>
          </a:p>
        </p:txBody>
      </p:sp>
      <p:sp>
        <p:nvSpPr>
          <p:cNvPr id="60" name="矩形 59"/>
          <p:cNvSpPr/>
          <p:nvPr/>
        </p:nvSpPr>
        <p:spPr>
          <a:xfrm>
            <a:off x="6723620" y="3339534"/>
            <a:ext cx="1906670" cy="147897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63</a:t>
            </a:r>
            <a:endParaRPr lang="zh-CN" altLang="en-US" dirty="0">
              <a:latin typeface="Microsoft YaHei UI" panose="020B0503020204020204" pitchFamily="34" charset="-122"/>
              <a:ea typeface="Microsoft YaHei UI" panose="020B0503020204020204" pitchFamily="34" charset="-122"/>
            </a:endParaRPr>
          </a:p>
        </p:txBody>
      </p:sp>
      <p:sp>
        <p:nvSpPr>
          <p:cNvPr id="62" name="矩形 61"/>
          <p:cNvSpPr/>
          <p:nvPr/>
        </p:nvSpPr>
        <p:spPr>
          <a:xfrm>
            <a:off x="8707149" y="3339534"/>
            <a:ext cx="2035696" cy="147897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105</a:t>
            </a:r>
            <a:endParaRPr lang="zh-CN" altLang="en-US" dirty="0">
              <a:latin typeface="Microsoft YaHei UI" panose="020B0503020204020204" pitchFamily="34" charset="-122"/>
              <a:ea typeface="Microsoft YaHei UI" panose="020B0503020204020204" pitchFamily="34" charset="-122"/>
            </a:endParaRPr>
          </a:p>
        </p:txBody>
      </p:sp>
      <p:sp>
        <p:nvSpPr>
          <p:cNvPr id="64" name="矩形 63"/>
          <p:cNvSpPr/>
          <p:nvPr/>
        </p:nvSpPr>
        <p:spPr>
          <a:xfrm>
            <a:off x="142874" y="4872531"/>
            <a:ext cx="2211320" cy="78852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替格瑞洛</a:t>
            </a:r>
            <a:endParaRPr lang="en-US" altLang="zh-CN" dirty="0">
              <a:latin typeface="Microsoft YaHei UI" panose="020B0503020204020204" pitchFamily="34" charset="-122"/>
              <a:ea typeface="Microsoft YaHei UI" panose="020B0503020204020204" pitchFamily="34" charset="-122"/>
            </a:endParaRPr>
          </a:p>
          <a:p>
            <a:pPr algn="ct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PEGASUS-TIMI 54</a:t>
            </a:r>
            <a:r>
              <a:rPr lang="zh-CN" altLang="en-US" sz="1400" dirty="0">
                <a:latin typeface="Microsoft YaHei UI" panose="020B0503020204020204" pitchFamily="34" charset="-122"/>
                <a:ea typeface="Microsoft YaHei UI" panose="020B0503020204020204" pitchFamily="34" charset="-122"/>
              </a:rPr>
              <a:t>研究，平均</a:t>
            </a:r>
            <a:r>
              <a:rPr lang="en-US" altLang="zh-CN" sz="1400" dirty="0">
                <a:latin typeface="Microsoft YaHei UI" panose="020B0503020204020204" pitchFamily="34" charset="-122"/>
                <a:ea typeface="Microsoft YaHei UI" panose="020B0503020204020204" pitchFamily="34" charset="-122"/>
              </a:rPr>
              <a:t>33</a:t>
            </a:r>
            <a:r>
              <a:rPr lang="zh-CN" altLang="en-US" sz="1400" dirty="0">
                <a:latin typeface="Microsoft YaHei UI" panose="020B0503020204020204" pitchFamily="34" charset="-122"/>
                <a:ea typeface="Microsoft YaHei UI" panose="020B0503020204020204" pitchFamily="34" charset="-122"/>
              </a:rPr>
              <a:t>个月）</a:t>
            </a:r>
          </a:p>
        </p:txBody>
      </p:sp>
      <p:sp>
        <p:nvSpPr>
          <p:cNvPr id="66" name="矩形 65"/>
          <p:cNvSpPr/>
          <p:nvPr/>
        </p:nvSpPr>
        <p:spPr>
          <a:xfrm>
            <a:off x="2416439" y="4873859"/>
            <a:ext cx="1426096" cy="7872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60/90mg </a:t>
            </a:r>
            <a:r>
              <a:rPr lang="zh-CN" altLang="en-US" dirty="0">
                <a:latin typeface="Microsoft YaHei UI" panose="020B0503020204020204" pitchFamily="34" charset="-122"/>
                <a:ea typeface="Microsoft YaHei UI" panose="020B0503020204020204" pitchFamily="34" charset="-122"/>
              </a:rPr>
              <a:t>口服 </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日</a:t>
            </a:r>
          </a:p>
        </p:txBody>
      </p:sp>
      <p:sp>
        <p:nvSpPr>
          <p:cNvPr id="68" name="矩形 67"/>
          <p:cNvSpPr/>
          <p:nvPr/>
        </p:nvSpPr>
        <p:spPr>
          <a:xfrm>
            <a:off x="3904778" y="4872531"/>
            <a:ext cx="2756599" cy="7872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latin typeface="Microsoft YaHei UI" panose="020B0503020204020204" pitchFamily="34" charset="-122"/>
                <a:ea typeface="Microsoft YaHei UI" panose="020B0503020204020204" pitchFamily="34" charset="-122"/>
              </a:rPr>
              <a:t>已耐受</a:t>
            </a:r>
            <a:r>
              <a:rPr lang="en-US" altLang="zh-CN" dirty="0">
                <a:latin typeface="Microsoft YaHei UI" panose="020B0503020204020204" pitchFamily="34" charset="-122"/>
                <a:ea typeface="Microsoft YaHei UI" panose="020B0503020204020204" pitchFamily="34" charset="-122"/>
              </a:rPr>
              <a:t>DAPT1</a:t>
            </a:r>
            <a:r>
              <a:rPr lang="zh-CN" altLang="en-US" dirty="0">
                <a:latin typeface="Microsoft YaHei UI" panose="020B0503020204020204" pitchFamily="34" charset="-122"/>
                <a:ea typeface="Microsoft YaHei UI" panose="020B0503020204020204" pitchFamily="34" charset="-122"/>
              </a:rPr>
              <a:t>年的心肌梗死后患者</a:t>
            </a:r>
          </a:p>
        </p:txBody>
      </p:sp>
      <p:sp>
        <p:nvSpPr>
          <p:cNvPr id="70" name="矩形 69"/>
          <p:cNvSpPr/>
          <p:nvPr/>
        </p:nvSpPr>
        <p:spPr>
          <a:xfrm>
            <a:off x="6723620" y="4885212"/>
            <a:ext cx="1906670" cy="7745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84</a:t>
            </a:r>
            <a:endParaRPr lang="zh-CN" altLang="en-US" dirty="0">
              <a:latin typeface="Microsoft YaHei UI" panose="020B0503020204020204" pitchFamily="34" charset="-122"/>
              <a:ea typeface="Microsoft YaHei UI" panose="020B0503020204020204" pitchFamily="34" charset="-122"/>
            </a:endParaRPr>
          </a:p>
        </p:txBody>
      </p:sp>
      <p:sp>
        <p:nvSpPr>
          <p:cNvPr id="72" name="矩形 71"/>
          <p:cNvSpPr/>
          <p:nvPr/>
        </p:nvSpPr>
        <p:spPr>
          <a:xfrm>
            <a:off x="8707148" y="4881898"/>
            <a:ext cx="2035695" cy="7745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81</a:t>
            </a:r>
            <a:endParaRPr lang="zh-CN" altLang="en-US" dirty="0">
              <a:latin typeface="Microsoft YaHei UI" panose="020B0503020204020204" pitchFamily="34" charset="-122"/>
              <a:ea typeface="Microsoft YaHei UI" panose="020B0503020204020204" pitchFamily="34" charset="-122"/>
            </a:endParaRPr>
          </a:p>
        </p:txBody>
      </p:sp>
      <p:sp>
        <p:nvSpPr>
          <p:cNvPr id="2" name="矩形 1"/>
          <p:cNvSpPr/>
          <p:nvPr/>
        </p:nvSpPr>
        <p:spPr>
          <a:xfrm>
            <a:off x="905191" y="5752480"/>
            <a:ext cx="9029919"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NNT</a:t>
            </a:r>
            <a:r>
              <a:rPr lang="zh-CN" altLang="en-US" sz="1400" dirty="0">
                <a:solidFill>
                  <a:schemeClr val="tx1"/>
                </a:solidFill>
                <a:latin typeface="Microsoft YaHei UI" panose="020B0503020204020204" pitchFamily="34" charset="-122"/>
                <a:ea typeface="Microsoft YaHei UI" panose="020B0503020204020204" pitchFamily="34" charset="-122"/>
              </a:rPr>
              <a:t>：获得</a:t>
            </a:r>
            <a:r>
              <a:rPr lang="en-US" altLang="zh-CN" sz="1400" dirty="0">
                <a:solidFill>
                  <a:schemeClr val="tx1"/>
                </a:solidFill>
                <a:latin typeface="Microsoft YaHei UI" panose="020B0503020204020204" pitchFamily="34" charset="-122"/>
                <a:ea typeface="Microsoft YaHei UI" panose="020B0503020204020204" pitchFamily="34" charset="-122"/>
              </a:rPr>
              <a:t>1</a:t>
            </a:r>
            <a:r>
              <a:rPr lang="zh-CN" altLang="en-US" sz="1400" dirty="0">
                <a:solidFill>
                  <a:schemeClr val="tx1"/>
                </a:solidFill>
                <a:latin typeface="Microsoft YaHei UI" panose="020B0503020204020204" pitchFamily="34" charset="-122"/>
                <a:ea typeface="Microsoft YaHei UI" panose="020B0503020204020204" pitchFamily="34" charset="-122"/>
              </a:rPr>
              <a:t>例缺血获益所需治疗的例数；</a:t>
            </a:r>
            <a:r>
              <a:rPr lang="en-US" altLang="zh-CN" sz="1400" dirty="0">
                <a:solidFill>
                  <a:schemeClr val="tx1"/>
                </a:solidFill>
                <a:latin typeface="Microsoft YaHei UI" panose="020B0503020204020204" pitchFamily="34" charset="-122"/>
                <a:ea typeface="Microsoft YaHei UI" panose="020B0503020204020204" pitchFamily="34" charset="-122"/>
              </a:rPr>
              <a:t>NNH</a:t>
            </a:r>
            <a:r>
              <a:rPr lang="zh-CN" altLang="en-US" sz="1400" dirty="0">
                <a:solidFill>
                  <a:schemeClr val="tx1"/>
                </a:solidFill>
                <a:latin typeface="Microsoft YaHei UI" panose="020B0503020204020204" pitchFamily="34" charset="-122"/>
                <a:ea typeface="Microsoft YaHei UI" panose="020B0503020204020204" pitchFamily="34" charset="-122"/>
              </a:rPr>
              <a:t>：出现</a:t>
            </a:r>
            <a:r>
              <a:rPr lang="en-US" altLang="zh-CN" sz="1400" dirty="0">
                <a:solidFill>
                  <a:schemeClr val="tx1"/>
                </a:solidFill>
                <a:latin typeface="Microsoft YaHei UI" panose="020B0503020204020204" pitchFamily="34" charset="-122"/>
                <a:ea typeface="Microsoft YaHei UI" panose="020B0503020204020204" pitchFamily="34" charset="-122"/>
              </a:rPr>
              <a:t>1</a:t>
            </a:r>
            <a:r>
              <a:rPr lang="zh-CN" altLang="en-US" sz="1400" dirty="0">
                <a:solidFill>
                  <a:schemeClr val="tx1"/>
                </a:solidFill>
                <a:latin typeface="Microsoft YaHei UI" panose="020B0503020204020204" pitchFamily="34" charset="-122"/>
                <a:ea typeface="Microsoft YaHei UI" panose="020B0503020204020204" pitchFamily="34" charset="-122"/>
              </a:rPr>
              <a:t>例出血事件所治疗的例数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3" name="文本框 2"/>
          <p:cNvSpPr txBox="1"/>
          <p:nvPr/>
        </p:nvSpPr>
        <p:spPr>
          <a:xfrm>
            <a:off x="974631" y="103556"/>
            <a:ext cx="6487818"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延长第二种抗血栓药物应用的风险评估</a:t>
            </a:r>
          </a:p>
        </p:txBody>
      </p:sp>
      <p:sp>
        <p:nvSpPr>
          <p:cNvPr id="42" name="矩形 41"/>
          <p:cNvSpPr/>
          <p:nvPr/>
        </p:nvSpPr>
        <p:spPr>
          <a:xfrm>
            <a:off x="456269" y="6364307"/>
            <a:ext cx="4439815" cy="3611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PAD</a:t>
            </a:r>
            <a:r>
              <a:rPr lang="zh-CN" altLang="en-US" sz="1400" dirty="0">
                <a:solidFill>
                  <a:schemeClr val="tx1"/>
                </a:solidFill>
                <a:latin typeface="Microsoft YaHei UI" panose="020B0503020204020204" pitchFamily="34" charset="-122"/>
                <a:ea typeface="Microsoft YaHei UI" panose="020B0503020204020204" pitchFamily="34" charset="-122"/>
              </a:rPr>
              <a:t>：外周动脉疾病</a:t>
            </a:r>
            <a:r>
              <a:rPr lang="en-US" altLang="zh-CN" sz="1400" dirty="0">
                <a:solidFill>
                  <a:schemeClr val="tx1"/>
                </a:solidFill>
                <a:latin typeface="Microsoft YaHei UI" panose="020B0503020204020204" pitchFamily="34" charset="-122"/>
                <a:ea typeface="Microsoft YaHei UI" panose="020B0503020204020204" pitchFamily="34" charset="-122"/>
              </a:rPr>
              <a:t>GFR</a:t>
            </a:r>
            <a:r>
              <a:rPr lang="zh-CN" altLang="en-US" sz="1400" dirty="0">
                <a:solidFill>
                  <a:schemeClr val="tx1"/>
                </a:solidFill>
                <a:latin typeface="Microsoft YaHei UI" panose="020B0503020204020204" pitchFamily="34" charset="-122"/>
                <a:ea typeface="Microsoft YaHei UI" panose="020B0503020204020204" pitchFamily="34" charset="-122"/>
              </a:rPr>
              <a:t>：肾小球滤过率</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r>
              <a:rPr lang="zh-CN" altLang="en-US" sz="1400" dirty="0">
                <a:solidFill>
                  <a:schemeClr val="tx1"/>
                </a:solidFill>
                <a:latin typeface="Microsoft YaHei UI" panose="020B0503020204020204" pitchFamily="34" charset="-122"/>
                <a:ea typeface="Microsoft YaHei UI" panose="020B0503020204020204" pitchFamily="34" charset="-122"/>
              </a:rPr>
              <a:t>复杂</a:t>
            </a:r>
            <a:r>
              <a:rPr lang="en-US" altLang="zh-CN" sz="1400" dirty="0">
                <a:solidFill>
                  <a:schemeClr val="tx1"/>
                </a:solidFill>
                <a:latin typeface="Microsoft YaHei UI" panose="020B0503020204020204" pitchFamily="34" charset="-122"/>
                <a:ea typeface="Microsoft YaHei UI" panose="020B0503020204020204" pitchFamily="34" charset="-122"/>
              </a:rPr>
              <a:t>CAD</a:t>
            </a:r>
            <a:r>
              <a:rPr lang="zh-CN" altLang="en-US" sz="1400" dirty="0">
                <a:solidFill>
                  <a:schemeClr val="tx1"/>
                </a:solidFill>
                <a:latin typeface="Microsoft YaHei UI" panose="020B0503020204020204" pitchFamily="34" charset="-122"/>
                <a:ea typeface="Microsoft YaHei UI" panose="020B0503020204020204" pitchFamily="34" charset="-122"/>
              </a:rPr>
              <a:t>基于个人判断</a:t>
            </a:r>
          </a:p>
        </p:txBody>
      </p:sp>
      <p:pic>
        <p:nvPicPr>
          <p:cNvPr id="112" name="图片 111">
            <a:extLst>
              <a:ext uri="{FF2B5EF4-FFF2-40B4-BE49-F238E27FC236}">
                <a16:creationId xmlns:a16="http://schemas.microsoft.com/office/drawing/2014/main" id="{DF4319EF-81F7-4EDD-BDF8-A85BF2B2BF1C}"/>
              </a:ext>
            </a:extLst>
          </p:cNvPr>
          <p:cNvPicPr>
            <a:picLocks noChangeAspect="1"/>
          </p:cNvPicPr>
          <p:nvPr/>
        </p:nvPicPr>
        <p:blipFill>
          <a:blip r:embed="rId3"/>
          <a:stretch>
            <a:fillRect/>
          </a:stretch>
        </p:blipFill>
        <p:spPr>
          <a:xfrm>
            <a:off x="1130608" y="600587"/>
            <a:ext cx="9331698" cy="5663074"/>
          </a:xfrm>
          <a:prstGeom prst="rect">
            <a:avLst/>
          </a:prstGeom>
        </p:spPr>
      </p:pic>
      <p:cxnSp>
        <p:nvCxnSpPr>
          <p:cNvPr id="114" name="直接连接符 113">
            <a:extLst>
              <a:ext uri="{FF2B5EF4-FFF2-40B4-BE49-F238E27FC236}">
                <a16:creationId xmlns:a16="http://schemas.microsoft.com/office/drawing/2014/main" id="{B1D61012-93A4-45C0-B84C-A981DEC44288}"/>
              </a:ext>
            </a:extLst>
          </p:cNvPr>
          <p:cNvCxnSpPr>
            <a:cxnSpLocks/>
          </p:cNvCxnSpPr>
          <p:nvPr/>
        </p:nvCxnSpPr>
        <p:spPr>
          <a:xfrm>
            <a:off x="6238875" y="704850"/>
            <a:ext cx="21680" cy="54098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282" y="1594654"/>
            <a:ext cx="8448319" cy="669729"/>
          </a:xfrm>
          <a:prstGeom prst="rect">
            <a:avLst/>
          </a:prstGeom>
        </p:spPr>
      </p:pic>
      <p:sp>
        <p:nvSpPr>
          <p:cNvPr id="16" name="矩形 15"/>
          <p:cNvSpPr/>
          <p:nvPr/>
        </p:nvSpPr>
        <p:spPr>
          <a:xfrm>
            <a:off x="428893" y="2248623"/>
            <a:ext cx="8441192" cy="59659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除存在禁忌证如较高出血风险外，推荐对冠脉支架植入治疗的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患者在阿司匹林基础上联用一种</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a:t>
            </a:r>
            <a:endParaRPr lang="en-US" altLang="zh-CN" dirty="0">
              <a:latin typeface="Microsoft YaHei UI" panose="020B0503020204020204" pitchFamily="34" charset="-122"/>
              <a:ea typeface="Microsoft YaHei UI" panose="020B0503020204020204" pitchFamily="34"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282" y="2874818"/>
            <a:ext cx="10128659" cy="375008"/>
          </a:xfrm>
          <a:prstGeom prst="rect">
            <a:avLst/>
          </a:prstGeom>
        </p:spPr>
      </p:pic>
      <p:sp>
        <p:nvSpPr>
          <p:cNvPr id="19" name="文本框 18"/>
          <p:cNvSpPr txBox="1"/>
          <p:nvPr/>
        </p:nvSpPr>
        <p:spPr>
          <a:xfrm>
            <a:off x="423282" y="2873178"/>
            <a:ext cx="2367773"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延长抗血栓治疗时程</a:t>
            </a: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7847" y="1599509"/>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6519" y="1605636"/>
            <a:ext cx="810713" cy="658747"/>
          </a:xfrm>
          <a:prstGeom prst="rect">
            <a:avLst/>
          </a:prstGeom>
        </p:spPr>
      </p:pic>
      <p:sp>
        <p:nvSpPr>
          <p:cNvPr id="23" name="文本框 22"/>
          <p:cNvSpPr txBox="1"/>
          <p:nvPr/>
        </p:nvSpPr>
        <p:spPr>
          <a:xfrm>
            <a:off x="423988" y="1744852"/>
            <a:ext cx="2879938"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8997751" y="1606952"/>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815204" y="1612202"/>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484925" y="648602"/>
            <a:ext cx="9197696"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患者介入后及维持治疗指南推荐</a:t>
            </a:r>
            <a:endParaRPr lang="zh-CN" altLang="en-US" sz="2400" b="1" dirty="0">
              <a:solidFill>
                <a:srgbClr val="AE1022"/>
              </a:solidFill>
            </a:endParaRPr>
          </a:p>
        </p:txBody>
      </p:sp>
      <p:sp>
        <p:nvSpPr>
          <p:cNvPr id="30" name="矩形 29"/>
          <p:cNvSpPr/>
          <p:nvPr/>
        </p:nvSpPr>
        <p:spPr>
          <a:xfrm>
            <a:off x="423281" y="3911113"/>
            <a:ext cx="8441193" cy="61420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对于中度增高缺血风险且无较高的主要及危及生命出血风险患者，可考虑在阿司匹林基础上增加一种抗血栓药物进行长期二级预防</a:t>
            </a:r>
          </a:p>
        </p:txBody>
      </p:sp>
      <p:sp>
        <p:nvSpPr>
          <p:cNvPr id="11" name="矩形 10"/>
          <p:cNvSpPr/>
          <p:nvPr/>
        </p:nvSpPr>
        <p:spPr>
          <a:xfrm>
            <a:off x="423282" y="3257110"/>
            <a:ext cx="8441192" cy="6142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对于高缺血风险且无较高的主要及危及生命出血风险患者，应考虑在阿司匹林基础上增加一种抗血栓药物进行长期二级预防</a:t>
            </a: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2237" y="2245494"/>
            <a:ext cx="1654499" cy="632603"/>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1017" y="3245149"/>
            <a:ext cx="835074" cy="645285"/>
          </a:xfrm>
          <a:prstGeom prst="rect">
            <a:avLst/>
          </a:prstGeom>
        </p:spPr>
      </p:pic>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31767" y="3245148"/>
            <a:ext cx="841593" cy="645221"/>
          </a:xfrm>
          <a:prstGeom prst="rect">
            <a:avLst/>
          </a:prstGeom>
        </p:spPr>
      </p:pic>
      <p:pic>
        <p:nvPicPr>
          <p:cNvPr id="25" name="图片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06626" y="3899598"/>
            <a:ext cx="1666269" cy="642548"/>
          </a:xfrm>
          <a:prstGeom prst="rect">
            <a:avLst/>
          </a:prstGeom>
        </p:spPr>
      </p:pic>
      <p:sp>
        <p:nvSpPr>
          <p:cNvPr id="48" name="矩形 47"/>
          <p:cNvSpPr/>
          <p:nvPr/>
        </p:nvSpPr>
        <p:spPr>
          <a:xfrm>
            <a:off x="423280" y="4556854"/>
            <a:ext cx="8441193" cy="91271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既往无卒中</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短暂性脑缺血发作史，缺血风险高且出血风险低，正在接受阿司匹林联用氯吡格雷治疗的</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患者，可考虑在停用肠外抗凝后应用低剂量利伐沙班治疗（</a:t>
            </a:r>
            <a:r>
              <a:rPr lang="en-US" altLang="zh-CN" dirty="0">
                <a:latin typeface="Microsoft YaHei UI" panose="020B0503020204020204" pitchFamily="34" charset="-122"/>
                <a:ea typeface="Microsoft YaHei UI" panose="020B0503020204020204" pitchFamily="34" charset="-122"/>
              </a:rPr>
              <a:t>2.5mg</a:t>
            </a:r>
            <a:r>
              <a:rPr lang="zh-CN" altLang="en-US" dirty="0">
                <a:latin typeface="Microsoft YaHei UI" panose="020B0503020204020204" pitchFamily="34" charset="-122"/>
                <a:ea typeface="Microsoft YaHei UI" panose="020B0503020204020204" pitchFamily="34" charset="-122"/>
              </a:rPr>
              <a:t>口服，</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日，维持近</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年）</a:t>
            </a:r>
          </a:p>
        </p:txBody>
      </p:sp>
      <p:pic>
        <p:nvPicPr>
          <p:cNvPr id="50" name="图片 49"/>
          <p:cNvPicPr>
            <a:picLocks noChangeAspect="1"/>
          </p:cNvPicPr>
          <p:nvPr/>
        </p:nvPicPr>
        <p:blipFill rotWithShape="1">
          <a:blip r:embed="rId8">
            <a:extLst>
              <a:ext uri="{28A0092B-C50C-407E-A947-70E740481C1C}">
                <a14:useLocalDpi xmlns:a14="http://schemas.microsoft.com/office/drawing/2010/main" val="0"/>
              </a:ext>
            </a:extLst>
          </a:blip>
          <a:srcRect t="26883" b="23332"/>
          <a:stretch>
            <a:fillRect/>
          </a:stretch>
        </p:blipFill>
        <p:spPr>
          <a:xfrm>
            <a:off x="8907373" y="4561039"/>
            <a:ext cx="1670610" cy="912718"/>
          </a:xfrm>
          <a:prstGeom prst="rect">
            <a:avLst/>
          </a:prstGeom>
        </p:spPr>
      </p:pic>
      <p:sp>
        <p:nvSpPr>
          <p:cNvPr id="2" name="矩形: 圆角 1"/>
          <p:cNvSpPr/>
          <p:nvPr/>
        </p:nvSpPr>
        <p:spPr>
          <a:xfrm>
            <a:off x="294967" y="3848993"/>
            <a:ext cx="11168010" cy="672263"/>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3" name="文本框 2"/>
          <p:cNvSpPr txBox="1"/>
          <p:nvPr/>
        </p:nvSpPr>
        <p:spPr>
          <a:xfrm>
            <a:off x="10533873" y="3925530"/>
            <a:ext cx="784018" cy="646331"/>
          </a:xfrm>
          <a:prstGeom prst="rect">
            <a:avLst/>
          </a:prstGeom>
          <a:noFill/>
        </p:spPr>
        <p:txBody>
          <a:bodyPr wrap="square" rtlCol="0">
            <a:spAutoFit/>
          </a:bodyPr>
          <a:lstStyle/>
          <a:p>
            <a:r>
              <a:rPr lang="zh-CN" altLang="en-US" sz="1200" b="1" dirty="0">
                <a:solidFill>
                  <a:srgbClr val="AE1022"/>
                </a:solidFill>
                <a:latin typeface="Microsoft YaHei UI" panose="020B0503020204020204" pitchFamily="34" charset="-122"/>
                <a:ea typeface="Microsoft YaHei UI" panose="020B0503020204020204" pitchFamily="34" charset="-122"/>
              </a:rPr>
              <a:t>由</a:t>
            </a:r>
            <a:r>
              <a:rPr lang="en-US" altLang="zh-CN" sz="1200" b="1" dirty="0" err="1">
                <a:solidFill>
                  <a:srgbClr val="AE1022"/>
                </a:solidFill>
                <a:latin typeface="Microsoft YaHei UI" panose="020B0503020204020204" pitchFamily="34" charset="-122"/>
                <a:ea typeface="Microsoft YaHei UI" panose="020B0503020204020204" pitchFamily="34" charset="-122"/>
              </a:rPr>
              <a:t>Ⅱb</a:t>
            </a:r>
            <a:r>
              <a:rPr lang="zh-CN" altLang="en-US" sz="1200" b="1" dirty="0">
                <a:solidFill>
                  <a:srgbClr val="AE1022"/>
                </a:solidFill>
                <a:latin typeface="Microsoft YaHei UI" panose="020B0503020204020204" pitchFamily="34" charset="-122"/>
                <a:ea typeface="Microsoft YaHei UI" panose="020B0503020204020204" pitchFamily="34" charset="-122"/>
              </a:rPr>
              <a:t>类升为</a:t>
            </a:r>
            <a:r>
              <a:rPr lang="en-US" altLang="zh-CN" sz="1200" b="1" dirty="0" err="1">
                <a:solidFill>
                  <a:srgbClr val="AE1022"/>
                </a:solidFill>
                <a:latin typeface="Microsoft YaHei UI" panose="020B0503020204020204" pitchFamily="34" charset="-122"/>
                <a:ea typeface="Microsoft YaHei UI" panose="020B0503020204020204" pitchFamily="34" charset="-122"/>
              </a:rPr>
              <a:t>Ⅱa</a:t>
            </a:r>
            <a:r>
              <a:rPr lang="zh-CN" altLang="en-US" sz="1200" b="1" dirty="0">
                <a:solidFill>
                  <a:srgbClr val="AE1022"/>
                </a:solidFill>
                <a:latin typeface="Microsoft YaHei UI" panose="020B0503020204020204" pitchFamily="34" charset="-122"/>
                <a:ea typeface="Microsoft YaHei UI" panose="020B0503020204020204" pitchFamily="34" charset="-122"/>
              </a:rPr>
              <a:t>类推荐</a:t>
            </a:r>
            <a:endParaRPr lang="zh-CN" altLang="en-US" sz="1200" b="1" dirty="0">
              <a:solidFill>
                <a:srgbClr val="AE1022"/>
              </a:solidFill>
            </a:endParaRPr>
          </a:p>
        </p:txBody>
      </p:sp>
      <p:sp>
        <p:nvSpPr>
          <p:cNvPr id="4" name="箭头: 下 3"/>
          <p:cNvSpPr/>
          <p:nvPr/>
        </p:nvSpPr>
        <p:spPr>
          <a:xfrm rot="10800000">
            <a:off x="11232636" y="4032658"/>
            <a:ext cx="230341" cy="380776"/>
          </a:xfrm>
          <a:prstGeom prst="downArrow">
            <a:avLst/>
          </a:prstGeom>
          <a:solidFill>
            <a:srgbClr val="C3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557" y="1446840"/>
            <a:ext cx="8448319"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6122" y="1451695"/>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794" y="1457822"/>
            <a:ext cx="810713" cy="658747"/>
          </a:xfrm>
          <a:prstGeom prst="rect">
            <a:avLst/>
          </a:prstGeom>
        </p:spPr>
      </p:pic>
      <p:sp>
        <p:nvSpPr>
          <p:cNvPr id="23" name="文本框 22"/>
          <p:cNvSpPr txBox="1"/>
          <p:nvPr/>
        </p:nvSpPr>
        <p:spPr>
          <a:xfrm>
            <a:off x="512263" y="1597038"/>
            <a:ext cx="2879938"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086026" y="1459138"/>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903479" y="1464388"/>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511553" y="630227"/>
            <a:ext cx="9197696"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患者介入后及维持治疗指南推荐</a:t>
            </a:r>
            <a:endParaRPr lang="zh-CN" altLang="en-US" sz="2400" b="1" dirty="0">
              <a:solidFill>
                <a:srgbClr val="AE1022"/>
              </a:solidFill>
            </a:endParaRPr>
          </a:p>
        </p:txBody>
      </p:sp>
      <p:sp>
        <p:nvSpPr>
          <p:cNvPr id="29" name="矩形 28"/>
          <p:cNvSpPr/>
          <p:nvPr/>
        </p:nvSpPr>
        <p:spPr>
          <a:xfrm>
            <a:off x="511555" y="2484798"/>
            <a:ext cx="8441193"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当支架植入术后存在高出血风险（如</a:t>
            </a:r>
            <a:r>
              <a:rPr lang="en-US" altLang="zh-CN" dirty="0">
                <a:latin typeface="Microsoft YaHei UI" panose="020B0503020204020204" pitchFamily="34" charset="-122"/>
                <a:ea typeface="Microsoft YaHei UI" panose="020B0503020204020204" pitchFamily="34" charset="-122"/>
              </a:rPr>
              <a:t>PRECISE-DAPT</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25</a:t>
            </a:r>
            <a:r>
              <a:rPr lang="zh-CN" altLang="en-US" dirty="0">
                <a:latin typeface="Microsoft YaHei UI" panose="020B0503020204020204" pitchFamily="34" charset="-122"/>
                <a:ea typeface="Microsoft YaHei UI" panose="020B0503020204020204" pitchFamily="34" charset="-122"/>
              </a:rPr>
              <a:t>分或达到</a:t>
            </a:r>
            <a:r>
              <a:rPr lang="en-US" altLang="zh-CN" dirty="0">
                <a:latin typeface="Microsoft YaHei UI" panose="020B0503020204020204" pitchFamily="34" charset="-122"/>
                <a:ea typeface="Microsoft YaHei UI" panose="020B0503020204020204" pitchFamily="34" charset="-122"/>
              </a:rPr>
              <a:t>ARC-HBR</a:t>
            </a:r>
            <a:r>
              <a:rPr lang="zh-CN" altLang="en-US" dirty="0">
                <a:latin typeface="Microsoft YaHei UI" panose="020B0503020204020204" pitchFamily="34" charset="-122"/>
                <a:ea typeface="Microsoft YaHei UI" panose="020B0503020204020204" pitchFamily="34" charset="-122"/>
              </a:rPr>
              <a:t>标准）时，应考虑在</a:t>
            </a:r>
            <a:r>
              <a:rPr lang="en-US" altLang="zh-CN" dirty="0">
                <a:latin typeface="Microsoft YaHei UI" panose="020B0503020204020204" pitchFamily="34" charset="-122"/>
                <a:ea typeface="Microsoft YaHei UI" panose="020B0503020204020204" pitchFamily="34" charset="-122"/>
              </a:rPr>
              <a:t>3</a:t>
            </a:r>
            <a:r>
              <a:rPr lang="zh-CN" altLang="en-US" dirty="0">
                <a:latin typeface="Microsoft YaHei UI" panose="020B0503020204020204" pitchFamily="34" charset="-122"/>
                <a:ea typeface="Microsoft YaHei UI" panose="020B0503020204020204" pitchFamily="34" charset="-122"/>
              </a:rPr>
              <a:t>个月后停用</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受体抑制剂治疗</a:t>
            </a:r>
          </a:p>
        </p:txBody>
      </p:sp>
      <p:pic>
        <p:nvPicPr>
          <p:cNvPr id="26" name="图片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557" y="2088023"/>
            <a:ext cx="10128659" cy="375008"/>
          </a:xfrm>
          <a:prstGeom prst="rect">
            <a:avLst/>
          </a:prstGeom>
        </p:spPr>
      </p:pic>
      <p:sp>
        <p:nvSpPr>
          <p:cNvPr id="32" name="文本框 31"/>
          <p:cNvSpPr txBox="1"/>
          <p:nvPr/>
        </p:nvSpPr>
        <p:spPr>
          <a:xfrm>
            <a:off x="511557" y="2091149"/>
            <a:ext cx="2367773"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缩短抗血栓治疗时程</a:t>
            </a:r>
          </a:p>
        </p:txBody>
      </p:sp>
      <p:pic>
        <p:nvPicPr>
          <p:cNvPr id="34" name="图片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89291" y="2461071"/>
            <a:ext cx="1666269" cy="642548"/>
          </a:xfrm>
          <a:prstGeom prst="rect">
            <a:avLst/>
          </a:prstGeom>
        </p:spPr>
      </p:pic>
      <p:sp>
        <p:nvSpPr>
          <p:cNvPr id="40" name="矩形 39"/>
          <p:cNvSpPr/>
          <p:nvPr/>
        </p:nvSpPr>
        <p:spPr>
          <a:xfrm>
            <a:off x="511554" y="3143206"/>
            <a:ext cx="8441193"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对于支架植入应用</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的患者，应在</a:t>
            </a:r>
            <a:r>
              <a:rPr lang="en-US" altLang="zh-CN" dirty="0">
                <a:latin typeface="Microsoft YaHei UI" panose="020B0503020204020204" pitchFamily="34" charset="-122"/>
                <a:ea typeface="Microsoft YaHei UI" panose="020B0503020204020204" pitchFamily="34" charset="-122"/>
              </a:rPr>
              <a:t>3-6</a:t>
            </a:r>
            <a:r>
              <a:rPr lang="zh-CN" altLang="en-US" dirty="0">
                <a:latin typeface="Microsoft YaHei UI" panose="020B0503020204020204" pitchFamily="34" charset="-122"/>
                <a:ea typeface="Microsoft YaHei UI" panose="020B0503020204020204" pitchFamily="34" charset="-122"/>
              </a:rPr>
              <a:t>月后平衡缺血及出血风险基础上考虑停用阿司匹林</a:t>
            </a:r>
          </a:p>
        </p:txBody>
      </p:sp>
      <p:pic>
        <p:nvPicPr>
          <p:cNvPr id="42" name="图片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84614" y="3120705"/>
            <a:ext cx="835074" cy="645285"/>
          </a:xfrm>
          <a:prstGeom prst="rect">
            <a:avLst/>
          </a:prstGeom>
        </p:spPr>
      </p:pic>
      <p:pic>
        <p:nvPicPr>
          <p:cNvPr id="44" name="图片 4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15364" y="3120704"/>
            <a:ext cx="841593" cy="645221"/>
          </a:xfrm>
          <a:prstGeom prst="rect">
            <a:avLst/>
          </a:prstGeom>
        </p:spPr>
      </p:pic>
      <p:sp>
        <p:nvSpPr>
          <p:cNvPr id="46" name="矩形 45"/>
          <p:cNvSpPr/>
          <p:nvPr/>
        </p:nvSpPr>
        <p:spPr>
          <a:xfrm>
            <a:off x="511553" y="3787493"/>
            <a:ext cx="8441193" cy="127060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受体抑制剂降阶治疗（如从普拉格雷或替格瑞洛转换至氯吡格雷）作为</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的替代方案，尤其对于被认为不适合强效血小板抑制的</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患者。降阶治疗可仅依据临床判断进行，也可根据患者风险评估及相应检测方法可行性在血小板功能测定或</a:t>
            </a:r>
            <a:r>
              <a:rPr lang="en-US" altLang="zh-CN" dirty="0">
                <a:latin typeface="Microsoft YaHei UI" panose="020B0503020204020204" pitchFamily="34" charset="-122"/>
                <a:ea typeface="Microsoft YaHei UI" panose="020B0503020204020204" pitchFamily="34" charset="-122"/>
              </a:rPr>
              <a:t>CYP2C19</a:t>
            </a:r>
            <a:r>
              <a:rPr lang="zh-CN" altLang="en-US" dirty="0">
                <a:latin typeface="Microsoft YaHei UI" panose="020B0503020204020204" pitchFamily="34" charset="-122"/>
                <a:ea typeface="Microsoft YaHei UI" panose="020B0503020204020204" pitchFamily="34" charset="-122"/>
              </a:rPr>
              <a:t>基因型测定的指导下进行</a:t>
            </a:r>
          </a:p>
        </p:txBody>
      </p:sp>
      <p:pic>
        <p:nvPicPr>
          <p:cNvPr id="3" name="图片 2"/>
          <p:cNvPicPr>
            <a:picLocks noChangeAspect="1"/>
          </p:cNvPicPr>
          <p:nvPr/>
        </p:nvPicPr>
        <p:blipFill rotWithShape="1">
          <a:blip r:embed="rId7">
            <a:extLst>
              <a:ext uri="{28A0092B-C50C-407E-A947-70E740481C1C}">
                <a14:useLocalDpi xmlns:a14="http://schemas.microsoft.com/office/drawing/2010/main" val="0"/>
              </a:ext>
            </a:extLst>
          </a:blip>
          <a:srcRect l="1" t="30339" r="2508" b="29059"/>
          <a:stretch>
            <a:fillRect/>
          </a:stretch>
        </p:blipFill>
        <p:spPr>
          <a:xfrm>
            <a:off x="8984614" y="3792272"/>
            <a:ext cx="1655602" cy="1265827"/>
          </a:xfrm>
          <a:prstGeom prst="rect">
            <a:avLst/>
          </a:prstGeom>
        </p:spPr>
      </p:pic>
      <p:sp>
        <p:nvSpPr>
          <p:cNvPr id="2" name="矩形: 圆角 1"/>
          <p:cNvSpPr/>
          <p:nvPr/>
        </p:nvSpPr>
        <p:spPr>
          <a:xfrm>
            <a:off x="442167" y="3762290"/>
            <a:ext cx="11098055" cy="1367619"/>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4" name="文本框 3"/>
          <p:cNvSpPr txBox="1"/>
          <p:nvPr/>
        </p:nvSpPr>
        <p:spPr>
          <a:xfrm>
            <a:off x="10655560" y="4177118"/>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557" y="1446840"/>
            <a:ext cx="8448319"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6122" y="1451695"/>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794" y="1457822"/>
            <a:ext cx="810713" cy="658747"/>
          </a:xfrm>
          <a:prstGeom prst="rect">
            <a:avLst/>
          </a:prstGeom>
        </p:spPr>
      </p:pic>
      <p:sp>
        <p:nvSpPr>
          <p:cNvPr id="23" name="文本框 22"/>
          <p:cNvSpPr txBox="1"/>
          <p:nvPr/>
        </p:nvSpPr>
        <p:spPr>
          <a:xfrm>
            <a:off x="512263" y="1597038"/>
            <a:ext cx="2879938"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086026" y="1459138"/>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903479" y="1464388"/>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511553" y="630227"/>
            <a:ext cx="9197696"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患者急性期其它抗缺血药物推荐</a:t>
            </a:r>
            <a:endParaRPr lang="zh-CN" altLang="en-US" sz="2400" b="1" dirty="0">
              <a:solidFill>
                <a:srgbClr val="AE1022"/>
              </a:solidFill>
            </a:endParaRPr>
          </a:p>
        </p:txBody>
      </p:sp>
      <p:sp>
        <p:nvSpPr>
          <p:cNvPr id="29" name="矩形 28"/>
          <p:cNvSpPr/>
          <p:nvPr/>
        </p:nvSpPr>
        <p:spPr>
          <a:xfrm>
            <a:off x="511551" y="2137234"/>
            <a:ext cx="8441193"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对于有持续性缺血症状且无禁忌证的患者，推荐舌下含服或静脉应用硝酸酯类药物，并早期启动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受体阻滞剂治疗</a:t>
            </a:r>
          </a:p>
        </p:txBody>
      </p:sp>
      <p:sp>
        <p:nvSpPr>
          <p:cNvPr id="40" name="矩形 39"/>
          <p:cNvSpPr/>
          <p:nvPr/>
        </p:nvSpPr>
        <p:spPr>
          <a:xfrm>
            <a:off x="511550" y="2774107"/>
            <a:ext cx="8441193"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除存在明显心衰外，推荐患者长期应用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受体阻滞剂治疗</a:t>
            </a:r>
          </a:p>
        </p:txBody>
      </p:sp>
      <p:sp>
        <p:nvSpPr>
          <p:cNvPr id="46" name="矩形 45"/>
          <p:cNvSpPr/>
          <p:nvPr/>
        </p:nvSpPr>
        <p:spPr>
          <a:xfrm>
            <a:off x="514975" y="3418229"/>
            <a:ext cx="8441193"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对于高血压无法控制或有心衰症状的患者，推荐静脉应用硝酸酯类药物</a:t>
            </a:r>
          </a:p>
        </p:txBody>
      </p:sp>
      <p:sp>
        <p:nvSpPr>
          <p:cNvPr id="5" name="矩形 4"/>
          <p:cNvSpPr/>
          <p:nvPr/>
        </p:nvSpPr>
        <p:spPr>
          <a:xfrm>
            <a:off x="511549" y="4062351"/>
            <a:ext cx="8441193" cy="66972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对于疑似</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确诊血管痉挛性心绞痛的患者，应当考虑应用钙通道阻滞剂和硝酸酯类药物，避免应用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a:t>
            </a:r>
          </a:p>
        </p:txBody>
      </p:sp>
      <p:pic>
        <p:nvPicPr>
          <p:cNvPr id="9" name="图片 8"/>
          <p:cNvPicPr>
            <a:picLocks noChangeAspect="1"/>
          </p:cNvPicPr>
          <p:nvPr/>
        </p:nvPicPr>
        <p:blipFill rotWithShape="1">
          <a:blip r:embed="rId4">
            <a:extLst>
              <a:ext uri="{28A0092B-C50C-407E-A947-70E740481C1C}">
                <a14:useLocalDpi xmlns:a14="http://schemas.microsoft.com/office/drawing/2010/main" val="0"/>
              </a:ext>
            </a:extLst>
          </a:blip>
          <a:srcRect t="77460" b="7122"/>
          <a:stretch>
            <a:fillRect/>
          </a:stretch>
        </p:blipFill>
        <p:spPr>
          <a:xfrm>
            <a:off x="8975494" y="4055103"/>
            <a:ext cx="1698051" cy="676978"/>
          </a:xfrm>
          <a:prstGeom prst="rect">
            <a:avLst/>
          </a:prstGeom>
        </p:spPr>
      </p:pic>
      <p:pic>
        <p:nvPicPr>
          <p:cNvPr id="11" name="图片 10"/>
          <p:cNvPicPr>
            <a:picLocks noChangeAspect="1"/>
          </p:cNvPicPr>
          <p:nvPr/>
        </p:nvPicPr>
        <p:blipFill rotWithShape="1">
          <a:blip r:embed="rId4">
            <a:extLst>
              <a:ext uri="{28A0092B-C50C-407E-A947-70E740481C1C}">
                <a14:useLocalDpi xmlns:a14="http://schemas.microsoft.com/office/drawing/2010/main" val="0"/>
              </a:ext>
            </a:extLst>
          </a:blip>
          <a:srcRect t="31793" b="54706"/>
          <a:stretch>
            <a:fillRect/>
          </a:stretch>
        </p:blipFill>
        <p:spPr>
          <a:xfrm>
            <a:off x="8977834" y="2774108"/>
            <a:ext cx="1698051" cy="592800"/>
          </a:xfrm>
          <a:prstGeom prst="rect">
            <a:avLst/>
          </a:prstGeom>
        </p:spPr>
      </p:pic>
      <p:pic>
        <p:nvPicPr>
          <p:cNvPr id="12" name="图片 11"/>
          <p:cNvPicPr>
            <a:picLocks noChangeAspect="1"/>
          </p:cNvPicPr>
          <p:nvPr/>
        </p:nvPicPr>
        <p:blipFill rotWithShape="1">
          <a:blip r:embed="rId4">
            <a:extLst>
              <a:ext uri="{28A0092B-C50C-407E-A947-70E740481C1C}">
                <a14:useLocalDpi xmlns:a14="http://schemas.microsoft.com/office/drawing/2010/main" val="0"/>
              </a:ext>
            </a:extLst>
          </a:blip>
          <a:srcRect t="8097" b="78402"/>
          <a:stretch>
            <a:fillRect/>
          </a:stretch>
        </p:blipFill>
        <p:spPr>
          <a:xfrm>
            <a:off x="8975494" y="2137235"/>
            <a:ext cx="1698051" cy="592800"/>
          </a:xfrm>
          <a:prstGeom prst="rect">
            <a:avLst/>
          </a:prstGeom>
        </p:spPr>
      </p:pic>
      <p:pic>
        <p:nvPicPr>
          <p:cNvPr id="13" name="图片 12"/>
          <p:cNvPicPr>
            <a:picLocks noChangeAspect="1"/>
          </p:cNvPicPr>
          <p:nvPr/>
        </p:nvPicPr>
        <p:blipFill rotWithShape="1">
          <a:blip r:embed="rId4">
            <a:extLst>
              <a:ext uri="{28A0092B-C50C-407E-A947-70E740481C1C}">
                <a14:useLocalDpi xmlns:a14="http://schemas.microsoft.com/office/drawing/2010/main" val="0"/>
              </a:ext>
            </a:extLst>
          </a:blip>
          <a:srcRect t="31793" b="54706"/>
          <a:stretch>
            <a:fillRect/>
          </a:stretch>
        </p:blipFill>
        <p:spPr>
          <a:xfrm>
            <a:off x="8975494" y="3418229"/>
            <a:ext cx="1698051" cy="592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3" name="文本框 2"/>
          <p:cNvSpPr txBox="1"/>
          <p:nvPr/>
        </p:nvSpPr>
        <p:spPr>
          <a:xfrm>
            <a:off x="995179" y="350132"/>
            <a:ext cx="6487818"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减少</a:t>
            </a:r>
            <a:r>
              <a:rPr lang="en-US" altLang="zh-CN" sz="2400" b="1" dirty="0">
                <a:solidFill>
                  <a:srgbClr val="AE1022"/>
                </a:solidFill>
                <a:latin typeface="Microsoft YaHei UI" panose="020B0503020204020204" pitchFamily="34" charset="-122"/>
                <a:ea typeface="Microsoft YaHei UI" panose="020B0503020204020204" pitchFamily="34" charset="-122"/>
              </a:rPr>
              <a:t>PCI</a:t>
            </a:r>
            <a:r>
              <a:rPr lang="zh-CN" altLang="en-US" sz="2400" b="1" dirty="0">
                <a:solidFill>
                  <a:srgbClr val="AE1022"/>
                </a:solidFill>
                <a:latin typeface="Microsoft YaHei UI" panose="020B0503020204020204" pitchFamily="34" charset="-122"/>
                <a:ea typeface="Microsoft YaHei UI" panose="020B0503020204020204" pitchFamily="34" charset="-122"/>
              </a:rPr>
              <a:t>相关出血风险的建议策略</a:t>
            </a:r>
          </a:p>
        </p:txBody>
      </p:sp>
      <p:sp>
        <p:nvSpPr>
          <p:cNvPr id="34" name="矩形 33"/>
          <p:cNvSpPr/>
          <p:nvPr/>
        </p:nvSpPr>
        <p:spPr>
          <a:xfrm>
            <a:off x="996906" y="973010"/>
            <a:ext cx="9699849"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根据体重和肾功能调整抗凝药物剂量，尤其对于女性和老年患者</a:t>
            </a:r>
          </a:p>
        </p:txBody>
      </p:sp>
      <p:sp>
        <p:nvSpPr>
          <p:cNvPr id="36" name="矩形 35"/>
          <p:cNvSpPr/>
          <p:nvPr/>
        </p:nvSpPr>
        <p:spPr>
          <a:xfrm>
            <a:off x="998963" y="1312026"/>
            <a:ext cx="9696428" cy="32328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将桡动脉入路作为常规血管入路途径</a:t>
            </a:r>
          </a:p>
        </p:txBody>
      </p:sp>
      <p:sp>
        <p:nvSpPr>
          <p:cNvPr id="38" name="矩形 37"/>
          <p:cNvSpPr/>
          <p:nvPr/>
        </p:nvSpPr>
        <p:spPr>
          <a:xfrm>
            <a:off x="998963" y="1663151"/>
            <a:ext cx="9696428" cy="201499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对胃肠道出血风险高于平均水平的患者应用质子泵抑制剂，如既往消化道溃疡</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出血史，应用抗凝药物，长期应用非甾体类抗炎药或糖皮质激素，或以下中的两项或更多：</a:t>
            </a:r>
            <a:endParaRPr lang="en-US" altLang="zh-CN"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zh-CN" altLang="en-US" sz="1800" dirty="0">
                <a:latin typeface="Microsoft YaHei UI" panose="020B0503020204020204" pitchFamily="34" charset="-122"/>
                <a:ea typeface="Microsoft YaHei UI" panose="020B0503020204020204" pitchFamily="34" charset="-122"/>
              </a:rPr>
              <a:t>年龄≥</a:t>
            </a:r>
            <a:r>
              <a:rPr lang="en-US" altLang="zh-CN" sz="1800" dirty="0">
                <a:latin typeface="Microsoft YaHei UI" panose="020B0503020204020204" pitchFamily="34" charset="-122"/>
                <a:ea typeface="Microsoft YaHei UI" panose="020B0503020204020204" pitchFamily="34" charset="-122"/>
              </a:rPr>
              <a:t>65</a:t>
            </a:r>
            <a:r>
              <a:rPr lang="zh-CN" altLang="en-US" sz="1800" dirty="0">
                <a:latin typeface="Microsoft YaHei UI" panose="020B0503020204020204" pitchFamily="34" charset="-122"/>
                <a:ea typeface="Microsoft YaHei UI" panose="020B0503020204020204" pitchFamily="34" charset="-122"/>
              </a:rPr>
              <a:t>岁</a:t>
            </a:r>
            <a:endParaRPr lang="en-US" altLang="zh-CN" sz="1800"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消化不良</a:t>
            </a:r>
            <a:endParaRPr lang="en-US" altLang="zh-CN"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zh-CN" altLang="en-US" sz="1800" dirty="0">
                <a:latin typeface="Microsoft YaHei UI" panose="020B0503020204020204" pitchFamily="34" charset="-122"/>
                <a:ea typeface="Microsoft YaHei UI" panose="020B0503020204020204" pitchFamily="34" charset="-122"/>
              </a:rPr>
              <a:t>胃食管反流病</a:t>
            </a:r>
            <a:endParaRPr lang="en-US" altLang="zh-CN" sz="1800"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幽门螺杆菌感染</a:t>
            </a:r>
            <a:endParaRPr lang="en-US" altLang="zh-CN"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慢性酗酒</a:t>
            </a:r>
            <a:endParaRPr lang="zh-CN" altLang="en-US" sz="1800" dirty="0">
              <a:latin typeface="Microsoft YaHei UI" panose="020B0503020204020204" pitchFamily="34" charset="-122"/>
              <a:ea typeface="Microsoft YaHei UI" panose="020B0503020204020204" pitchFamily="34" charset="-122"/>
            </a:endParaRPr>
          </a:p>
        </p:txBody>
      </p:sp>
      <p:sp>
        <p:nvSpPr>
          <p:cNvPr id="42" name="矩形 41"/>
          <p:cNvSpPr/>
          <p:nvPr/>
        </p:nvSpPr>
        <p:spPr>
          <a:xfrm>
            <a:off x="1101399" y="6370442"/>
            <a:ext cx="2047630" cy="3489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INR</a:t>
            </a:r>
            <a:r>
              <a:rPr lang="zh-CN" altLang="en-US" sz="1400" dirty="0">
                <a:solidFill>
                  <a:schemeClr val="tx1"/>
                </a:solidFill>
                <a:latin typeface="Microsoft YaHei UI" panose="020B0503020204020204" pitchFamily="34" charset="-122"/>
                <a:ea typeface="Microsoft YaHei UI" panose="020B0503020204020204" pitchFamily="34" charset="-122"/>
              </a:rPr>
              <a:t>：国际标准化比值</a:t>
            </a:r>
          </a:p>
        </p:txBody>
      </p:sp>
      <p:sp>
        <p:nvSpPr>
          <p:cNvPr id="4" name="矩形 3"/>
          <p:cNvSpPr/>
          <p:nvPr/>
        </p:nvSpPr>
        <p:spPr>
          <a:xfrm>
            <a:off x="995179" y="3711122"/>
            <a:ext cx="9696428" cy="149273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应用口服抗凝药的患者：</a:t>
            </a:r>
            <a:endParaRPr lang="en-US" altLang="zh-CN" sz="1800"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期间不中断维生素</a:t>
            </a:r>
            <a:r>
              <a:rPr lang="en-US" altLang="zh-CN" dirty="0">
                <a:latin typeface="Microsoft YaHei UI" panose="020B0503020204020204" pitchFamily="34" charset="-122"/>
                <a:ea typeface="Microsoft YaHei UI" panose="020B0503020204020204" pitchFamily="34" charset="-122"/>
              </a:rPr>
              <a:t>K</a:t>
            </a:r>
            <a:r>
              <a:rPr lang="zh-CN" altLang="en-US" dirty="0">
                <a:latin typeface="Microsoft YaHei UI" panose="020B0503020204020204" pitchFamily="34" charset="-122"/>
                <a:ea typeface="Microsoft YaHei UI" panose="020B0503020204020204" pitchFamily="34" charset="-122"/>
              </a:rPr>
              <a:t>拮抗剂或新型口服抗凝药</a:t>
            </a:r>
            <a:endParaRPr lang="en-US" altLang="zh-CN" sz="1800"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对于服用维生素</a:t>
            </a:r>
            <a:r>
              <a:rPr lang="en-US" altLang="zh-CN" dirty="0">
                <a:latin typeface="Microsoft YaHei UI" panose="020B0503020204020204" pitchFamily="34" charset="-122"/>
                <a:ea typeface="Microsoft YaHei UI" panose="020B0503020204020204" pitchFamily="34" charset="-122"/>
              </a:rPr>
              <a:t>K</a:t>
            </a:r>
            <a:r>
              <a:rPr lang="zh-CN" altLang="en-US" dirty="0">
                <a:latin typeface="Microsoft YaHei UI" panose="020B0503020204020204" pitchFamily="34" charset="-122"/>
                <a:ea typeface="Microsoft YaHei UI" panose="020B0503020204020204" pitchFamily="34" charset="-122"/>
              </a:rPr>
              <a:t>拮抗剂的患者，如</a:t>
            </a:r>
            <a:r>
              <a:rPr lang="en-US" altLang="zh-CN" dirty="0">
                <a:latin typeface="Microsoft YaHei UI" panose="020B0503020204020204" pitchFamily="34" charset="-122"/>
                <a:ea typeface="Microsoft YaHei UI" panose="020B0503020204020204" pitchFamily="34" charset="-122"/>
              </a:rPr>
              <a:t>INR</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2.5</a:t>
            </a:r>
            <a:r>
              <a:rPr lang="zh-CN" altLang="en-US" dirty="0">
                <a:latin typeface="Microsoft YaHei UI" panose="020B0503020204020204" pitchFamily="34" charset="-122"/>
                <a:ea typeface="Microsoft YaHei UI" panose="020B0503020204020204" pitchFamily="34" charset="-122"/>
              </a:rPr>
              <a:t>，则不应用普通肝素</a:t>
            </a:r>
            <a:endParaRPr lang="en-US" altLang="zh-CN"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服用新型口服抗凝药的患者，无论何时最后一次用药，加用低剂量肠外抗凝药（如依诺肝素</a:t>
            </a:r>
            <a:r>
              <a:rPr lang="en-US" altLang="zh-CN" dirty="0">
                <a:latin typeface="Microsoft YaHei UI" panose="020B0503020204020204" pitchFamily="34" charset="-122"/>
                <a:ea typeface="Microsoft YaHei UI" panose="020B0503020204020204" pitchFamily="34" charset="-122"/>
              </a:rPr>
              <a:t>0.5mg/kg</a:t>
            </a:r>
            <a:r>
              <a:rPr lang="zh-CN" altLang="en-US" dirty="0">
                <a:latin typeface="Microsoft YaHei UI" panose="020B0503020204020204" pitchFamily="34" charset="-122"/>
                <a:ea typeface="Microsoft YaHei UI" panose="020B0503020204020204" pitchFamily="34" charset="-122"/>
              </a:rPr>
              <a:t>静脉滴注，或普通肝素</a:t>
            </a:r>
            <a:r>
              <a:rPr lang="en-US" altLang="zh-CN" dirty="0">
                <a:latin typeface="Microsoft YaHei UI" panose="020B0503020204020204" pitchFamily="34" charset="-122"/>
                <a:ea typeface="Microsoft YaHei UI" panose="020B0503020204020204" pitchFamily="34" charset="-122"/>
              </a:rPr>
              <a:t>60IU/kg</a:t>
            </a:r>
            <a:r>
              <a:rPr lang="zh-CN" altLang="en-US" dirty="0">
                <a:latin typeface="Microsoft YaHei UI" panose="020B0503020204020204" pitchFamily="34" charset="-122"/>
                <a:ea typeface="Microsoft YaHei UI" panose="020B0503020204020204" pitchFamily="34" charset="-122"/>
              </a:rPr>
              <a:t>）</a:t>
            </a:r>
            <a:endParaRPr lang="en-US" altLang="zh-CN" sz="1800" dirty="0">
              <a:latin typeface="Microsoft YaHei UI" panose="020B0503020204020204" pitchFamily="34" charset="-122"/>
              <a:ea typeface="Microsoft YaHei UI" panose="020B0503020204020204" pitchFamily="34" charset="-122"/>
            </a:endParaRPr>
          </a:p>
        </p:txBody>
      </p:sp>
      <p:sp>
        <p:nvSpPr>
          <p:cNvPr id="11" name="矩形 10"/>
          <p:cNvSpPr/>
          <p:nvPr/>
        </p:nvSpPr>
        <p:spPr>
          <a:xfrm>
            <a:off x="995179" y="5234688"/>
            <a:ext cx="9699849"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建议应用阿司匹林，但应避免进行</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受体抑制剂预治疗</a:t>
            </a:r>
            <a:endParaRPr lang="en-US" altLang="zh-CN" dirty="0">
              <a:latin typeface="Microsoft YaHei UI" panose="020B0503020204020204" pitchFamily="34" charset="-122"/>
              <a:ea typeface="Microsoft YaHei UI" panose="020B0503020204020204" pitchFamily="34" charset="-122"/>
            </a:endParaRPr>
          </a:p>
        </p:txBody>
      </p:sp>
      <p:sp>
        <p:nvSpPr>
          <p:cNvPr id="20" name="矩形 19"/>
          <p:cNvSpPr/>
          <p:nvPr/>
        </p:nvSpPr>
        <p:spPr>
          <a:xfrm>
            <a:off x="997236" y="5573704"/>
            <a:ext cx="9696428" cy="32328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err="1">
                <a:latin typeface="Microsoft YaHei UI" panose="020B0503020204020204" pitchFamily="34" charset="-122"/>
                <a:ea typeface="Microsoft YaHei UI" panose="020B0503020204020204" pitchFamily="34" charset="-122"/>
              </a:rPr>
              <a:t>GPⅡb</a:t>
            </a:r>
            <a:r>
              <a:rPr lang="en-US" altLang="zh-CN" dirty="0">
                <a:latin typeface="Microsoft YaHei UI" panose="020B0503020204020204" pitchFamily="34" charset="-122"/>
                <a:ea typeface="Microsoft YaHei UI" panose="020B0503020204020204" pitchFamily="34" charset="-122"/>
              </a:rPr>
              <a:t>/</a:t>
            </a:r>
            <a:r>
              <a:rPr lang="en-US" altLang="zh-CN" dirty="0" err="1">
                <a:latin typeface="Microsoft YaHei UI" panose="020B0503020204020204" pitchFamily="34" charset="-122"/>
                <a:ea typeface="Microsoft YaHei UI" panose="020B0503020204020204" pitchFamily="34" charset="-122"/>
              </a:rPr>
              <a:t>Ⅲa</a:t>
            </a:r>
            <a:r>
              <a:rPr lang="zh-CN" altLang="en-US" dirty="0">
                <a:latin typeface="Microsoft YaHei UI" panose="020B0503020204020204" pitchFamily="34" charset="-122"/>
                <a:ea typeface="Microsoft YaHei UI" panose="020B0503020204020204" pitchFamily="34" charset="-122"/>
              </a:rPr>
              <a:t>受体拮抗剂仅应用于围术期并发症的紧急补救</a:t>
            </a:r>
            <a:endParaRPr lang="en-US" altLang="zh-CN" dirty="0">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3" name="文本框 2"/>
          <p:cNvSpPr txBox="1"/>
          <p:nvPr/>
        </p:nvSpPr>
        <p:spPr>
          <a:xfrm>
            <a:off x="1188883" y="277841"/>
            <a:ext cx="7518465"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行</a:t>
            </a:r>
            <a:r>
              <a:rPr lang="en-US" altLang="zh-CN" sz="2400" b="1" dirty="0">
                <a:solidFill>
                  <a:srgbClr val="AE1022"/>
                </a:solidFill>
                <a:latin typeface="Microsoft YaHei UI" panose="020B0503020204020204" pitchFamily="34" charset="-122"/>
                <a:ea typeface="Microsoft YaHei UI" panose="020B0503020204020204" pitchFamily="34" charset="-122"/>
              </a:rPr>
              <a:t>PCI</a:t>
            </a:r>
            <a:r>
              <a:rPr lang="zh-CN" altLang="en-US" sz="2400" b="1" dirty="0">
                <a:solidFill>
                  <a:srgbClr val="AE1022"/>
                </a:solidFill>
                <a:latin typeface="Microsoft YaHei UI" panose="020B0503020204020204" pitchFamily="34" charset="-122"/>
                <a:ea typeface="Microsoft YaHei UI" panose="020B0503020204020204" pitchFamily="34" charset="-122"/>
              </a:rPr>
              <a:t>治疗的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合并房颤患者抗血栓治疗流程</a:t>
            </a:r>
          </a:p>
        </p:txBody>
      </p:sp>
      <p:sp>
        <p:nvSpPr>
          <p:cNvPr id="42" name="矩形 41"/>
          <p:cNvSpPr/>
          <p:nvPr/>
        </p:nvSpPr>
        <p:spPr>
          <a:xfrm>
            <a:off x="1142495" y="6200734"/>
            <a:ext cx="2409664" cy="657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Microsoft YaHei UI" panose="020B0503020204020204" pitchFamily="34" charset="-122"/>
                <a:ea typeface="Microsoft YaHei UI" panose="020B0503020204020204" pitchFamily="34" charset="-122"/>
              </a:rPr>
              <a:t>SAPT</a:t>
            </a:r>
            <a:r>
              <a:rPr lang="zh-CN" altLang="en-US" sz="1200" dirty="0">
                <a:solidFill>
                  <a:schemeClr val="tx1"/>
                </a:solidFill>
                <a:latin typeface="Microsoft YaHei UI" panose="020B0503020204020204" pitchFamily="34" charset="-122"/>
                <a:ea typeface="Microsoft YaHei UI" panose="020B0503020204020204" pitchFamily="34" charset="-122"/>
              </a:rPr>
              <a:t>：单药抗血小板治疗</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TAT</a:t>
            </a:r>
            <a:r>
              <a:rPr lang="zh-CN" altLang="en-US" sz="1200" dirty="0">
                <a:solidFill>
                  <a:schemeClr val="tx1"/>
                </a:solidFill>
                <a:latin typeface="Microsoft YaHei UI" panose="020B0503020204020204" pitchFamily="34" charset="-122"/>
                <a:ea typeface="Microsoft YaHei UI" panose="020B0503020204020204" pitchFamily="34" charset="-122"/>
              </a:rPr>
              <a:t>：三联抗血栓治疗</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DAT</a:t>
            </a:r>
            <a:r>
              <a:rPr lang="zh-CN" altLang="en-US" sz="1200" dirty="0">
                <a:solidFill>
                  <a:schemeClr val="tx1"/>
                </a:solidFill>
                <a:latin typeface="Microsoft YaHei UI" panose="020B0503020204020204" pitchFamily="34" charset="-122"/>
                <a:ea typeface="Microsoft YaHei UI" panose="020B0503020204020204" pitchFamily="34" charset="-122"/>
              </a:rPr>
              <a:t>：双联抗血栓治疗</a:t>
            </a:r>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1932" t="2567" r="1311" b="2447"/>
          <a:stretch>
            <a:fillRect/>
          </a:stretch>
        </p:blipFill>
        <p:spPr>
          <a:xfrm>
            <a:off x="2791179" y="972012"/>
            <a:ext cx="8677448" cy="5167902"/>
          </a:xfrm>
          <a:prstGeom prst="rect">
            <a:avLst/>
          </a:prstGeom>
        </p:spPr>
      </p:pic>
      <p:sp>
        <p:nvSpPr>
          <p:cNvPr id="6" name="矩形 5"/>
          <p:cNvSpPr/>
          <p:nvPr/>
        </p:nvSpPr>
        <p:spPr>
          <a:xfrm>
            <a:off x="5342554" y="1099333"/>
            <a:ext cx="4649056" cy="312801"/>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Microsoft YaHei UI" panose="020B0503020204020204" pitchFamily="34" charset="-122"/>
                <a:ea typeface="Microsoft YaHei UI" panose="020B0503020204020204" pitchFamily="34" charset="-122"/>
              </a:rPr>
              <a:t>因</a:t>
            </a:r>
            <a:r>
              <a:rPr lang="en-US" altLang="zh-CN" b="1" dirty="0">
                <a:solidFill>
                  <a:schemeClr val="bg1"/>
                </a:solidFill>
                <a:latin typeface="Microsoft YaHei UI" panose="020B0503020204020204" pitchFamily="34" charset="-122"/>
                <a:ea typeface="Microsoft YaHei UI" panose="020B0503020204020204" pitchFamily="34" charset="-122"/>
              </a:rPr>
              <a:t>NSTE-ACS</a:t>
            </a:r>
            <a:r>
              <a:rPr lang="zh-CN" altLang="en-US" b="1" dirty="0">
                <a:solidFill>
                  <a:schemeClr val="bg1"/>
                </a:solidFill>
                <a:latin typeface="Microsoft YaHei UI" panose="020B0503020204020204" pitchFamily="34" charset="-122"/>
                <a:ea typeface="Microsoft YaHei UI" panose="020B0503020204020204" pitchFamily="34" charset="-122"/>
              </a:rPr>
              <a:t>行</a:t>
            </a:r>
            <a:r>
              <a:rPr lang="en-US" altLang="zh-CN" b="1" dirty="0">
                <a:solidFill>
                  <a:schemeClr val="bg1"/>
                </a:solidFill>
                <a:latin typeface="Microsoft YaHei UI" panose="020B0503020204020204" pitchFamily="34" charset="-122"/>
                <a:ea typeface="Microsoft YaHei UI" panose="020B0503020204020204" pitchFamily="34" charset="-122"/>
              </a:rPr>
              <a:t>PCI</a:t>
            </a:r>
            <a:r>
              <a:rPr lang="zh-CN" altLang="en-US" b="1" dirty="0">
                <a:solidFill>
                  <a:schemeClr val="bg1"/>
                </a:solidFill>
                <a:latin typeface="Microsoft YaHei UI" panose="020B0503020204020204" pitchFamily="34" charset="-122"/>
                <a:ea typeface="Microsoft YaHei UI" panose="020B0503020204020204" pitchFamily="34" charset="-122"/>
              </a:rPr>
              <a:t>治疗的房颤患者</a:t>
            </a:r>
            <a:endParaRPr lang="en-US" altLang="zh-CN" b="1" dirty="0">
              <a:solidFill>
                <a:schemeClr val="bg1"/>
              </a:solidFill>
              <a:latin typeface="Microsoft YaHei UI" panose="020B0503020204020204" pitchFamily="34" charset="-122"/>
              <a:ea typeface="Microsoft YaHei UI" panose="020B0503020204020204" pitchFamily="34" charset="-122"/>
            </a:endParaRPr>
          </a:p>
        </p:txBody>
      </p:sp>
      <p:sp>
        <p:nvSpPr>
          <p:cNvPr id="7" name="矩形 6"/>
          <p:cNvSpPr/>
          <p:nvPr/>
        </p:nvSpPr>
        <p:spPr>
          <a:xfrm>
            <a:off x="4246644" y="1664365"/>
            <a:ext cx="1614754" cy="312801"/>
          </a:xfrm>
          <a:prstGeom prst="rect">
            <a:avLst/>
          </a:prstGeom>
          <a:solidFill>
            <a:srgbClr val="82B0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Microsoft YaHei UI" panose="020B0503020204020204" pitchFamily="34" charset="-122"/>
                <a:ea typeface="Microsoft YaHei UI" panose="020B0503020204020204" pitchFamily="34" charset="-122"/>
              </a:rPr>
              <a:t>常规策略</a:t>
            </a:r>
            <a:endParaRPr lang="en-US" altLang="zh-CN" b="1" dirty="0">
              <a:solidFill>
                <a:schemeClr val="bg1"/>
              </a:solidFill>
              <a:latin typeface="Microsoft YaHei UI" panose="020B0503020204020204" pitchFamily="34" charset="-122"/>
              <a:ea typeface="Microsoft YaHei UI" panose="020B0503020204020204" pitchFamily="34" charset="-122"/>
            </a:endParaRPr>
          </a:p>
        </p:txBody>
      </p:sp>
      <p:sp>
        <p:nvSpPr>
          <p:cNvPr id="8" name="矩形 7"/>
          <p:cNvSpPr/>
          <p:nvPr/>
        </p:nvSpPr>
        <p:spPr>
          <a:xfrm>
            <a:off x="6827169" y="1664365"/>
            <a:ext cx="1674687" cy="312801"/>
          </a:xfrm>
          <a:prstGeom prst="rect">
            <a:avLst/>
          </a:prstGeom>
          <a:solidFill>
            <a:srgbClr val="AE1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Microsoft YaHei UI" panose="020B0503020204020204" pitchFamily="34" charset="-122"/>
                <a:ea typeface="Microsoft YaHei UI" panose="020B0503020204020204" pitchFamily="34" charset="-122"/>
              </a:rPr>
              <a:t>高出血风险</a:t>
            </a:r>
            <a:endParaRPr lang="en-US" altLang="zh-CN" b="1" dirty="0">
              <a:solidFill>
                <a:schemeClr val="bg1"/>
              </a:solidFill>
              <a:latin typeface="Microsoft YaHei UI" panose="020B0503020204020204" pitchFamily="34" charset="-122"/>
              <a:ea typeface="Microsoft YaHei UI" panose="020B0503020204020204" pitchFamily="34" charset="-122"/>
            </a:endParaRPr>
          </a:p>
        </p:txBody>
      </p:sp>
      <p:sp>
        <p:nvSpPr>
          <p:cNvPr id="9" name="矩形 8"/>
          <p:cNvSpPr/>
          <p:nvPr/>
        </p:nvSpPr>
        <p:spPr>
          <a:xfrm>
            <a:off x="9272418" y="1659227"/>
            <a:ext cx="1909281" cy="312801"/>
          </a:xfrm>
          <a:prstGeom prst="rect">
            <a:avLst/>
          </a:prstGeom>
          <a:solidFill>
            <a:srgbClr val="4F4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Microsoft YaHei UI" panose="020B0503020204020204" pitchFamily="34" charset="-122"/>
                <a:ea typeface="Microsoft YaHei UI" panose="020B0503020204020204" pitchFamily="34" charset="-122"/>
              </a:rPr>
              <a:t>高缺血风险</a:t>
            </a:r>
            <a:endParaRPr lang="en-US" altLang="zh-CN" b="1" dirty="0">
              <a:solidFill>
                <a:schemeClr val="bg1"/>
              </a:solidFill>
              <a:latin typeface="Microsoft YaHei UI" panose="020B0503020204020204" pitchFamily="34" charset="-122"/>
              <a:ea typeface="Microsoft YaHei UI" panose="020B0503020204020204" pitchFamily="34" charset="-122"/>
            </a:endParaRPr>
          </a:p>
        </p:txBody>
      </p:sp>
      <p:sp>
        <p:nvSpPr>
          <p:cNvPr id="10" name="矩形 9"/>
          <p:cNvSpPr/>
          <p:nvPr/>
        </p:nvSpPr>
        <p:spPr>
          <a:xfrm>
            <a:off x="2671272" y="1099333"/>
            <a:ext cx="1053101" cy="559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AE1022"/>
                </a:solidFill>
                <a:latin typeface="Microsoft YaHei UI" panose="020B0503020204020204" pitchFamily="34" charset="-122"/>
                <a:ea typeface="Microsoft YaHei UI" panose="020B0503020204020204" pitchFamily="34" charset="-122"/>
              </a:rPr>
              <a:t>治疗起始时间</a:t>
            </a:r>
            <a:endParaRPr lang="en-US" altLang="zh-CN" sz="1400" b="1" dirty="0">
              <a:solidFill>
                <a:srgbClr val="AE1022"/>
              </a:solidFill>
              <a:latin typeface="Microsoft YaHei UI" panose="020B0503020204020204" pitchFamily="34" charset="-122"/>
              <a:ea typeface="Microsoft YaHei UI" panose="020B0503020204020204" pitchFamily="34" charset="-122"/>
            </a:endParaRPr>
          </a:p>
        </p:txBody>
      </p:sp>
      <p:sp>
        <p:nvSpPr>
          <p:cNvPr id="12" name="矩形 11"/>
          <p:cNvSpPr/>
          <p:nvPr/>
        </p:nvSpPr>
        <p:spPr>
          <a:xfrm>
            <a:off x="2618185" y="2255175"/>
            <a:ext cx="1121597" cy="3971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tx1"/>
                </a:solidFill>
                <a:latin typeface="Microsoft YaHei UI" panose="020B0503020204020204" pitchFamily="34" charset="-122"/>
                <a:ea typeface="Microsoft YaHei UI" panose="020B0503020204020204" pitchFamily="34" charset="-122"/>
              </a:rPr>
              <a:t>至多</a:t>
            </a:r>
            <a:r>
              <a:rPr lang="en-US" altLang="zh-CN" sz="1300" b="1" dirty="0">
                <a:solidFill>
                  <a:schemeClr val="tx1"/>
                </a:solidFill>
                <a:latin typeface="Microsoft YaHei UI" panose="020B0503020204020204" pitchFamily="34" charset="-122"/>
                <a:ea typeface="Microsoft YaHei UI" panose="020B0503020204020204" pitchFamily="34" charset="-122"/>
              </a:rPr>
              <a:t>1</a:t>
            </a:r>
            <a:r>
              <a:rPr lang="zh-CN" altLang="en-US" sz="1300" b="1" dirty="0">
                <a:solidFill>
                  <a:schemeClr val="tx1"/>
                </a:solidFill>
                <a:latin typeface="Microsoft YaHei UI" panose="020B0503020204020204" pitchFamily="34" charset="-122"/>
                <a:ea typeface="Microsoft YaHei UI" panose="020B0503020204020204" pitchFamily="34" charset="-122"/>
              </a:rPr>
              <a:t>周</a:t>
            </a:r>
            <a:endParaRPr lang="en-US" altLang="zh-CN" sz="13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300" b="1" dirty="0">
                <a:solidFill>
                  <a:schemeClr val="tx1"/>
                </a:solidFill>
                <a:latin typeface="Microsoft YaHei UI" panose="020B0503020204020204" pitchFamily="34" charset="-122"/>
                <a:ea typeface="Microsoft YaHei UI" panose="020B0503020204020204" pitchFamily="34" charset="-122"/>
              </a:rPr>
              <a:t>（住院期间）</a:t>
            </a:r>
            <a:endParaRPr lang="en-US" altLang="zh-CN" sz="1300" b="1" dirty="0">
              <a:solidFill>
                <a:schemeClr val="tx1"/>
              </a:solidFill>
              <a:latin typeface="Microsoft YaHei UI" panose="020B0503020204020204" pitchFamily="34" charset="-122"/>
              <a:ea typeface="Microsoft YaHei UI" panose="020B0503020204020204" pitchFamily="34" charset="-122"/>
            </a:endParaRPr>
          </a:p>
        </p:txBody>
      </p:sp>
      <p:sp>
        <p:nvSpPr>
          <p:cNvPr id="14" name="矩形 13"/>
          <p:cNvSpPr/>
          <p:nvPr/>
        </p:nvSpPr>
        <p:spPr>
          <a:xfrm>
            <a:off x="2832586" y="3168725"/>
            <a:ext cx="789046" cy="220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00" b="1" dirty="0">
                <a:solidFill>
                  <a:schemeClr val="tx1"/>
                </a:solidFill>
                <a:latin typeface="Microsoft YaHei UI" panose="020B0503020204020204" pitchFamily="34" charset="-122"/>
                <a:ea typeface="Microsoft YaHei UI" panose="020B0503020204020204" pitchFamily="34" charset="-122"/>
              </a:rPr>
              <a:t>1</a:t>
            </a:r>
            <a:r>
              <a:rPr lang="zh-CN" altLang="en-US" sz="1300" b="1" dirty="0">
                <a:solidFill>
                  <a:schemeClr val="tx1"/>
                </a:solidFill>
                <a:latin typeface="Microsoft YaHei UI" panose="020B0503020204020204" pitchFamily="34" charset="-122"/>
                <a:ea typeface="Microsoft YaHei UI" panose="020B0503020204020204" pitchFamily="34" charset="-122"/>
              </a:rPr>
              <a:t>个月</a:t>
            </a:r>
            <a:endParaRPr lang="en-US" altLang="zh-CN" sz="1300" b="1" dirty="0">
              <a:solidFill>
                <a:schemeClr val="tx1"/>
              </a:solidFill>
              <a:latin typeface="Microsoft YaHei UI" panose="020B0503020204020204" pitchFamily="34" charset="-122"/>
              <a:ea typeface="Microsoft YaHei UI" panose="020B0503020204020204" pitchFamily="34" charset="-122"/>
            </a:endParaRPr>
          </a:p>
        </p:txBody>
      </p:sp>
      <p:sp>
        <p:nvSpPr>
          <p:cNvPr id="16" name="矩形 15"/>
          <p:cNvSpPr/>
          <p:nvPr/>
        </p:nvSpPr>
        <p:spPr>
          <a:xfrm>
            <a:off x="2832586" y="3685114"/>
            <a:ext cx="789046" cy="220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00" b="1" dirty="0">
                <a:solidFill>
                  <a:schemeClr val="tx1"/>
                </a:solidFill>
                <a:latin typeface="Microsoft YaHei UI" panose="020B0503020204020204" pitchFamily="34" charset="-122"/>
                <a:ea typeface="Microsoft YaHei UI" panose="020B0503020204020204" pitchFamily="34" charset="-122"/>
              </a:rPr>
              <a:t>3</a:t>
            </a:r>
            <a:r>
              <a:rPr lang="zh-CN" altLang="en-US" sz="1300" b="1" dirty="0">
                <a:solidFill>
                  <a:schemeClr val="tx1"/>
                </a:solidFill>
                <a:latin typeface="Microsoft YaHei UI" panose="020B0503020204020204" pitchFamily="34" charset="-122"/>
                <a:ea typeface="Microsoft YaHei UI" panose="020B0503020204020204" pitchFamily="34" charset="-122"/>
              </a:rPr>
              <a:t>个月</a:t>
            </a:r>
            <a:endParaRPr lang="en-US" altLang="zh-CN" sz="1300" b="1" dirty="0">
              <a:solidFill>
                <a:schemeClr val="tx1"/>
              </a:solidFill>
              <a:latin typeface="Microsoft YaHei UI" panose="020B0503020204020204" pitchFamily="34" charset="-122"/>
              <a:ea typeface="Microsoft YaHei UI" panose="020B0503020204020204" pitchFamily="34" charset="-122"/>
            </a:endParaRPr>
          </a:p>
        </p:txBody>
      </p:sp>
      <p:sp>
        <p:nvSpPr>
          <p:cNvPr id="18" name="矩形 17"/>
          <p:cNvSpPr/>
          <p:nvPr/>
        </p:nvSpPr>
        <p:spPr>
          <a:xfrm>
            <a:off x="2832586" y="4239053"/>
            <a:ext cx="789046" cy="220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00" b="1" dirty="0">
                <a:solidFill>
                  <a:schemeClr val="tx1"/>
                </a:solidFill>
                <a:latin typeface="Microsoft YaHei UI" panose="020B0503020204020204" pitchFamily="34" charset="-122"/>
                <a:ea typeface="Microsoft YaHei UI" panose="020B0503020204020204" pitchFamily="34" charset="-122"/>
              </a:rPr>
              <a:t>6</a:t>
            </a:r>
            <a:r>
              <a:rPr lang="zh-CN" altLang="en-US" sz="1300" b="1" dirty="0">
                <a:solidFill>
                  <a:schemeClr val="tx1"/>
                </a:solidFill>
                <a:latin typeface="Microsoft YaHei UI" panose="020B0503020204020204" pitchFamily="34" charset="-122"/>
                <a:ea typeface="Microsoft YaHei UI" panose="020B0503020204020204" pitchFamily="34" charset="-122"/>
              </a:rPr>
              <a:t>个月</a:t>
            </a:r>
            <a:endParaRPr lang="en-US" altLang="zh-CN" sz="1300" b="1" dirty="0">
              <a:solidFill>
                <a:schemeClr val="tx1"/>
              </a:solidFill>
              <a:latin typeface="Microsoft YaHei UI" panose="020B0503020204020204" pitchFamily="34" charset="-122"/>
              <a:ea typeface="Microsoft YaHei UI" panose="020B0503020204020204" pitchFamily="34" charset="-122"/>
            </a:endParaRPr>
          </a:p>
        </p:txBody>
      </p:sp>
      <p:sp>
        <p:nvSpPr>
          <p:cNvPr id="22" name="矩形 21"/>
          <p:cNvSpPr/>
          <p:nvPr/>
        </p:nvSpPr>
        <p:spPr>
          <a:xfrm>
            <a:off x="2832586" y="5408153"/>
            <a:ext cx="789046" cy="220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00" b="1" dirty="0">
                <a:solidFill>
                  <a:schemeClr val="tx1"/>
                </a:solidFill>
                <a:latin typeface="Microsoft YaHei UI" panose="020B0503020204020204" pitchFamily="34" charset="-122"/>
                <a:ea typeface="Microsoft YaHei UI" panose="020B0503020204020204" pitchFamily="34" charset="-122"/>
              </a:rPr>
              <a:t>12</a:t>
            </a:r>
            <a:r>
              <a:rPr lang="zh-CN" altLang="en-US" sz="1300" b="1" dirty="0">
                <a:solidFill>
                  <a:schemeClr val="tx1"/>
                </a:solidFill>
                <a:latin typeface="Microsoft YaHei UI" panose="020B0503020204020204" pitchFamily="34" charset="-122"/>
                <a:ea typeface="Microsoft YaHei UI" panose="020B0503020204020204" pitchFamily="34" charset="-122"/>
              </a:rPr>
              <a:t>个月</a:t>
            </a:r>
            <a:endParaRPr lang="en-US" altLang="zh-CN" sz="1300" b="1" dirty="0">
              <a:solidFill>
                <a:schemeClr val="tx1"/>
              </a:solidFill>
              <a:latin typeface="Microsoft YaHei UI" panose="020B0503020204020204" pitchFamily="34" charset="-122"/>
              <a:ea typeface="Microsoft YaHei UI" panose="020B0503020204020204" pitchFamily="34" charset="-122"/>
            </a:endParaRPr>
          </a:p>
        </p:txBody>
      </p:sp>
      <p:sp>
        <p:nvSpPr>
          <p:cNvPr id="24" name="矩形 23"/>
          <p:cNvSpPr/>
          <p:nvPr/>
        </p:nvSpPr>
        <p:spPr>
          <a:xfrm>
            <a:off x="4409318" y="2224353"/>
            <a:ext cx="6500117" cy="31280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icrosoft YaHei UI" panose="020B0503020204020204" pitchFamily="34" charset="-122"/>
                <a:ea typeface="Microsoft YaHei UI" panose="020B0503020204020204" pitchFamily="34" charset="-122"/>
              </a:rPr>
              <a:t>三联治疗</a:t>
            </a:r>
            <a:r>
              <a:rPr lang="en-US" altLang="zh-CN" b="1" dirty="0">
                <a:solidFill>
                  <a:schemeClr val="tx1"/>
                </a:solidFill>
                <a:latin typeface="Microsoft YaHei UI" panose="020B0503020204020204" pitchFamily="34" charset="-122"/>
                <a:ea typeface="Microsoft YaHei UI" panose="020B0503020204020204" pitchFamily="34" charset="-122"/>
                <a:sym typeface="Wingdings" panose="05000000000000000000" pitchFamily="2" charset="2"/>
              </a:rPr>
              <a:t>:</a:t>
            </a:r>
            <a:r>
              <a:rPr lang="zh-CN" altLang="en-US" b="1" dirty="0">
                <a:solidFill>
                  <a:schemeClr val="tx1"/>
                </a:solidFill>
                <a:latin typeface="Microsoft YaHei UI" panose="020B0503020204020204" pitchFamily="34" charset="-122"/>
                <a:ea typeface="Microsoft YaHei UI" panose="020B0503020204020204" pitchFamily="34" charset="-122"/>
                <a:sym typeface="Wingdings" panose="05000000000000000000" pitchFamily="2" charset="2"/>
              </a:rPr>
              <a:t> </a:t>
            </a:r>
            <a:r>
              <a:rPr lang="en-US" altLang="zh-CN" b="1" dirty="0">
                <a:solidFill>
                  <a:schemeClr val="tx1"/>
                </a:solidFill>
                <a:latin typeface="Microsoft YaHei UI" panose="020B0503020204020204" pitchFamily="34" charset="-122"/>
                <a:ea typeface="Microsoft YaHei UI" panose="020B0503020204020204" pitchFamily="34" charset="-122"/>
                <a:sym typeface="Wingdings" panose="05000000000000000000" pitchFamily="2" charset="2"/>
              </a:rPr>
              <a:t>(N)OAC+DAPT(</a:t>
            </a:r>
            <a:r>
              <a:rPr lang="zh-CN" altLang="en-US" b="1" dirty="0">
                <a:solidFill>
                  <a:schemeClr val="tx1"/>
                </a:solidFill>
                <a:latin typeface="Microsoft YaHei UI" panose="020B0503020204020204" pitchFamily="34" charset="-122"/>
                <a:ea typeface="Microsoft YaHei UI" panose="020B0503020204020204" pitchFamily="34" charset="-122"/>
                <a:sym typeface="Wingdings" panose="05000000000000000000" pitchFamily="2" charset="2"/>
              </a:rPr>
              <a:t>阿司匹林</a:t>
            </a:r>
            <a:r>
              <a:rPr lang="en-US" altLang="zh-CN" b="1" dirty="0">
                <a:solidFill>
                  <a:schemeClr val="tx1"/>
                </a:solidFill>
                <a:latin typeface="Microsoft YaHei UI" panose="020B0503020204020204" pitchFamily="34" charset="-122"/>
                <a:ea typeface="Microsoft YaHei UI" panose="020B0503020204020204" pitchFamily="34" charset="-122"/>
                <a:sym typeface="Wingdings" panose="05000000000000000000" pitchFamily="2" charset="2"/>
              </a:rPr>
              <a:t>+P2Y12</a:t>
            </a:r>
            <a:r>
              <a:rPr lang="zh-CN" altLang="en-US" b="1" dirty="0">
                <a:solidFill>
                  <a:schemeClr val="tx1"/>
                </a:solidFill>
                <a:latin typeface="Microsoft YaHei UI" panose="020B0503020204020204" pitchFamily="34" charset="-122"/>
                <a:ea typeface="Microsoft YaHei UI" panose="020B0503020204020204" pitchFamily="34" charset="-122"/>
                <a:sym typeface="Wingdings" panose="05000000000000000000" pitchFamily="2" charset="2"/>
              </a:rPr>
              <a:t>受体抑制剂</a:t>
            </a:r>
            <a:r>
              <a:rPr lang="en-US" altLang="zh-CN" b="1" dirty="0">
                <a:solidFill>
                  <a:schemeClr val="tx1"/>
                </a:solidFill>
                <a:latin typeface="Microsoft YaHei UI" panose="020B0503020204020204" pitchFamily="34" charset="-122"/>
                <a:ea typeface="Microsoft YaHei UI" panose="020B0503020204020204" pitchFamily="34" charset="-122"/>
                <a:sym typeface="Wingdings" panose="05000000000000000000" pitchFamily="2" charset="2"/>
              </a:rPr>
              <a:t>)</a:t>
            </a:r>
            <a:endParaRPr lang="en-US" altLang="zh-CN" b="1" dirty="0">
              <a:solidFill>
                <a:schemeClr val="tx1"/>
              </a:solidFill>
              <a:latin typeface="Microsoft YaHei UI" panose="020B0503020204020204" pitchFamily="34" charset="-122"/>
              <a:ea typeface="Microsoft YaHei UI" panose="020B0503020204020204" pitchFamily="34" charset="-122"/>
            </a:endParaRPr>
          </a:p>
        </p:txBody>
      </p:sp>
      <p:sp>
        <p:nvSpPr>
          <p:cNvPr id="26" name="矩形 25"/>
          <p:cNvSpPr/>
          <p:nvPr/>
        </p:nvSpPr>
        <p:spPr>
          <a:xfrm>
            <a:off x="4101818" y="3742617"/>
            <a:ext cx="1923968" cy="31280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icrosoft YaHei UI" panose="020B0503020204020204" pitchFamily="34" charset="-122"/>
                <a:ea typeface="Microsoft YaHei UI" panose="020B0503020204020204" pitchFamily="34" charset="-122"/>
              </a:rPr>
              <a:t>双联治疗</a:t>
            </a:r>
            <a:endParaRPr lang="en-US" altLang="zh-CN" b="1" dirty="0">
              <a:solidFill>
                <a:schemeClr val="tx1"/>
              </a:solidFill>
              <a:latin typeface="Microsoft YaHei UI" panose="020B0503020204020204" pitchFamily="34" charset="-122"/>
              <a:ea typeface="Microsoft YaHei UI" panose="020B0503020204020204" pitchFamily="34" charset="-122"/>
            </a:endParaRPr>
          </a:p>
        </p:txBody>
      </p:sp>
      <p:sp>
        <p:nvSpPr>
          <p:cNvPr id="30" name="矩形 29"/>
          <p:cNvSpPr/>
          <p:nvPr/>
        </p:nvSpPr>
        <p:spPr>
          <a:xfrm>
            <a:off x="6598822" y="5644459"/>
            <a:ext cx="2047629" cy="31280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icrosoft YaHei UI" panose="020B0503020204020204" pitchFamily="34" charset="-122"/>
                <a:ea typeface="Microsoft YaHei UI" panose="020B0503020204020204" pitchFamily="34" charset="-122"/>
              </a:rPr>
              <a:t>(N)OAC</a:t>
            </a:r>
            <a:r>
              <a:rPr lang="zh-CN" altLang="en-US" b="1" dirty="0">
                <a:solidFill>
                  <a:schemeClr val="tx1"/>
                </a:solidFill>
                <a:latin typeface="Microsoft YaHei UI" panose="020B0503020204020204" pitchFamily="34" charset="-122"/>
                <a:ea typeface="Microsoft YaHei UI" panose="020B0503020204020204" pitchFamily="34" charset="-122"/>
              </a:rPr>
              <a:t>单药治疗</a:t>
            </a:r>
            <a:endParaRPr lang="en-US" altLang="zh-CN" b="1" dirty="0">
              <a:solidFill>
                <a:schemeClr val="tx1"/>
              </a:solidFill>
              <a:latin typeface="Microsoft YaHei UI" panose="020B0503020204020204" pitchFamily="34" charset="-122"/>
              <a:ea typeface="Microsoft YaHei UI" panose="020B0503020204020204" pitchFamily="34" charset="-122"/>
            </a:endParaRPr>
          </a:p>
        </p:txBody>
      </p:sp>
      <p:sp>
        <p:nvSpPr>
          <p:cNvPr id="32" name="矩形 31"/>
          <p:cNvSpPr/>
          <p:nvPr/>
        </p:nvSpPr>
        <p:spPr>
          <a:xfrm>
            <a:off x="6642275" y="3192958"/>
            <a:ext cx="2047629" cy="675720"/>
          </a:xfrm>
          <a:prstGeom prst="rect">
            <a:avLst/>
          </a:prstGeom>
          <a:solidFill>
            <a:srgbClr val="FBCB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icrosoft YaHei UI" panose="020B0503020204020204" pitchFamily="34" charset="-122"/>
                <a:ea typeface="Microsoft YaHei UI" panose="020B0503020204020204" pitchFamily="34" charset="-122"/>
              </a:rPr>
              <a:t>双联治疗</a:t>
            </a:r>
            <a:endParaRPr lang="en-US" altLang="zh-CN"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b="1" dirty="0">
                <a:solidFill>
                  <a:schemeClr val="tx1"/>
                </a:solidFill>
                <a:latin typeface="Microsoft YaHei UI" panose="020B0503020204020204" pitchFamily="34" charset="-122"/>
                <a:ea typeface="Microsoft YaHei UI" panose="020B0503020204020204" pitchFamily="34" charset="-122"/>
              </a:rPr>
              <a:t>(N)OAC + SAPT</a:t>
            </a:r>
          </a:p>
        </p:txBody>
      </p:sp>
      <p:sp>
        <p:nvSpPr>
          <p:cNvPr id="40" name="矩形 39"/>
          <p:cNvSpPr/>
          <p:nvPr/>
        </p:nvSpPr>
        <p:spPr>
          <a:xfrm>
            <a:off x="6635561" y="4674691"/>
            <a:ext cx="2047629" cy="512985"/>
          </a:xfrm>
          <a:prstGeom prst="rect">
            <a:avLst/>
          </a:prstGeom>
          <a:solidFill>
            <a:srgbClr val="FBCB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icrosoft YaHei UI" panose="020B0503020204020204" pitchFamily="34" charset="-122"/>
                <a:ea typeface="Microsoft YaHei UI" panose="020B0503020204020204" pitchFamily="34" charset="-122"/>
              </a:rPr>
              <a:t>(N)OAC</a:t>
            </a:r>
            <a:r>
              <a:rPr lang="zh-CN" altLang="en-US" b="1" dirty="0">
                <a:solidFill>
                  <a:schemeClr val="tx1"/>
                </a:solidFill>
                <a:latin typeface="Microsoft YaHei UI" panose="020B0503020204020204" pitchFamily="34" charset="-122"/>
                <a:ea typeface="Microsoft YaHei UI" panose="020B0503020204020204" pitchFamily="34" charset="-122"/>
              </a:rPr>
              <a:t>单药治疗</a:t>
            </a:r>
            <a:endParaRPr lang="en-US" altLang="zh-CN" b="1" dirty="0">
              <a:solidFill>
                <a:schemeClr val="tx1"/>
              </a:solidFill>
              <a:latin typeface="Microsoft YaHei UI" panose="020B0503020204020204" pitchFamily="34" charset="-122"/>
              <a:ea typeface="Microsoft YaHei UI" panose="020B0503020204020204" pitchFamily="34" charset="-122"/>
            </a:endParaRPr>
          </a:p>
        </p:txBody>
      </p:sp>
      <p:sp>
        <p:nvSpPr>
          <p:cNvPr id="44" name="矩形 43"/>
          <p:cNvSpPr/>
          <p:nvPr/>
        </p:nvSpPr>
        <p:spPr>
          <a:xfrm>
            <a:off x="9425697" y="2821757"/>
            <a:ext cx="1633543" cy="288059"/>
          </a:xfrm>
          <a:prstGeom prst="rect">
            <a:avLst/>
          </a:prstGeom>
          <a:solidFill>
            <a:srgbClr val="FBCB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icrosoft YaHei UI" panose="020B0503020204020204" pitchFamily="34" charset="-122"/>
                <a:ea typeface="Microsoft YaHei UI" panose="020B0503020204020204" pitchFamily="34" charset="-122"/>
              </a:rPr>
              <a:t>三联治疗</a:t>
            </a:r>
            <a:endParaRPr lang="en-US" altLang="zh-CN" b="1" dirty="0">
              <a:solidFill>
                <a:schemeClr val="tx1"/>
              </a:solidFill>
              <a:latin typeface="Microsoft YaHei UI" panose="020B0503020204020204" pitchFamily="34" charset="-122"/>
              <a:ea typeface="Microsoft YaHei UI" panose="020B0503020204020204" pitchFamily="34" charset="-122"/>
            </a:endParaRPr>
          </a:p>
        </p:txBody>
      </p:sp>
      <p:sp>
        <p:nvSpPr>
          <p:cNvPr id="48" name="矩形 47"/>
          <p:cNvSpPr/>
          <p:nvPr/>
        </p:nvSpPr>
        <p:spPr>
          <a:xfrm>
            <a:off x="9203243" y="3992983"/>
            <a:ext cx="2047629" cy="675720"/>
          </a:xfrm>
          <a:prstGeom prst="rect">
            <a:avLst/>
          </a:prstGeom>
          <a:solidFill>
            <a:srgbClr val="FBCB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icrosoft YaHei UI" panose="020B0503020204020204" pitchFamily="34" charset="-122"/>
                <a:ea typeface="Microsoft YaHei UI" panose="020B0503020204020204" pitchFamily="34" charset="-122"/>
              </a:rPr>
              <a:t>双联治疗</a:t>
            </a:r>
            <a:endParaRPr lang="en-US" altLang="zh-CN"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b="1" dirty="0">
                <a:solidFill>
                  <a:schemeClr val="tx1"/>
                </a:solidFill>
                <a:latin typeface="Microsoft YaHei UI" panose="020B0503020204020204" pitchFamily="34" charset="-122"/>
                <a:ea typeface="Microsoft YaHei UI" panose="020B0503020204020204" pitchFamily="34" charset="-122"/>
              </a:rPr>
              <a:t>(N)OAC + SAPT</a:t>
            </a:r>
          </a:p>
        </p:txBody>
      </p:sp>
      <p:sp>
        <p:nvSpPr>
          <p:cNvPr id="50" name="TextBox 26"/>
          <p:cNvSpPr txBox="1"/>
          <p:nvPr/>
        </p:nvSpPr>
        <p:spPr>
          <a:xfrm>
            <a:off x="192228" y="2906860"/>
            <a:ext cx="2691358" cy="2246769"/>
          </a:xfrm>
          <a:prstGeom prst="rect">
            <a:avLst/>
          </a:prstGeom>
          <a:noFill/>
        </p:spPr>
        <p:txBody>
          <a:bodyPr wrap="square" rtlCol="0">
            <a:spAutoFit/>
          </a:bodyPr>
          <a:lstStyle/>
          <a:p>
            <a:r>
              <a:rPr lang="zh-CN" altLang="en-US" sz="1400" b="1" dirty="0">
                <a:latin typeface="Microsoft YaHei UI" panose="020B0503020204020204" pitchFamily="34" charset="-122"/>
                <a:ea typeface="Microsoft YaHei UI" panose="020B0503020204020204" pitchFamily="34" charset="-122"/>
              </a:rPr>
              <a:t>对于</a:t>
            </a:r>
            <a:r>
              <a:rPr lang="en-US" altLang="zh-CN" sz="1400" b="1" dirty="0">
                <a:latin typeface="Microsoft YaHei UI" panose="020B0503020204020204" pitchFamily="34" charset="-122"/>
                <a:ea typeface="Microsoft YaHei UI" panose="020B0503020204020204" pitchFamily="34" charset="-122"/>
              </a:rPr>
              <a:t>TAT</a:t>
            </a:r>
            <a:r>
              <a:rPr lang="zh-CN" altLang="en-US" sz="1400" b="1" dirty="0">
                <a:latin typeface="Microsoft YaHei UI" panose="020B0503020204020204" pitchFamily="34" charset="-122"/>
                <a:ea typeface="Microsoft YaHei UI" panose="020B0503020204020204" pitchFamily="34" charset="-122"/>
              </a:rPr>
              <a:t>和</a:t>
            </a:r>
            <a:r>
              <a:rPr lang="en-US" altLang="zh-CN" sz="1400" b="1" dirty="0">
                <a:latin typeface="Microsoft YaHei UI" panose="020B0503020204020204" pitchFamily="34" charset="-122"/>
                <a:ea typeface="Microsoft YaHei UI" panose="020B0503020204020204" pitchFamily="34" charset="-122"/>
              </a:rPr>
              <a:t>DAT</a:t>
            </a:r>
            <a:r>
              <a:rPr lang="zh-CN" altLang="en-US" sz="1400" b="1" dirty="0">
                <a:latin typeface="Microsoft YaHei UI" panose="020B0503020204020204" pitchFamily="34" charset="-122"/>
                <a:ea typeface="Microsoft YaHei UI" panose="020B0503020204020204" pitchFamily="34" charset="-122"/>
              </a:rPr>
              <a:t>方案，</a:t>
            </a:r>
            <a:r>
              <a:rPr lang="en-US" altLang="zh-CN" sz="1400" b="1" dirty="0">
                <a:latin typeface="Microsoft YaHei UI" panose="020B0503020204020204" pitchFamily="34" charset="-122"/>
                <a:ea typeface="Microsoft YaHei UI" panose="020B0503020204020204" pitchFamily="34" charset="-122"/>
              </a:rPr>
              <a:t>NOAC</a:t>
            </a:r>
            <a:r>
              <a:rPr lang="zh-CN" altLang="en-US" sz="1400" b="1" dirty="0">
                <a:latin typeface="Microsoft YaHei UI" panose="020B0503020204020204" pitchFamily="34" charset="-122"/>
                <a:ea typeface="Microsoft YaHei UI" panose="020B0503020204020204" pitchFamily="34" charset="-122"/>
              </a:rPr>
              <a:t>的推荐剂量如下：</a:t>
            </a:r>
            <a:endParaRPr lang="en-US" altLang="zh-CN" sz="1400" b="1" dirty="0">
              <a:latin typeface="Microsoft YaHei UI" panose="020B0503020204020204" pitchFamily="34" charset="-122"/>
              <a:ea typeface="Microsoft YaHei UI" panose="020B0503020204020204" pitchFamily="34" charset="-122"/>
            </a:endParaRPr>
          </a:p>
          <a:p>
            <a:endParaRPr lang="en-US" altLang="zh-CN" sz="1400" b="1" dirty="0">
              <a:latin typeface="Microsoft YaHei UI" panose="020B0503020204020204" pitchFamily="34" charset="-122"/>
              <a:ea typeface="Microsoft YaHei UI" panose="020B0503020204020204" pitchFamily="34" charset="-122"/>
            </a:endParaRPr>
          </a:p>
          <a:p>
            <a:r>
              <a:rPr lang="zh-CN" altLang="en-US" sz="1400" b="1" dirty="0">
                <a:latin typeface="Microsoft YaHei UI" panose="020B0503020204020204" pitchFamily="34" charset="-122"/>
                <a:ea typeface="Microsoft YaHei UI" panose="020B0503020204020204" pitchFamily="34" charset="-122"/>
              </a:rPr>
              <a:t>阿哌沙班 </a:t>
            </a:r>
            <a:r>
              <a:rPr lang="en-US" altLang="zh-CN" sz="1400" b="1" dirty="0">
                <a:latin typeface="Microsoft YaHei UI" panose="020B0503020204020204" pitchFamily="34" charset="-122"/>
                <a:ea typeface="Microsoft YaHei UI" panose="020B0503020204020204" pitchFamily="34" charset="-122"/>
              </a:rPr>
              <a:t>5mg 2/</a:t>
            </a:r>
            <a:r>
              <a:rPr lang="zh-CN" altLang="en-US" sz="1400" b="1" dirty="0">
                <a:latin typeface="Microsoft YaHei UI" panose="020B0503020204020204" pitchFamily="34" charset="-122"/>
                <a:ea typeface="Microsoft YaHei UI" panose="020B0503020204020204" pitchFamily="34" charset="-122"/>
              </a:rPr>
              <a:t>日</a:t>
            </a:r>
            <a:endParaRPr lang="en-US" altLang="zh-CN" sz="1400" b="1" dirty="0">
              <a:latin typeface="Microsoft YaHei UI" panose="020B0503020204020204" pitchFamily="34" charset="-122"/>
              <a:ea typeface="Microsoft YaHei UI" panose="020B0503020204020204" pitchFamily="34" charset="-122"/>
            </a:endParaRPr>
          </a:p>
          <a:p>
            <a:endParaRPr lang="en-US" altLang="zh-CN" sz="1400" b="1" dirty="0">
              <a:latin typeface="Microsoft YaHei UI" panose="020B0503020204020204" pitchFamily="34" charset="-122"/>
              <a:ea typeface="Microsoft YaHei UI" panose="020B0503020204020204" pitchFamily="34" charset="-122"/>
            </a:endParaRPr>
          </a:p>
          <a:p>
            <a:r>
              <a:rPr lang="zh-CN" altLang="en-US" sz="1400" b="1" dirty="0">
                <a:latin typeface="Microsoft YaHei UI" panose="020B0503020204020204" pitchFamily="34" charset="-122"/>
                <a:ea typeface="Microsoft YaHei UI" panose="020B0503020204020204" pitchFamily="34" charset="-122"/>
              </a:rPr>
              <a:t>达比加群</a:t>
            </a:r>
            <a:r>
              <a:rPr lang="en-US" altLang="zh-CN" sz="1400" b="1" dirty="0">
                <a:latin typeface="Microsoft YaHei UI" panose="020B0503020204020204" pitchFamily="34" charset="-122"/>
                <a:ea typeface="Microsoft YaHei UI" panose="020B0503020204020204" pitchFamily="34" charset="-122"/>
              </a:rPr>
              <a:t>110mg/150mg 2/</a:t>
            </a:r>
            <a:r>
              <a:rPr lang="zh-CN" altLang="en-US" sz="1400" b="1" dirty="0">
                <a:latin typeface="Microsoft YaHei UI" panose="020B0503020204020204" pitchFamily="34" charset="-122"/>
                <a:ea typeface="Microsoft YaHei UI" panose="020B0503020204020204" pitchFamily="34" charset="-122"/>
              </a:rPr>
              <a:t>日</a:t>
            </a:r>
            <a:endParaRPr lang="en-US" altLang="zh-CN" sz="1400" b="1" dirty="0">
              <a:latin typeface="Microsoft YaHei UI" panose="020B0503020204020204" pitchFamily="34" charset="-122"/>
              <a:ea typeface="Microsoft YaHei UI" panose="020B0503020204020204" pitchFamily="34" charset="-122"/>
            </a:endParaRPr>
          </a:p>
          <a:p>
            <a:endParaRPr lang="en-US" altLang="zh-CN" sz="1400" b="1" dirty="0">
              <a:latin typeface="Microsoft YaHei UI" panose="020B0503020204020204" pitchFamily="34" charset="-122"/>
              <a:ea typeface="Microsoft YaHei UI" panose="020B0503020204020204" pitchFamily="34" charset="-122"/>
            </a:endParaRPr>
          </a:p>
          <a:p>
            <a:r>
              <a:rPr lang="zh-CN" altLang="en-US" sz="1400" b="1" dirty="0">
                <a:latin typeface="Microsoft YaHei UI" panose="020B0503020204020204" pitchFamily="34" charset="-122"/>
                <a:ea typeface="Microsoft YaHei UI" panose="020B0503020204020204" pitchFamily="34" charset="-122"/>
              </a:rPr>
              <a:t>依度沙班</a:t>
            </a:r>
            <a:r>
              <a:rPr lang="en-US" altLang="zh-CN" sz="1400" b="1" dirty="0">
                <a:latin typeface="Microsoft YaHei UI" panose="020B0503020204020204" pitchFamily="34" charset="-122"/>
                <a:ea typeface="Microsoft YaHei UI" panose="020B0503020204020204" pitchFamily="34" charset="-122"/>
              </a:rPr>
              <a:t>60mg 1/</a:t>
            </a:r>
            <a:r>
              <a:rPr lang="zh-CN" altLang="en-US" sz="1400" b="1" dirty="0">
                <a:latin typeface="Microsoft YaHei UI" panose="020B0503020204020204" pitchFamily="34" charset="-122"/>
                <a:ea typeface="Microsoft YaHei UI" panose="020B0503020204020204" pitchFamily="34" charset="-122"/>
              </a:rPr>
              <a:t>日</a:t>
            </a:r>
            <a:endParaRPr lang="en-US" altLang="zh-CN" sz="1400" b="1" dirty="0">
              <a:latin typeface="Microsoft YaHei UI" panose="020B0503020204020204" pitchFamily="34" charset="-122"/>
              <a:ea typeface="Microsoft YaHei UI" panose="020B0503020204020204" pitchFamily="34" charset="-122"/>
            </a:endParaRPr>
          </a:p>
          <a:p>
            <a:endParaRPr lang="en-US" altLang="zh-CN" sz="1400" b="1" dirty="0">
              <a:latin typeface="Microsoft YaHei UI" panose="020B0503020204020204" pitchFamily="34" charset="-122"/>
              <a:ea typeface="Microsoft YaHei UI" panose="020B0503020204020204" pitchFamily="34" charset="-122"/>
            </a:endParaRPr>
          </a:p>
          <a:p>
            <a:r>
              <a:rPr lang="zh-CN" altLang="en-US" sz="1400" b="1" dirty="0">
                <a:latin typeface="Microsoft YaHei UI" panose="020B0503020204020204" pitchFamily="34" charset="-122"/>
                <a:ea typeface="Microsoft YaHei UI" panose="020B0503020204020204" pitchFamily="34" charset="-122"/>
              </a:rPr>
              <a:t>利伐沙班 </a:t>
            </a:r>
            <a:r>
              <a:rPr lang="en-US" altLang="zh-CN" sz="1400" b="1" dirty="0">
                <a:latin typeface="Microsoft YaHei UI" panose="020B0503020204020204" pitchFamily="34" charset="-122"/>
                <a:ea typeface="Microsoft YaHei UI" panose="020B0503020204020204" pitchFamily="34" charset="-122"/>
              </a:rPr>
              <a:t>15mg/20mg 1/</a:t>
            </a:r>
            <a:r>
              <a:rPr lang="zh-CN" altLang="en-US" sz="1400" b="1" dirty="0">
                <a:latin typeface="Microsoft YaHei UI" panose="020B0503020204020204" pitchFamily="34" charset="-122"/>
                <a:ea typeface="Microsoft YaHei UI" panose="020B0503020204020204" pitchFamily="34" charset="-122"/>
              </a:rPr>
              <a:t>日</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030" y="1148894"/>
            <a:ext cx="9462362"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0173" y="1148612"/>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8845" y="1154739"/>
            <a:ext cx="810713" cy="658747"/>
          </a:xfrm>
          <a:prstGeom prst="rect">
            <a:avLst/>
          </a:prstGeom>
        </p:spPr>
      </p:pic>
      <p:sp>
        <p:nvSpPr>
          <p:cNvPr id="23" name="文本框 22"/>
          <p:cNvSpPr txBox="1"/>
          <p:nvPr/>
        </p:nvSpPr>
        <p:spPr>
          <a:xfrm>
            <a:off x="226030" y="1299092"/>
            <a:ext cx="3263774"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800077" y="1156055"/>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617530" y="1161305"/>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414891" y="549407"/>
            <a:ext cx="10133954"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需长期慢性口服抗凝治疗的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患者抗血小板和抗凝联合用药推荐</a:t>
            </a:r>
            <a:endParaRPr lang="zh-CN" altLang="en-US" sz="2400" b="1" dirty="0">
              <a:solidFill>
                <a:srgbClr val="AE1022"/>
              </a:solidFill>
            </a:endParaRPr>
          </a:p>
        </p:txBody>
      </p:sp>
      <p:sp>
        <p:nvSpPr>
          <p:cNvPr id="29" name="矩形 28"/>
          <p:cNvSpPr/>
          <p:nvPr/>
        </p:nvSpPr>
        <p:spPr>
          <a:xfrm>
            <a:off x="226030" y="1818575"/>
            <a:ext cx="9462362" cy="59280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推荐对存在除性别外至少</a:t>
            </a:r>
            <a:r>
              <a:rPr lang="en-US" altLang="zh-CN" sz="1800" dirty="0">
                <a:latin typeface="Microsoft YaHei UI" panose="020B0503020204020204" pitchFamily="34" charset="-122"/>
                <a:ea typeface="Microsoft YaHei UI" panose="020B0503020204020204" pitchFamily="34" charset="-122"/>
              </a:rPr>
              <a:t>1</a:t>
            </a:r>
            <a:r>
              <a:rPr lang="zh-CN" altLang="en-US" sz="1800" dirty="0">
                <a:latin typeface="Microsoft YaHei UI" panose="020B0503020204020204" pitchFamily="34" charset="-122"/>
                <a:ea typeface="Microsoft YaHei UI" panose="020B0503020204020204" pitchFamily="34" charset="-122"/>
              </a:rPr>
              <a:t>项</a:t>
            </a:r>
            <a:r>
              <a:rPr lang="en-US" altLang="zh-CN" sz="1800" dirty="0">
                <a:latin typeface="Microsoft YaHei UI" panose="020B0503020204020204" pitchFamily="34" charset="-122"/>
                <a:ea typeface="Microsoft YaHei UI" panose="020B0503020204020204" pitchFamily="34" charset="-122"/>
              </a:rPr>
              <a:t>CHA</a:t>
            </a:r>
            <a:r>
              <a:rPr lang="en-US" altLang="zh-CN" sz="1800" baseline="-25000" dirty="0">
                <a:latin typeface="Microsoft YaHei UI" panose="020B0503020204020204" pitchFamily="34" charset="-122"/>
                <a:ea typeface="Microsoft YaHei UI" panose="020B0503020204020204" pitchFamily="34" charset="-122"/>
              </a:rPr>
              <a:t>2</a:t>
            </a:r>
            <a:r>
              <a:rPr lang="en-US" altLang="zh-CN" sz="1800" dirty="0">
                <a:latin typeface="Microsoft YaHei UI" panose="020B0503020204020204" pitchFamily="34" charset="-122"/>
                <a:ea typeface="Microsoft YaHei UI" panose="020B0503020204020204" pitchFamily="34" charset="-122"/>
              </a:rPr>
              <a:t>DS</a:t>
            </a:r>
            <a:r>
              <a:rPr lang="en-US" altLang="zh-CN" sz="1800" baseline="-25000" dirty="0">
                <a:latin typeface="Microsoft YaHei UI" panose="020B0503020204020204" pitchFamily="34" charset="-122"/>
                <a:ea typeface="Microsoft YaHei UI" panose="020B0503020204020204" pitchFamily="34" charset="-122"/>
              </a:rPr>
              <a:t>2</a:t>
            </a:r>
            <a:r>
              <a:rPr lang="en-US" altLang="zh-CN" sz="1800" dirty="0">
                <a:latin typeface="Microsoft YaHei UI" panose="020B0503020204020204" pitchFamily="34" charset="-122"/>
                <a:ea typeface="Microsoft YaHei UI" panose="020B0503020204020204" pitchFamily="34" charset="-122"/>
              </a:rPr>
              <a:t>-VASc</a:t>
            </a:r>
            <a:r>
              <a:rPr lang="zh-CN" altLang="en-US" sz="1800" dirty="0">
                <a:latin typeface="Microsoft YaHei UI" panose="020B0503020204020204" pitchFamily="34" charset="-122"/>
                <a:ea typeface="Microsoft YaHei UI" panose="020B0503020204020204" pitchFamily="34" charset="-122"/>
              </a:rPr>
              <a:t>卒中危险因素</a:t>
            </a:r>
            <a:r>
              <a:rPr lang="en-US" altLang="zh-CN" sz="1800" dirty="0">
                <a:latin typeface="Microsoft YaHei UI" panose="020B0503020204020204" pitchFamily="34" charset="-122"/>
                <a:ea typeface="Microsoft YaHei UI" panose="020B0503020204020204" pitchFamily="34" charset="-122"/>
              </a:rPr>
              <a:t>(</a:t>
            </a:r>
            <a:r>
              <a:rPr lang="zh-CN" altLang="en-US" sz="1800" dirty="0">
                <a:latin typeface="Microsoft YaHei UI" panose="020B0503020204020204" pitchFamily="34" charset="-122"/>
                <a:ea typeface="Microsoft YaHei UI" panose="020B0503020204020204" pitchFamily="34" charset="-122"/>
              </a:rPr>
              <a:t>男性得分</a:t>
            </a:r>
            <a:r>
              <a:rPr lang="en-US" altLang="zh-CN" sz="1800" dirty="0">
                <a:latin typeface="Microsoft YaHei UI" panose="020B0503020204020204" pitchFamily="34" charset="-122"/>
                <a:ea typeface="Microsoft YaHei UI" panose="020B0503020204020204" pitchFamily="34" charset="-122"/>
              </a:rPr>
              <a:t>≥1</a:t>
            </a:r>
            <a:r>
              <a:rPr lang="zh-CN" altLang="en-US" sz="1800" dirty="0">
                <a:latin typeface="Microsoft YaHei UI" panose="020B0503020204020204" pitchFamily="34" charset="-122"/>
                <a:ea typeface="Microsoft YaHei UI" panose="020B0503020204020204" pitchFamily="34" charset="-122"/>
              </a:rPr>
              <a:t>，女性得分</a:t>
            </a:r>
            <a:r>
              <a:rPr lang="en-US" altLang="zh-CN" sz="1800" dirty="0">
                <a:latin typeface="Microsoft YaHei UI" panose="020B0503020204020204" pitchFamily="34" charset="-122"/>
                <a:ea typeface="Microsoft YaHei UI" panose="020B0503020204020204" pitchFamily="34" charset="-122"/>
              </a:rPr>
              <a:t>≥2)</a:t>
            </a:r>
            <a:r>
              <a:rPr lang="zh-CN" altLang="en-US" sz="1800" dirty="0">
                <a:latin typeface="Microsoft YaHei UI" panose="020B0503020204020204" pitchFamily="34" charset="-122"/>
                <a:ea typeface="Microsoft YaHei UI" panose="020B0503020204020204" pitchFamily="34" charset="-122"/>
              </a:rPr>
              <a:t>的房颤患者进行卒中预防。对于存在除性别外至少</a:t>
            </a:r>
            <a:r>
              <a:rPr lang="en-US" altLang="zh-CN" sz="1800"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项</a:t>
            </a:r>
            <a:r>
              <a:rPr lang="zh-CN" altLang="en-US" sz="1800" dirty="0">
                <a:latin typeface="Microsoft YaHei UI" panose="020B0503020204020204" pitchFamily="34" charset="-122"/>
                <a:ea typeface="Microsoft YaHei UI" panose="020B0503020204020204" pitchFamily="34" charset="-122"/>
              </a:rPr>
              <a:t>卒中危险因素的患者，推荐应用口服抗凝药</a:t>
            </a:r>
            <a:endParaRPr lang="en-US" altLang="zh-CN" sz="1800" baseline="30000" dirty="0">
              <a:latin typeface="Microsoft YaHei UI" panose="020B0503020204020204" pitchFamily="34" charset="-122"/>
              <a:ea typeface="Microsoft YaHei UI" panose="020B0503020204020204" pitchFamily="34" charset="-122"/>
            </a:endParaRPr>
          </a:p>
        </p:txBody>
      </p:sp>
      <p:sp>
        <p:nvSpPr>
          <p:cNvPr id="40" name="矩形 39"/>
          <p:cNvSpPr/>
          <p:nvPr/>
        </p:nvSpPr>
        <p:spPr>
          <a:xfrm>
            <a:off x="226510" y="2437760"/>
            <a:ext cx="9462362"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baseline="0" dirty="0">
                <a:latin typeface="Microsoft YaHei UI" panose="020B0503020204020204" pitchFamily="34" charset="-122"/>
                <a:ea typeface="Microsoft YaHei UI" panose="020B0503020204020204" pitchFamily="34" charset="-122"/>
              </a:rPr>
              <a:t>对于存在除性别外</a:t>
            </a:r>
            <a:r>
              <a:rPr lang="en-US" altLang="zh-CN" dirty="0">
                <a:latin typeface="Microsoft YaHei UI" panose="020B0503020204020204" pitchFamily="34" charset="-122"/>
                <a:ea typeface="Microsoft YaHei UI" panose="020B0503020204020204" pitchFamily="34" charset="-122"/>
              </a:rPr>
              <a:t>1</a:t>
            </a:r>
            <a:r>
              <a:rPr lang="zh-CN" altLang="en-US" sz="1800" baseline="0" dirty="0">
                <a:latin typeface="Microsoft YaHei UI" panose="020B0503020204020204" pitchFamily="34" charset="-122"/>
                <a:ea typeface="Microsoft YaHei UI" panose="020B0503020204020204" pitchFamily="34" charset="-122"/>
              </a:rPr>
              <a:t>项卒中危险因素的房颤患者，应考虑应用口服抗凝药治疗，并且可根据患者的净临床获益、患者价值观和个人喜好进行个体化治疗</a:t>
            </a:r>
            <a:endParaRPr lang="zh-CN" altLang="en-US" dirty="0">
              <a:latin typeface="Microsoft YaHei UI" panose="020B0503020204020204" pitchFamily="34" charset="-122"/>
              <a:ea typeface="Microsoft YaHei UI" panose="020B0503020204020204" pitchFamily="34" charset="-122"/>
            </a:endParaRPr>
          </a:p>
        </p:txBody>
      </p:sp>
      <p:sp>
        <p:nvSpPr>
          <p:cNvPr id="46" name="矩形 45"/>
          <p:cNvSpPr/>
          <p:nvPr/>
        </p:nvSpPr>
        <p:spPr>
          <a:xfrm>
            <a:off x="226030" y="3069938"/>
            <a:ext cx="9462362" cy="5928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对于高出血风险的患者，无论是否正在使用口服抗凝药，应考虑行早期侵入性冠脉造影检查，以尽快确定治疗方案（非血运重建，</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或</a:t>
            </a:r>
            <a:r>
              <a:rPr lang="en-US" altLang="zh-CN" dirty="0">
                <a:latin typeface="Microsoft YaHei UI" panose="020B0503020204020204" pitchFamily="34" charset="-122"/>
                <a:ea typeface="Microsoft YaHei UI" panose="020B0503020204020204" pitchFamily="34" charset="-122"/>
              </a:rPr>
              <a:t>CABG</a:t>
            </a:r>
            <a:r>
              <a:rPr lang="zh-CN" altLang="en-US" dirty="0">
                <a:latin typeface="Microsoft YaHei UI" panose="020B0503020204020204" pitchFamily="34" charset="-122"/>
                <a:ea typeface="Microsoft YaHei UI" panose="020B0503020204020204" pitchFamily="34" charset="-122"/>
              </a:rPr>
              <a:t>）并制定优化抗血栓方案</a:t>
            </a:r>
          </a:p>
        </p:txBody>
      </p:sp>
      <p:sp>
        <p:nvSpPr>
          <p:cNvPr id="5" name="矩形 4"/>
          <p:cNvSpPr/>
          <p:nvPr/>
        </p:nvSpPr>
        <p:spPr>
          <a:xfrm>
            <a:off x="218748" y="4426426"/>
            <a:ext cx="9469644" cy="57968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期间，无论末次新型口服抗凝药何时给药，或如果应用维生素</a:t>
            </a:r>
            <a:r>
              <a:rPr lang="en-US" altLang="zh-CN" dirty="0">
                <a:latin typeface="Microsoft YaHei UI" panose="020B0503020204020204" pitchFamily="34" charset="-122"/>
                <a:ea typeface="Microsoft YaHei UI" panose="020B0503020204020204" pitchFamily="34" charset="-122"/>
              </a:rPr>
              <a:t>K</a:t>
            </a:r>
            <a:r>
              <a:rPr lang="zh-CN" altLang="en-US" dirty="0">
                <a:latin typeface="Microsoft YaHei UI" panose="020B0503020204020204" pitchFamily="34" charset="-122"/>
                <a:ea typeface="Microsoft YaHei UI" panose="020B0503020204020204" pitchFamily="34" charset="-122"/>
              </a:rPr>
              <a:t>拮抗剂患者的</a:t>
            </a:r>
            <a:r>
              <a:rPr lang="en-US" altLang="zh-CN" dirty="0">
                <a:latin typeface="Microsoft YaHei UI" panose="020B0503020204020204" pitchFamily="34" charset="-122"/>
                <a:ea typeface="Microsoft YaHei UI" panose="020B0503020204020204" pitchFamily="34" charset="-122"/>
              </a:rPr>
              <a:t>INR</a:t>
            </a:r>
            <a:r>
              <a:rPr lang="zh-CN" altLang="en-US" dirty="0">
                <a:latin typeface="Microsoft YaHei UI" panose="020B0503020204020204" pitchFamily="34" charset="-122"/>
                <a:ea typeface="Microsoft YaHei UI" panose="020B0503020204020204" pitchFamily="34" charset="-122"/>
              </a:rPr>
              <a:t>小于</a:t>
            </a:r>
            <a:r>
              <a:rPr lang="en-US" altLang="zh-CN" dirty="0">
                <a:latin typeface="Microsoft YaHei UI" panose="020B0503020204020204" pitchFamily="34" charset="-122"/>
                <a:ea typeface="Microsoft YaHei UI" panose="020B0503020204020204" pitchFamily="34" charset="-122"/>
              </a:rPr>
              <a:t>2.5</a:t>
            </a:r>
            <a:r>
              <a:rPr lang="zh-CN" altLang="en-US" dirty="0">
                <a:latin typeface="Microsoft YaHei UI" panose="020B0503020204020204" pitchFamily="34" charset="-122"/>
                <a:ea typeface="Microsoft YaHei UI" panose="020B0503020204020204" pitchFamily="34" charset="-122"/>
              </a:rPr>
              <a:t>，均推荐应用额外的肠外抗凝治疗</a:t>
            </a: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20173" y="1787160"/>
            <a:ext cx="1658150" cy="1901263"/>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611" y="3680516"/>
            <a:ext cx="11144164" cy="375008"/>
          </a:xfrm>
          <a:prstGeom prst="rect">
            <a:avLst/>
          </a:prstGeom>
        </p:spPr>
      </p:pic>
      <p:sp>
        <p:nvSpPr>
          <p:cNvPr id="7" name="文本框 6"/>
          <p:cNvSpPr txBox="1"/>
          <p:nvPr/>
        </p:nvSpPr>
        <p:spPr>
          <a:xfrm>
            <a:off x="234159" y="3678505"/>
            <a:ext cx="2724798"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行冠脉支架植入的患者</a:t>
            </a: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611" y="4038557"/>
            <a:ext cx="11144164" cy="375008"/>
          </a:xfrm>
          <a:prstGeom prst="rect">
            <a:avLst/>
          </a:prstGeom>
        </p:spPr>
      </p:pic>
      <p:sp>
        <p:nvSpPr>
          <p:cNvPr id="14" name="文本框 13"/>
          <p:cNvSpPr txBox="1"/>
          <p:nvPr/>
        </p:nvSpPr>
        <p:spPr>
          <a:xfrm>
            <a:off x="234159" y="4035261"/>
            <a:ext cx="2724798"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抗凝</a:t>
            </a:r>
          </a:p>
        </p:txBody>
      </p:sp>
      <p:pic>
        <p:nvPicPr>
          <p:cNvPr id="18" name="图片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5411" y="4395644"/>
            <a:ext cx="1658150" cy="1601835"/>
          </a:xfrm>
          <a:prstGeom prst="rect">
            <a:avLst/>
          </a:prstGeom>
        </p:spPr>
      </p:pic>
      <p:sp>
        <p:nvSpPr>
          <p:cNvPr id="19" name="矩形 18"/>
          <p:cNvSpPr/>
          <p:nvPr/>
        </p:nvSpPr>
        <p:spPr>
          <a:xfrm>
            <a:off x="225219" y="5057278"/>
            <a:ext cx="9469644" cy="57968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对于有</a:t>
            </a:r>
            <a:r>
              <a:rPr lang="zh-CN" altLang="en-US" dirty="0">
                <a:solidFill>
                  <a:srgbClr val="333333"/>
                </a:solidFill>
                <a:latin typeface="Microsoft YaHei UI" panose="020B0503020204020204" pitchFamily="34" charset="-122"/>
                <a:ea typeface="Microsoft YaHei UI" panose="020B0503020204020204" pitchFamily="34" charset="-122"/>
              </a:rPr>
              <a:t>口服抗凝</a:t>
            </a:r>
            <a:r>
              <a:rPr lang="zh-CN" altLang="en-US" b="0" i="0" dirty="0">
                <a:solidFill>
                  <a:srgbClr val="333333"/>
                </a:solidFill>
                <a:effectLst/>
                <a:latin typeface="Microsoft YaHei UI" panose="020B0503020204020204" pitchFamily="34" charset="-122"/>
                <a:ea typeface="Microsoft YaHei UI" panose="020B0503020204020204" pitchFamily="34" charset="-122"/>
              </a:rPr>
              <a:t>适应证的维生素</a:t>
            </a:r>
            <a:r>
              <a:rPr lang="en-US" altLang="zh-CN" b="0" i="0" dirty="0">
                <a:solidFill>
                  <a:srgbClr val="333333"/>
                </a:solidFill>
                <a:effectLst/>
                <a:latin typeface="Microsoft YaHei UI" panose="020B0503020204020204" pitchFamily="34" charset="-122"/>
                <a:ea typeface="Microsoft YaHei UI" panose="020B0503020204020204" pitchFamily="34" charset="-122"/>
              </a:rPr>
              <a:t>K</a:t>
            </a:r>
            <a:r>
              <a:rPr lang="zh-CN" altLang="en-US" b="0" i="0" dirty="0">
                <a:solidFill>
                  <a:srgbClr val="333333"/>
                </a:solidFill>
                <a:effectLst/>
                <a:latin typeface="Microsoft YaHei UI" panose="020B0503020204020204" pitchFamily="34" charset="-122"/>
                <a:ea typeface="Microsoft YaHei UI" panose="020B0503020204020204" pitchFamily="34" charset="-122"/>
              </a:rPr>
              <a:t>拮抗剂联合阿司匹林和</a:t>
            </a:r>
            <a:r>
              <a:rPr lang="en-US" altLang="zh-CN" b="0" i="0" dirty="0">
                <a:solidFill>
                  <a:srgbClr val="333333"/>
                </a:solidFill>
                <a:effectLst/>
                <a:latin typeface="Microsoft YaHei UI" panose="020B0503020204020204" pitchFamily="34" charset="-122"/>
                <a:ea typeface="Microsoft YaHei UI" panose="020B0503020204020204" pitchFamily="34" charset="-122"/>
              </a:rPr>
              <a:t>/</a:t>
            </a:r>
            <a:r>
              <a:rPr lang="zh-CN" altLang="en-US" b="0" i="0" dirty="0">
                <a:solidFill>
                  <a:srgbClr val="333333"/>
                </a:solidFill>
                <a:effectLst/>
                <a:latin typeface="Microsoft YaHei UI" panose="020B0503020204020204" pitchFamily="34" charset="-122"/>
                <a:ea typeface="Microsoft YaHei UI" panose="020B0503020204020204" pitchFamily="34" charset="-122"/>
              </a:rPr>
              <a:t>或</a:t>
            </a:r>
            <a:r>
              <a:rPr lang="zh-CN" altLang="en-US" b="0" i="0" dirty="0">
                <a:solidFill>
                  <a:srgbClr val="FF0000"/>
                </a:solidFill>
                <a:effectLst/>
                <a:latin typeface="Microsoft YaHei UI" panose="020B0503020204020204" pitchFamily="34" charset="-122"/>
                <a:ea typeface="Microsoft YaHei UI" panose="020B0503020204020204" pitchFamily="34" charset="-122"/>
              </a:rPr>
              <a:t>氯吡格雷</a:t>
            </a:r>
            <a:r>
              <a:rPr lang="zh-CN" altLang="en-US" b="0" i="0" dirty="0">
                <a:solidFill>
                  <a:srgbClr val="333333"/>
                </a:solidFill>
                <a:effectLst/>
                <a:latin typeface="Microsoft YaHei UI" panose="020B0503020204020204" pitchFamily="34" charset="-122"/>
                <a:ea typeface="Microsoft YaHei UI" panose="020B0503020204020204" pitchFamily="34" charset="-122"/>
              </a:rPr>
              <a:t>的患者，</a:t>
            </a:r>
            <a:r>
              <a:rPr lang="zh-CN" altLang="en-US" dirty="0">
                <a:solidFill>
                  <a:srgbClr val="333333"/>
                </a:solidFill>
                <a:latin typeface="Microsoft YaHei UI" panose="020B0503020204020204" pitchFamily="34" charset="-122"/>
                <a:ea typeface="Microsoft YaHei UI" panose="020B0503020204020204" pitchFamily="34" charset="-122"/>
              </a:rPr>
              <a:t>维生素</a:t>
            </a:r>
            <a:r>
              <a:rPr lang="en-US" altLang="zh-CN" dirty="0">
                <a:solidFill>
                  <a:srgbClr val="333333"/>
                </a:solidFill>
                <a:latin typeface="Microsoft YaHei UI" panose="020B0503020204020204" pitchFamily="34" charset="-122"/>
                <a:ea typeface="Microsoft YaHei UI" panose="020B0503020204020204" pitchFamily="34" charset="-122"/>
              </a:rPr>
              <a:t>K</a:t>
            </a:r>
            <a:r>
              <a:rPr lang="zh-CN" altLang="en-US" dirty="0">
                <a:solidFill>
                  <a:srgbClr val="333333"/>
                </a:solidFill>
                <a:latin typeface="Microsoft YaHei UI" panose="020B0503020204020204" pitchFamily="34" charset="-122"/>
                <a:ea typeface="Microsoft YaHei UI" panose="020B0503020204020204" pitchFamily="34" charset="-122"/>
              </a:rPr>
              <a:t>拮抗剂</a:t>
            </a:r>
            <a:r>
              <a:rPr lang="zh-CN" altLang="en-US" b="0" i="0" dirty="0">
                <a:solidFill>
                  <a:srgbClr val="333333"/>
                </a:solidFill>
                <a:effectLst/>
                <a:latin typeface="Microsoft YaHei UI" panose="020B0503020204020204" pitchFamily="34" charset="-122"/>
                <a:ea typeface="Microsoft YaHei UI" panose="020B0503020204020204" pitchFamily="34" charset="-122"/>
              </a:rPr>
              <a:t>的剂量强度应谨慎调控，</a:t>
            </a:r>
            <a:r>
              <a:rPr lang="en-US" altLang="zh-CN" b="0" i="0" dirty="0">
                <a:solidFill>
                  <a:srgbClr val="333333"/>
                </a:solidFill>
                <a:effectLst/>
                <a:latin typeface="Microsoft YaHei UI" panose="020B0503020204020204" pitchFamily="34" charset="-122"/>
                <a:ea typeface="Microsoft YaHei UI" panose="020B0503020204020204" pitchFamily="34" charset="-122"/>
              </a:rPr>
              <a:t>INR</a:t>
            </a:r>
            <a:r>
              <a:rPr lang="zh-CN" altLang="en-US" b="0" i="0" dirty="0">
                <a:solidFill>
                  <a:srgbClr val="333333"/>
                </a:solidFill>
                <a:effectLst/>
                <a:latin typeface="Microsoft YaHei UI" panose="020B0503020204020204" pitchFamily="34" charset="-122"/>
                <a:ea typeface="Microsoft YaHei UI" panose="020B0503020204020204" pitchFamily="34" charset="-122"/>
              </a:rPr>
              <a:t>目标值为</a:t>
            </a:r>
            <a:r>
              <a:rPr lang="en-US" altLang="zh-CN" b="0" i="0" dirty="0">
                <a:solidFill>
                  <a:srgbClr val="333333"/>
                </a:solidFill>
                <a:effectLst/>
                <a:latin typeface="Microsoft YaHei UI" panose="020B0503020204020204" pitchFamily="34" charset="-122"/>
                <a:ea typeface="Microsoft YaHei UI" panose="020B0503020204020204" pitchFamily="34" charset="-122"/>
              </a:rPr>
              <a:t>2.0-2.5</a:t>
            </a:r>
            <a:r>
              <a:rPr lang="zh-CN" altLang="en-US" b="0" i="0" dirty="0">
                <a:solidFill>
                  <a:srgbClr val="333333"/>
                </a:solidFill>
                <a:effectLst/>
                <a:latin typeface="Microsoft YaHei UI" panose="020B0503020204020204" pitchFamily="34" charset="-122"/>
                <a:ea typeface="Microsoft YaHei UI" panose="020B0503020204020204" pitchFamily="34" charset="-122"/>
              </a:rPr>
              <a:t>，且</a:t>
            </a:r>
            <a:r>
              <a:rPr lang="en-US" altLang="zh-CN" b="0" i="0" dirty="0">
                <a:solidFill>
                  <a:srgbClr val="333333"/>
                </a:solidFill>
                <a:effectLst/>
                <a:latin typeface="Microsoft YaHei UI" panose="020B0503020204020204" pitchFamily="34" charset="-122"/>
                <a:ea typeface="Microsoft YaHei UI" panose="020B0503020204020204" pitchFamily="34" charset="-122"/>
              </a:rPr>
              <a:t>TTR</a:t>
            </a:r>
            <a:r>
              <a:rPr lang="zh-CN" altLang="en-US" b="0" i="0" dirty="0">
                <a:solidFill>
                  <a:srgbClr val="333333"/>
                </a:solidFill>
                <a:effectLst/>
                <a:latin typeface="Microsoft YaHei UI" panose="020B0503020204020204" pitchFamily="34" charset="-122"/>
                <a:ea typeface="Microsoft YaHei UI" panose="020B0503020204020204" pitchFamily="34" charset="-122"/>
              </a:rPr>
              <a:t>＞</a:t>
            </a:r>
            <a:r>
              <a:rPr lang="en-US" altLang="zh-CN" b="0" i="0" dirty="0">
                <a:solidFill>
                  <a:srgbClr val="333333"/>
                </a:solidFill>
                <a:effectLst/>
                <a:latin typeface="Microsoft YaHei UI" panose="020B0503020204020204" pitchFamily="34" charset="-122"/>
                <a:ea typeface="Microsoft YaHei UI" panose="020B0503020204020204" pitchFamily="34" charset="-122"/>
              </a:rPr>
              <a:t>70%</a:t>
            </a:r>
            <a:r>
              <a:rPr lang="zh-CN" altLang="en-US" sz="1400" b="0" i="0" dirty="0">
                <a:solidFill>
                  <a:srgbClr val="333333"/>
                </a:solidFill>
                <a:effectLst/>
                <a:latin typeface="Microsoft YaHei UI" panose="020B0503020204020204" pitchFamily="34" charset="-122"/>
                <a:ea typeface="Microsoft YaHei UI" panose="020B0503020204020204" pitchFamily="34" charset="-122"/>
              </a:rPr>
              <a:t>（</a:t>
            </a:r>
            <a:r>
              <a:rPr lang="en-US" altLang="zh-CN" sz="1400" b="0" i="0" dirty="0">
                <a:solidFill>
                  <a:srgbClr val="333333"/>
                </a:solidFill>
                <a:effectLst/>
                <a:latin typeface="Microsoft YaHei UI" panose="020B0503020204020204" pitchFamily="34" charset="-122"/>
                <a:ea typeface="Microsoft YaHei UI" panose="020B0503020204020204" pitchFamily="34" charset="-122"/>
              </a:rPr>
              <a:t>time in the therapeutic range</a:t>
            </a:r>
            <a:r>
              <a:rPr lang="zh-CN" altLang="en-US" sz="1400" b="0" i="0" dirty="0">
                <a:solidFill>
                  <a:srgbClr val="333333"/>
                </a:solidFill>
                <a:effectLst/>
                <a:latin typeface="Microsoft YaHei UI" panose="020B0503020204020204" pitchFamily="34" charset="-122"/>
                <a:ea typeface="Microsoft YaHei UI" panose="020B0503020204020204" pitchFamily="34" charset="-122"/>
              </a:rPr>
              <a:t>）</a:t>
            </a:r>
            <a:endParaRPr lang="zh-CN" altLang="en-US" dirty="0">
              <a:latin typeface="Microsoft YaHei UI" panose="020B0503020204020204" pitchFamily="34" charset="-122"/>
              <a:ea typeface="Microsoft YaHei UI" panose="020B0503020204020204" pitchFamily="34" charset="-122"/>
            </a:endParaRPr>
          </a:p>
        </p:txBody>
      </p:sp>
      <p:sp>
        <p:nvSpPr>
          <p:cNvPr id="33" name="矩形 32"/>
          <p:cNvSpPr/>
          <p:nvPr/>
        </p:nvSpPr>
        <p:spPr>
          <a:xfrm>
            <a:off x="227553" y="5680752"/>
            <a:ext cx="9469644" cy="28546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应考虑在围术期进行不间断的维生素</a:t>
            </a:r>
            <a:r>
              <a:rPr lang="en-US" altLang="zh-CN" dirty="0">
                <a:solidFill>
                  <a:srgbClr val="333333"/>
                </a:solidFill>
                <a:latin typeface="Microsoft YaHei UI" panose="020B0503020204020204" pitchFamily="34" charset="-122"/>
                <a:ea typeface="Microsoft YaHei UI" panose="020B0503020204020204" pitchFamily="34" charset="-122"/>
              </a:rPr>
              <a:t>K</a:t>
            </a:r>
            <a:r>
              <a:rPr lang="zh-CN" altLang="en-US" dirty="0">
                <a:solidFill>
                  <a:srgbClr val="333333"/>
                </a:solidFill>
                <a:latin typeface="Microsoft YaHei UI" panose="020B0503020204020204" pitchFamily="34" charset="-122"/>
                <a:ea typeface="Microsoft YaHei UI" panose="020B0503020204020204" pitchFamily="34" charset="-122"/>
              </a:rPr>
              <a:t>拮抗剂或新型口服抗凝药治疗</a:t>
            </a:r>
            <a:endParaRPr lang="zh-CN" altLang="en-US" dirty="0">
              <a:latin typeface="Microsoft YaHei UI" panose="020B0503020204020204" pitchFamily="34" charset="-122"/>
              <a:ea typeface="Microsoft YaHei UI" panose="020B0503020204020204" pitchFamily="34" charset="-122"/>
            </a:endParaRPr>
          </a:p>
        </p:txBody>
      </p:sp>
      <p:sp>
        <p:nvSpPr>
          <p:cNvPr id="39" name="文本框 38"/>
          <p:cNvSpPr txBox="1"/>
          <p:nvPr/>
        </p:nvSpPr>
        <p:spPr>
          <a:xfrm>
            <a:off x="694790" y="6160175"/>
            <a:ext cx="3296720" cy="691515"/>
          </a:xfrm>
          <a:prstGeom prst="rect">
            <a:avLst/>
          </a:prstGeom>
          <a:noFill/>
        </p:spPr>
        <p:txBody>
          <a:bodyPr wrap="square">
            <a:spAutoFit/>
          </a:bodyPr>
          <a:lstStyle/>
          <a:p>
            <a:r>
              <a:rPr lang="en-US" altLang="zh-CN" sz="1300" dirty="0">
                <a:latin typeface="Microsoft YaHei UI" panose="020B0503020204020204" pitchFamily="34" charset="-122"/>
                <a:ea typeface="Microsoft YaHei UI" panose="020B0503020204020204" pitchFamily="34" charset="-122"/>
              </a:rPr>
              <a:t>CHA2DS2-VASc = </a:t>
            </a:r>
            <a:r>
              <a:rPr lang="zh-CN" altLang="en-US" sz="1300" dirty="0">
                <a:latin typeface="Microsoft YaHei UI" panose="020B0503020204020204" pitchFamily="34" charset="-122"/>
                <a:ea typeface="Microsoft YaHei UI" panose="020B0503020204020204" pitchFamily="34" charset="-122"/>
              </a:rPr>
              <a:t>充血性心衰</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高血压</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年龄</a:t>
            </a:r>
            <a:r>
              <a:rPr lang="en-US" altLang="zh-CN" sz="1300" dirty="0">
                <a:latin typeface="Microsoft YaHei UI" panose="020B0503020204020204" pitchFamily="34" charset="-122"/>
                <a:ea typeface="Microsoft YaHei UI" panose="020B0503020204020204" pitchFamily="34" charset="-122"/>
              </a:rPr>
              <a:t> ≥75 </a:t>
            </a:r>
            <a:r>
              <a:rPr lang="zh-CN" altLang="en-US" sz="1300" dirty="0">
                <a:latin typeface="Microsoft YaHei UI" panose="020B0503020204020204" pitchFamily="34" charset="-122"/>
                <a:ea typeface="Microsoft YaHei UI" panose="020B0503020204020204" pitchFamily="34" charset="-122"/>
              </a:rPr>
              <a:t>岁</a:t>
            </a:r>
            <a:r>
              <a:rPr lang="en-US" altLang="zh-CN" sz="1300" dirty="0">
                <a:latin typeface="Microsoft YaHei UI" panose="020B0503020204020204" pitchFamily="34" charset="-122"/>
                <a:ea typeface="Microsoft YaHei UI" panose="020B0503020204020204" pitchFamily="34" charset="-122"/>
              </a:rPr>
              <a:t> (2 </a:t>
            </a:r>
            <a:r>
              <a:rPr lang="zh-CN" altLang="en-US" sz="1300" dirty="0">
                <a:latin typeface="Microsoft YaHei UI" panose="020B0503020204020204" pitchFamily="34" charset="-122"/>
                <a:ea typeface="Microsoft YaHei UI" panose="020B0503020204020204" pitchFamily="34" charset="-122"/>
              </a:rPr>
              <a:t>分</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糖尿病</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卒中</a:t>
            </a:r>
            <a:r>
              <a:rPr lang="en-US" altLang="zh-CN" sz="1300" dirty="0">
                <a:latin typeface="Microsoft YaHei UI" panose="020B0503020204020204" pitchFamily="34" charset="-122"/>
                <a:ea typeface="Microsoft YaHei UI" panose="020B0503020204020204" pitchFamily="34" charset="-122"/>
              </a:rPr>
              <a:t> (2 </a:t>
            </a:r>
            <a:r>
              <a:rPr lang="zh-CN" altLang="en-US" sz="1300" dirty="0">
                <a:latin typeface="Microsoft YaHei UI" panose="020B0503020204020204" pitchFamily="34" charset="-122"/>
                <a:ea typeface="Microsoft YaHei UI" panose="020B0503020204020204" pitchFamily="34" charset="-122"/>
              </a:rPr>
              <a:t>分</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血管疾病</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年龄</a:t>
            </a:r>
            <a:r>
              <a:rPr lang="en-US" altLang="zh-CN" sz="1300" dirty="0">
                <a:latin typeface="Microsoft YaHei UI" panose="020B0503020204020204" pitchFamily="34" charset="-122"/>
                <a:ea typeface="Microsoft YaHei UI" panose="020B0503020204020204" pitchFamily="34" charset="-122"/>
              </a:rPr>
              <a:t> 65-74, </a:t>
            </a:r>
            <a:r>
              <a:rPr lang="zh-CN" altLang="en-US" sz="1300" dirty="0">
                <a:latin typeface="Microsoft YaHei UI" panose="020B0503020204020204" pitchFamily="34" charset="-122"/>
                <a:ea typeface="Microsoft YaHei UI" panose="020B0503020204020204" pitchFamily="34" charset="-122"/>
              </a:rPr>
              <a:t>性别</a:t>
            </a:r>
            <a:r>
              <a:rPr lang="en-US" altLang="zh-CN" sz="1300" dirty="0">
                <a:latin typeface="Microsoft YaHei UI" panose="020B0503020204020204" pitchFamily="34" charset="-122"/>
                <a:ea typeface="Microsoft YaHei UI" panose="020B0503020204020204" pitchFamily="34" charset="-122"/>
              </a:rPr>
              <a:t>(</a:t>
            </a:r>
            <a:r>
              <a:rPr lang="zh-CN" altLang="en-US" sz="1300" dirty="0">
                <a:latin typeface="Microsoft YaHei UI" panose="020B0503020204020204" pitchFamily="34" charset="-122"/>
                <a:ea typeface="Microsoft YaHei UI" panose="020B0503020204020204" pitchFamily="34" charset="-122"/>
              </a:rPr>
              <a:t>女性</a:t>
            </a:r>
            <a:r>
              <a:rPr lang="en-US" altLang="zh-CN" sz="1300" dirty="0">
                <a:latin typeface="Microsoft YaHei UI" panose="020B0503020204020204" pitchFamily="34" charset="-122"/>
                <a:ea typeface="Microsoft YaHei UI" panose="020B0503020204020204" pitchFamily="34" charset="-122"/>
              </a:rPr>
              <a:t>)</a:t>
            </a:r>
            <a:endParaRPr lang="zh-CN" altLang="en-US" sz="1300" dirty="0">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394" y="1195127"/>
            <a:ext cx="8857735"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2911" y="1194845"/>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583" y="1200972"/>
            <a:ext cx="810713" cy="658747"/>
          </a:xfrm>
          <a:prstGeom prst="rect">
            <a:avLst/>
          </a:prstGeom>
        </p:spPr>
      </p:pic>
      <p:sp>
        <p:nvSpPr>
          <p:cNvPr id="23" name="文本框 22"/>
          <p:cNvSpPr txBox="1"/>
          <p:nvPr/>
        </p:nvSpPr>
        <p:spPr>
          <a:xfrm>
            <a:off x="207301" y="1345325"/>
            <a:ext cx="263524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152815" y="1202288"/>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970268" y="1207538"/>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157715" y="549407"/>
            <a:ext cx="10525333"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需长期慢性口服抗凝治疗的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患者抗血小板和抗凝联合用药推荐（</a:t>
            </a:r>
            <a:r>
              <a:rPr lang="en-US" altLang="zh-CN" sz="2400" b="1" dirty="0">
                <a:solidFill>
                  <a:srgbClr val="AE1022"/>
                </a:solidFill>
                <a:latin typeface="Microsoft YaHei UI" panose="020B0503020204020204" pitchFamily="34" charset="-122"/>
                <a:ea typeface="Microsoft YaHei UI" panose="020B0503020204020204" pitchFamily="34" charset="-122"/>
              </a:rPr>
              <a:t>1</a:t>
            </a:r>
            <a:r>
              <a:rPr lang="zh-CN" altLang="en-US" sz="2400" b="1" dirty="0">
                <a:solidFill>
                  <a:srgbClr val="AE1022"/>
                </a:solidFill>
                <a:latin typeface="Microsoft YaHei UI" panose="020B0503020204020204" pitchFamily="34" charset="-122"/>
                <a:ea typeface="Microsoft YaHei UI" panose="020B0503020204020204" pitchFamily="34" charset="-122"/>
              </a:rPr>
              <a:t>）</a:t>
            </a:r>
            <a:endParaRPr lang="zh-CN" altLang="en-US" sz="2400" b="1" dirty="0">
              <a:solidFill>
                <a:srgbClr val="AE1022"/>
              </a:solidFill>
            </a:endParaRP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179" y="1834753"/>
            <a:ext cx="10525333" cy="375008"/>
          </a:xfrm>
          <a:prstGeom prst="rect">
            <a:avLst/>
          </a:prstGeom>
        </p:spPr>
      </p:pic>
      <p:sp>
        <p:nvSpPr>
          <p:cNvPr id="14" name="文本框 13"/>
          <p:cNvSpPr txBox="1"/>
          <p:nvPr/>
        </p:nvSpPr>
        <p:spPr>
          <a:xfrm>
            <a:off x="207301" y="1831457"/>
            <a:ext cx="413354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行冠脉支架植入患者的抗血小板治疗</a:t>
            </a:r>
          </a:p>
        </p:txBody>
      </p:sp>
      <p:sp>
        <p:nvSpPr>
          <p:cNvPr id="19" name="矩形 18"/>
          <p:cNvSpPr/>
          <p:nvPr/>
        </p:nvSpPr>
        <p:spPr>
          <a:xfrm>
            <a:off x="195217" y="3842536"/>
            <a:ext cx="8845913" cy="60093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对于应用维生素</a:t>
            </a:r>
            <a:r>
              <a:rPr lang="en-US" altLang="zh-CN" b="0" i="0" dirty="0">
                <a:solidFill>
                  <a:srgbClr val="333333"/>
                </a:solidFill>
                <a:effectLst/>
                <a:latin typeface="Microsoft YaHei UI" panose="020B0503020204020204" pitchFamily="34" charset="-122"/>
                <a:ea typeface="Microsoft YaHei UI" panose="020B0503020204020204" pitchFamily="34" charset="-122"/>
              </a:rPr>
              <a:t>K</a:t>
            </a:r>
            <a:r>
              <a:rPr lang="zh-CN" altLang="en-US" b="0" i="0" dirty="0">
                <a:solidFill>
                  <a:srgbClr val="333333"/>
                </a:solidFill>
                <a:effectLst/>
                <a:latin typeface="Microsoft YaHei UI" panose="020B0503020204020204" pitchFamily="34" charset="-122"/>
                <a:ea typeface="Microsoft YaHei UI" panose="020B0503020204020204" pitchFamily="34" charset="-122"/>
              </a:rPr>
              <a:t>拮抗剂治疗的患者（如植入机械瓣膜），应考虑对特定患者应用至多</a:t>
            </a:r>
            <a:r>
              <a:rPr lang="en-US" altLang="zh-CN" b="0" i="0" dirty="0">
                <a:solidFill>
                  <a:srgbClr val="333333"/>
                </a:solidFill>
                <a:effectLst/>
                <a:latin typeface="Microsoft YaHei UI" panose="020B0503020204020204" pitchFamily="34" charset="-122"/>
                <a:ea typeface="Microsoft YaHei UI" panose="020B0503020204020204" pitchFamily="34" charset="-122"/>
              </a:rPr>
              <a:t>12</a:t>
            </a:r>
            <a:r>
              <a:rPr lang="zh-CN" altLang="en-US" b="0" i="0" dirty="0">
                <a:solidFill>
                  <a:srgbClr val="333333"/>
                </a:solidFill>
                <a:effectLst/>
                <a:latin typeface="Microsoft YaHei UI" panose="020B0503020204020204" pitchFamily="34" charset="-122"/>
                <a:ea typeface="Microsoft YaHei UI" panose="020B0503020204020204" pitchFamily="34" charset="-122"/>
              </a:rPr>
              <a:t>个月的氯吡格雷单药治疗</a:t>
            </a:r>
            <a:r>
              <a:rPr lang="en-US" altLang="zh-CN" b="0" i="0" dirty="0">
                <a:solidFill>
                  <a:srgbClr val="333333"/>
                </a:solidFill>
                <a:effectLst/>
                <a:latin typeface="Microsoft YaHei UI" panose="020B0503020204020204" pitchFamily="34" charset="-122"/>
                <a:ea typeface="Microsoft YaHei UI" panose="020B0503020204020204" pitchFamily="34" charset="-122"/>
              </a:rPr>
              <a:t>(HAS-BLED</a:t>
            </a:r>
            <a:r>
              <a:rPr lang="zh-CN" altLang="en-US" dirty="0">
                <a:solidFill>
                  <a:srgbClr val="333333"/>
                </a:solidFill>
                <a:latin typeface="Microsoft YaHei UI" panose="020B0503020204020204" pitchFamily="34" charset="-122"/>
                <a:ea typeface="Microsoft YaHei UI" panose="020B0503020204020204" pitchFamily="34" charset="-122"/>
              </a:rPr>
              <a:t>≥</a:t>
            </a:r>
            <a:r>
              <a:rPr lang="en-US" altLang="zh-CN" b="0" i="0" dirty="0">
                <a:solidFill>
                  <a:srgbClr val="333333"/>
                </a:solidFill>
                <a:effectLst/>
                <a:latin typeface="Microsoft YaHei UI" panose="020B0503020204020204" pitchFamily="34" charset="-122"/>
                <a:ea typeface="Microsoft YaHei UI" panose="020B0503020204020204" pitchFamily="34" charset="-122"/>
              </a:rPr>
              <a:t>3</a:t>
            </a:r>
            <a:r>
              <a:rPr lang="zh-CN" altLang="en-US" b="0" i="0" dirty="0">
                <a:solidFill>
                  <a:srgbClr val="333333"/>
                </a:solidFill>
                <a:effectLst/>
                <a:latin typeface="Microsoft YaHei UI" panose="020B0503020204020204" pitchFamily="34" charset="-122"/>
                <a:ea typeface="Microsoft YaHei UI" panose="020B0503020204020204" pitchFamily="34" charset="-122"/>
              </a:rPr>
              <a:t>或达到</a:t>
            </a:r>
            <a:r>
              <a:rPr lang="en-US" altLang="zh-CN" b="0" i="0" dirty="0">
                <a:solidFill>
                  <a:srgbClr val="333333"/>
                </a:solidFill>
                <a:effectLst/>
                <a:latin typeface="Microsoft YaHei UI" panose="020B0503020204020204" pitchFamily="34" charset="-122"/>
                <a:ea typeface="Microsoft YaHei UI" panose="020B0503020204020204" pitchFamily="34" charset="-122"/>
              </a:rPr>
              <a:t>ARC-HBR</a:t>
            </a:r>
            <a:r>
              <a:rPr lang="zh-CN" altLang="en-US" b="0" i="0" dirty="0">
                <a:solidFill>
                  <a:srgbClr val="333333"/>
                </a:solidFill>
                <a:effectLst/>
                <a:latin typeface="Microsoft YaHei UI" panose="020B0503020204020204" pitchFamily="34" charset="-122"/>
                <a:ea typeface="Microsoft YaHei UI" panose="020B0503020204020204" pitchFamily="34" charset="-122"/>
              </a:rPr>
              <a:t>标准且支架内血栓低风险</a:t>
            </a:r>
            <a:r>
              <a:rPr lang="en-US" altLang="zh-CN" b="0" i="0" dirty="0">
                <a:solidFill>
                  <a:srgbClr val="333333"/>
                </a:solidFill>
                <a:effectLst/>
                <a:latin typeface="Microsoft YaHei UI" panose="020B0503020204020204" pitchFamily="34" charset="-122"/>
                <a:ea typeface="Microsoft YaHei UI" panose="020B0503020204020204" pitchFamily="34" charset="-122"/>
              </a:rPr>
              <a:t>)</a:t>
            </a:r>
            <a:endParaRPr lang="zh-CN" altLang="en-US" dirty="0">
              <a:latin typeface="Microsoft YaHei UI" panose="020B0503020204020204" pitchFamily="34" charset="-122"/>
              <a:ea typeface="Microsoft YaHei UI" panose="020B0503020204020204" pitchFamily="34" charset="-122"/>
            </a:endParaRPr>
          </a:p>
        </p:txBody>
      </p:sp>
      <p:sp>
        <p:nvSpPr>
          <p:cNvPr id="33" name="矩形 32"/>
          <p:cNvSpPr/>
          <p:nvPr/>
        </p:nvSpPr>
        <p:spPr>
          <a:xfrm>
            <a:off x="195217" y="3509341"/>
            <a:ext cx="8840776" cy="28546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rgbClr val="333333"/>
                </a:solidFill>
                <a:latin typeface="Microsoft YaHei UI" panose="020B0503020204020204" pitchFamily="34" charset="-122"/>
                <a:ea typeface="Microsoft YaHei UI" panose="020B0503020204020204" pitchFamily="34" charset="-122"/>
              </a:rPr>
              <a:t>对于应用口服抗凝药治疗的患者，建议在</a:t>
            </a:r>
            <a:r>
              <a:rPr lang="en-US" altLang="zh-CN" dirty="0">
                <a:solidFill>
                  <a:srgbClr val="333333"/>
                </a:solidFill>
                <a:latin typeface="Microsoft YaHei UI" panose="020B0503020204020204" pitchFamily="34" charset="-122"/>
                <a:ea typeface="Microsoft YaHei UI" panose="020B0503020204020204" pitchFamily="34" charset="-122"/>
              </a:rPr>
              <a:t>12</a:t>
            </a:r>
            <a:r>
              <a:rPr lang="zh-CN" altLang="en-US" dirty="0">
                <a:solidFill>
                  <a:srgbClr val="333333"/>
                </a:solidFill>
                <a:latin typeface="Microsoft YaHei UI" panose="020B0503020204020204" pitchFamily="34" charset="-122"/>
                <a:ea typeface="Microsoft YaHei UI" panose="020B0503020204020204" pitchFamily="34" charset="-122"/>
              </a:rPr>
              <a:t>个月后停用抗血小板治疗</a:t>
            </a:r>
            <a:endParaRPr lang="zh-CN" altLang="en-US" dirty="0">
              <a:latin typeface="Microsoft YaHei UI" panose="020B0503020204020204" pitchFamily="34" charset="-122"/>
              <a:ea typeface="Microsoft YaHei UI" panose="020B0503020204020204" pitchFamily="34" charset="-122"/>
            </a:endParaRPr>
          </a:p>
        </p:txBody>
      </p:sp>
      <p:sp>
        <p:nvSpPr>
          <p:cNvPr id="39" name="文本框 38"/>
          <p:cNvSpPr txBox="1"/>
          <p:nvPr/>
        </p:nvSpPr>
        <p:spPr>
          <a:xfrm>
            <a:off x="807804" y="6196134"/>
            <a:ext cx="3296720" cy="646331"/>
          </a:xfrm>
          <a:prstGeom prst="rect">
            <a:avLst/>
          </a:prstGeom>
          <a:noFill/>
        </p:spPr>
        <p:txBody>
          <a:bodyPr wrap="square">
            <a:spAutoFit/>
          </a:bodyPr>
          <a:lstStyle/>
          <a:p>
            <a:r>
              <a:rPr lang="en-US" altLang="zh-CN" sz="1200" dirty="0">
                <a:latin typeface="Microsoft YaHei UI" panose="020B0503020204020204" pitchFamily="34" charset="-122"/>
                <a:ea typeface="Microsoft YaHei UI" panose="020B0503020204020204" pitchFamily="34" charset="-122"/>
              </a:rPr>
              <a:t>CHA</a:t>
            </a:r>
            <a:r>
              <a:rPr lang="en-US" altLang="zh-CN" sz="1200" baseline="-25000" dirty="0">
                <a:latin typeface="Microsoft YaHei UI" panose="020B0503020204020204" pitchFamily="34" charset="-122"/>
                <a:ea typeface="Microsoft YaHei UI" panose="020B0503020204020204" pitchFamily="34" charset="-122"/>
              </a:rPr>
              <a:t>2</a:t>
            </a:r>
            <a:r>
              <a:rPr lang="en-US" altLang="zh-CN" sz="1200" dirty="0">
                <a:latin typeface="Microsoft YaHei UI" panose="020B0503020204020204" pitchFamily="34" charset="-122"/>
                <a:ea typeface="Microsoft YaHei UI" panose="020B0503020204020204" pitchFamily="34" charset="-122"/>
              </a:rPr>
              <a:t>DS</a:t>
            </a:r>
            <a:r>
              <a:rPr lang="en-US" altLang="zh-CN" sz="1200" baseline="-25000" dirty="0">
                <a:latin typeface="Microsoft YaHei UI" panose="020B0503020204020204" pitchFamily="34" charset="-122"/>
                <a:ea typeface="Microsoft YaHei UI" panose="020B0503020204020204" pitchFamily="34" charset="-122"/>
              </a:rPr>
              <a:t>2</a:t>
            </a:r>
            <a:r>
              <a:rPr lang="en-US" altLang="zh-CN" sz="1200" dirty="0">
                <a:latin typeface="Microsoft YaHei UI" panose="020B0503020204020204" pitchFamily="34" charset="-122"/>
                <a:ea typeface="Microsoft YaHei UI" panose="020B0503020204020204" pitchFamily="34" charset="-122"/>
              </a:rPr>
              <a:t>-VASc = </a:t>
            </a:r>
            <a:r>
              <a:rPr lang="zh-CN" altLang="en-US" sz="1200" dirty="0">
                <a:latin typeface="Microsoft YaHei UI" panose="020B0503020204020204" pitchFamily="34" charset="-122"/>
                <a:ea typeface="Microsoft YaHei UI" panose="020B0503020204020204" pitchFamily="34" charset="-122"/>
              </a:rPr>
              <a:t>充血性心衰</a:t>
            </a:r>
            <a:r>
              <a:rPr lang="en-US" altLang="zh-CN" sz="1200" dirty="0">
                <a:latin typeface="Microsoft YaHei UI" panose="020B0503020204020204" pitchFamily="34" charset="-122"/>
                <a:ea typeface="Microsoft YaHei UI" panose="020B0503020204020204" pitchFamily="34" charset="-122"/>
              </a:rPr>
              <a:t>, </a:t>
            </a:r>
            <a:r>
              <a:rPr lang="zh-CN" altLang="en-US" sz="1200" dirty="0">
                <a:latin typeface="Microsoft YaHei UI" panose="020B0503020204020204" pitchFamily="34" charset="-122"/>
                <a:ea typeface="Microsoft YaHei UI" panose="020B0503020204020204" pitchFamily="34" charset="-122"/>
              </a:rPr>
              <a:t>高血压</a:t>
            </a:r>
            <a:r>
              <a:rPr lang="en-US" altLang="zh-CN" sz="1200" dirty="0">
                <a:latin typeface="Microsoft YaHei UI" panose="020B0503020204020204" pitchFamily="34" charset="-122"/>
                <a:ea typeface="Microsoft YaHei UI" panose="020B0503020204020204" pitchFamily="34" charset="-122"/>
              </a:rPr>
              <a:t>, </a:t>
            </a:r>
            <a:r>
              <a:rPr lang="zh-CN" altLang="en-US" sz="1200" dirty="0">
                <a:latin typeface="Microsoft YaHei UI" panose="020B0503020204020204" pitchFamily="34" charset="-122"/>
                <a:ea typeface="Microsoft YaHei UI" panose="020B0503020204020204" pitchFamily="34" charset="-122"/>
              </a:rPr>
              <a:t>年龄</a:t>
            </a:r>
            <a:r>
              <a:rPr lang="en-US" altLang="zh-CN" sz="1200" dirty="0">
                <a:latin typeface="Microsoft YaHei UI" panose="020B0503020204020204" pitchFamily="34" charset="-122"/>
                <a:ea typeface="Microsoft YaHei UI" panose="020B0503020204020204" pitchFamily="34" charset="-122"/>
              </a:rPr>
              <a:t> ≥75 </a:t>
            </a:r>
            <a:r>
              <a:rPr lang="zh-CN" altLang="en-US" sz="1200" dirty="0">
                <a:latin typeface="Microsoft YaHei UI" panose="020B0503020204020204" pitchFamily="34" charset="-122"/>
                <a:ea typeface="Microsoft YaHei UI" panose="020B0503020204020204" pitchFamily="34" charset="-122"/>
              </a:rPr>
              <a:t>岁</a:t>
            </a:r>
            <a:r>
              <a:rPr lang="en-US" altLang="zh-CN" sz="1200" dirty="0">
                <a:latin typeface="Microsoft YaHei UI" panose="020B0503020204020204" pitchFamily="34" charset="-122"/>
                <a:ea typeface="Microsoft YaHei UI" panose="020B0503020204020204" pitchFamily="34" charset="-122"/>
              </a:rPr>
              <a:t> (2 </a:t>
            </a:r>
            <a:r>
              <a:rPr lang="zh-CN" altLang="en-US" sz="1200" dirty="0">
                <a:latin typeface="Microsoft YaHei UI" panose="020B0503020204020204" pitchFamily="34" charset="-122"/>
                <a:ea typeface="Microsoft YaHei UI" panose="020B0503020204020204" pitchFamily="34" charset="-122"/>
              </a:rPr>
              <a:t>分</a:t>
            </a:r>
            <a:r>
              <a:rPr lang="en-US" altLang="zh-CN" sz="1200" dirty="0">
                <a:latin typeface="Microsoft YaHei UI" panose="020B0503020204020204" pitchFamily="34" charset="-122"/>
                <a:ea typeface="Microsoft YaHei UI" panose="020B0503020204020204" pitchFamily="34" charset="-122"/>
              </a:rPr>
              <a:t>), </a:t>
            </a:r>
            <a:r>
              <a:rPr lang="zh-CN" altLang="en-US" sz="1200" dirty="0">
                <a:latin typeface="Microsoft YaHei UI" panose="020B0503020204020204" pitchFamily="34" charset="-122"/>
                <a:ea typeface="Microsoft YaHei UI" panose="020B0503020204020204" pitchFamily="34" charset="-122"/>
              </a:rPr>
              <a:t>糖尿病</a:t>
            </a:r>
            <a:r>
              <a:rPr lang="en-US" altLang="zh-CN" sz="1200" dirty="0">
                <a:latin typeface="Microsoft YaHei UI" panose="020B0503020204020204" pitchFamily="34" charset="-122"/>
                <a:ea typeface="Microsoft YaHei UI" panose="020B0503020204020204" pitchFamily="34" charset="-122"/>
              </a:rPr>
              <a:t>, </a:t>
            </a:r>
            <a:r>
              <a:rPr lang="zh-CN" altLang="en-US" sz="1200" dirty="0">
                <a:latin typeface="Microsoft YaHei UI" panose="020B0503020204020204" pitchFamily="34" charset="-122"/>
                <a:ea typeface="Microsoft YaHei UI" panose="020B0503020204020204" pitchFamily="34" charset="-122"/>
              </a:rPr>
              <a:t>卒中</a:t>
            </a:r>
            <a:r>
              <a:rPr lang="en-US" altLang="zh-CN" sz="1200" dirty="0">
                <a:latin typeface="Microsoft YaHei UI" panose="020B0503020204020204" pitchFamily="34" charset="-122"/>
                <a:ea typeface="Microsoft YaHei UI" panose="020B0503020204020204" pitchFamily="34" charset="-122"/>
              </a:rPr>
              <a:t> (2 </a:t>
            </a:r>
            <a:r>
              <a:rPr lang="zh-CN" altLang="en-US" sz="1200" dirty="0">
                <a:latin typeface="Microsoft YaHei UI" panose="020B0503020204020204" pitchFamily="34" charset="-122"/>
                <a:ea typeface="Microsoft YaHei UI" panose="020B0503020204020204" pitchFamily="34" charset="-122"/>
              </a:rPr>
              <a:t>分</a:t>
            </a:r>
            <a:r>
              <a:rPr lang="en-US" altLang="zh-CN" sz="1200" dirty="0">
                <a:latin typeface="Microsoft YaHei UI" panose="020B0503020204020204" pitchFamily="34" charset="-122"/>
                <a:ea typeface="Microsoft YaHei UI" panose="020B0503020204020204" pitchFamily="34" charset="-122"/>
              </a:rPr>
              <a:t>) </a:t>
            </a:r>
            <a:r>
              <a:rPr lang="zh-CN" altLang="en-US" sz="1200" dirty="0">
                <a:latin typeface="Microsoft YaHei UI" panose="020B0503020204020204" pitchFamily="34" charset="-122"/>
                <a:ea typeface="Microsoft YaHei UI" panose="020B0503020204020204" pitchFamily="34" charset="-122"/>
              </a:rPr>
              <a:t>血管疾病</a:t>
            </a:r>
            <a:r>
              <a:rPr lang="en-US" altLang="zh-CN" sz="1200" dirty="0">
                <a:latin typeface="Microsoft YaHei UI" panose="020B0503020204020204" pitchFamily="34" charset="-122"/>
                <a:ea typeface="Microsoft YaHei UI" panose="020B0503020204020204" pitchFamily="34" charset="-122"/>
              </a:rPr>
              <a:t>, </a:t>
            </a:r>
            <a:r>
              <a:rPr lang="zh-CN" altLang="en-US" sz="1200" dirty="0">
                <a:latin typeface="Microsoft YaHei UI" panose="020B0503020204020204" pitchFamily="34" charset="-122"/>
                <a:ea typeface="Microsoft YaHei UI" panose="020B0503020204020204" pitchFamily="34" charset="-122"/>
              </a:rPr>
              <a:t>年龄</a:t>
            </a:r>
            <a:r>
              <a:rPr lang="en-US" altLang="zh-CN" sz="1200" dirty="0">
                <a:latin typeface="Microsoft YaHei UI" panose="020B0503020204020204" pitchFamily="34" charset="-122"/>
                <a:ea typeface="Microsoft YaHei UI" panose="020B0503020204020204" pitchFamily="34" charset="-122"/>
              </a:rPr>
              <a:t> 65-74, </a:t>
            </a:r>
            <a:r>
              <a:rPr lang="zh-CN" altLang="en-US" sz="1200" dirty="0">
                <a:latin typeface="Microsoft YaHei UI" panose="020B0503020204020204" pitchFamily="34" charset="-122"/>
                <a:ea typeface="Microsoft YaHei UI" panose="020B0503020204020204" pitchFamily="34" charset="-122"/>
              </a:rPr>
              <a:t>性别</a:t>
            </a:r>
            <a:r>
              <a:rPr lang="en-US" altLang="zh-CN" sz="1200" dirty="0">
                <a:latin typeface="Microsoft YaHei UI" panose="020B0503020204020204" pitchFamily="34" charset="-122"/>
                <a:ea typeface="Microsoft YaHei UI" panose="020B0503020204020204" pitchFamily="34" charset="-122"/>
              </a:rPr>
              <a:t>(</a:t>
            </a:r>
            <a:r>
              <a:rPr lang="zh-CN" altLang="en-US" sz="1200" dirty="0">
                <a:latin typeface="Microsoft YaHei UI" panose="020B0503020204020204" pitchFamily="34" charset="-122"/>
                <a:ea typeface="Microsoft YaHei UI" panose="020B0503020204020204" pitchFamily="34" charset="-122"/>
              </a:rPr>
              <a:t>女性</a:t>
            </a:r>
            <a:r>
              <a:rPr lang="en-US" altLang="zh-CN" sz="1200" dirty="0">
                <a:latin typeface="Microsoft YaHei UI" panose="020B0503020204020204" pitchFamily="34" charset="-122"/>
                <a:ea typeface="Microsoft YaHei UI" panose="020B0503020204020204" pitchFamily="34" charset="-122"/>
              </a:rPr>
              <a:t>)</a:t>
            </a:r>
            <a:r>
              <a:rPr lang="zh-CN" altLang="en-US" sz="1200" dirty="0">
                <a:latin typeface="Microsoft YaHei UI" panose="020B0503020204020204" pitchFamily="34" charset="-122"/>
                <a:ea typeface="Microsoft YaHei UI" panose="020B0503020204020204" pitchFamily="34" charset="-122"/>
              </a:rPr>
              <a:t>。</a:t>
            </a:r>
          </a:p>
        </p:txBody>
      </p:sp>
      <p:sp>
        <p:nvSpPr>
          <p:cNvPr id="2" name="矩形 1"/>
          <p:cNvSpPr/>
          <p:nvPr/>
        </p:nvSpPr>
        <p:spPr>
          <a:xfrm>
            <a:off x="200356" y="2224929"/>
            <a:ext cx="8840774" cy="91382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a:t>
            </a:r>
            <a:r>
              <a:rPr lang="en-US" altLang="zh-CN" sz="1800" dirty="0">
                <a:latin typeface="Microsoft YaHei UI" panose="020B0503020204020204" pitchFamily="34" charset="-122"/>
                <a:ea typeface="Microsoft YaHei UI" panose="020B0503020204020204" pitchFamily="34" charset="-122"/>
              </a:rPr>
              <a:t>CHA</a:t>
            </a:r>
            <a:r>
              <a:rPr lang="en-US" altLang="zh-CN" sz="1800" baseline="-25000" dirty="0">
                <a:latin typeface="Microsoft YaHei UI" panose="020B0503020204020204" pitchFamily="34" charset="-122"/>
                <a:ea typeface="Microsoft YaHei UI" panose="020B0503020204020204" pitchFamily="34" charset="-122"/>
              </a:rPr>
              <a:t>2</a:t>
            </a:r>
            <a:r>
              <a:rPr lang="en-US" altLang="zh-CN" sz="1800" dirty="0">
                <a:latin typeface="Microsoft YaHei UI" panose="020B0503020204020204" pitchFamily="34" charset="-122"/>
                <a:ea typeface="Microsoft YaHei UI" panose="020B0503020204020204" pitchFamily="34" charset="-122"/>
              </a:rPr>
              <a:t>DS</a:t>
            </a:r>
            <a:r>
              <a:rPr lang="en-US" altLang="zh-CN" sz="1800" baseline="-25000" dirty="0">
                <a:latin typeface="Microsoft YaHei UI" panose="020B0503020204020204" pitchFamily="34" charset="-122"/>
                <a:ea typeface="Microsoft YaHei UI" panose="020B0503020204020204" pitchFamily="34" charset="-122"/>
              </a:rPr>
              <a:t>2</a:t>
            </a:r>
            <a:r>
              <a:rPr lang="en-US" altLang="zh-CN" sz="1800" dirty="0">
                <a:latin typeface="Microsoft YaHei UI" panose="020B0503020204020204" pitchFamily="34" charset="-122"/>
                <a:ea typeface="Microsoft YaHei UI" panose="020B0503020204020204" pitchFamily="34" charset="-122"/>
              </a:rPr>
              <a:t>-VASc</a:t>
            </a:r>
            <a:r>
              <a:rPr lang="zh-CN" altLang="en-US" dirty="0">
                <a:latin typeface="Microsoft YaHei UI" panose="020B0503020204020204" pitchFamily="34" charset="-122"/>
                <a:ea typeface="Microsoft YaHei UI" panose="020B0503020204020204" pitchFamily="34" charset="-122"/>
              </a:rPr>
              <a:t>评分男性≥</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分和女性≥</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分的患者，在短期的三联抗血栓治疗后（至多急性事件后</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周），推荐应用双联抗血栓治疗作为常规治疗方案，包括一种预防卒中的推荐剂量新型口服抗凝药及一种口服抗血小板药物（推荐氯吡格雷）</a:t>
            </a:r>
            <a:endParaRPr lang="en-US" altLang="zh-CN" sz="1800" baseline="30000" dirty="0">
              <a:latin typeface="Microsoft YaHei UI" panose="020B0503020204020204" pitchFamily="34" charset="-122"/>
              <a:ea typeface="Microsoft YaHei UI" panose="020B0503020204020204" pitchFamily="34" charset="-122"/>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2363" y="2214897"/>
            <a:ext cx="1700087" cy="3539733"/>
          </a:xfrm>
          <a:prstGeom prst="rect">
            <a:avLst/>
          </a:prstGeom>
        </p:spPr>
      </p:pic>
      <p:sp>
        <p:nvSpPr>
          <p:cNvPr id="12" name="矩形 11"/>
          <p:cNvSpPr/>
          <p:nvPr/>
        </p:nvSpPr>
        <p:spPr>
          <a:xfrm>
            <a:off x="198265" y="3177402"/>
            <a:ext cx="8840775" cy="28546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推荐围术期应用至多</a:t>
            </a:r>
            <a:r>
              <a:rPr lang="en-US" altLang="zh-CN" b="0" i="0" dirty="0">
                <a:solidFill>
                  <a:srgbClr val="333333"/>
                </a:solidFill>
                <a:effectLst/>
                <a:latin typeface="Microsoft YaHei UI" panose="020B0503020204020204" pitchFamily="34" charset="-122"/>
                <a:ea typeface="Microsoft YaHei UI" panose="020B0503020204020204" pitchFamily="34" charset="-122"/>
              </a:rPr>
              <a:t>1</a:t>
            </a:r>
            <a:r>
              <a:rPr lang="zh-CN" altLang="en-US" dirty="0">
                <a:solidFill>
                  <a:srgbClr val="333333"/>
                </a:solidFill>
                <a:latin typeface="Microsoft YaHei UI" panose="020B0503020204020204" pitchFamily="34" charset="-122"/>
                <a:ea typeface="Microsoft YaHei UI" panose="020B0503020204020204" pitchFamily="34" charset="-122"/>
              </a:rPr>
              <a:t>周的</a:t>
            </a:r>
            <a:r>
              <a:rPr lang="zh-CN" altLang="en-US" b="0" i="0" dirty="0">
                <a:solidFill>
                  <a:srgbClr val="333333"/>
                </a:solidFill>
                <a:effectLst/>
                <a:latin typeface="Microsoft YaHei UI" panose="020B0503020204020204" pitchFamily="34" charset="-122"/>
                <a:ea typeface="Microsoft YaHei UI" panose="020B0503020204020204" pitchFamily="34" charset="-122"/>
              </a:rPr>
              <a:t>阿司匹林联合氯吡格雷的</a:t>
            </a:r>
            <a:r>
              <a:rPr lang="en-US" altLang="zh-CN" b="0" i="0" dirty="0">
                <a:solidFill>
                  <a:srgbClr val="333333"/>
                </a:solidFill>
                <a:effectLst/>
                <a:latin typeface="Microsoft YaHei UI" panose="020B0503020204020204" pitchFamily="34" charset="-122"/>
                <a:ea typeface="Microsoft YaHei UI" panose="020B0503020204020204" pitchFamily="34" charset="-122"/>
              </a:rPr>
              <a:t>DAPT</a:t>
            </a:r>
            <a:endParaRPr lang="zh-CN" altLang="en-US"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195217" y="4483177"/>
            <a:ext cx="8840776" cy="60093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当认为高出血风险大于支架内血栓或缺血性卒中风险时，应在</a:t>
            </a:r>
            <a:r>
              <a:rPr lang="en-US" altLang="zh-CN" b="0" i="0" dirty="0">
                <a:solidFill>
                  <a:srgbClr val="333333"/>
                </a:solidFill>
                <a:effectLst/>
                <a:latin typeface="Microsoft YaHei UI" panose="020B0503020204020204" pitchFamily="34" charset="-122"/>
                <a:ea typeface="Microsoft YaHei UI" panose="020B0503020204020204" pitchFamily="34" charset="-122"/>
              </a:rPr>
              <a:t>SAPT</a:t>
            </a:r>
            <a:r>
              <a:rPr lang="zh-CN" altLang="en-US" b="0" i="0" dirty="0">
                <a:solidFill>
                  <a:srgbClr val="333333"/>
                </a:solidFill>
                <a:effectLst/>
                <a:latin typeface="Microsoft YaHei UI" panose="020B0503020204020204" pitchFamily="34" charset="-122"/>
                <a:ea typeface="Microsoft YaHei UI" panose="020B0503020204020204" pitchFamily="34" charset="-122"/>
              </a:rPr>
              <a:t>或</a:t>
            </a:r>
            <a:r>
              <a:rPr lang="en-US" altLang="zh-CN" b="0" i="0" dirty="0">
                <a:solidFill>
                  <a:srgbClr val="333333"/>
                </a:solidFill>
                <a:effectLst/>
                <a:latin typeface="Microsoft YaHei UI" panose="020B0503020204020204" pitchFamily="34" charset="-122"/>
                <a:ea typeface="Microsoft YaHei UI" panose="020B0503020204020204" pitchFamily="34" charset="-122"/>
              </a:rPr>
              <a:t>DAPT</a:t>
            </a:r>
            <a:r>
              <a:rPr lang="zh-CN" altLang="en-US" b="0" i="0" dirty="0">
                <a:solidFill>
                  <a:srgbClr val="333333"/>
                </a:solidFill>
                <a:effectLst/>
                <a:latin typeface="Microsoft YaHei UI" panose="020B0503020204020204" pitchFamily="34" charset="-122"/>
                <a:ea typeface="Microsoft YaHei UI" panose="020B0503020204020204" pitchFamily="34" charset="-122"/>
              </a:rPr>
              <a:t>治疗</a:t>
            </a:r>
            <a:r>
              <a:rPr lang="zh-CN" altLang="en-US" dirty="0">
                <a:solidFill>
                  <a:srgbClr val="333333"/>
                </a:solidFill>
                <a:latin typeface="Microsoft YaHei UI" panose="020B0503020204020204" pitchFamily="34" charset="-122"/>
                <a:ea typeface="Microsoft YaHei UI" panose="020B0503020204020204" pitchFamily="34" charset="-122"/>
              </a:rPr>
              <a:t>期间考虑应用</a:t>
            </a:r>
            <a:r>
              <a:rPr lang="zh-CN" altLang="en-US" b="0" i="0" dirty="0">
                <a:solidFill>
                  <a:srgbClr val="333333"/>
                </a:solidFill>
                <a:effectLst/>
                <a:latin typeface="Microsoft YaHei UI" panose="020B0503020204020204" pitchFamily="34" charset="-122"/>
                <a:ea typeface="Microsoft YaHei UI" panose="020B0503020204020204" pitchFamily="34" charset="-122"/>
              </a:rPr>
              <a:t>每日一次的</a:t>
            </a:r>
            <a:r>
              <a:rPr lang="en-US" altLang="zh-CN" b="0" i="0" dirty="0">
                <a:solidFill>
                  <a:srgbClr val="333333"/>
                </a:solidFill>
                <a:effectLst/>
                <a:latin typeface="Microsoft YaHei UI" panose="020B0503020204020204" pitchFamily="34" charset="-122"/>
                <a:ea typeface="Microsoft YaHei UI" panose="020B0503020204020204" pitchFamily="34" charset="-122"/>
              </a:rPr>
              <a:t>15mg</a:t>
            </a:r>
            <a:r>
              <a:rPr lang="zh-CN" altLang="en-US" b="0" i="0" dirty="0">
                <a:solidFill>
                  <a:srgbClr val="333333"/>
                </a:solidFill>
                <a:effectLst/>
                <a:latin typeface="Microsoft YaHei UI" panose="020B0503020204020204" pitchFamily="34" charset="-122"/>
                <a:ea typeface="Microsoft YaHei UI" panose="020B0503020204020204" pitchFamily="34" charset="-122"/>
              </a:rPr>
              <a:t>利伐沙班，并优先于</a:t>
            </a:r>
            <a:r>
              <a:rPr lang="en-US" altLang="zh-CN" b="0" i="0" dirty="0">
                <a:solidFill>
                  <a:srgbClr val="333333"/>
                </a:solidFill>
                <a:effectLst/>
                <a:latin typeface="Microsoft YaHei UI" panose="020B0503020204020204" pitchFamily="34" charset="-122"/>
                <a:ea typeface="Microsoft YaHei UI" panose="020B0503020204020204" pitchFamily="34" charset="-122"/>
              </a:rPr>
              <a:t>20mg</a:t>
            </a:r>
            <a:r>
              <a:rPr lang="zh-CN" altLang="en-US" b="0" i="0" dirty="0">
                <a:solidFill>
                  <a:srgbClr val="333333"/>
                </a:solidFill>
                <a:effectLst/>
                <a:latin typeface="Microsoft YaHei UI" panose="020B0503020204020204" pitchFamily="34" charset="-122"/>
                <a:ea typeface="Microsoft YaHei UI" panose="020B0503020204020204" pitchFamily="34" charset="-122"/>
              </a:rPr>
              <a:t>利伐沙班</a:t>
            </a:r>
            <a:endParaRPr lang="zh-CN" altLang="en-US" dirty="0">
              <a:latin typeface="Microsoft YaHei UI" panose="020B0503020204020204" pitchFamily="34" charset="-122"/>
              <a:ea typeface="Microsoft YaHei UI" panose="020B0503020204020204" pitchFamily="34" charset="-122"/>
            </a:endParaRPr>
          </a:p>
        </p:txBody>
      </p:sp>
      <p:sp>
        <p:nvSpPr>
          <p:cNvPr id="15" name="矩形 14"/>
          <p:cNvSpPr/>
          <p:nvPr/>
        </p:nvSpPr>
        <p:spPr>
          <a:xfrm>
            <a:off x="195217" y="5121568"/>
            <a:ext cx="8840776" cy="60093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rgbClr val="333333"/>
                </a:solidFill>
                <a:latin typeface="Microsoft YaHei UI" panose="020B0503020204020204" pitchFamily="34" charset="-122"/>
                <a:ea typeface="Microsoft YaHei UI" panose="020B0503020204020204" pitchFamily="34" charset="-122"/>
              </a:rPr>
              <a:t>对于高出血风险（</a:t>
            </a:r>
            <a:r>
              <a:rPr lang="en-US" altLang="zh-CN" b="0" i="0" dirty="0">
                <a:solidFill>
                  <a:srgbClr val="333333"/>
                </a:solidFill>
                <a:effectLst/>
                <a:latin typeface="Microsoft YaHei UI" panose="020B0503020204020204" pitchFamily="34" charset="-122"/>
                <a:ea typeface="Microsoft YaHei UI" panose="020B0503020204020204" pitchFamily="34" charset="-122"/>
              </a:rPr>
              <a:t>HAS-BLED</a:t>
            </a:r>
            <a:r>
              <a:rPr lang="zh-CN" altLang="en-US" dirty="0">
                <a:solidFill>
                  <a:srgbClr val="333333"/>
                </a:solidFill>
                <a:latin typeface="Microsoft YaHei UI" panose="020B0503020204020204" pitchFamily="34" charset="-122"/>
                <a:ea typeface="Microsoft YaHei UI" panose="020B0503020204020204" pitchFamily="34" charset="-122"/>
              </a:rPr>
              <a:t>≥</a:t>
            </a:r>
            <a:r>
              <a:rPr lang="en-US" altLang="zh-CN" b="0" i="0" dirty="0">
                <a:solidFill>
                  <a:srgbClr val="333333"/>
                </a:solidFill>
                <a:effectLst/>
                <a:latin typeface="Microsoft YaHei UI" panose="020B0503020204020204" pitchFamily="34" charset="-122"/>
                <a:ea typeface="Microsoft YaHei UI" panose="020B0503020204020204" pitchFamily="34" charset="-122"/>
              </a:rPr>
              <a:t>3</a:t>
            </a:r>
            <a:r>
              <a:rPr lang="zh-CN" altLang="en-US" dirty="0">
                <a:solidFill>
                  <a:srgbClr val="333333"/>
                </a:solidFill>
                <a:latin typeface="Microsoft YaHei UI" panose="020B0503020204020204" pitchFamily="34" charset="-122"/>
                <a:ea typeface="Microsoft YaHei UI" panose="020B0503020204020204" pitchFamily="34" charset="-122"/>
              </a:rPr>
              <a:t>）的患者，</a:t>
            </a:r>
            <a:r>
              <a:rPr lang="zh-CN" altLang="en-US" b="0" i="0" dirty="0">
                <a:solidFill>
                  <a:srgbClr val="333333"/>
                </a:solidFill>
                <a:effectLst/>
                <a:latin typeface="Microsoft YaHei UI" panose="020B0503020204020204" pitchFamily="34" charset="-122"/>
                <a:ea typeface="Microsoft YaHei UI" panose="020B0503020204020204" pitchFamily="34" charset="-122"/>
              </a:rPr>
              <a:t>应在</a:t>
            </a:r>
            <a:r>
              <a:rPr lang="en-US" altLang="zh-CN" b="0" i="0" dirty="0">
                <a:solidFill>
                  <a:srgbClr val="333333"/>
                </a:solidFill>
                <a:effectLst/>
                <a:latin typeface="Microsoft YaHei UI" panose="020B0503020204020204" pitchFamily="34" charset="-122"/>
                <a:ea typeface="Microsoft YaHei UI" panose="020B0503020204020204" pitchFamily="34" charset="-122"/>
              </a:rPr>
              <a:t>SAPT</a:t>
            </a:r>
            <a:r>
              <a:rPr lang="zh-CN" altLang="en-US" b="0" i="0" dirty="0">
                <a:solidFill>
                  <a:srgbClr val="333333"/>
                </a:solidFill>
                <a:effectLst/>
                <a:latin typeface="Microsoft YaHei UI" panose="020B0503020204020204" pitchFamily="34" charset="-122"/>
                <a:ea typeface="Microsoft YaHei UI" panose="020B0503020204020204" pitchFamily="34" charset="-122"/>
              </a:rPr>
              <a:t>或</a:t>
            </a:r>
            <a:r>
              <a:rPr lang="en-US" altLang="zh-CN" b="0" i="0" dirty="0">
                <a:solidFill>
                  <a:srgbClr val="333333"/>
                </a:solidFill>
                <a:effectLst/>
                <a:latin typeface="Microsoft YaHei UI" panose="020B0503020204020204" pitchFamily="34" charset="-122"/>
                <a:ea typeface="Microsoft YaHei UI" panose="020B0503020204020204" pitchFamily="34" charset="-122"/>
              </a:rPr>
              <a:t>DAPT</a:t>
            </a:r>
            <a:r>
              <a:rPr lang="zh-CN" altLang="en-US" b="0" i="0" dirty="0">
                <a:solidFill>
                  <a:srgbClr val="333333"/>
                </a:solidFill>
                <a:effectLst/>
                <a:latin typeface="Microsoft YaHei UI" panose="020B0503020204020204" pitchFamily="34" charset="-122"/>
                <a:ea typeface="Microsoft YaHei UI" panose="020B0503020204020204" pitchFamily="34" charset="-122"/>
              </a:rPr>
              <a:t>治疗</a:t>
            </a:r>
            <a:r>
              <a:rPr lang="zh-CN" altLang="en-US" dirty="0">
                <a:solidFill>
                  <a:srgbClr val="333333"/>
                </a:solidFill>
                <a:latin typeface="Microsoft YaHei UI" panose="020B0503020204020204" pitchFamily="34" charset="-122"/>
                <a:ea typeface="Microsoft YaHei UI" panose="020B0503020204020204" pitchFamily="34" charset="-122"/>
              </a:rPr>
              <a:t>期间考虑应用每日两次的</a:t>
            </a:r>
            <a:r>
              <a:rPr lang="en-US" altLang="zh-CN" dirty="0">
                <a:solidFill>
                  <a:srgbClr val="333333"/>
                </a:solidFill>
                <a:latin typeface="Microsoft YaHei UI" panose="020B0503020204020204" pitchFamily="34" charset="-122"/>
                <a:ea typeface="Microsoft YaHei UI" panose="020B0503020204020204" pitchFamily="34" charset="-122"/>
              </a:rPr>
              <a:t>110mg</a:t>
            </a:r>
            <a:r>
              <a:rPr lang="zh-CN" altLang="en-US" dirty="0">
                <a:solidFill>
                  <a:srgbClr val="333333"/>
                </a:solidFill>
                <a:latin typeface="Microsoft YaHei UI" panose="020B0503020204020204" pitchFamily="34" charset="-122"/>
                <a:ea typeface="Microsoft YaHei UI" panose="020B0503020204020204" pitchFamily="34" charset="-122"/>
              </a:rPr>
              <a:t>达比加群以减少出血风险，并优先于</a:t>
            </a:r>
            <a:r>
              <a:rPr lang="en-US" altLang="zh-CN" dirty="0">
                <a:solidFill>
                  <a:srgbClr val="333333"/>
                </a:solidFill>
                <a:latin typeface="Microsoft YaHei UI" panose="020B0503020204020204" pitchFamily="34" charset="-122"/>
                <a:ea typeface="Microsoft YaHei UI" panose="020B0503020204020204" pitchFamily="34" charset="-122"/>
              </a:rPr>
              <a:t>150mg</a:t>
            </a:r>
            <a:r>
              <a:rPr lang="zh-CN" altLang="en-US" dirty="0">
                <a:solidFill>
                  <a:srgbClr val="333333"/>
                </a:solidFill>
                <a:latin typeface="Microsoft YaHei UI" panose="020B0503020204020204" pitchFamily="34" charset="-122"/>
                <a:ea typeface="Microsoft YaHei UI" panose="020B0503020204020204" pitchFamily="34" charset="-122"/>
              </a:rPr>
              <a:t>达比加群</a:t>
            </a:r>
            <a:endParaRPr lang="zh-CN" altLang="en-US" dirty="0">
              <a:latin typeface="Microsoft YaHei UI" panose="020B0503020204020204" pitchFamily="34" charset="-122"/>
              <a:ea typeface="Microsoft YaHei UI" panose="020B0503020204020204" pitchFamily="34" charset="-122"/>
            </a:endParaRPr>
          </a:p>
        </p:txBody>
      </p:sp>
      <p:sp>
        <p:nvSpPr>
          <p:cNvPr id="16" name="文本框 15"/>
          <p:cNvSpPr txBox="1"/>
          <p:nvPr/>
        </p:nvSpPr>
        <p:spPr>
          <a:xfrm>
            <a:off x="810080" y="5847390"/>
            <a:ext cx="8949219" cy="291465"/>
          </a:xfrm>
          <a:prstGeom prst="rect">
            <a:avLst/>
          </a:prstGeom>
          <a:noFill/>
        </p:spPr>
        <p:txBody>
          <a:bodyPr wrap="square">
            <a:spAutoFit/>
          </a:bodyPr>
          <a:lstStyle/>
          <a:p>
            <a:r>
              <a:rPr lang="en-US" altLang="zh-CN" sz="1300" dirty="0">
                <a:latin typeface="Microsoft YaHei UI" panose="020B0503020204020204" pitchFamily="34" charset="-122"/>
                <a:ea typeface="Microsoft YaHei UI" panose="020B0503020204020204" pitchFamily="34" charset="-122"/>
              </a:rPr>
              <a:t>HAS-BLED = </a:t>
            </a:r>
            <a:r>
              <a:rPr lang="zh-CN" altLang="en-US" sz="1300" dirty="0">
                <a:latin typeface="Microsoft YaHei UI" panose="020B0503020204020204" pitchFamily="34" charset="-122"/>
                <a:ea typeface="Microsoft YaHei UI" panose="020B0503020204020204" pitchFamily="34" charset="-122"/>
              </a:rPr>
              <a:t>高血压</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肝肾功异常</a:t>
            </a:r>
            <a:r>
              <a:rPr lang="en-US" altLang="zh-CN" sz="1300" dirty="0">
                <a:latin typeface="Microsoft YaHei UI" panose="020B0503020204020204" pitchFamily="34" charset="-122"/>
                <a:ea typeface="Microsoft YaHei UI" panose="020B0503020204020204" pitchFamily="34" charset="-122"/>
              </a:rPr>
              <a:t>(</a:t>
            </a:r>
            <a:r>
              <a:rPr lang="zh-CN" altLang="en-US" sz="1300" dirty="0">
                <a:latin typeface="Microsoft YaHei UI" panose="020B0503020204020204" pitchFamily="34" charset="-122"/>
                <a:ea typeface="Microsoft YaHei UI" panose="020B0503020204020204" pitchFamily="34" charset="-122"/>
              </a:rPr>
              <a:t>每项</a:t>
            </a:r>
            <a:r>
              <a:rPr lang="en-US" altLang="zh-CN" sz="1300" dirty="0">
                <a:latin typeface="Microsoft YaHei UI" panose="020B0503020204020204" pitchFamily="34" charset="-122"/>
                <a:ea typeface="Microsoft YaHei UI" panose="020B0503020204020204" pitchFamily="34" charset="-122"/>
              </a:rPr>
              <a:t>1</a:t>
            </a:r>
            <a:r>
              <a:rPr lang="zh-CN" altLang="en-US" sz="1300" dirty="0">
                <a:latin typeface="Microsoft YaHei UI" panose="020B0503020204020204" pitchFamily="34" charset="-122"/>
                <a:ea typeface="Microsoft YaHei UI" panose="020B0503020204020204" pitchFamily="34" charset="-122"/>
              </a:rPr>
              <a:t>分</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a:t>
            </a:r>
            <a:r>
              <a:rPr lang="en-US" altLang="zh-CN" sz="1300" dirty="0">
                <a:latin typeface="Microsoft YaHei UI" panose="020B0503020204020204" pitchFamily="34" charset="-122"/>
                <a:ea typeface="Microsoft YaHei UI" panose="020B0503020204020204" pitchFamily="34" charset="-122"/>
              </a:rPr>
              <a:t>65</a:t>
            </a:r>
            <a:r>
              <a:rPr lang="zh-CN" altLang="en-US" sz="1300" dirty="0">
                <a:latin typeface="Microsoft YaHei UI" panose="020B0503020204020204" pitchFamily="34" charset="-122"/>
                <a:ea typeface="Microsoft YaHei UI" panose="020B0503020204020204" pitchFamily="34" charset="-122"/>
              </a:rPr>
              <a:t>岁</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卒中</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出血史或出血倾向</a:t>
            </a:r>
            <a:r>
              <a:rPr lang="en-US" altLang="zh-CN" sz="1300" dirty="0">
                <a:latin typeface="Microsoft YaHei UI" panose="020B0503020204020204" pitchFamily="34" charset="-122"/>
                <a:ea typeface="Microsoft YaHei UI" panose="020B0503020204020204" pitchFamily="34" charset="-122"/>
              </a:rPr>
              <a:t>, </a:t>
            </a:r>
            <a:r>
              <a:rPr lang="zh-CN" altLang="en-US" sz="1300" dirty="0">
                <a:latin typeface="Microsoft YaHei UI" panose="020B0503020204020204" pitchFamily="34" charset="-122"/>
                <a:ea typeface="Microsoft YaHei UI" panose="020B0503020204020204" pitchFamily="34" charset="-122"/>
              </a:rPr>
              <a:t>不稳定的</a:t>
            </a:r>
            <a:r>
              <a:rPr lang="en-US" altLang="zh-CN" sz="1300" dirty="0">
                <a:latin typeface="Microsoft YaHei UI" panose="020B0503020204020204" pitchFamily="34" charset="-122"/>
                <a:ea typeface="Microsoft YaHei UI" panose="020B0503020204020204" pitchFamily="34" charset="-122"/>
              </a:rPr>
              <a:t>INR, </a:t>
            </a:r>
            <a:r>
              <a:rPr lang="zh-CN" altLang="en-US" sz="1300" dirty="0">
                <a:latin typeface="Microsoft YaHei UI" panose="020B0503020204020204" pitchFamily="34" charset="-122"/>
                <a:ea typeface="Microsoft YaHei UI" panose="020B0503020204020204" pitchFamily="34" charset="-122"/>
              </a:rPr>
              <a:t>吸毒和饮酒</a:t>
            </a:r>
            <a:r>
              <a:rPr lang="en-US" altLang="zh-CN" sz="1300" dirty="0">
                <a:latin typeface="Microsoft YaHei UI" panose="020B0503020204020204" pitchFamily="34" charset="-122"/>
                <a:ea typeface="Microsoft YaHei UI" panose="020B0503020204020204" pitchFamily="34" charset="-122"/>
              </a:rPr>
              <a:t>(</a:t>
            </a:r>
            <a:r>
              <a:rPr lang="zh-CN" altLang="en-US" sz="1300" dirty="0">
                <a:latin typeface="Microsoft YaHei UI" panose="020B0503020204020204" pitchFamily="34" charset="-122"/>
                <a:ea typeface="Microsoft YaHei UI" panose="020B0503020204020204" pitchFamily="34" charset="-122"/>
              </a:rPr>
              <a:t>每项</a:t>
            </a:r>
            <a:r>
              <a:rPr lang="en-US" altLang="zh-CN" sz="1300" dirty="0">
                <a:latin typeface="Microsoft YaHei UI" panose="020B0503020204020204" pitchFamily="34" charset="-122"/>
                <a:ea typeface="Microsoft YaHei UI" panose="020B0503020204020204" pitchFamily="34" charset="-122"/>
              </a:rPr>
              <a:t>1</a:t>
            </a:r>
            <a:r>
              <a:rPr lang="zh-CN" altLang="en-US" sz="1300" dirty="0">
                <a:latin typeface="Microsoft YaHei UI" panose="020B0503020204020204" pitchFamily="34" charset="-122"/>
                <a:ea typeface="Microsoft YaHei UI" panose="020B0503020204020204" pitchFamily="34" charset="-122"/>
              </a:rPr>
              <a:t>分</a:t>
            </a:r>
            <a:r>
              <a:rPr lang="en-US" altLang="zh-CN" sz="1300" dirty="0">
                <a:latin typeface="Microsoft YaHei UI" panose="020B0503020204020204" pitchFamily="34" charset="-122"/>
                <a:ea typeface="Microsoft YaHei UI" panose="020B0503020204020204" pitchFamily="34" charset="-122"/>
              </a:rPr>
              <a:t>)</a:t>
            </a:r>
            <a:endParaRPr lang="zh-CN" altLang="en-US" sz="1300" dirty="0">
              <a:latin typeface="Microsoft YaHei UI" panose="020B0503020204020204" pitchFamily="34" charset="-122"/>
              <a:ea typeface="Microsoft YaHei UI" panose="020B0503020204020204" pitchFamily="34" charset="-122"/>
            </a:endParaRPr>
          </a:p>
        </p:txBody>
      </p:sp>
      <p:sp>
        <p:nvSpPr>
          <p:cNvPr id="3" name="矩形: 圆角 2"/>
          <p:cNvSpPr/>
          <p:nvPr/>
        </p:nvSpPr>
        <p:spPr>
          <a:xfrm>
            <a:off x="97605" y="2216497"/>
            <a:ext cx="11358080" cy="939152"/>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4" name="文本框 3"/>
          <p:cNvSpPr txBox="1"/>
          <p:nvPr/>
        </p:nvSpPr>
        <p:spPr>
          <a:xfrm>
            <a:off x="10661737" y="2448148"/>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5" name="矩形: 圆角 4"/>
          <p:cNvSpPr/>
          <p:nvPr/>
        </p:nvSpPr>
        <p:spPr>
          <a:xfrm>
            <a:off x="97605" y="3472314"/>
            <a:ext cx="11358080" cy="370222"/>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7" name="文本框 6"/>
          <p:cNvSpPr txBox="1"/>
          <p:nvPr/>
        </p:nvSpPr>
        <p:spPr>
          <a:xfrm>
            <a:off x="10661737" y="3414222"/>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68" y="1385196"/>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0167" y="1384914"/>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8839" y="1391041"/>
            <a:ext cx="810713" cy="658747"/>
          </a:xfrm>
          <a:prstGeom prst="rect">
            <a:avLst/>
          </a:prstGeom>
        </p:spPr>
      </p:pic>
      <p:sp>
        <p:nvSpPr>
          <p:cNvPr id="23" name="文本框 22"/>
          <p:cNvSpPr txBox="1"/>
          <p:nvPr/>
        </p:nvSpPr>
        <p:spPr>
          <a:xfrm>
            <a:off x="348268" y="1535394"/>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050071" y="1392357"/>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867524" y="1397607"/>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186291" y="701807"/>
            <a:ext cx="10624584"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需长期慢性口服抗凝治疗的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患者抗血小板和抗凝联合用药推荐（</a:t>
            </a:r>
            <a:r>
              <a:rPr lang="en-US" altLang="zh-CN" sz="2400" b="1" dirty="0">
                <a:solidFill>
                  <a:srgbClr val="AE1022"/>
                </a:solidFill>
                <a:latin typeface="Microsoft YaHei UI" panose="020B0503020204020204" pitchFamily="34" charset="-122"/>
                <a:ea typeface="Microsoft YaHei UI" panose="020B0503020204020204" pitchFamily="34" charset="-122"/>
              </a:rPr>
              <a:t>2</a:t>
            </a:r>
            <a:r>
              <a:rPr lang="zh-CN" altLang="en-US" sz="2400" b="1" dirty="0">
                <a:solidFill>
                  <a:srgbClr val="AE1022"/>
                </a:solidFill>
                <a:latin typeface="Microsoft YaHei UI" panose="020B0503020204020204" pitchFamily="34" charset="-122"/>
                <a:ea typeface="Microsoft YaHei UI" panose="020B0503020204020204" pitchFamily="34" charset="-122"/>
              </a:rPr>
              <a:t>）</a:t>
            </a:r>
            <a:endParaRPr lang="zh-CN" altLang="en-US" sz="2400" b="1" dirty="0">
              <a:solidFill>
                <a:srgbClr val="AE1022"/>
              </a:solidFill>
            </a:endParaRP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599" y="2024822"/>
            <a:ext cx="10248169" cy="375008"/>
          </a:xfrm>
          <a:prstGeom prst="rect">
            <a:avLst/>
          </a:prstGeom>
        </p:spPr>
      </p:pic>
      <p:sp>
        <p:nvSpPr>
          <p:cNvPr id="19" name="矩形 18"/>
          <p:cNvSpPr/>
          <p:nvPr/>
        </p:nvSpPr>
        <p:spPr>
          <a:xfrm>
            <a:off x="348269" y="4366372"/>
            <a:ext cx="8594195" cy="30331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应考虑应用一种抗血小板药物联用一种</a:t>
            </a:r>
            <a:r>
              <a:rPr lang="en-US" altLang="zh-CN" b="0" i="0" dirty="0">
                <a:solidFill>
                  <a:srgbClr val="333333"/>
                </a:solidFill>
                <a:effectLst/>
                <a:latin typeface="Microsoft YaHei UI" panose="020B0503020204020204" pitchFamily="34" charset="-122"/>
                <a:ea typeface="Microsoft YaHei UI" panose="020B0503020204020204" pitchFamily="34" charset="-122"/>
              </a:rPr>
              <a:t>OAC</a:t>
            </a:r>
            <a:r>
              <a:rPr lang="zh-CN" altLang="en-US" dirty="0">
                <a:solidFill>
                  <a:srgbClr val="333333"/>
                </a:solidFill>
                <a:latin typeface="Microsoft YaHei UI" panose="020B0503020204020204" pitchFamily="34" charset="-122"/>
                <a:ea typeface="Microsoft YaHei UI" panose="020B0503020204020204" pitchFamily="34" charset="-122"/>
              </a:rPr>
              <a:t>的治疗方案至多</a:t>
            </a:r>
            <a:r>
              <a:rPr lang="en-US" altLang="zh-CN" dirty="0">
                <a:solidFill>
                  <a:srgbClr val="333333"/>
                </a:solidFill>
                <a:latin typeface="Microsoft YaHei UI" panose="020B0503020204020204" pitchFamily="34" charset="-122"/>
                <a:ea typeface="Microsoft YaHei UI" panose="020B0503020204020204" pitchFamily="34" charset="-122"/>
              </a:rPr>
              <a:t>1</a:t>
            </a:r>
            <a:r>
              <a:rPr lang="zh-CN" altLang="en-US" dirty="0">
                <a:solidFill>
                  <a:srgbClr val="333333"/>
                </a:solidFill>
                <a:latin typeface="Microsoft YaHei UI" panose="020B0503020204020204" pitchFamily="34" charset="-122"/>
                <a:ea typeface="Microsoft YaHei UI" panose="020B0503020204020204" pitchFamily="34" charset="-122"/>
              </a:rPr>
              <a:t>年</a:t>
            </a:r>
            <a:endParaRPr lang="zh-CN" altLang="en-US" dirty="0">
              <a:latin typeface="Microsoft YaHei UI" panose="020B0503020204020204" pitchFamily="34" charset="-122"/>
              <a:ea typeface="Microsoft YaHei UI" panose="020B0503020204020204" pitchFamily="34" charset="-122"/>
            </a:endParaRPr>
          </a:p>
        </p:txBody>
      </p:sp>
      <p:sp>
        <p:nvSpPr>
          <p:cNvPr id="33" name="矩形 32"/>
          <p:cNvSpPr/>
          <p:nvPr/>
        </p:nvSpPr>
        <p:spPr>
          <a:xfrm>
            <a:off x="359601" y="3678862"/>
            <a:ext cx="8583921" cy="28546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rgbClr val="333333"/>
                </a:solidFill>
                <a:latin typeface="Microsoft YaHei UI" panose="020B0503020204020204" pitchFamily="34" charset="-122"/>
                <a:ea typeface="Microsoft YaHei UI" panose="020B0503020204020204" pitchFamily="34" charset="-122"/>
              </a:rPr>
              <a:t>不推荐替格瑞洛或普拉格雷作为三联抗血栓治疗的组成部分</a:t>
            </a:r>
            <a:endParaRPr lang="zh-CN" altLang="en-US" dirty="0">
              <a:latin typeface="Microsoft YaHei UI" panose="020B0503020204020204" pitchFamily="34" charset="-122"/>
              <a:ea typeface="Microsoft YaHei UI" panose="020B0503020204020204" pitchFamily="34" charset="-122"/>
            </a:endParaRPr>
          </a:p>
        </p:txBody>
      </p:sp>
      <p:sp>
        <p:nvSpPr>
          <p:cNvPr id="2" name="矩形 1"/>
          <p:cNvSpPr/>
          <p:nvPr/>
        </p:nvSpPr>
        <p:spPr>
          <a:xfrm>
            <a:off x="359602" y="2414999"/>
            <a:ext cx="8578783" cy="59604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a:t>
            </a:r>
            <a:r>
              <a:rPr lang="en-US" altLang="zh-CN" dirty="0">
                <a:latin typeface="Microsoft YaHei UI" panose="020B0503020204020204" pitchFamily="34" charset="-122"/>
                <a:ea typeface="Microsoft YaHei UI" panose="020B0503020204020204" pitchFamily="34" charset="-122"/>
              </a:rPr>
              <a:t>OAC</a:t>
            </a:r>
            <a:r>
              <a:rPr lang="zh-CN" altLang="en-US" dirty="0">
                <a:latin typeface="Microsoft YaHei UI" panose="020B0503020204020204" pitchFamily="34" charset="-122"/>
                <a:ea typeface="Microsoft YaHei UI" panose="020B0503020204020204" pitchFamily="34" charset="-122"/>
              </a:rPr>
              <a:t>治疗的患者，当高缺血风险或其它解剖</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手术特征超过出血风险时，应考虑应用大于</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周，至多</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个月的阿司匹林联合氯吡格雷治疗</a:t>
            </a:r>
            <a:endParaRPr lang="en-US" altLang="zh-CN"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359600" y="3040530"/>
            <a:ext cx="8578785" cy="60093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rgbClr val="333333"/>
                </a:solidFill>
                <a:latin typeface="Microsoft YaHei UI" panose="020B0503020204020204" pitchFamily="34" charset="-122"/>
                <a:ea typeface="Microsoft YaHei UI" panose="020B0503020204020204" pitchFamily="34" charset="-122"/>
              </a:rPr>
              <a:t>对于中</a:t>
            </a:r>
            <a:r>
              <a:rPr lang="en-US" altLang="zh-CN" dirty="0">
                <a:solidFill>
                  <a:srgbClr val="333333"/>
                </a:solidFill>
                <a:latin typeface="Microsoft YaHei UI" panose="020B0503020204020204" pitchFamily="34" charset="-122"/>
                <a:ea typeface="Microsoft YaHei UI" panose="020B0503020204020204" pitchFamily="34" charset="-122"/>
              </a:rPr>
              <a:t>-</a:t>
            </a:r>
            <a:r>
              <a:rPr lang="zh-CN" altLang="en-US" dirty="0">
                <a:solidFill>
                  <a:srgbClr val="333333"/>
                </a:solidFill>
                <a:latin typeface="Microsoft YaHei UI" panose="020B0503020204020204" pitchFamily="34" charset="-122"/>
                <a:ea typeface="Microsoft YaHei UI" panose="020B0503020204020204" pitchFamily="34" charset="-122"/>
              </a:rPr>
              <a:t>高支架内血栓风险患者，无论支架类型如何，可考虑</a:t>
            </a:r>
            <a:r>
              <a:rPr lang="en-US" altLang="zh-CN" dirty="0">
                <a:solidFill>
                  <a:srgbClr val="333333"/>
                </a:solidFill>
                <a:latin typeface="Microsoft YaHei UI" panose="020B0503020204020204" pitchFamily="34" charset="-122"/>
                <a:ea typeface="Microsoft YaHei UI" panose="020B0503020204020204" pitchFamily="34" charset="-122"/>
              </a:rPr>
              <a:t>DAT(</a:t>
            </a:r>
            <a:r>
              <a:rPr lang="zh-CN" altLang="en-US" dirty="0">
                <a:solidFill>
                  <a:srgbClr val="333333"/>
                </a:solidFill>
                <a:latin typeface="Microsoft YaHei UI" panose="020B0503020204020204" pitchFamily="34" charset="-122"/>
                <a:ea typeface="Microsoft YaHei UI" panose="020B0503020204020204" pitchFamily="34" charset="-122"/>
              </a:rPr>
              <a:t>一种</a:t>
            </a:r>
            <a:r>
              <a:rPr lang="en-US" altLang="zh-CN" dirty="0">
                <a:solidFill>
                  <a:srgbClr val="333333"/>
                </a:solidFill>
                <a:latin typeface="Microsoft YaHei UI" panose="020B0503020204020204" pitchFamily="34" charset="-122"/>
                <a:ea typeface="Microsoft YaHei UI" panose="020B0503020204020204" pitchFamily="34" charset="-122"/>
              </a:rPr>
              <a:t>OAC</a:t>
            </a:r>
            <a:r>
              <a:rPr lang="zh-CN" altLang="en-US" dirty="0">
                <a:solidFill>
                  <a:srgbClr val="333333"/>
                </a:solidFill>
                <a:latin typeface="Microsoft YaHei UI" panose="020B0503020204020204" pitchFamily="34" charset="-122"/>
                <a:ea typeface="Microsoft YaHei UI" panose="020B0503020204020204" pitchFamily="34" charset="-122"/>
              </a:rPr>
              <a:t>联合替格瑞洛或普拉格雷</a:t>
            </a:r>
            <a:r>
              <a:rPr lang="en-US" altLang="zh-CN" dirty="0">
                <a:solidFill>
                  <a:srgbClr val="333333"/>
                </a:solidFill>
                <a:latin typeface="Microsoft YaHei UI" panose="020B0503020204020204" pitchFamily="34" charset="-122"/>
                <a:ea typeface="Microsoft YaHei UI" panose="020B0503020204020204" pitchFamily="34" charset="-122"/>
              </a:rPr>
              <a:t>) </a:t>
            </a:r>
            <a:r>
              <a:rPr lang="zh-CN" altLang="en-US" dirty="0">
                <a:solidFill>
                  <a:srgbClr val="333333"/>
                </a:solidFill>
                <a:latin typeface="Microsoft YaHei UI" panose="020B0503020204020204" pitchFamily="34" charset="-122"/>
                <a:ea typeface="Microsoft YaHei UI" panose="020B0503020204020204" pitchFamily="34" charset="-122"/>
              </a:rPr>
              <a:t>作为</a:t>
            </a:r>
            <a:r>
              <a:rPr lang="en-US" altLang="zh-CN" dirty="0">
                <a:solidFill>
                  <a:srgbClr val="333333"/>
                </a:solidFill>
                <a:latin typeface="Microsoft YaHei UI" panose="020B0503020204020204" pitchFamily="34" charset="-122"/>
                <a:ea typeface="Microsoft YaHei UI" panose="020B0503020204020204" pitchFamily="34" charset="-122"/>
              </a:rPr>
              <a:t>TAT(</a:t>
            </a:r>
            <a:r>
              <a:rPr lang="zh-CN" altLang="en-US" dirty="0">
                <a:solidFill>
                  <a:srgbClr val="333333"/>
                </a:solidFill>
                <a:latin typeface="Microsoft YaHei UI" panose="020B0503020204020204" pitchFamily="34" charset="-122"/>
                <a:ea typeface="Microsoft YaHei UI" panose="020B0503020204020204" pitchFamily="34" charset="-122"/>
              </a:rPr>
              <a:t>一种</a:t>
            </a:r>
            <a:r>
              <a:rPr lang="en-US" altLang="zh-CN" dirty="0">
                <a:solidFill>
                  <a:srgbClr val="333333"/>
                </a:solidFill>
                <a:latin typeface="Microsoft YaHei UI" panose="020B0503020204020204" pitchFamily="34" charset="-122"/>
                <a:ea typeface="Microsoft YaHei UI" panose="020B0503020204020204" pitchFamily="34" charset="-122"/>
              </a:rPr>
              <a:t>OAC</a:t>
            </a:r>
            <a:r>
              <a:rPr lang="zh-CN" altLang="en-US" dirty="0">
                <a:solidFill>
                  <a:srgbClr val="333333"/>
                </a:solidFill>
                <a:latin typeface="Microsoft YaHei UI" panose="020B0503020204020204" pitchFamily="34" charset="-122"/>
                <a:ea typeface="Microsoft YaHei UI" panose="020B0503020204020204" pitchFamily="34" charset="-122"/>
              </a:rPr>
              <a:t>，阿司匹林和氯吡格雷</a:t>
            </a:r>
            <a:r>
              <a:rPr lang="en-US" altLang="zh-CN" dirty="0">
                <a:solidFill>
                  <a:srgbClr val="333333"/>
                </a:solidFill>
                <a:latin typeface="Microsoft YaHei UI" panose="020B0503020204020204" pitchFamily="34" charset="-122"/>
                <a:ea typeface="Microsoft YaHei UI" panose="020B0503020204020204" pitchFamily="34" charset="-122"/>
              </a:rPr>
              <a:t>) </a:t>
            </a:r>
            <a:r>
              <a:rPr lang="zh-CN" altLang="en-US" dirty="0">
                <a:solidFill>
                  <a:srgbClr val="333333"/>
                </a:solidFill>
                <a:latin typeface="Microsoft YaHei UI" panose="020B0503020204020204" pitchFamily="34" charset="-122"/>
                <a:ea typeface="Microsoft YaHei UI" panose="020B0503020204020204" pitchFamily="34" charset="-122"/>
              </a:rPr>
              <a:t>的替代方案</a:t>
            </a:r>
            <a:endParaRPr lang="zh-CN" altLang="en-US" dirty="0">
              <a:latin typeface="Microsoft YaHei UI" panose="020B0503020204020204" pitchFamily="34" charset="-122"/>
              <a:ea typeface="Microsoft YaHei UI" panose="020B0503020204020204" pitchFamily="34" charset="-122"/>
            </a:endParaRP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55880" y="2400085"/>
            <a:ext cx="1673357" cy="159188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329" y="3988751"/>
            <a:ext cx="10253302" cy="375008"/>
          </a:xfrm>
          <a:prstGeom prst="rect">
            <a:avLst/>
          </a:prstGeom>
        </p:spPr>
      </p:pic>
      <p:sp>
        <p:nvSpPr>
          <p:cNvPr id="7" name="文本框 6"/>
          <p:cNvSpPr txBox="1"/>
          <p:nvPr/>
        </p:nvSpPr>
        <p:spPr>
          <a:xfrm>
            <a:off x="359603" y="3981946"/>
            <a:ext cx="1849348"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非血运重建患者</a:t>
            </a:r>
          </a:p>
        </p:txBody>
      </p:sp>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7064" y="4349946"/>
            <a:ext cx="1687572" cy="695254"/>
          </a:xfrm>
          <a:prstGeom prst="rect">
            <a:avLst/>
          </a:prstGeom>
        </p:spPr>
      </p:pic>
      <p:sp>
        <p:nvSpPr>
          <p:cNvPr id="18" name="矩形 17"/>
          <p:cNvSpPr/>
          <p:nvPr/>
        </p:nvSpPr>
        <p:spPr>
          <a:xfrm>
            <a:off x="349329" y="4700792"/>
            <a:ext cx="8594194" cy="30331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对于合并房颤的患者，可考虑应用每日两次的</a:t>
            </a:r>
            <a:r>
              <a:rPr lang="en-US" altLang="zh-CN" b="0" i="0" dirty="0">
                <a:solidFill>
                  <a:srgbClr val="333333"/>
                </a:solidFill>
                <a:effectLst/>
                <a:latin typeface="Microsoft YaHei UI" panose="020B0503020204020204" pitchFamily="34" charset="-122"/>
                <a:ea typeface="Microsoft YaHei UI" panose="020B0503020204020204" pitchFamily="34" charset="-122"/>
              </a:rPr>
              <a:t>5mg</a:t>
            </a:r>
            <a:r>
              <a:rPr lang="zh-CN" altLang="en-US" dirty="0">
                <a:solidFill>
                  <a:srgbClr val="333333"/>
                </a:solidFill>
                <a:latin typeface="Microsoft YaHei UI" panose="020B0503020204020204" pitchFamily="34" charset="-122"/>
                <a:ea typeface="Microsoft YaHei UI" panose="020B0503020204020204" pitchFamily="34" charset="-122"/>
              </a:rPr>
              <a:t>阿哌</a:t>
            </a:r>
            <a:r>
              <a:rPr lang="zh-CN" altLang="en-US" b="0" i="0" dirty="0">
                <a:solidFill>
                  <a:srgbClr val="333333"/>
                </a:solidFill>
                <a:effectLst/>
                <a:latin typeface="Microsoft YaHei UI" panose="020B0503020204020204" pitchFamily="34" charset="-122"/>
                <a:ea typeface="Microsoft YaHei UI" panose="020B0503020204020204" pitchFamily="34" charset="-122"/>
              </a:rPr>
              <a:t>沙班</a:t>
            </a:r>
            <a:r>
              <a:rPr lang="zh-CN" altLang="en-US" dirty="0">
                <a:solidFill>
                  <a:srgbClr val="333333"/>
                </a:solidFill>
                <a:latin typeface="Microsoft YaHei UI" panose="020B0503020204020204" pitchFamily="34" charset="-122"/>
                <a:ea typeface="Microsoft YaHei UI" panose="020B0503020204020204" pitchFamily="34" charset="-122"/>
              </a:rPr>
              <a:t>联用氯吡格雷</a:t>
            </a:r>
            <a:r>
              <a:rPr lang="zh-CN" altLang="en-US" b="0" i="0" dirty="0">
                <a:solidFill>
                  <a:srgbClr val="333333"/>
                </a:solidFill>
                <a:effectLst/>
                <a:latin typeface="Microsoft YaHei UI" panose="020B0503020204020204" pitchFamily="34" charset="-122"/>
                <a:ea typeface="Microsoft YaHei UI" panose="020B0503020204020204" pitchFamily="34" charset="-122"/>
              </a:rPr>
              <a:t>至少</a:t>
            </a:r>
            <a:r>
              <a:rPr lang="en-US" altLang="zh-CN" b="0" i="0" dirty="0">
                <a:solidFill>
                  <a:srgbClr val="333333"/>
                </a:solidFill>
                <a:effectLst/>
                <a:latin typeface="Microsoft YaHei UI" panose="020B0503020204020204" pitchFamily="34" charset="-122"/>
                <a:ea typeface="Microsoft YaHei UI" panose="020B0503020204020204" pitchFamily="34" charset="-122"/>
              </a:rPr>
              <a:t>6</a:t>
            </a:r>
            <a:r>
              <a:rPr lang="zh-CN" altLang="en-US" b="0" i="0" dirty="0">
                <a:solidFill>
                  <a:srgbClr val="333333"/>
                </a:solidFill>
                <a:effectLst/>
                <a:latin typeface="Microsoft YaHei UI" panose="020B0503020204020204" pitchFamily="34" charset="-122"/>
                <a:ea typeface="Microsoft YaHei UI" panose="020B0503020204020204" pitchFamily="34" charset="-122"/>
              </a:rPr>
              <a:t>个月</a:t>
            </a:r>
            <a:endParaRPr lang="zh-CN" altLang="en-US" dirty="0">
              <a:latin typeface="Microsoft YaHei UI" panose="020B0503020204020204" pitchFamily="34" charset="-122"/>
              <a:ea typeface="Microsoft YaHei UI" panose="020B0503020204020204" pitchFamily="34" charset="-122"/>
            </a:endParaRPr>
          </a:p>
        </p:txBody>
      </p:sp>
      <p:sp>
        <p:nvSpPr>
          <p:cNvPr id="20" name="文本框 19"/>
          <p:cNvSpPr txBox="1"/>
          <p:nvPr/>
        </p:nvSpPr>
        <p:spPr>
          <a:xfrm>
            <a:off x="348269" y="2021526"/>
            <a:ext cx="39360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行冠脉支架植入患者的抗血小板治疗</a:t>
            </a:r>
          </a:p>
        </p:txBody>
      </p:sp>
      <p:sp>
        <p:nvSpPr>
          <p:cNvPr id="3" name="矩形: 圆角 2"/>
          <p:cNvSpPr/>
          <p:nvPr/>
        </p:nvSpPr>
        <p:spPr>
          <a:xfrm>
            <a:off x="301740" y="3032295"/>
            <a:ext cx="11224517" cy="621234"/>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9" name="文本框 8"/>
          <p:cNvSpPr txBox="1"/>
          <p:nvPr/>
        </p:nvSpPr>
        <p:spPr>
          <a:xfrm>
            <a:off x="10641595" y="3110165"/>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11" name="文本框 10"/>
          <p:cNvSpPr txBox="1"/>
          <p:nvPr/>
        </p:nvSpPr>
        <p:spPr>
          <a:xfrm>
            <a:off x="1085207" y="6288305"/>
            <a:ext cx="1822380" cy="460375"/>
          </a:xfrm>
          <a:prstGeom prst="rect">
            <a:avLst/>
          </a:prstGeom>
          <a:noFill/>
        </p:spPr>
        <p:txBody>
          <a:bodyPr wrap="square">
            <a:spAutoFit/>
          </a:bodyPr>
          <a:lstStyle/>
          <a:p>
            <a:r>
              <a:rPr lang="en-US" altLang="zh-CN" sz="1200" dirty="0">
                <a:latin typeface="Microsoft YaHei UI" panose="020B0503020204020204" pitchFamily="34" charset="-122"/>
                <a:ea typeface="Microsoft YaHei UI" panose="020B0503020204020204" pitchFamily="34" charset="-122"/>
              </a:rPr>
              <a:t>DAT</a:t>
            </a:r>
            <a:r>
              <a:rPr lang="zh-CN" altLang="en-US" sz="1200" dirty="0">
                <a:latin typeface="Microsoft YaHei UI" panose="020B0503020204020204" pitchFamily="34" charset="-122"/>
                <a:ea typeface="Microsoft YaHei UI" panose="020B0503020204020204" pitchFamily="34" charset="-122"/>
              </a:rPr>
              <a:t>：双联抗血栓治疗</a:t>
            </a:r>
            <a:endParaRPr lang="en-US" altLang="zh-CN" sz="1200" dirty="0">
              <a:latin typeface="Microsoft YaHei UI" panose="020B0503020204020204" pitchFamily="34" charset="-122"/>
              <a:ea typeface="Microsoft YaHei UI" panose="020B0503020204020204" pitchFamily="34" charset="-122"/>
            </a:endParaRPr>
          </a:p>
          <a:p>
            <a:r>
              <a:rPr lang="en-US" altLang="zh-CN" sz="1200" dirty="0">
                <a:latin typeface="Microsoft YaHei UI" panose="020B0503020204020204" pitchFamily="34" charset="-122"/>
                <a:ea typeface="Microsoft YaHei UI" panose="020B0503020204020204" pitchFamily="34" charset="-122"/>
              </a:rPr>
              <a:t>TAT</a:t>
            </a:r>
            <a:r>
              <a:rPr lang="zh-CN" altLang="en-US" sz="1200" dirty="0">
                <a:latin typeface="Microsoft YaHei UI" panose="020B0503020204020204" pitchFamily="34" charset="-122"/>
                <a:ea typeface="Microsoft YaHei UI" panose="020B0503020204020204" pitchFamily="34" charset="-122"/>
              </a:rPr>
              <a:t>：三联抗血栓治疗</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030" y="1385196"/>
            <a:ext cx="9462362"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0173" y="1384914"/>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8845" y="1391041"/>
            <a:ext cx="810713" cy="658747"/>
          </a:xfrm>
          <a:prstGeom prst="rect">
            <a:avLst/>
          </a:prstGeom>
        </p:spPr>
      </p:pic>
      <p:sp>
        <p:nvSpPr>
          <p:cNvPr id="23" name="文本框 22"/>
          <p:cNvSpPr txBox="1"/>
          <p:nvPr/>
        </p:nvSpPr>
        <p:spPr>
          <a:xfrm>
            <a:off x="226030" y="1535394"/>
            <a:ext cx="3263774"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800077" y="1392357"/>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617530" y="1397607"/>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414891" y="549407"/>
            <a:ext cx="10133954"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已接受抗凝治疗的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患者出血管理和输血相关推荐</a:t>
            </a:r>
            <a:endParaRPr lang="zh-CN" altLang="en-US" sz="2400" b="1" dirty="0">
              <a:solidFill>
                <a:srgbClr val="AE1022"/>
              </a:solidFill>
            </a:endParaRPr>
          </a:p>
        </p:txBody>
      </p:sp>
      <p:sp>
        <p:nvSpPr>
          <p:cNvPr id="19" name="矩形 18"/>
          <p:cNvSpPr/>
          <p:nvPr/>
        </p:nvSpPr>
        <p:spPr>
          <a:xfrm>
            <a:off x="222827" y="4250115"/>
            <a:ext cx="9469644" cy="61519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rgbClr val="333333"/>
                </a:solidFill>
                <a:latin typeface="Microsoft YaHei UI" panose="020B0503020204020204" pitchFamily="34" charset="-122"/>
                <a:ea typeface="Microsoft YaHei UI" panose="020B0503020204020204" pitchFamily="34" charset="-122"/>
              </a:rPr>
              <a:t>对于存在持续危及生命的利伐沙班、阿哌沙班或依度沙班相关出血事件的患者，可考虑应用特异性凝血因子</a:t>
            </a:r>
            <a:r>
              <a:rPr lang="en-US" altLang="zh-CN" dirty="0" err="1">
                <a:solidFill>
                  <a:srgbClr val="333333"/>
                </a:solidFill>
                <a:latin typeface="Microsoft YaHei UI" panose="020B0503020204020204" pitchFamily="34" charset="-122"/>
                <a:ea typeface="Microsoft YaHei UI" panose="020B0503020204020204" pitchFamily="34" charset="-122"/>
              </a:rPr>
              <a:t>Xa</a:t>
            </a:r>
            <a:r>
              <a:rPr lang="zh-CN" altLang="en-US" dirty="0">
                <a:solidFill>
                  <a:srgbClr val="333333"/>
                </a:solidFill>
                <a:latin typeface="Microsoft YaHei UI" panose="020B0503020204020204" pitchFamily="34" charset="-122"/>
                <a:ea typeface="Microsoft YaHei UI" panose="020B0503020204020204" pitchFamily="34" charset="-122"/>
              </a:rPr>
              <a:t>拮抗剂</a:t>
            </a:r>
            <a:endParaRPr lang="zh-CN" altLang="en-US" dirty="0">
              <a:latin typeface="Microsoft YaHei UI" panose="020B0503020204020204" pitchFamily="34" charset="-122"/>
              <a:ea typeface="Microsoft YaHei UI" panose="020B0503020204020204" pitchFamily="34" charset="-122"/>
            </a:endParaRPr>
          </a:p>
        </p:txBody>
      </p:sp>
      <p:sp>
        <p:nvSpPr>
          <p:cNvPr id="33" name="矩形 32"/>
          <p:cNvSpPr/>
          <p:nvPr/>
        </p:nvSpPr>
        <p:spPr>
          <a:xfrm>
            <a:off x="223885" y="3622354"/>
            <a:ext cx="9469644" cy="58950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rgbClr val="333333"/>
                </a:solidFill>
                <a:latin typeface="Microsoft YaHei UI" panose="020B0503020204020204" pitchFamily="34" charset="-122"/>
                <a:ea typeface="Microsoft YaHei UI" panose="020B0503020204020204" pitchFamily="34" charset="-122"/>
              </a:rPr>
              <a:t>对于新型口服抗凝药相关的持续危及生命出血事件的患者，当无法获得特定的逆转药物时，应考虑使用凝血酶原复合物浓缩液或活化的凝血酶原复合物浓缩液</a:t>
            </a:r>
            <a:r>
              <a:rPr lang="zh-CN" altLang="en-US" b="0" i="0" dirty="0">
                <a:solidFill>
                  <a:srgbClr val="FF0000"/>
                </a:solidFill>
                <a:effectLst/>
                <a:latin typeface="arial" panose="020B0604020202020204" pitchFamily="34" charset="0"/>
              </a:rPr>
              <a:t>（因子</a:t>
            </a:r>
            <a:r>
              <a:rPr lang="en-US" altLang="zh-CN" b="0" i="0" dirty="0" err="1">
                <a:solidFill>
                  <a:srgbClr val="FF0000"/>
                </a:solidFill>
                <a:effectLst/>
                <a:latin typeface="arial" panose="020B0604020202020204" pitchFamily="34" charset="0"/>
              </a:rPr>
              <a:t>ⅡⅦ</a:t>
            </a:r>
            <a:r>
              <a:rPr lang="en-US" altLang="zh-CN" b="0" i="0" dirty="0">
                <a:solidFill>
                  <a:srgbClr val="FF0000"/>
                </a:solidFill>
                <a:effectLst/>
                <a:latin typeface="arial" panose="020B0604020202020204" pitchFamily="34" charset="0"/>
              </a:rPr>
              <a:t> </a:t>
            </a:r>
            <a:r>
              <a:rPr lang="en-US" altLang="zh-CN" b="0" i="0" dirty="0" err="1">
                <a:solidFill>
                  <a:srgbClr val="FF0000"/>
                </a:solidFill>
                <a:effectLst/>
                <a:latin typeface="arial" panose="020B0604020202020204" pitchFamily="34" charset="0"/>
              </a:rPr>
              <a:t>ⅨⅩ</a:t>
            </a:r>
            <a:r>
              <a:rPr lang="zh-CN" altLang="en-US" b="0" i="0" dirty="0">
                <a:solidFill>
                  <a:srgbClr val="FF0000"/>
                </a:solidFill>
                <a:effectLst/>
                <a:latin typeface="arial" panose="020B0604020202020204" pitchFamily="34" charset="0"/>
              </a:rPr>
              <a:t>）</a:t>
            </a:r>
            <a:endParaRPr lang="zh-CN" altLang="en-US" dirty="0">
              <a:solidFill>
                <a:srgbClr val="FF0000"/>
              </a:solidFill>
              <a:latin typeface="Microsoft YaHei UI" panose="020B0503020204020204" pitchFamily="34" charset="-122"/>
              <a:ea typeface="Microsoft YaHei UI" panose="020B0503020204020204" pitchFamily="34" charset="-122"/>
            </a:endParaRPr>
          </a:p>
        </p:txBody>
      </p:sp>
      <p:sp>
        <p:nvSpPr>
          <p:cNvPr id="2" name="矩形 1"/>
          <p:cNvSpPr/>
          <p:nvPr/>
        </p:nvSpPr>
        <p:spPr>
          <a:xfrm>
            <a:off x="223885" y="2032194"/>
            <a:ext cx="9462362" cy="59604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对于存在持续危及生命的达比加群相关出血事件的患者，应考虑使用达比加群特异性拮抗剂艾达司珠单抗</a:t>
            </a:r>
            <a:endParaRPr lang="en-US" altLang="zh-CN"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218748" y="2665298"/>
            <a:ext cx="9469644" cy="91366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rgbClr val="333333"/>
                </a:solidFill>
                <a:latin typeface="Microsoft YaHei UI" panose="020B0503020204020204" pitchFamily="34" charset="-122"/>
                <a:ea typeface="Microsoft YaHei UI" panose="020B0503020204020204" pitchFamily="34" charset="-122"/>
              </a:rPr>
              <a:t>对于存在持续危及生命的维生素</a:t>
            </a:r>
            <a:r>
              <a:rPr lang="en-US" altLang="zh-CN" dirty="0">
                <a:solidFill>
                  <a:srgbClr val="333333"/>
                </a:solidFill>
                <a:latin typeface="Microsoft YaHei UI" panose="020B0503020204020204" pitchFamily="34" charset="-122"/>
                <a:ea typeface="Microsoft YaHei UI" panose="020B0503020204020204" pitchFamily="34" charset="-122"/>
              </a:rPr>
              <a:t>K</a:t>
            </a:r>
            <a:r>
              <a:rPr lang="zh-CN" altLang="en-US" dirty="0">
                <a:solidFill>
                  <a:srgbClr val="333333"/>
                </a:solidFill>
                <a:latin typeface="Microsoft YaHei UI" panose="020B0503020204020204" pitchFamily="34" charset="-122"/>
                <a:ea typeface="Microsoft YaHei UI" panose="020B0503020204020204" pitchFamily="34" charset="-122"/>
              </a:rPr>
              <a:t>拮抗剂相关出血事件的患者，应考虑使用凝血因子</a:t>
            </a:r>
            <a:r>
              <a:rPr lang="en-US" altLang="zh-CN" dirty="0">
                <a:solidFill>
                  <a:srgbClr val="333333"/>
                </a:solidFill>
                <a:latin typeface="Microsoft YaHei UI" panose="020B0503020204020204" pitchFamily="34" charset="-122"/>
                <a:ea typeface="Microsoft YaHei UI" panose="020B0503020204020204" pitchFamily="34" charset="-122"/>
              </a:rPr>
              <a:t>IV-</a:t>
            </a:r>
            <a:r>
              <a:rPr lang="zh-CN" altLang="en-US" dirty="0">
                <a:solidFill>
                  <a:srgbClr val="333333"/>
                </a:solidFill>
                <a:latin typeface="Microsoft YaHei UI" panose="020B0503020204020204" pitchFamily="34" charset="-122"/>
                <a:ea typeface="Microsoft YaHei UI" panose="020B0503020204020204" pitchFamily="34" charset="-122"/>
              </a:rPr>
              <a:t>凝血酶原浓缩物快速逆转抗凝，而不是使用新鲜冰冻血浆或重组的活化凝血因子</a:t>
            </a:r>
            <a:r>
              <a:rPr lang="en-US" altLang="zh-CN" dirty="0">
                <a:solidFill>
                  <a:srgbClr val="333333"/>
                </a:solidFill>
                <a:latin typeface="Microsoft YaHei UI" panose="020B0503020204020204" pitchFamily="34" charset="-122"/>
                <a:ea typeface="Microsoft YaHei UI" panose="020B0503020204020204" pitchFamily="34" charset="-122"/>
              </a:rPr>
              <a:t>VII</a:t>
            </a:r>
            <a:r>
              <a:rPr lang="zh-CN" altLang="en-US" dirty="0">
                <a:solidFill>
                  <a:srgbClr val="333333"/>
                </a:solidFill>
                <a:latin typeface="Microsoft YaHei UI" panose="020B0503020204020204" pitchFamily="34" charset="-122"/>
                <a:ea typeface="Microsoft YaHei UI" panose="020B0503020204020204" pitchFamily="34" charset="-122"/>
              </a:rPr>
              <a:t>。此外，应缓慢多次静脉注射</a:t>
            </a:r>
            <a:r>
              <a:rPr lang="en-US" altLang="zh-CN" dirty="0">
                <a:solidFill>
                  <a:srgbClr val="333333"/>
                </a:solidFill>
                <a:latin typeface="Microsoft YaHei UI" panose="020B0503020204020204" pitchFamily="34" charset="-122"/>
                <a:ea typeface="Microsoft YaHei UI" panose="020B0503020204020204" pitchFamily="34" charset="-122"/>
              </a:rPr>
              <a:t>10mg</a:t>
            </a:r>
            <a:r>
              <a:rPr lang="zh-CN" altLang="en-US" dirty="0">
                <a:solidFill>
                  <a:srgbClr val="333333"/>
                </a:solidFill>
                <a:latin typeface="Microsoft YaHei UI" panose="020B0503020204020204" pitchFamily="34" charset="-122"/>
                <a:ea typeface="Microsoft YaHei UI" panose="020B0503020204020204" pitchFamily="34" charset="-122"/>
              </a:rPr>
              <a:t>维生素</a:t>
            </a:r>
            <a:r>
              <a:rPr lang="en-US" altLang="zh-CN" dirty="0">
                <a:solidFill>
                  <a:srgbClr val="333333"/>
                </a:solidFill>
                <a:latin typeface="Microsoft YaHei UI" panose="020B0503020204020204" pitchFamily="34" charset="-122"/>
                <a:ea typeface="Microsoft YaHei UI" panose="020B0503020204020204" pitchFamily="34" charset="-122"/>
              </a:rPr>
              <a:t>K</a:t>
            </a:r>
            <a:endParaRPr lang="zh-CN" altLang="en-US" dirty="0">
              <a:latin typeface="Microsoft YaHei UI" panose="020B0503020204020204" pitchFamily="34" charset="-122"/>
              <a:ea typeface="Microsoft YaHei UI" panose="020B0503020204020204" pitchFamily="34" charset="-122"/>
            </a:endParaRPr>
          </a:p>
        </p:txBody>
      </p:sp>
      <p:sp>
        <p:nvSpPr>
          <p:cNvPr id="18" name="矩形 17"/>
          <p:cNvSpPr/>
          <p:nvPr/>
        </p:nvSpPr>
        <p:spPr>
          <a:xfrm>
            <a:off x="216443" y="4898241"/>
            <a:ext cx="9469644" cy="5954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0" i="0" dirty="0">
                <a:solidFill>
                  <a:srgbClr val="333333"/>
                </a:solidFill>
                <a:effectLst/>
                <a:latin typeface="Microsoft YaHei UI" panose="020B0503020204020204" pitchFamily="34" charset="-122"/>
                <a:ea typeface="Microsoft YaHei UI" panose="020B0503020204020204" pitchFamily="34" charset="-122"/>
              </a:rPr>
              <a:t>对于无</a:t>
            </a:r>
            <a:r>
              <a:rPr lang="zh-CN" altLang="en-US" dirty="0">
                <a:solidFill>
                  <a:srgbClr val="333333"/>
                </a:solidFill>
                <a:latin typeface="Microsoft YaHei UI" panose="020B0503020204020204" pitchFamily="34" charset="-122"/>
                <a:ea typeface="Microsoft YaHei UI" panose="020B0503020204020204" pitchFamily="34" charset="-122"/>
              </a:rPr>
              <a:t>活动性出血证据的贫血患者</a:t>
            </a:r>
            <a:r>
              <a:rPr lang="zh-CN" altLang="en-US" b="0" i="0" dirty="0">
                <a:solidFill>
                  <a:srgbClr val="333333"/>
                </a:solidFill>
                <a:effectLst/>
                <a:latin typeface="Microsoft YaHei UI" panose="020B0503020204020204" pitchFamily="34" charset="-122"/>
                <a:ea typeface="Microsoft YaHei UI" panose="020B0503020204020204" pitchFamily="34" charset="-122"/>
              </a:rPr>
              <a:t>，如血流动力学不稳定、血细胞比容＜</a:t>
            </a:r>
            <a:r>
              <a:rPr lang="en-US" altLang="zh-CN" b="0" i="0" dirty="0">
                <a:solidFill>
                  <a:srgbClr val="333333"/>
                </a:solidFill>
                <a:effectLst/>
                <a:latin typeface="Microsoft YaHei UI" panose="020B0503020204020204" pitchFamily="34" charset="-122"/>
                <a:ea typeface="Microsoft YaHei UI" panose="020B0503020204020204" pitchFamily="34" charset="-122"/>
              </a:rPr>
              <a:t>25%</a:t>
            </a:r>
            <a:r>
              <a:rPr lang="zh-CN" altLang="en-US" b="0" i="0" dirty="0">
                <a:solidFill>
                  <a:srgbClr val="333333"/>
                </a:solidFill>
                <a:effectLst/>
                <a:latin typeface="Microsoft YaHei UI" panose="020B0503020204020204" pitchFamily="34" charset="-122"/>
                <a:ea typeface="Microsoft YaHei UI" panose="020B0503020204020204" pitchFamily="34" charset="-122"/>
              </a:rPr>
              <a:t>或血红蛋白水平＜</a:t>
            </a:r>
            <a:r>
              <a:rPr lang="en-US" altLang="zh-CN" b="0" i="0" dirty="0">
                <a:solidFill>
                  <a:srgbClr val="333333"/>
                </a:solidFill>
                <a:effectLst/>
                <a:latin typeface="Microsoft YaHei UI" panose="020B0503020204020204" pitchFamily="34" charset="-122"/>
                <a:ea typeface="Microsoft YaHei UI" panose="020B0503020204020204" pitchFamily="34" charset="-122"/>
              </a:rPr>
              <a:t>8g/dL</a:t>
            </a:r>
            <a:r>
              <a:rPr lang="zh-CN" altLang="en-US" b="0" i="0" dirty="0">
                <a:solidFill>
                  <a:srgbClr val="333333"/>
                </a:solidFill>
                <a:effectLst/>
                <a:latin typeface="Microsoft YaHei UI" panose="020B0503020204020204" pitchFamily="34" charset="-122"/>
                <a:ea typeface="Microsoft YaHei UI" panose="020B0503020204020204" pitchFamily="34" charset="-122"/>
              </a:rPr>
              <a:t>，可考虑输血</a:t>
            </a:r>
            <a:endParaRPr lang="zh-CN" altLang="en-US" dirty="0">
              <a:latin typeface="Microsoft YaHei UI" panose="020B0503020204020204" pitchFamily="34" charset="-122"/>
              <a:ea typeface="Microsoft YaHei UI" panose="020B0503020204020204" pitchFamily="34" charset="-122"/>
            </a:endParaRP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6087" y="2002729"/>
            <a:ext cx="1707954" cy="352384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1985431" y="396330"/>
            <a:ext cx="8129627" cy="523220"/>
          </a:xfrm>
          <a:prstGeom prst="rect">
            <a:avLst/>
          </a:prstGeom>
          <a:noFill/>
        </p:spPr>
        <p:txBody>
          <a:bodyPr wrap="square" rtlCol="0">
            <a:spAutoFit/>
          </a:bodyPr>
          <a:lstStyle/>
          <a:p>
            <a:r>
              <a:rPr lang="en-US" altLang="zh-CN" sz="2800" b="1" dirty="0">
                <a:solidFill>
                  <a:srgbClr val="AE1022"/>
                </a:solidFill>
                <a:latin typeface="Microsoft YaHei UI" panose="020B0503020204020204" pitchFamily="34" charset="-122"/>
                <a:ea typeface="Microsoft YaHei UI" panose="020B0503020204020204" pitchFamily="34" charset="-122"/>
              </a:rPr>
              <a:t>2020ESC</a:t>
            </a:r>
            <a:r>
              <a:rPr lang="zh-CN" altLang="en-US" sz="2800" b="1" dirty="0">
                <a:solidFill>
                  <a:srgbClr val="AE1022"/>
                </a:solidFill>
                <a:latin typeface="Microsoft YaHei UI" panose="020B0503020204020204" pitchFamily="34" charset="-122"/>
                <a:ea typeface="Microsoft YaHei UI" panose="020B0503020204020204" pitchFamily="34" charset="-122"/>
              </a:rPr>
              <a:t>非</a:t>
            </a:r>
            <a:r>
              <a:rPr lang="en-US" altLang="zh-CN" sz="2800" b="1" dirty="0">
                <a:solidFill>
                  <a:srgbClr val="AE1022"/>
                </a:solidFill>
                <a:latin typeface="Microsoft YaHei UI" panose="020B0503020204020204" pitchFamily="34" charset="-122"/>
                <a:ea typeface="Microsoft YaHei UI" panose="020B0503020204020204" pitchFamily="34" charset="-122"/>
              </a:rPr>
              <a:t>ST</a:t>
            </a:r>
            <a:r>
              <a:rPr lang="zh-CN" altLang="en-US" sz="2800" b="1" dirty="0">
                <a:solidFill>
                  <a:srgbClr val="AE1022"/>
                </a:solidFill>
                <a:latin typeface="Microsoft YaHei UI" panose="020B0503020204020204" pitchFamily="34" charset="-122"/>
                <a:ea typeface="Microsoft YaHei UI" panose="020B0503020204020204" pitchFamily="34" charset="-122"/>
              </a:rPr>
              <a:t>段抬高性急性冠脉综合征临床指南</a:t>
            </a:r>
            <a:endParaRPr lang="zh-CN" altLang="en-US" sz="2800" b="1" dirty="0">
              <a:solidFill>
                <a:srgbClr val="AE1022"/>
              </a:solidFill>
            </a:endParaRPr>
          </a:p>
        </p:txBody>
      </p:sp>
      <p:grpSp>
        <p:nvGrpSpPr>
          <p:cNvPr id="32" name="Group 135"/>
          <p:cNvGrpSpPr>
            <a:grpSpLocks noChangeAspect="1"/>
          </p:cNvGrpSpPr>
          <p:nvPr/>
        </p:nvGrpSpPr>
        <p:grpSpPr bwMode="auto">
          <a:xfrm>
            <a:off x="3029934" y="2356790"/>
            <a:ext cx="578560" cy="745891"/>
            <a:chOff x="764" y="3082"/>
            <a:chExt cx="612" cy="789"/>
          </a:xfrm>
          <a:solidFill>
            <a:schemeClr val="bg1">
              <a:lumMod val="65000"/>
            </a:schemeClr>
          </a:solidFill>
        </p:grpSpPr>
        <p:sp>
          <p:nvSpPr>
            <p:cNvPr id="33" name="Freeform 136"/>
            <p:cNvSpPr>
              <a:spLocks noEditPoints="1"/>
            </p:cNvSpPr>
            <p:nvPr/>
          </p:nvSpPr>
          <p:spPr bwMode="auto">
            <a:xfrm>
              <a:off x="889" y="3358"/>
              <a:ext cx="359" cy="364"/>
            </a:xfrm>
            <a:custGeom>
              <a:avLst/>
              <a:gdLst>
                <a:gd name="T0" fmla="*/ 97 w 152"/>
                <a:gd name="T1" fmla="*/ 144 h 154"/>
                <a:gd name="T2" fmla="*/ 142 w 152"/>
                <a:gd name="T3" fmla="*/ 144 h 154"/>
                <a:gd name="T4" fmla="*/ 142 w 152"/>
                <a:gd name="T5" fmla="*/ 99 h 154"/>
                <a:gd name="T6" fmla="*/ 97 w 152"/>
                <a:gd name="T7" fmla="*/ 99 h 154"/>
                <a:gd name="T8" fmla="*/ 97 w 152"/>
                <a:gd name="T9" fmla="*/ 144 h 154"/>
                <a:gd name="T10" fmla="*/ 5 w 152"/>
                <a:gd name="T11" fmla="*/ 28 h 154"/>
                <a:gd name="T12" fmla="*/ 5 w 152"/>
                <a:gd name="T13" fmla="*/ 17 h 154"/>
                <a:gd name="T14" fmla="*/ 16 w 152"/>
                <a:gd name="T15" fmla="*/ 18 h 154"/>
                <a:gd name="T16" fmla="*/ 31 w 152"/>
                <a:gd name="T17" fmla="*/ 34 h 154"/>
                <a:gd name="T18" fmla="*/ 57 w 152"/>
                <a:gd name="T19" fmla="*/ 4 h 154"/>
                <a:gd name="T20" fmla="*/ 69 w 152"/>
                <a:gd name="T21" fmla="*/ 3 h 154"/>
                <a:gd name="T22" fmla="*/ 69 w 152"/>
                <a:gd name="T23" fmla="*/ 14 h 154"/>
                <a:gd name="T24" fmla="*/ 36 w 152"/>
                <a:gd name="T25" fmla="*/ 51 h 154"/>
                <a:gd name="T26" fmla="*/ 25 w 152"/>
                <a:gd name="T27" fmla="*/ 51 h 154"/>
                <a:gd name="T28" fmla="*/ 5 w 152"/>
                <a:gd name="T29" fmla="*/ 28 h 154"/>
                <a:gd name="T30" fmla="*/ 97 w 152"/>
                <a:gd name="T31" fmla="*/ 13 h 154"/>
                <a:gd name="T32" fmla="*/ 97 w 152"/>
                <a:gd name="T33" fmla="*/ 57 h 154"/>
                <a:gd name="T34" fmla="*/ 142 w 152"/>
                <a:gd name="T35" fmla="*/ 57 h 154"/>
                <a:gd name="T36" fmla="*/ 142 w 152"/>
                <a:gd name="T37" fmla="*/ 13 h 154"/>
                <a:gd name="T38" fmla="*/ 97 w 152"/>
                <a:gd name="T39" fmla="*/ 13 h 154"/>
                <a:gd name="T40" fmla="*/ 87 w 152"/>
                <a:gd name="T41" fmla="*/ 62 h 154"/>
                <a:gd name="T42" fmla="*/ 87 w 152"/>
                <a:gd name="T43" fmla="*/ 2 h 154"/>
                <a:gd name="T44" fmla="*/ 152 w 152"/>
                <a:gd name="T45" fmla="*/ 2 h 154"/>
                <a:gd name="T46" fmla="*/ 152 w 152"/>
                <a:gd name="T47" fmla="*/ 68 h 154"/>
                <a:gd name="T48" fmla="*/ 87 w 152"/>
                <a:gd name="T49" fmla="*/ 68 h 154"/>
                <a:gd name="T50" fmla="*/ 87 w 152"/>
                <a:gd name="T51" fmla="*/ 62 h 154"/>
                <a:gd name="T52" fmla="*/ 11 w 152"/>
                <a:gd name="T53" fmla="*/ 144 h 154"/>
                <a:gd name="T54" fmla="*/ 55 w 152"/>
                <a:gd name="T55" fmla="*/ 144 h 154"/>
                <a:gd name="T56" fmla="*/ 55 w 152"/>
                <a:gd name="T57" fmla="*/ 99 h 154"/>
                <a:gd name="T58" fmla="*/ 11 w 152"/>
                <a:gd name="T59" fmla="*/ 99 h 154"/>
                <a:gd name="T60" fmla="*/ 11 w 152"/>
                <a:gd name="T61" fmla="*/ 144 h 154"/>
                <a:gd name="T62" fmla="*/ 61 w 152"/>
                <a:gd name="T63" fmla="*/ 154 h 154"/>
                <a:gd name="T64" fmla="*/ 0 w 152"/>
                <a:gd name="T65" fmla="*/ 154 h 154"/>
                <a:gd name="T66" fmla="*/ 0 w 152"/>
                <a:gd name="T67" fmla="*/ 89 h 154"/>
                <a:gd name="T68" fmla="*/ 66 w 152"/>
                <a:gd name="T69" fmla="*/ 89 h 154"/>
                <a:gd name="T70" fmla="*/ 66 w 152"/>
                <a:gd name="T71" fmla="*/ 154 h 154"/>
                <a:gd name="T72" fmla="*/ 61 w 152"/>
                <a:gd name="T73" fmla="*/ 154 h 154"/>
                <a:gd name="T74" fmla="*/ 147 w 152"/>
                <a:gd name="T75" fmla="*/ 154 h 154"/>
                <a:gd name="T76" fmla="*/ 87 w 152"/>
                <a:gd name="T77" fmla="*/ 154 h 154"/>
                <a:gd name="T78" fmla="*/ 87 w 152"/>
                <a:gd name="T79" fmla="*/ 89 h 154"/>
                <a:gd name="T80" fmla="*/ 152 w 152"/>
                <a:gd name="T81" fmla="*/ 89 h 154"/>
                <a:gd name="T82" fmla="*/ 152 w 152"/>
                <a:gd name="T83" fmla="*/ 154 h 154"/>
                <a:gd name="T84" fmla="*/ 147 w 152"/>
                <a:gd name="T8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2" h="154">
                  <a:moveTo>
                    <a:pt x="97" y="144"/>
                  </a:moveTo>
                  <a:cubicBezTo>
                    <a:pt x="142" y="144"/>
                    <a:pt x="142" y="144"/>
                    <a:pt x="142" y="144"/>
                  </a:cubicBezTo>
                  <a:cubicBezTo>
                    <a:pt x="142" y="99"/>
                    <a:pt x="142" y="99"/>
                    <a:pt x="142" y="99"/>
                  </a:cubicBezTo>
                  <a:cubicBezTo>
                    <a:pt x="97" y="99"/>
                    <a:pt x="97" y="99"/>
                    <a:pt x="97" y="99"/>
                  </a:cubicBezTo>
                  <a:cubicBezTo>
                    <a:pt x="97" y="144"/>
                    <a:pt x="97" y="144"/>
                    <a:pt x="97" y="144"/>
                  </a:cubicBezTo>
                  <a:close/>
                  <a:moveTo>
                    <a:pt x="5" y="28"/>
                  </a:moveTo>
                  <a:cubicBezTo>
                    <a:pt x="2" y="25"/>
                    <a:pt x="2" y="20"/>
                    <a:pt x="5" y="17"/>
                  </a:cubicBezTo>
                  <a:cubicBezTo>
                    <a:pt x="9" y="14"/>
                    <a:pt x="14" y="15"/>
                    <a:pt x="16" y="18"/>
                  </a:cubicBezTo>
                  <a:cubicBezTo>
                    <a:pt x="31" y="34"/>
                    <a:pt x="31" y="34"/>
                    <a:pt x="31" y="34"/>
                  </a:cubicBezTo>
                  <a:cubicBezTo>
                    <a:pt x="57" y="4"/>
                    <a:pt x="57" y="4"/>
                    <a:pt x="57" y="4"/>
                  </a:cubicBezTo>
                  <a:cubicBezTo>
                    <a:pt x="60" y="1"/>
                    <a:pt x="65" y="0"/>
                    <a:pt x="69" y="3"/>
                  </a:cubicBezTo>
                  <a:cubicBezTo>
                    <a:pt x="72" y="6"/>
                    <a:pt x="72" y="11"/>
                    <a:pt x="69" y="14"/>
                  </a:cubicBezTo>
                  <a:cubicBezTo>
                    <a:pt x="36" y="51"/>
                    <a:pt x="36" y="51"/>
                    <a:pt x="36" y="51"/>
                  </a:cubicBezTo>
                  <a:cubicBezTo>
                    <a:pt x="33" y="54"/>
                    <a:pt x="28" y="54"/>
                    <a:pt x="25" y="51"/>
                  </a:cubicBezTo>
                  <a:cubicBezTo>
                    <a:pt x="5" y="28"/>
                    <a:pt x="5" y="28"/>
                    <a:pt x="5" y="28"/>
                  </a:cubicBezTo>
                  <a:close/>
                  <a:moveTo>
                    <a:pt x="97" y="13"/>
                  </a:moveTo>
                  <a:cubicBezTo>
                    <a:pt x="97" y="57"/>
                    <a:pt x="97" y="57"/>
                    <a:pt x="97" y="57"/>
                  </a:cubicBezTo>
                  <a:cubicBezTo>
                    <a:pt x="142" y="57"/>
                    <a:pt x="142" y="57"/>
                    <a:pt x="142" y="57"/>
                  </a:cubicBezTo>
                  <a:cubicBezTo>
                    <a:pt x="142" y="13"/>
                    <a:pt x="142" y="13"/>
                    <a:pt x="142" y="13"/>
                  </a:cubicBezTo>
                  <a:cubicBezTo>
                    <a:pt x="97" y="13"/>
                    <a:pt x="97" y="13"/>
                    <a:pt x="97" y="13"/>
                  </a:cubicBezTo>
                  <a:close/>
                  <a:moveTo>
                    <a:pt x="87" y="62"/>
                  </a:moveTo>
                  <a:cubicBezTo>
                    <a:pt x="87" y="2"/>
                    <a:pt x="87" y="2"/>
                    <a:pt x="87" y="2"/>
                  </a:cubicBezTo>
                  <a:cubicBezTo>
                    <a:pt x="109" y="2"/>
                    <a:pt x="130" y="2"/>
                    <a:pt x="152" y="2"/>
                  </a:cubicBezTo>
                  <a:cubicBezTo>
                    <a:pt x="152" y="68"/>
                    <a:pt x="152" y="68"/>
                    <a:pt x="152" y="68"/>
                  </a:cubicBezTo>
                  <a:cubicBezTo>
                    <a:pt x="87" y="68"/>
                    <a:pt x="87" y="68"/>
                    <a:pt x="87" y="68"/>
                  </a:cubicBezTo>
                  <a:cubicBezTo>
                    <a:pt x="87" y="62"/>
                    <a:pt x="87" y="62"/>
                    <a:pt x="87" y="62"/>
                  </a:cubicBezTo>
                  <a:close/>
                  <a:moveTo>
                    <a:pt x="11" y="144"/>
                  </a:moveTo>
                  <a:cubicBezTo>
                    <a:pt x="55" y="144"/>
                    <a:pt x="55" y="144"/>
                    <a:pt x="55" y="144"/>
                  </a:cubicBezTo>
                  <a:cubicBezTo>
                    <a:pt x="55" y="99"/>
                    <a:pt x="55" y="99"/>
                    <a:pt x="55" y="99"/>
                  </a:cubicBezTo>
                  <a:cubicBezTo>
                    <a:pt x="11" y="99"/>
                    <a:pt x="11" y="99"/>
                    <a:pt x="11" y="99"/>
                  </a:cubicBezTo>
                  <a:cubicBezTo>
                    <a:pt x="11" y="144"/>
                    <a:pt x="11" y="144"/>
                    <a:pt x="11" y="144"/>
                  </a:cubicBezTo>
                  <a:close/>
                  <a:moveTo>
                    <a:pt x="61" y="154"/>
                  </a:moveTo>
                  <a:cubicBezTo>
                    <a:pt x="41" y="154"/>
                    <a:pt x="20" y="154"/>
                    <a:pt x="0" y="154"/>
                  </a:cubicBezTo>
                  <a:cubicBezTo>
                    <a:pt x="0" y="89"/>
                    <a:pt x="0" y="89"/>
                    <a:pt x="0" y="89"/>
                  </a:cubicBezTo>
                  <a:cubicBezTo>
                    <a:pt x="22" y="89"/>
                    <a:pt x="44" y="89"/>
                    <a:pt x="66" y="89"/>
                  </a:cubicBezTo>
                  <a:cubicBezTo>
                    <a:pt x="66" y="154"/>
                    <a:pt x="66" y="154"/>
                    <a:pt x="66" y="154"/>
                  </a:cubicBezTo>
                  <a:cubicBezTo>
                    <a:pt x="61" y="154"/>
                    <a:pt x="61" y="154"/>
                    <a:pt x="61" y="154"/>
                  </a:cubicBezTo>
                  <a:close/>
                  <a:moveTo>
                    <a:pt x="147" y="154"/>
                  </a:moveTo>
                  <a:cubicBezTo>
                    <a:pt x="87" y="154"/>
                    <a:pt x="87" y="154"/>
                    <a:pt x="87" y="154"/>
                  </a:cubicBezTo>
                  <a:cubicBezTo>
                    <a:pt x="87" y="89"/>
                    <a:pt x="87" y="89"/>
                    <a:pt x="87" y="89"/>
                  </a:cubicBezTo>
                  <a:cubicBezTo>
                    <a:pt x="109" y="89"/>
                    <a:pt x="130" y="89"/>
                    <a:pt x="152" y="89"/>
                  </a:cubicBezTo>
                  <a:cubicBezTo>
                    <a:pt x="152" y="154"/>
                    <a:pt x="152" y="154"/>
                    <a:pt x="152" y="154"/>
                  </a:cubicBezTo>
                  <a:cubicBezTo>
                    <a:pt x="147" y="154"/>
                    <a:pt x="147" y="154"/>
                    <a:pt x="147" y="1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37"/>
            <p:cNvSpPr>
              <a:spLocks noEditPoints="1"/>
            </p:cNvSpPr>
            <p:nvPr/>
          </p:nvSpPr>
          <p:spPr bwMode="auto">
            <a:xfrm>
              <a:off x="764" y="3082"/>
              <a:ext cx="612" cy="789"/>
            </a:xfrm>
            <a:custGeom>
              <a:avLst/>
              <a:gdLst>
                <a:gd name="T0" fmla="*/ 26 w 259"/>
                <a:gd name="T1" fmla="*/ 36 h 334"/>
                <a:gd name="T2" fmla="*/ 60 w 259"/>
                <a:gd name="T3" fmla="*/ 36 h 334"/>
                <a:gd name="T4" fmla="*/ 60 w 259"/>
                <a:gd name="T5" fmla="*/ 52 h 334"/>
                <a:gd name="T6" fmla="*/ 26 w 259"/>
                <a:gd name="T7" fmla="*/ 52 h 334"/>
                <a:gd name="T8" fmla="*/ 19 w 259"/>
                <a:gd name="T9" fmla="*/ 55 h 334"/>
                <a:gd name="T10" fmla="*/ 16 w 259"/>
                <a:gd name="T11" fmla="*/ 62 h 334"/>
                <a:gd name="T12" fmla="*/ 16 w 259"/>
                <a:gd name="T13" fmla="*/ 308 h 334"/>
                <a:gd name="T14" fmla="*/ 26 w 259"/>
                <a:gd name="T15" fmla="*/ 318 h 334"/>
                <a:gd name="T16" fmla="*/ 233 w 259"/>
                <a:gd name="T17" fmla="*/ 318 h 334"/>
                <a:gd name="T18" fmla="*/ 243 w 259"/>
                <a:gd name="T19" fmla="*/ 308 h 334"/>
                <a:gd name="T20" fmla="*/ 243 w 259"/>
                <a:gd name="T21" fmla="*/ 62 h 334"/>
                <a:gd name="T22" fmla="*/ 240 w 259"/>
                <a:gd name="T23" fmla="*/ 55 h 334"/>
                <a:gd name="T24" fmla="*/ 233 w 259"/>
                <a:gd name="T25" fmla="*/ 52 h 334"/>
                <a:gd name="T26" fmla="*/ 199 w 259"/>
                <a:gd name="T27" fmla="*/ 52 h 334"/>
                <a:gd name="T28" fmla="*/ 199 w 259"/>
                <a:gd name="T29" fmla="*/ 36 h 334"/>
                <a:gd name="T30" fmla="*/ 233 w 259"/>
                <a:gd name="T31" fmla="*/ 36 h 334"/>
                <a:gd name="T32" fmla="*/ 251 w 259"/>
                <a:gd name="T33" fmla="*/ 44 h 334"/>
                <a:gd name="T34" fmla="*/ 259 w 259"/>
                <a:gd name="T35" fmla="*/ 62 h 334"/>
                <a:gd name="T36" fmla="*/ 259 w 259"/>
                <a:gd name="T37" fmla="*/ 308 h 334"/>
                <a:gd name="T38" fmla="*/ 233 w 259"/>
                <a:gd name="T39" fmla="*/ 334 h 334"/>
                <a:gd name="T40" fmla="*/ 26 w 259"/>
                <a:gd name="T41" fmla="*/ 334 h 334"/>
                <a:gd name="T42" fmla="*/ 0 w 259"/>
                <a:gd name="T43" fmla="*/ 308 h 334"/>
                <a:gd name="T44" fmla="*/ 0 w 259"/>
                <a:gd name="T45" fmla="*/ 62 h 334"/>
                <a:gd name="T46" fmla="*/ 7 w 259"/>
                <a:gd name="T47" fmla="*/ 44 h 334"/>
                <a:gd name="T48" fmla="*/ 26 w 259"/>
                <a:gd name="T49" fmla="*/ 36 h 334"/>
                <a:gd name="T50" fmla="*/ 129 w 259"/>
                <a:gd name="T51" fmla="*/ 0 h 334"/>
                <a:gd name="T52" fmla="*/ 149 w 259"/>
                <a:gd name="T53" fmla="*/ 5 h 334"/>
                <a:gd name="T54" fmla="*/ 157 w 259"/>
                <a:gd name="T55" fmla="*/ 25 h 334"/>
                <a:gd name="T56" fmla="*/ 157 w 259"/>
                <a:gd name="T57" fmla="*/ 25 h 334"/>
                <a:gd name="T58" fmla="*/ 188 w 259"/>
                <a:gd name="T59" fmla="*/ 25 h 334"/>
                <a:gd name="T60" fmla="*/ 188 w 259"/>
                <a:gd name="T61" fmla="*/ 64 h 334"/>
                <a:gd name="T62" fmla="*/ 71 w 259"/>
                <a:gd name="T63" fmla="*/ 64 h 334"/>
                <a:gd name="T64" fmla="*/ 71 w 259"/>
                <a:gd name="T65" fmla="*/ 25 h 334"/>
                <a:gd name="T66" fmla="*/ 102 w 259"/>
                <a:gd name="T67" fmla="*/ 25 h 334"/>
                <a:gd name="T68" fmla="*/ 102 w 259"/>
                <a:gd name="T69" fmla="*/ 25 h 334"/>
                <a:gd name="T70" fmla="*/ 110 w 259"/>
                <a:gd name="T71" fmla="*/ 5 h 334"/>
                <a:gd name="T72" fmla="*/ 129 w 259"/>
                <a:gd name="T73" fmla="*/ 0 h 334"/>
                <a:gd name="T74" fmla="*/ 138 w 259"/>
                <a:gd name="T75" fmla="*/ 16 h 334"/>
                <a:gd name="T76" fmla="*/ 129 w 259"/>
                <a:gd name="T77" fmla="*/ 13 h 334"/>
                <a:gd name="T78" fmla="*/ 121 w 259"/>
                <a:gd name="T79" fmla="*/ 16 h 334"/>
                <a:gd name="T80" fmla="*/ 118 w 259"/>
                <a:gd name="T81" fmla="*/ 25 h 334"/>
                <a:gd name="T82" fmla="*/ 121 w 259"/>
                <a:gd name="T83" fmla="*/ 33 h 334"/>
                <a:gd name="T84" fmla="*/ 129 w 259"/>
                <a:gd name="T85" fmla="*/ 36 h 334"/>
                <a:gd name="T86" fmla="*/ 130 w 259"/>
                <a:gd name="T87" fmla="*/ 36 h 334"/>
                <a:gd name="T88" fmla="*/ 138 w 259"/>
                <a:gd name="T89" fmla="*/ 33 h 334"/>
                <a:gd name="T90" fmla="*/ 141 w 259"/>
                <a:gd name="T91" fmla="*/ 25 h 334"/>
                <a:gd name="T92" fmla="*/ 138 w 259"/>
                <a:gd name="T93" fmla="*/ 16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9" h="334">
                  <a:moveTo>
                    <a:pt x="26" y="36"/>
                  </a:moveTo>
                  <a:cubicBezTo>
                    <a:pt x="60" y="36"/>
                    <a:pt x="60" y="36"/>
                    <a:pt x="60" y="36"/>
                  </a:cubicBezTo>
                  <a:cubicBezTo>
                    <a:pt x="60" y="52"/>
                    <a:pt x="60" y="52"/>
                    <a:pt x="60" y="52"/>
                  </a:cubicBezTo>
                  <a:cubicBezTo>
                    <a:pt x="26" y="52"/>
                    <a:pt x="26" y="52"/>
                    <a:pt x="26" y="52"/>
                  </a:cubicBezTo>
                  <a:cubicBezTo>
                    <a:pt x="23" y="52"/>
                    <a:pt x="21" y="53"/>
                    <a:pt x="19" y="55"/>
                  </a:cubicBezTo>
                  <a:cubicBezTo>
                    <a:pt x="17" y="57"/>
                    <a:pt x="16" y="59"/>
                    <a:pt x="16" y="62"/>
                  </a:cubicBezTo>
                  <a:cubicBezTo>
                    <a:pt x="16" y="308"/>
                    <a:pt x="16" y="308"/>
                    <a:pt x="16" y="308"/>
                  </a:cubicBezTo>
                  <a:cubicBezTo>
                    <a:pt x="16" y="314"/>
                    <a:pt x="20" y="318"/>
                    <a:pt x="26" y="318"/>
                  </a:cubicBezTo>
                  <a:cubicBezTo>
                    <a:pt x="233" y="318"/>
                    <a:pt x="233" y="318"/>
                    <a:pt x="233" y="318"/>
                  </a:cubicBezTo>
                  <a:cubicBezTo>
                    <a:pt x="239" y="318"/>
                    <a:pt x="243" y="314"/>
                    <a:pt x="243" y="308"/>
                  </a:cubicBezTo>
                  <a:cubicBezTo>
                    <a:pt x="243" y="62"/>
                    <a:pt x="243" y="62"/>
                    <a:pt x="243" y="62"/>
                  </a:cubicBezTo>
                  <a:cubicBezTo>
                    <a:pt x="243" y="59"/>
                    <a:pt x="242" y="57"/>
                    <a:pt x="240" y="55"/>
                  </a:cubicBezTo>
                  <a:cubicBezTo>
                    <a:pt x="238" y="53"/>
                    <a:pt x="236" y="52"/>
                    <a:pt x="233" y="52"/>
                  </a:cubicBezTo>
                  <a:cubicBezTo>
                    <a:pt x="199" y="52"/>
                    <a:pt x="199" y="52"/>
                    <a:pt x="199" y="52"/>
                  </a:cubicBezTo>
                  <a:cubicBezTo>
                    <a:pt x="199" y="36"/>
                    <a:pt x="199" y="36"/>
                    <a:pt x="199" y="36"/>
                  </a:cubicBezTo>
                  <a:cubicBezTo>
                    <a:pt x="233" y="36"/>
                    <a:pt x="233" y="36"/>
                    <a:pt x="233" y="36"/>
                  </a:cubicBezTo>
                  <a:cubicBezTo>
                    <a:pt x="240" y="36"/>
                    <a:pt x="246" y="39"/>
                    <a:pt x="251" y="44"/>
                  </a:cubicBezTo>
                  <a:cubicBezTo>
                    <a:pt x="256" y="49"/>
                    <a:pt x="259" y="55"/>
                    <a:pt x="259" y="62"/>
                  </a:cubicBezTo>
                  <a:cubicBezTo>
                    <a:pt x="259" y="308"/>
                    <a:pt x="259" y="308"/>
                    <a:pt x="259" y="308"/>
                  </a:cubicBezTo>
                  <a:cubicBezTo>
                    <a:pt x="259" y="322"/>
                    <a:pt x="247" y="334"/>
                    <a:pt x="233" y="334"/>
                  </a:cubicBezTo>
                  <a:cubicBezTo>
                    <a:pt x="26" y="334"/>
                    <a:pt x="26" y="334"/>
                    <a:pt x="26" y="334"/>
                  </a:cubicBezTo>
                  <a:cubicBezTo>
                    <a:pt x="12" y="334"/>
                    <a:pt x="0" y="322"/>
                    <a:pt x="0" y="308"/>
                  </a:cubicBezTo>
                  <a:cubicBezTo>
                    <a:pt x="0" y="62"/>
                    <a:pt x="0" y="62"/>
                    <a:pt x="0" y="62"/>
                  </a:cubicBezTo>
                  <a:cubicBezTo>
                    <a:pt x="0" y="55"/>
                    <a:pt x="3" y="49"/>
                    <a:pt x="7" y="44"/>
                  </a:cubicBezTo>
                  <a:cubicBezTo>
                    <a:pt x="12" y="39"/>
                    <a:pt x="19" y="36"/>
                    <a:pt x="26" y="36"/>
                  </a:cubicBezTo>
                  <a:close/>
                  <a:moveTo>
                    <a:pt x="129" y="0"/>
                  </a:moveTo>
                  <a:cubicBezTo>
                    <a:pt x="137" y="0"/>
                    <a:pt x="144" y="0"/>
                    <a:pt x="149" y="5"/>
                  </a:cubicBezTo>
                  <a:cubicBezTo>
                    <a:pt x="154" y="10"/>
                    <a:pt x="157" y="17"/>
                    <a:pt x="157" y="25"/>
                  </a:cubicBezTo>
                  <a:cubicBezTo>
                    <a:pt x="157" y="25"/>
                    <a:pt x="157" y="25"/>
                    <a:pt x="157" y="25"/>
                  </a:cubicBezTo>
                  <a:cubicBezTo>
                    <a:pt x="188" y="25"/>
                    <a:pt x="188" y="25"/>
                    <a:pt x="188" y="25"/>
                  </a:cubicBezTo>
                  <a:cubicBezTo>
                    <a:pt x="188" y="64"/>
                    <a:pt x="188" y="64"/>
                    <a:pt x="188" y="64"/>
                  </a:cubicBezTo>
                  <a:cubicBezTo>
                    <a:pt x="71" y="64"/>
                    <a:pt x="71" y="64"/>
                    <a:pt x="71" y="64"/>
                  </a:cubicBezTo>
                  <a:cubicBezTo>
                    <a:pt x="71" y="25"/>
                    <a:pt x="71" y="25"/>
                    <a:pt x="71" y="25"/>
                  </a:cubicBezTo>
                  <a:cubicBezTo>
                    <a:pt x="102" y="25"/>
                    <a:pt x="102" y="25"/>
                    <a:pt x="102" y="25"/>
                  </a:cubicBezTo>
                  <a:cubicBezTo>
                    <a:pt x="102" y="25"/>
                    <a:pt x="102" y="25"/>
                    <a:pt x="102" y="25"/>
                  </a:cubicBezTo>
                  <a:cubicBezTo>
                    <a:pt x="102" y="17"/>
                    <a:pt x="105" y="10"/>
                    <a:pt x="110" y="5"/>
                  </a:cubicBezTo>
                  <a:cubicBezTo>
                    <a:pt x="115" y="0"/>
                    <a:pt x="122" y="0"/>
                    <a:pt x="129" y="0"/>
                  </a:cubicBezTo>
                  <a:close/>
                  <a:moveTo>
                    <a:pt x="138" y="16"/>
                  </a:moveTo>
                  <a:cubicBezTo>
                    <a:pt x="136" y="14"/>
                    <a:pt x="133" y="13"/>
                    <a:pt x="129" y="13"/>
                  </a:cubicBezTo>
                  <a:cubicBezTo>
                    <a:pt x="126" y="13"/>
                    <a:pt x="123" y="14"/>
                    <a:pt x="121" y="16"/>
                  </a:cubicBezTo>
                  <a:cubicBezTo>
                    <a:pt x="119" y="18"/>
                    <a:pt x="118" y="21"/>
                    <a:pt x="118" y="25"/>
                  </a:cubicBezTo>
                  <a:cubicBezTo>
                    <a:pt x="118" y="28"/>
                    <a:pt x="119" y="31"/>
                    <a:pt x="121" y="33"/>
                  </a:cubicBezTo>
                  <a:cubicBezTo>
                    <a:pt x="123" y="35"/>
                    <a:pt x="126" y="36"/>
                    <a:pt x="129" y="36"/>
                  </a:cubicBezTo>
                  <a:cubicBezTo>
                    <a:pt x="130" y="36"/>
                    <a:pt x="130" y="36"/>
                    <a:pt x="130" y="36"/>
                  </a:cubicBezTo>
                  <a:cubicBezTo>
                    <a:pt x="133" y="36"/>
                    <a:pt x="136" y="35"/>
                    <a:pt x="138" y="33"/>
                  </a:cubicBezTo>
                  <a:cubicBezTo>
                    <a:pt x="140" y="31"/>
                    <a:pt x="141" y="28"/>
                    <a:pt x="141" y="25"/>
                  </a:cubicBezTo>
                  <a:cubicBezTo>
                    <a:pt x="141" y="21"/>
                    <a:pt x="140" y="18"/>
                    <a:pt x="13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0" name="Rectangle 3_1"/>
          <p:cNvSpPr/>
          <p:nvPr/>
        </p:nvSpPr>
        <p:spPr>
          <a:xfrm rot="5400000">
            <a:off x="6265375" y="842820"/>
            <a:ext cx="34748" cy="5913459"/>
          </a:xfrm>
          <a:prstGeom prst="round2SameRect">
            <a:avLst>
              <a:gd name="adj1" fmla="val 0"/>
              <a:gd name="adj2" fmla="val 0"/>
            </a:avLst>
          </a:prstGeom>
          <a:solidFill>
            <a:srgbClr val="E480A4">
              <a:alpha val="2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41" name="TextBox 52"/>
          <p:cNvSpPr txBox="1"/>
          <p:nvPr/>
        </p:nvSpPr>
        <p:spPr>
          <a:xfrm>
            <a:off x="2515541" y="4204940"/>
            <a:ext cx="1620957" cy="338554"/>
          </a:xfrm>
          <a:prstGeom prst="rect">
            <a:avLst/>
          </a:prstGeom>
          <a:noFill/>
        </p:spPr>
        <p:txBody>
          <a:bodyPr wrap="none" rtlCol="0">
            <a:spAutoFit/>
          </a:bodyPr>
          <a:lstStyle/>
          <a:p>
            <a:pPr algn="ctr"/>
            <a:r>
              <a:rPr lang="zh-CN" altLang="en-US" sz="1600" dirty="0">
                <a:solidFill>
                  <a:schemeClr val="bg1">
                    <a:lumMod val="75000"/>
                  </a:schemeClr>
                </a:solidFill>
                <a:cs typeface="+mn-ea"/>
                <a:sym typeface="+mn-lt"/>
              </a:rPr>
              <a:t>诊断与风险评估</a:t>
            </a:r>
          </a:p>
        </p:txBody>
      </p:sp>
      <p:sp>
        <p:nvSpPr>
          <p:cNvPr id="43" name="椭圆 42"/>
          <p:cNvSpPr/>
          <p:nvPr/>
        </p:nvSpPr>
        <p:spPr>
          <a:xfrm>
            <a:off x="3254822" y="3736293"/>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cxnSp>
        <p:nvCxnSpPr>
          <p:cNvPr id="45" name="直接箭头连接符 44"/>
          <p:cNvCxnSpPr>
            <a:stCxn id="48" idx="4"/>
          </p:cNvCxnSpPr>
          <p:nvPr/>
        </p:nvCxnSpPr>
        <p:spPr>
          <a:xfrm>
            <a:off x="3316941" y="3403035"/>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48" name="椭圆 47"/>
          <p:cNvSpPr/>
          <p:nvPr/>
        </p:nvSpPr>
        <p:spPr>
          <a:xfrm>
            <a:off x="2701732" y="2184798"/>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53" name="直接箭头连接符 52"/>
          <p:cNvCxnSpPr>
            <a:stCxn id="56" idx="4"/>
          </p:cNvCxnSpPr>
          <p:nvPr/>
        </p:nvCxnSpPr>
        <p:spPr>
          <a:xfrm>
            <a:off x="9228762" y="3403035"/>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54" name="文本框 1"/>
          <p:cNvSpPr txBox="1"/>
          <p:nvPr/>
        </p:nvSpPr>
        <p:spPr>
          <a:xfrm>
            <a:off x="8471651" y="4127996"/>
            <a:ext cx="1525015" cy="492443"/>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特殊人群与长期管理</a:t>
            </a:r>
          </a:p>
        </p:txBody>
      </p:sp>
      <p:sp>
        <p:nvSpPr>
          <p:cNvPr id="55" name="椭圆 54"/>
          <p:cNvSpPr/>
          <p:nvPr/>
        </p:nvSpPr>
        <p:spPr>
          <a:xfrm>
            <a:off x="9169074" y="3736293"/>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56" name="椭圆 55"/>
          <p:cNvSpPr/>
          <p:nvPr/>
        </p:nvSpPr>
        <p:spPr>
          <a:xfrm>
            <a:off x="8613552" y="2184798"/>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sp>
        <p:nvSpPr>
          <p:cNvPr id="57" name="iconfont-11624-5524664"/>
          <p:cNvSpPr>
            <a:spLocks noChangeAspect="1"/>
          </p:cNvSpPr>
          <p:nvPr/>
        </p:nvSpPr>
        <p:spPr bwMode="auto">
          <a:xfrm>
            <a:off x="8900703" y="2488930"/>
            <a:ext cx="720080" cy="593759"/>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chemeClr val="bg1">
              <a:lumMod val="75000"/>
            </a:schemeClr>
          </a:solidFill>
          <a:ln>
            <a:noFill/>
          </a:ln>
        </p:spPr>
      </p:sp>
      <p:grpSp>
        <p:nvGrpSpPr>
          <p:cNvPr id="29" name="Group 141"/>
          <p:cNvGrpSpPr>
            <a:grpSpLocks noChangeAspect="1"/>
          </p:cNvGrpSpPr>
          <p:nvPr/>
        </p:nvGrpSpPr>
        <p:grpSpPr bwMode="auto">
          <a:xfrm>
            <a:off x="6942310" y="2473829"/>
            <a:ext cx="669199" cy="568251"/>
            <a:chOff x="-264" y="1985"/>
            <a:chExt cx="590" cy="501"/>
          </a:xfrm>
          <a:solidFill>
            <a:srgbClr val="830051"/>
          </a:solidFill>
        </p:grpSpPr>
        <p:sp>
          <p:nvSpPr>
            <p:cNvPr id="30" name="Freeform 142"/>
            <p:cNvSpPr>
              <a:spLocks noEditPoints="1"/>
            </p:cNvSpPr>
            <p:nvPr/>
          </p:nvSpPr>
          <p:spPr bwMode="auto">
            <a:xfrm>
              <a:off x="-161" y="2283"/>
              <a:ext cx="317" cy="127"/>
            </a:xfrm>
            <a:custGeom>
              <a:avLst/>
              <a:gdLst>
                <a:gd name="T0" fmla="*/ 0 w 317"/>
                <a:gd name="T1" fmla="*/ 127 h 127"/>
                <a:gd name="T2" fmla="*/ 317 w 317"/>
                <a:gd name="T3" fmla="*/ 0 h 127"/>
                <a:gd name="T4" fmla="*/ 55 w 317"/>
                <a:gd name="T5" fmla="*/ 90 h 127"/>
                <a:gd name="T6" fmla="*/ 33 w 317"/>
                <a:gd name="T7" fmla="*/ 68 h 127"/>
                <a:gd name="T8" fmla="*/ 55 w 317"/>
                <a:gd name="T9" fmla="*/ 90 h 127"/>
                <a:gd name="T10" fmla="*/ 33 w 317"/>
                <a:gd name="T11" fmla="*/ 49 h 127"/>
                <a:gd name="T12" fmla="*/ 55 w 317"/>
                <a:gd name="T13" fmla="*/ 28 h 127"/>
                <a:gd name="T14" fmla="*/ 92 w 317"/>
                <a:gd name="T15" fmla="*/ 90 h 127"/>
                <a:gd name="T16" fmla="*/ 71 w 317"/>
                <a:gd name="T17" fmla="*/ 68 h 127"/>
                <a:gd name="T18" fmla="*/ 92 w 317"/>
                <a:gd name="T19" fmla="*/ 90 h 127"/>
                <a:gd name="T20" fmla="*/ 71 w 317"/>
                <a:gd name="T21" fmla="*/ 49 h 127"/>
                <a:gd name="T22" fmla="*/ 92 w 317"/>
                <a:gd name="T23" fmla="*/ 28 h 127"/>
                <a:gd name="T24" fmla="*/ 133 w 317"/>
                <a:gd name="T25" fmla="*/ 90 h 127"/>
                <a:gd name="T26" fmla="*/ 111 w 317"/>
                <a:gd name="T27" fmla="*/ 68 h 127"/>
                <a:gd name="T28" fmla="*/ 133 w 317"/>
                <a:gd name="T29" fmla="*/ 90 h 127"/>
                <a:gd name="T30" fmla="*/ 111 w 317"/>
                <a:gd name="T31" fmla="*/ 49 h 127"/>
                <a:gd name="T32" fmla="*/ 133 w 317"/>
                <a:gd name="T33" fmla="*/ 28 h 127"/>
                <a:gd name="T34" fmla="*/ 170 w 317"/>
                <a:gd name="T35" fmla="*/ 90 h 127"/>
                <a:gd name="T36" fmla="*/ 152 w 317"/>
                <a:gd name="T37" fmla="*/ 68 h 127"/>
                <a:gd name="T38" fmla="*/ 170 w 317"/>
                <a:gd name="T39" fmla="*/ 90 h 127"/>
                <a:gd name="T40" fmla="*/ 152 w 317"/>
                <a:gd name="T41" fmla="*/ 49 h 127"/>
                <a:gd name="T42" fmla="*/ 170 w 317"/>
                <a:gd name="T43" fmla="*/ 28 h 127"/>
                <a:gd name="T44" fmla="*/ 211 w 317"/>
                <a:gd name="T45" fmla="*/ 90 h 127"/>
                <a:gd name="T46" fmla="*/ 189 w 317"/>
                <a:gd name="T47" fmla="*/ 68 h 127"/>
                <a:gd name="T48" fmla="*/ 211 w 317"/>
                <a:gd name="T49" fmla="*/ 90 h 127"/>
                <a:gd name="T50" fmla="*/ 189 w 317"/>
                <a:gd name="T51" fmla="*/ 49 h 127"/>
                <a:gd name="T52" fmla="*/ 211 w 317"/>
                <a:gd name="T53" fmla="*/ 28 h 127"/>
                <a:gd name="T54" fmla="*/ 251 w 317"/>
                <a:gd name="T55" fmla="*/ 90 h 127"/>
                <a:gd name="T56" fmla="*/ 229 w 317"/>
                <a:gd name="T57" fmla="*/ 68 h 127"/>
                <a:gd name="T58" fmla="*/ 251 w 317"/>
                <a:gd name="T59" fmla="*/ 90 h 127"/>
                <a:gd name="T60" fmla="*/ 229 w 317"/>
                <a:gd name="T61" fmla="*/ 49 h 127"/>
                <a:gd name="T62" fmla="*/ 251 w 317"/>
                <a:gd name="T63" fmla="*/ 28 h 127"/>
                <a:gd name="T64" fmla="*/ 288 w 317"/>
                <a:gd name="T65" fmla="*/ 90 h 127"/>
                <a:gd name="T66" fmla="*/ 267 w 317"/>
                <a:gd name="T67" fmla="*/ 68 h 127"/>
                <a:gd name="T68" fmla="*/ 288 w 317"/>
                <a:gd name="T69" fmla="*/ 90 h 127"/>
                <a:gd name="T70" fmla="*/ 267 w 317"/>
                <a:gd name="T71" fmla="*/ 49 h 127"/>
                <a:gd name="T72" fmla="*/ 288 w 317"/>
                <a:gd name="T73" fmla="*/ 28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7" h="127">
                  <a:moveTo>
                    <a:pt x="0" y="0"/>
                  </a:moveTo>
                  <a:lnTo>
                    <a:pt x="0" y="127"/>
                  </a:lnTo>
                  <a:lnTo>
                    <a:pt x="317" y="127"/>
                  </a:lnTo>
                  <a:lnTo>
                    <a:pt x="317" y="0"/>
                  </a:lnTo>
                  <a:lnTo>
                    <a:pt x="0" y="0"/>
                  </a:lnTo>
                  <a:close/>
                  <a:moveTo>
                    <a:pt x="55" y="90"/>
                  </a:moveTo>
                  <a:lnTo>
                    <a:pt x="33" y="90"/>
                  </a:lnTo>
                  <a:lnTo>
                    <a:pt x="33" y="68"/>
                  </a:lnTo>
                  <a:lnTo>
                    <a:pt x="55" y="68"/>
                  </a:lnTo>
                  <a:lnTo>
                    <a:pt x="55" y="90"/>
                  </a:lnTo>
                  <a:close/>
                  <a:moveTo>
                    <a:pt x="55" y="49"/>
                  </a:moveTo>
                  <a:lnTo>
                    <a:pt x="33" y="49"/>
                  </a:lnTo>
                  <a:lnTo>
                    <a:pt x="33" y="28"/>
                  </a:lnTo>
                  <a:lnTo>
                    <a:pt x="55" y="28"/>
                  </a:lnTo>
                  <a:lnTo>
                    <a:pt x="55" y="49"/>
                  </a:lnTo>
                  <a:close/>
                  <a:moveTo>
                    <a:pt x="92" y="90"/>
                  </a:moveTo>
                  <a:lnTo>
                    <a:pt x="71" y="90"/>
                  </a:lnTo>
                  <a:lnTo>
                    <a:pt x="71" y="68"/>
                  </a:lnTo>
                  <a:lnTo>
                    <a:pt x="92" y="68"/>
                  </a:lnTo>
                  <a:lnTo>
                    <a:pt x="92" y="90"/>
                  </a:lnTo>
                  <a:close/>
                  <a:moveTo>
                    <a:pt x="92" y="49"/>
                  </a:moveTo>
                  <a:lnTo>
                    <a:pt x="71" y="49"/>
                  </a:lnTo>
                  <a:lnTo>
                    <a:pt x="71" y="28"/>
                  </a:lnTo>
                  <a:lnTo>
                    <a:pt x="92" y="28"/>
                  </a:lnTo>
                  <a:lnTo>
                    <a:pt x="92" y="49"/>
                  </a:lnTo>
                  <a:close/>
                  <a:moveTo>
                    <a:pt x="133" y="90"/>
                  </a:moveTo>
                  <a:lnTo>
                    <a:pt x="111" y="90"/>
                  </a:lnTo>
                  <a:lnTo>
                    <a:pt x="111" y="68"/>
                  </a:lnTo>
                  <a:lnTo>
                    <a:pt x="133" y="68"/>
                  </a:lnTo>
                  <a:lnTo>
                    <a:pt x="133" y="90"/>
                  </a:lnTo>
                  <a:close/>
                  <a:moveTo>
                    <a:pt x="133" y="49"/>
                  </a:moveTo>
                  <a:lnTo>
                    <a:pt x="111" y="49"/>
                  </a:lnTo>
                  <a:lnTo>
                    <a:pt x="111" y="28"/>
                  </a:lnTo>
                  <a:lnTo>
                    <a:pt x="133" y="28"/>
                  </a:lnTo>
                  <a:lnTo>
                    <a:pt x="133" y="49"/>
                  </a:lnTo>
                  <a:close/>
                  <a:moveTo>
                    <a:pt x="170" y="90"/>
                  </a:moveTo>
                  <a:lnTo>
                    <a:pt x="152" y="90"/>
                  </a:lnTo>
                  <a:lnTo>
                    <a:pt x="152" y="68"/>
                  </a:lnTo>
                  <a:lnTo>
                    <a:pt x="170" y="68"/>
                  </a:lnTo>
                  <a:lnTo>
                    <a:pt x="170" y="90"/>
                  </a:lnTo>
                  <a:close/>
                  <a:moveTo>
                    <a:pt x="170" y="49"/>
                  </a:moveTo>
                  <a:lnTo>
                    <a:pt x="152" y="49"/>
                  </a:lnTo>
                  <a:lnTo>
                    <a:pt x="152" y="28"/>
                  </a:lnTo>
                  <a:lnTo>
                    <a:pt x="170" y="28"/>
                  </a:lnTo>
                  <a:lnTo>
                    <a:pt x="170" y="49"/>
                  </a:lnTo>
                  <a:close/>
                  <a:moveTo>
                    <a:pt x="211" y="90"/>
                  </a:moveTo>
                  <a:lnTo>
                    <a:pt x="189" y="90"/>
                  </a:lnTo>
                  <a:lnTo>
                    <a:pt x="189" y="68"/>
                  </a:lnTo>
                  <a:lnTo>
                    <a:pt x="211" y="68"/>
                  </a:lnTo>
                  <a:lnTo>
                    <a:pt x="211" y="90"/>
                  </a:lnTo>
                  <a:close/>
                  <a:moveTo>
                    <a:pt x="211" y="49"/>
                  </a:moveTo>
                  <a:lnTo>
                    <a:pt x="189" y="49"/>
                  </a:lnTo>
                  <a:lnTo>
                    <a:pt x="189" y="28"/>
                  </a:lnTo>
                  <a:lnTo>
                    <a:pt x="211" y="28"/>
                  </a:lnTo>
                  <a:lnTo>
                    <a:pt x="211" y="49"/>
                  </a:lnTo>
                  <a:close/>
                  <a:moveTo>
                    <a:pt x="251" y="90"/>
                  </a:moveTo>
                  <a:lnTo>
                    <a:pt x="229" y="90"/>
                  </a:lnTo>
                  <a:lnTo>
                    <a:pt x="229" y="68"/>
                  </a:lnTo>
                  <a:lnTo>
                    <a:pt x="251" y="68"/>
                  </a:lnTo>
                  <a:lnTo>
                    <a:pt x="251" y="90"/>
                  </a:lnTo>
                  <a:close/>
                  <a:moveTo>
                    <a:pt x="251" y="49"/>
                  </a:moveTo>
                  <a:lnTo>
                    <a:pt x="229" y="49"/>
                  </a:lnTo>
                  <a:lnTo>
                    <a:pt x="229" y="28"/>
                  </a:lnTo>
                  <a:lnTo>
                    <a:pt x="251" y="28"/>
                  </a:lnTo>
                  <a:lnTo>
                    <a:pt x="251" y="49"/>
                  </a:lnTo>
                  <a:close/>
                  <a:moveTo>
                    <a:pt x="288" y="90"/>
                  </a:moveTo>
                  <a:lnTo>
                    <a:pt x="267" y="90"/>
                  </a:lnTo>
                  <a:lnTo>
                    <a:pt x="267" y="68"/>
                  </a:lnTo>
                  <a:lnTo>
                    <a:pt x="288" y="68"/>
                  </a:lnTo>
                  <a:lnTo>
                    <a:pt x="288" y="90"/>
                  </a:lnTo>
                  <a:close/>
                  <a:moveTo>
                    <a:pt x="288" y="49"/>
                  </a:moveTo>
                  <a:lnTo>
                    <a:pt x="267" y="49"/>
                  </a:lnTo>
                  <a:lnTo>
                    <a:pt x="267" y="28"/>
                  </a:lnTo>
                  <a:lnTo>
                    <a:pt x="288" y="28"/>
                  </a:lnTo>
                  <a:lnTo>
                    <a:pt x="288" y="49"/>
                  </a:lnTo>
                  <a:close/>
                </a:path>
              </a:pathLst>
            </a:custGeom>
            <a:grpFill/>
            <a:ln w="9525">
              <a:solidFill>
                <a:srgbClr val="830051"/>
              </a:solidFill>
              <a:round/>
            </a:ln>
          </p:spPr>
          <p:txBody>
            <a:bodyPr vert="horz" wrap="square" lIns="91440" tIns="45720" rIns="91440" bIns="45720" numCol="1" anchor="t" anchorCtr="0" compatLnSpc="1"/>
            <a:lstStyle/>
            <a:p>
              <a:endParaRPr lang="zh-CN" altLang="en-US"/>
            </a:p>
          </p:txBody>
        </p:sp>
        <p:sp>
          <p:nvSpPr>
            <p:cNvPr id="31" name="Freeform 143"/>
            <p:cNvSpPr/>
            <p:nvPr/>
          </p:nvSpPr>
          <p:spPr bwMode="auto">
            <a:xfrm>
              <a:off x="47" y="2099"/>
              <a:ext cx="250" cy="118"/>
            </a:xfrm>
            <a:custGeom>
              <a:avLst/>
              <a:gdLst>
                <a:gd name="T0" fmla="*/ 206 w 250"/>
                <a:gd name="T1" fmla="*/ 59 h 118"/>
                <a:gd name="T2" fmla="*/ 196 w 250"/>
                <a:gd name="T3" fmla="*/ 75 h 118"/>
                <a:gd name="T4" fmla="*/ 182 w 250"/>
                <a:gd name="T5" fmla="*/ 0 h 118"/>
                <a:gd name="T6" fmla="*/ 156 w 250"/>
                <a:gd name="T7" fmla="*/ 59 h 118"/>
                <a:gd name="T8" fmla="*/ 95 w 250"/>
                <a:gd name="T9" fmla="*/ 59 h 118"/>
                <a:gd name="T10" fmla="*/ 83 w 250"/>
                <a:gd name="T11" fmla="*/ 75 h 118"/>
                <a:gd name="T12" fmla="*/ 69 w 250"/>
                <a:gd name="T13" fmla="*/ 0 h 118"/>
                <a:gd name="T14" fmla="*/ 43 w 250"/>
                <a:gd name="T15" fmla="*/ 59 h 118"/>
                <a:gd name="T16" fmla="*/ 0 w 250"/>
                <a:gd name="T17" fmla="*/ 59 h 118"/>
                <a:gd name="T18" fmla="*/ 0 w 250"/>
                <a:gd name="T19" fmla="*/ 73 h 118"/>
                <a:gd name="T20" fmla="*/ 52 w 250"/>
                <a:gd name="T21" fmla="*/ 73 h 118"/>
                <a:gd name="T22" fmla="*/ 64 w 250"/>
                <a:gd name="T23" fmla="*/ 47 h 118"/>
                <a:gd name="T24" fmla="*/ 78 w 250"/>
                <a:gd name="T25" fmla="*/ 118 h 118"/>
                <a:gd name="T26" fmla="*/ 102 w 250"/>
                <a:gd name="T27" fmla="*/ 73 h 118"/>
                <a:gd name="T28" fmla="*/ 165 w 250"/>
                <a:gd name="T29" fmla="*/ 73 h 118"/>
                <a:gd name="T30" fmla="*/ 175 w 250"/>
                <a:gd name="T31" fmla="*/ 47 h 118"/>
                <a:gd name="T32" fmla="*/ 189 w 250"/>
                <a:gd name="T33" fmla="*/ 118 h 118"/>
                <a:gd name="T34" fmla="*/ 215 w 250"/>
                <a:gd name="T35" fmla="*/ 73 h 118"/>
                <a:gd name="T36" fmla="*/ 250 w 250"/>
                <a:gd name="T37" fmla="*/ 73 h 118"/>
                <a:gd name="T38" fmla="*/ 250 w 250"/>
                <a:gd name="T39" fmla="*/ 59 h 118"/>
                <a:gd name="T40" fmla="*/ 206 w 250"/>
                <a:gd name="T41" fmla="*/ 5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0" h="118">
                  <a:moveTo>
                    <a:pt x="206" y="59"/>
                  </a:moveTo>
                  <a:lnTo>
                    <a:pt x="196" y="75"/>
                  </a:lnTo>
                  <a:lnTo>
                    <a:pt x="182" y="0"/>
                  </a:lnTo>
                  <a:lnTo>
                    <a:pt x="156" y="59"/>
                  </a:lnTo>
                  <a:lnTo>
                    <a:pt x="95" y="59"/>
                  </a:lnTo>
                  <a:lnTo>
                    <a:pt x="83" y="75"/>
                  </a:lnTo>
                  <a:lnTo>
                    <a:pt x="69" y="0"/>
                  </a:lnTo>
                  <a:lnTo>
                    <a:pt x="43" y="59"/>
                  </a:lnTo>
                  <a:lnTo>
                    <a:pt x="0" y="59"/>
                  </a:lnTo>
                  <a:lnTo>
                    <a:pt x="0" y="73"/>
                  </a:lnTo>
                  <a:lnTo>
                    <a:pt x="52" y="73"/>
                  </a:lnTo>
                  <a:lnTo>
                    <a:pt x="64" y="47"/>
                  </a:lnTo>
                  <a:lnTo>
                    <a:pt x="78" y="118"/>
                  </a:lnTo>
                  <a:lnTo>
                    <a:pt x="102" y="73"/>
                  </a:lnTo>
                  <a:lnTo>
                    <a:pt x="165" y="73"/>
                  </a:lnTo>
                  <a:lnTo>
                    <a:pt x="175" y="47"/>
                  </a:lnTo>
                  <a:lnTo>
                    <a:pt x="189" y="118"/>
                  </a:lnTo>
                  <a:lnTo>
                    <a:pt x="215" y="73"/>
                  </a:lnTo>
                  <a:lnTo>
                    <a:pt x="250" y="73"/>
                  </a:lnTo>
                  <a:lnTo>
                    <a:pt x="250" y="59"/>
                  </a:lnTo>
                  <a:lnTo>
                    <a:pt x="206" y="59"/>
                  </a:lnTo>
                  <a:close/>
                </a:path>
              </a:pathLst>
            </a:custGeom>
            <a:grpFill/>
            <a:ln w="9525">
              <a:solidFill>
                <a:srgbClr val="830051"/>
              </a:solidFill>
              <a:round/>
            </a:ln>
          </p:spPr>
          <p:txBody>
            <a:bodyPr vert="horz" wrap="square" lIns="91440" tIns="45720" rIns="91440" bIns="45720" numCol="1" anchor="t" anchorCtr="0" compatLnSpc="1"/>
            <a:lstStyle/>
            <a:p>
              <a:endParaRPr lang="zh-CN" altLang="en-US"/>
            </a:p>
          </p:txBody>
        </p:sp>
        <p:sp>
          <p:nvSpPr>
            <p:cNvPr id="58" name="Freeform 144"/>
            <p:cNvSpPr>
              <a:spLocks noEditPoints="1"/>
            </p:cNvSpPr>
            <p:nvPr/>
          </p:nvSpPr>
          <p:spPr bwMode="auto">
            <a:xfrm>
              <a:off x="-264" y="1985"/>
              <a:ext cx="590" cy="501"/>
            </a:xfrm>
            <a:custGeom>
              <a:avLst/>
              <a:gdLst>
                <a:gd name="T0" fmla="*/ 222 w 250"/>
                <a:gd name="T1" fmla="*/ 170 h 212"/>
                <a:gd name="T2" fmla="*/ 222 w 250"/>
                <a:gd name="T3" fmla="*/ 165 h 212"/>
                <a:gd name="T4" fmla="*/ 222 w 250"/>
                <a:gd name="T5" fmla="*/ 156 h 212"/>
                <a:gd name="T6" fmla="*/ 222 w 250"/>
                <a:gd name="T7" fmla="*/ 150 h 212"/>
                <a:gd name="T8" fmla="*/ 222 w 250"/>
                <a:gd name="T9" fmla="*/ 142 h 212"/>
                <a:gd name="T10" fmla="*/ 222 w 250"/>
                <a:gd name="T11" fmla="*/ 136 h 212"/>
                <a:gd name="T12" fmla="*/ 222 w 250"/>
                <a:gd name="T13" fmla="*/ 124 h 212"/>
                <a:gd name="T14" fmla="*/ 222 w 250"/>
                <a:gd name="T15" fmla="*/ 111 h 212"/>
                <a:gd name="T16" fmla="*/ 250 w 250"/>
                <a:gd name="T17" fmla="*/ 111 h 212"/>
                <a:gd name="T18" fmla="*/ 250 w 250"/>
                <a:gd name="T19" fmla="*/ 36 h 212"/>
                <a:gd name="T20" fmla="*/ 222 w 250"/>
                <a:gd name="T21" fmla="*/ 36 h 212"/>
                <a:gd name="T22" fmla="*/ 222 w 250"/>
                <a:gd name="T23" fmla="*/ 0 h 212"/>
                <a:gd name="T24" fmla="*/ 0 w 250"/>
                <a:gd name="T25" fmla="*/ 0 h 212"/>
                <a:gd name="T26" fmla="*/ 0 w 250"/>
                <a:gd name="T27" fmla="*/ 212 h 212"/>
                <a:gd name="T28" fmla="*/ 222 w 250"/>
                <a:gd name="T29" fmla="*/ 212 h 212"/>
                <a:gd name="T30" fmla="*/ 222 w 250"/>
                <a:gd name="T31" fmla="*/ 188 h 212"/>
                <a:gd name="T32" fmla="*/ 222 w 250"/>
                <a:gd name="T33" fmla="*/ 183 h 212"/>
                <a:gd name="T34" fmla="*/ 222 w 250"/>
                <a:gd name="T35" fmla="*/ 178 h 212"/>
                <a:gd name="T36" fmla="*/ 222 w 250"/>
                <a:gd name="T37" fmla="*/ 170 h 212"/>
                <a:gd name="T38" fmla="*/ 209 w 250"/>
                <a:gd name="T39" fmla="*/ 131 h 212"/>
                <a:gd name="T40" fmla="*/ 208 w 250"/>
                <a:gd name="T41" fmla="*/ 131 h 212"/>
                <a:gd name="T42" fmla="*/ 208 w 250"/>
                <a:gd name="T43" fmla="*/ 136 h 212"/>
                <a:gd name="T44" fmla="*/ 209 w 250"/>
                <a:gd name="T45" fmla="*/ 136 h 212"/>
                <a:gd name="T46" fmla="*/ 209 w 250"/>
                <a:gd name="T47" fmla="*/ 145 h 212"/>
                <a:gd name="T48" fmla="*/ 208 w 250"/>
                <a:gd name="T49" fmla="*/ 145 h 212"/>
                <a:gd name="T50" fmla="*/ 208 w 250"/>
                <a:gd name="T51" fmla="*/ 151 h 212"/>
                <a:gd name="T52" fmla="*/ 209 w 250"/>
                <a:gd name="T53" fmla="*/ 151 h 212"/>
                <a:gd name="T54" fmla="*/ 209 w 250"/>
                <a:gd name="T55" fmla="*/ 161 h 212"/>
                <a:gd name="T56" fmla="*/ 208 w 250"/>
                <a:gd name="T57" fmla="*/ 161 h 212"/>
                <a:gd name="T58" fmla="*/ 208 w 250"/>
                <a:gd name="T59" fmla="*/ 166 h 212"/>
                <a:gd name="T60" fmla="*/ 209 w 250"/>
                <a:gd name="T61" fmla="*/ 166 h 212"/>
                <a:gd name="T62" fmla="*/ 209 w 250"/>
                <a:gd name="T63" fmla="*/ 174 h 212"/>
                <a:gd name="T64" fmla="*/ 208 w 250"/>
                <a:gd name="T65" fmla="*/ 174 h 212"/>
                <a:gd name="T66" fmla="*/ 208 w 250"/>
                <a:gd name="T67" fmla="*/ 179 h 212"/>
                <a:gd name="T68" fmla="*/ 209 w 250"/>
                <a:gd name="T69" fmla="*/ 179 h 212"/>
                <a:gd name="T70" fmla="*/ 209 w 250"/>
                <a:gd name="T71" fmla="*/ 199 h 212"/>
                <a:gd name="T72" fmla="*/ 13 w 250"/>
                <a:gd name="T73" fmla="*/ 199 h 212"/>
                <a:gd name="T74" fmla="*/ 13 w 250"/>
                <a:gd name="T75" fmla="*/ 13 h 212"/>
                <a:gd name="T76" fmla="*/ 209 w 250"/>
                <a:gd name="T77" fmla="*/ 13 h 212"/>
                <a:gd name="T78" fmla="*/ 209 w 250"/>
                <a:gd name="T79" fmla="*/ 36 h 212"/>
                <a:gd name="T80" fmla="*/ 178 w 250"/>
                <a:gd name="T81" fmla="*/ 36 h 212"/>
                <a:gd name="T82" fmla="*/ 178 w 250"/>
                <a:gd name="T83" fmla="*/ 31 h 212"/>
                <a:gd name="T84" fmla="*/ 44 w 250"/>
                <a:gd name="T85" fmla="*/ 31 h 212"/>
                <a:gd name="T86" fmla="*/ 44 w 250"/>
                <a:gd name="T87" fmla="*/ 116 h 212"/>
                <a:gd name="T88" fmla="*/ 178 w 250"/>
                <a:gd name="T89" fmla="*/ 116 h 212"/>
                <a:gd name="T90" fmla="*/ 178 w 250"/>
                <a:gd name="T91" fmla="*/ 111 h 212"/>
                <a:gd name="T92" fmla="*/ 209 w 250"/>
                <a:gd name="T93" fmla="*/ 111 h 212"/>
                <a:gd name="T94" fmla="*/ 209 w 250"/>
                <a:gd name="T95" fmla="*/ 131 h 212"/>
                <a:gd name="T96" fmla="*/ 125 w 250"/>
                <a:gd name="T97" fmla="*/ 105 h 212"/>
                <a:gd name="T98" fmla="*/ 125 w 250"/>
                <a:gd name="T99" fmla="*/ 42 h 212"/>
                <a:gd name="T100" fmla="*/ 244 w 250"/>
                <a:gd name="T101" fmla="*/ 42 h 212"/>
                <a:gd name="T102" fmla="*/ 244 w 250"/>
                <a:gd name="T103" fmla="*/ 105 h 212"/>
                <a:gd name="T104" fmla="*/ 125 w 250"/>
                <a:gd name="T10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0" h="212">
                  <a:moveTo>
                    <a:pt x="222" y="170"/>
                  </a:moveTo>
                  <a:cubicBezTo>
                    <a:pt x="222" y="165"/>
                    <a:pt x="222" y="165"/>
                    <a:pt x="222" y="165"/>
                  </a:cubicBezTo>
                  <a:cubicBezTo>
                    <a:pt x="222" y="156"/>
                    <a:pt x="222" y="156"/>
                    <a:pt x="222" y="156"/>
                  </a:cubicBezTo>
                  <a:cubicBezTo>
                    <a:pt x="222" y="150"/>
                    <a:pt x="222" y="150"/>
                    <a:pt x="222" y="150"/>
                  </a:cubicBezTo>
                  <a:cubicBezTo>
                    <a:pt x="222" y="142"/>
                    <a:pt x="222" y="142"/>
                    <a:pt x="222" y="142"/>
                  </a:cubicBezTo>
                  <a:cubicBezTo>
                    <a:pt x="222" y="136"/>
                    <a:pt x="222" y="136"/>
                    <a:pt x="222" y="136"/>
                  </a:cubicBezTo>
                  <a:cubicBezTo>
                    <a:pt x="222" y="124"/>
                    <a:pt x="222" y="124"/>
                    <a:pt x="222" y="124"/>
                  </a:cubicBezTo>
                  <a:cubicBezTo>
                    <a:pt x="222" y="111"/>
                    <a:pt x="222" y="111"/>
                    <a:pt x="222" y="111"/>
                  </a:cubicBezTo>
                  <a:cubicBezTo>
                    <a:pt x="250" y="111"/>
                    <a:pt x="250" y="111"/>
                    <a:pt x="250" y="111"/>
                  </a:cubicBezTo>
                  <a:cubicBezTo>
                    <a:pt x="250" y="36"/>
                    <a:pt x="250" y="36"/>
                    <a:pt x="250" y="36"/>
                  </a:cubicBezTo>
                  <a:cubicBezTo>
                    <a:pt x="222" y="36"/>
                    <a:pt x="222" y="36"/>
                    <a:pt x="222" y="36"/>
                  </a:cubicBezTo>
                  <a:cubicBezTo>
                    <a:pt x="222" y="0"/>
                    <a:pt x="222" y="0"/>
                    <a:pt x="222" y="0"/>
                  </a:cubicBezTo>
                  <a:cubicBezTo>
                    <a:pt x="0" y="0"/>
                    <a:pt x="0" y="0"/>
                    <a:pt x="0" y="0"/>
                  </a:cubicBezTo>
                  <a:cubicBezTo>
                    <a:pt x="0" y="212"/>
                    <a:pt x="0" y="212"/>
                    <a:pt x="0" y="212"/>
                  </a:cubicBezTo>
                  <a:cubicBezTo>
                    <a:pt x="222" y="212"/>
                    <a:pt x="222" y="212"/>
                    <a:pt x="222" y="212"/>
                  </a:cubicBezTo>
                  <a:cubicBezTo>
                    <a:pt x="222" y="188"/>
                    <a:pt x="222" y="188"/>
                    <a:pt x="222" y="188"/>
                  </a:cubicBezTo>
                  <a:cubicBezTo>
                    <a:pt x="222" y="183"/>
                    <a:pt x="222" y="183"/>
                    <a:pt x="222" y="183"/>
                  </a:cubicBezTo>
                  <a:cubicBezTo>
                    <a:pt x="222" y="178"/>
                    <a:pt x="222" y="178"/>
                    <a:pt x="222" y="178"/>
                  </a:cubicBezTo>
                  <a:lnTo>
                    <a:pt x="222" y="170"/>
                  </a:lnTo>
                  <a:close/>
                  <a:moveTo>
                    <a:pt x="209" y="131"/>
                  </a:moveTo>
                  <a:cubicBezTo>
                    <a:pt x="209" y="131"/>
                    <a:pt x="209" y="131"/>
                    <a:pt x="208" y="131"/>
                  </a:cubicBezTo>
                  <a:cubicBezTo>
                    <a:pt x="208" y="136"/>
                    <a:pt x="208" y="136"/>
                    <a:pt x="208" y="136"/>
                  </a:cubicBezTo>
                  <a:cubicBezTo>
                    <a:pt x="209" y="136"/>
                    <a:pt x="209" y="136"/>
                    <a:pt x="209" y="136"/>
                  </a:cubicBezTo>
                  <a:cubicBezTo>
                    <a:pt x="209" y="145"/>
                    <a:pt x="209" y="145"/>
                    <a:pt x="209" y="145"/>
                  </a:cubicBezTo>
                  <a:cubicBezTo>
                    <a:pt x="209" y="145"/>
                    <a:pt x="209" y="145"/>
                    <a:pt x="208" y="145"/>
                  </a:cubicBezTo>
                  <a:cubicBezTo>
                    <a:pt x="208" y="151"/>
                    <a:pt x="208" y="151"/>
                    <a:pt x="208" y="151"/>
                  </a:cubicBezTo>
                  <a:cubicBezTo>
                    <a:pt x="209" y="151"/>
                    <a:pt x="209" y="151"/>
                    <a:pt x="209" y="151"/>
                  </a:cubicBezTo>
                  <a:cubicBezTo>
                    <a:pt x="209" y="161"/>
                    <a:pt x="209" y="161"/>
                    <a:pt x="209" y="161"/>
                  </a:cubicBezTo>
                  <a:cubicBezTo>
                    <a:pt x="209" y="161"/>
                    <a:pt x="209" y="161"/>
                    <a:pt x="208" y="161"/>
                  </a:cubicBezTo>
                  <a:cubicBezTo>
                    <a:pt x="208" y="166"/>
                    <a:pt x="208" y="166"/>
                    <a:pt x="208" y="166"/>
                  </a:cubicBezTo>
                  <a:cubicBezTo>
                    <a:pt x="209" y="166"/>
                    <a:pt x="209" y="166"/>
                    <a:pt x="209" y="166"/>
                  </a:cubicBezTo>
                  <a:cubicBezTo>
                    <a:pt x="209" y="174"/>
                    <a:pt x="209" y="174"/>
                    <a:pt x="209" y="174"/>
                  </a:cubicBezTo>
                  <a:cubicBezTo>
                    <a:pt x="209" y="174"/>
                    <a:pt x="209" y="174"/>
                    <a:pt x="208" y="174"/>
                  </a:cubicBezTo>
                  <a:cubicBezTo>
                    <a:pt x="208" y="179"/>
                    <a:pt x="208" y="179"/>
                    <a:pt x="208" y="179"/>
                  </a:cubicBezTo>
                  <a:cubicBezTo>
                    <a:pt x="209" y="179"/>
                    <a:pt x="209" y="179"/>
                    <a:pt x="209" y="179"/>
                  </a:cubicBezTo>
                  <a:cubicBezTo>
                    <a:pt x="209" y="199"/>
                    <a:pt x="209" y="199"/>
                    <a:pt x="209" y="199"/>
                  </a:cubicBezTo>
                  <a:cubicBezTo>
                    <a:pt x="13" y="199"/>
                    <a:pt x="13" y="199"/>
                    <a:pt x="13" y="199"/>
                  </a:cubicBezTo>
                  <a:cubicBezTo>
                    <a:pt x="13" y="13"/>
                    <a:pt x="13" y="13"/>
                    <a:pt x="13" y="13"/>
                  </a:cubicBezTo>
                  <a:cubicBezTo>
                    <a:pt x="209" y="13"/>
                    <a:pt x="209" y="13"/>
                    <a:pt x="209" y="13"/>
                  </a:cubicBezTo>
                  <a:cubicBezTo>
                    <a:pt x="209" y="36"/>
                    <a:pt x="209" y="36"/>
                    <a:pt x="209" y="36"/>
                  </a:cubicBezTo>
                  <a:cubicBezTo>
                    <a:pt x="178" y="36"/>
                    <a:pt x="178" y="36"/>
                    <a:pt x="178" y="36"/>
                  </a:cubicBezTo>
                  <a:cubicBezTo>
                    <a:pt x="178" y="31"/>
                    <a:pt x="178" y="31"/>
                    <a:pt x="178" y="31"/>
                  </a:cubicBezTo>
                  <a:cubicBezTo>
                    <a:pt x="44" y="31"/>
                    <a:pt x="44" y="31"/>
                    <a:pt x="44" y="31"/>
                  </a:cubicBezTo>
                  <a:cubicBezTo>
                    <a:pt x="44" y="116"/>
                    <a:pt x="44" y="116"/>
                    <a:pt x="44" y="116"/>
                  </a:cubicBezTo>
                  <a:cubicBezTo>
                    <a:pt x="178" y="116"/>
                    <a:pt x="178" y="116"/>
                    <a:pt x="178" y="116"/>
                  </a:cubicBezTo>
                  <a:cubicBezTo>
                    <a:pt x="178" y="111"/>
                    <a:pt x="178" y="111"/>
                    <a:pt x="178" y="111"/>
                  </a:cubicBezTo>
                  <a:cubicBezTo>
                    <a:pt x="209" y="111"/>
                    <a:pt x="209" y="111"/>
                    <a:pt x="209" y="111"/>
                  </a:cubicBezTo>
                  <a:lnTo>
                    <a:pt x="209" y="131"/>
                  </a:lnTo>
                  <a:close/>
                  <a:moveTo>
                    <a:pt x="125" y="105"/>
                  </a:moveTo>
                  <a:cubicBezTo>
                    <a:pt x="125" y="42"/>
                    <a:pt x="125" y="42"/>
                    <a:pt x="125" y="42"/>
                  </a:cubicBezTo>
                  <a:cubicBezTo>
                    <a:pt x="244" y="42"/>
                    <a:pt x="244" y="42"/>
                    <a:pt x="244" y="42"/>
                  </a:cubicBezTo>
                  <a:cubicBezTo>
                    <a:pt x="244" y="105"/>
                    <a:pt x="244" y="105"/>
                    <a:pt x="244" y="105"/>
                  </a:cubicBezTo>
                  <a:lnTo>
                    <a:pt x="125" y="105"/>
                  </a:lnTo>
                  <a:close/>
                </a:path>
              </a:pathLst>
            </a:custGeom>
            <a:grpFill/>
            <a:ln w="9525">
              <a:solidFill>
                <a:srgbClr val="830051"/>
              </a:solidFill>
              <a:round/>
            </a:ln>
          </p:spPr>
          <p:txBody>
            <a:bodyPr vert="horz" wrap="square" lIns="91440" tIns="45720" rIns="91440" bIns="45720" numCol="1" anchor="t" anchorCtr="0" compatLnSpc="1"/>
            <a:lstStyle/>
            <a:p>
              <a:endParaRPr lang="zh-CN" altLang="en-US"/>
            </a:p>
          </p:txBody>
        </p:sp>
      </p:grpSp>
      <p:cxnSp>
        <p:nvCxnSpPr>
          <p:cNvPr id="59" name="直接箭头连接符 58"/>
          <p:cNvCxnSpPr>
            <a:stCxn id="60" idx="4"/>
          </p:cNvCxnSpPr>
          <p:nvPr/>
        </p:nvCxnSpPr>
        <p:spPr>
          <a:xfrm>
            <a:off x="7228164" y="3494988"/>
            <a:ext cx="0" cy="554725"/>
          </a:xfrm>
          <a:prstGeom prst="straightConnector1">
            <a:avLst/>
          </a:prstGeom>
          <a:solidFill>
            <a:schemeClr val="bg1"/>
          </a:solidFill>
          <a:ln w="57150">
            <a:solidFill>
              <a:srgbClr val="D1206E">
                <a:alpha val="32157"/>
              </a:srgb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60" name="椭圆 59"/>
          <p:cNvSpPr/>
          <p:nvPr/>
        </p:nvSpPr>
        <p:spPr>
          <a:xfrm>
            <a:off x="6483761" y="2020921"/>
            <a:ext cx="1488806" cy="1474067"/>
          </a:xfrm>
          <a:prstGeom prst="ellipse">
            <a:avLst/>
          </a:prstGeom>
          <a:noFill/>
          <a:ln w="76200">
            <a:gradFill>
              <a:gsLst>
                <a:gs pos="0">
                  <a:srgbClr val="821B52"/>
                </a:gs>
                <a:gs pos="100000">
                  <a:srgbClr val="E480A4"/>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sp>
        <p:nvSpPr>
          <p:cNvPr id="61" name="文本框 1"/>
          <p:cNvSpPr txBox="1"/>
          <p:nvPr/>
        </p:nvSpPr>
        <p:spPr>
          <a:xfrm>
            <a:off x="6311185" y="4214748"/>
            <a:ext cx="1845268" cy="307777"/>
          </a:xfrm>
          <a:prstGeom prst="rect">
            <a:avLst/>
          </a:prstGeom>
          <a:noFill/>
        </p:spPr>
        <p:txBody>
          <a:bodyPr wrap="square" lIns="0" tIns="0" rIns="0" bIns="0" rtlCol="0">
            <a:spAutoFit/>
          </a:bodyPr>
          <a:lstStyle/>
          <a:p>
            <a:pPr algn="ctr"/>
            <a:r>
              <a:rPr lang="zh-CN" altLang="en-US" sz="2000" b="1" dirty="0">
                <a:solidFill>
                  <a:srgbClr val="821B52"/>
                </a:solidFill>
                <a:cs typeface="+mn-ea"/>
                <a:sym typeface="Arial" panose="020B0604020202020204"/>
              </a:rPr>
              <a:t>侵入治疗策略</a:t>
            </a:r>
          </a:p>
        </p:txBody>
      </p:sp>
      <p:sp>
        <p:nvSpPr>
          <p:cNvPr id="62" name="椭圆 61"/>
          <p:cNvSpPr/>
          <p:nvPr/>
        </p:nvSpPr>
        <p:spPr>
          <a:xfrm>
            <a:off x="7168734" y="3700331"/>
            <a:ext cx="130170" cy="130171"/>
          </a:xfrm>
          <a:prstGeom prst="ellipse">
            <a:avLst/>
          </a:prstGeom>
          <a:solidFill>
            <a:schemeClr val="bg1"/>
          </a:solidFill>
          <a:ln w="57150">
            <a:solidFill>
              <a:srgbClr val="8300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63" name="Freeform 149"/>
          <p:cNvSpPr>
            <a:spLocks noEditPoints="1"/>
          </p:cNvSpPr>
          <p:nvPr/>
        </p:nvSpPr>
        <p:spPr bwMode="auto">
          <a:xfrm>
            <a:off x="4829743" y="2463247"/>
            <a:ext cx="722573" cy="645843"/>
          </a:xfrm>
          <a:custGeom>
            <a:avLst/>
            <a:gdLst>
              <a:gd name="T0" fmla="*/ 121 w 151"/>
              <a:gd name="T1" fmla="*/ 116 h 149"/>
              <a:gd name="T2" fmla="*/ 72 w 151"/>
              <a:gd name="T3" fmla="*/ 142 h 149"/>
              <a:gd name="T4" fmla="*/ 71 w 151"/>
              <a:gd name="T5" fmla="*/ 141 h 149"/>
              <a:gd name="T6" fmla="*/ 70 w 151"/>
              <a:gd name="T7" fmla="*/ 141 h 149"/>
              <a:gd name="T8" fmla="*/ 53 w 151"/>
              <a:gd name="T9" fmla="*/ 124 h 149"/>
              <a:gd name="T10" fmla="*/ 101 w 151"/>
              <a:gd name="T11" fmla="*/ 95 h 149"/>
              <a:gd name="T12" fmla="*/ 127 w 151"/>
              <a:gd name="T13" fmla="*/ 48 h 149"/>
              <a:gd name="T14" fmla="*/ 145 w 151"/>
              <a:gd name="T15" fmla="*/ 66 h 149"/>
              <a:gd name="T16" fmla="*/ 145 w 151"/>
              <a:gd name="T17" fmla="*/ 66 h 149"/>
              <a:gd name="T18" fmla="*/ 121 w 151"/>
              <a:gd name="T19" fmla="*/ 116 h 149"/>
              <a:gd name="T20" fmla="*/ 90 w 151"/>
              <a:gd name="T21" fmla="*/ 99 h 149"/>
              <a:gd name="T22" fmla="*/ 93 w 151"/>
              <a:gd name="T23" fmla="*/ 49 h 149"/>
              <a:gd name="T24" fmla="*/ 120 w 151"/>
              <a:gd name="T25" fmla="*/ 41 h 149"/>
              <a:gd name="T26" fmla="*/ 97 w 151"/>
              <a:gd name="T27" fmla="*/ 92 h 149"/>
              <a:gd name="T28" fmla="*/ 90 w 151"/>
              <a:gd name="T29" fmla="*/ 99 h 149"/>
              <a:gd name="T30" fmla="*/ 48 w 151"/>
              <a:gd name="T31" fmla="*/ 118 h 149"/>
              <a:gd name="T32" fmla="*/ 71 w 151"/>
              <a:gd name="T33" fmla="*/ 67 h 149"/>
              <a:gd name="T34" fmla="*/ 83 w 151"/>
              <a:gd name="T35" fmla="*/ 56 h 149"/>
              <a:gd name="T36" fmla="*/ 79 w 151"/>
              <a:gd name="T37" fmla="*/ 108 h 149"/>
              <a:gd name="T38" fmla="*/ 48 w 151"/>
              <a:gd name="T39" fmla="*/ 118 h 149"/>
              <a:gd name="T40" fmla="*/ 42 w 151"/>
              <a:gd name="T41" fmla="*/ 32 h 149"/>
              <a:gd name="T42" fmla="*/ 35 w 151"/>
              <a:gd name="T43" fmla="*/ 30 h 149"/>
              <a:gd name="T44" fmla="*/ 69 w 151"/>
              <a:gd name="T45" fmla="*/ 20 h 149"/>
              <a:gd name="T46" fmla="*/ 80 w 151"/>
              <a:gd name="T47" fmla="*/ 36 h 149"/>
              <a:gd name="T48" fmla="*/ 42 w 151"/>
              <a:gd name="T49" fmla="*/ 32 h 149"/>
              <a:gd name="T50" fmla="*/ 13 w 151"/>
              <a:gd name="T51" fmla="*/ 6 h 149"/>
              <a:gd name="T52" fmla="*/ 52 w 151"/>
              <a:gd name="T53" fmla="*/ 10 h 149"/>
              <a:gd name="T54" fmla="*/ 62 w 151"/>
              <a:gd name="T55" fmla="*/ 15 h 149"/>
              <a:gd name="T56" fmla="*/ 27 w 151"/>
              <a:gd name="T57" fmla="*/ 24 h 149"/>
              <a:gd name="T58" fmla="*/ 13 w 151"/>
              <a:gd name="T59" fmla="*/ 6 h 149"/>
              <a:gd name="T60" fmla="*/ 40 w 151"/>
              <a:gd name="T61" fmla="*/ 36 h 149"/>
              <a:gd name="T62" fmla="*/ 77 w 151"/>
              <a:gd name="T63" fmla="*/ 42 h 149"/>
              <a:gd name="T64" fmla="*/ 69 w 151"/>
              <a:gd name="T65" fmla="*/ 58 h 149"/>
              <a:gd name="T66" fmla="*/ 69 w 151"/>
              <a:gd name="T67" fmla="*/ 58 h 149"/>
              <a:gd name="T68" fmla="*/ 31 w 151"/>
              <a:gd name="T69" fmla="*/ 53 h 149"/>
              <a:gd name="T70" fmla="*/ 3 w 151"/>
              <a:gd name="T71" fmla="*/ 27 h 149"/>
              <a:gd name="T72" fmla="*/ 4 w 151"/>
              <a:gd name="T73" fmla="*/ 26 h 149"/>
              <a:gd name="T74" fmla="*/ 3 w 151"/>
              <a:gd name="T75" fmla="*/ 26 h 149"/>
              <a:gd name="T76" fmla="*/ 10 w 151"/>
              <a:gd name="T77" fmla="*/ 11 h 149"/>
              <a:gd name="T78" fmla="*/ 40 w 151"/>
              <a:gd name="T79" fmla="*/ 36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1" h="149">
                <a:moveTo>
                  <a:pt x="121" y="116"/>
                </a:moveTo>
                <a:cubicBezTo>
                  <a:pt x="101" y="137"/>
                  <a:pt x="79" y="149"/>
                  <a:pt x="72" y="142"/>
                </a:cubicBezTo>
                <a:cubicBezTo>
                  <a:pt x="72" y="142"/>
                  <a:pt x="71" y="141"/>
                  <a:pt x="71" y="141"/>
                </a:cubicBezTo>
                <a:cubicBezTo>
                  <a:pt x="70" y="141"/>
                  <a:pt x="70" y="141"/>
                  <a:pt x="70" y="141"/>
                </a:cubicBezTo>
                <a:cubicBezTo>
                  <a:pt x="53" y="124"/>
                  <a:pt x="53" y="124"/>
                  <a:pt x="53" y="124"/>
                </a:cubicBezTo>
                <a:cubicBezTo>
                  <a:pt x="63" y="127"/>
                  <a:pt x="83" y="115"/>
                  <a:pt x="101" y="95"/>
                </a:cubicBezTo>
                <a:cubicBezTo>
                  <a:pt x="119" y="77"/>
                  <a:pt x="128" y="58"/>
                  <a:pt x="127" y="48"/>
                </a:cubicBezTo>
                <a:cubicBezTo>
                  <a:pt x="145" y="66"/>
                  <a:pt x="145" y="66"/>
                  <a:pt x="145" y="66"/>
                </a:cubicBezTo>
                <a:cubicBezTo>
                  <a:pt x="145" y="66"/>
                  <a:pt x="145" y="66"/>
                  <a:pt x="145" y="66"/>
                </a:cubicBezTo>
                <a:cubicBezTo>
                  <a:pt x="151" y="73"/>
                  <a:pt x="141" y="95"/>
                  <a:pt x="121" y="116"/>
                </a:cubicBezTo>
                <a:close/>
                <a:moveTo>
                  <a:pt x="90" y="99"/>
                </a:moveTo>
                <a:cubicBezTo>
                  <a:pt x="93" y="49"/>
                  <a:pt x="93" y="49"/>
                  <a:pt x="93" y="49"/>
                </a:cubicBezTo>
                <a:cubicBezTo>
                  <a:pt x="105" y="40"/>
                  <a:pt x="116" y="37"/>
                  <a:pt x="120" y="41"/>
                </a:cubicBezTo>
                <a:cubicBezTo>
                  <a:pt x="128" y="48"/>
                  <a:pt x="117" y="70"/>
                  <a:pt x="97" y="92"/>
                </a:cubicBezTo>
                <a:cubicBezTo>
                  <a:pt x="95" y="95"/>
                  <a:pt x="92" y="97"/>
                  <a:pt x="90" y="99"/>
                </a:cubicBezTo>
                <a:close/>
                <a:moveTo>
                  <a:pt x="48" y="118"/>
                </a:moveTo>
                <a:cubicBezTo>
                  <a:pt x="41" y="112"/>
                  <a:pt x="51" y="89"/>
                  <a:pt x="71" y="67"/>
                </a:cubicBezTo>
                <a:cubicBezTo>
                  <a:pt x="75" y="64"/>
                  <a:pt x="79" y="60"/>
                  <a:pt x="83" y="56"/>
                </a:cubicBezTo>
                <a:cubicBezTo>
                  <a:pt x="79" y="108"/>
                  <a:pt x="79" y="108"/>
                  <a:pt x="79" y="108"/>
                </a:cubicBezTo>
                <a:cubicBezTo>
                  <a:pt x="65" y="118"/>
                  <a:pt x="53" y="123"/>
                  <a:pt x="48" y="118"/>
                </a:cubicBezTo>
                <a:close/>
                <a:moveTo>
                  <a:pt x="42" y="32"/>
                </a:moveTo>
                <a:cubicBezTo>
                  <a:pt x="39" y="32"/>
                  <a:pt x="37" y="30"/>
                  <a:pt x="35" y="30"/>
                </a:cubicBezTo>
                <a:cubicBezTo>
                  <a:pt x="69" y="20"/>
                  <a:pt x="69" y="20"/>
                  <a:pt x="69" y="20"/>
                </a:cubicBezTo>
                <a:cubicBezTo>
                  <a:pt x="77" y="27"/>
                  <a:pt x="82" y="32"/>
                  <a:pt x="80" y="36"/>
                </a:cubicBezTo>
                <a:cubicBezTo>
                  <a:pt x="77" y="43"/>
                  <a:pt x="60" y="41"/>
                  <a:pt x="42" y="32"/>
                </a:cubicBezTo>
                <a:close/>
                <a:moveTo>
                  <a:pt x="13" y="6"/>
                </a:moveTo>
                <a:cubicBezTo>
                  <a:pt x="16" y="0"/>
                  <a:pt x="33" y="1"/>
                  <a:pt x="52" y="10"/>
                </a:cubicBezTo>
                <a:cubicBezTo>
                  <a:pt x="56" y="12"/>
                  <a:pt x="59" y="13"/>
                  <a:pt x="62" y="15"/>
                </a:cubicBezTo>
                <a:cubicBezTo>
                  <a:pt x="27" y="24"/>
                  <a:pt x="27" y="24"/>
                  <a:pt x="27" y="24"/>
                </a:cubicBezTo>
                <a:cubicBezTo>
                  <a:pt x="17" y="18"/>
                  <a:pt x="11" y="10"/>
                  <a:pt x="13" y="6"/>
                </a:cubicBezTo>
                <a:close/>
                <a:moveTo>
                  <a:pt x="40" y="36"/>
                </a:moveTo>
                <a:cubicBezTo>
                  <a:pt x="56" y="43"/>
                  <a:pt x="71" y="46"/>
                  <a:pt x="77" y="42"/>
                </a:cubicBezTo>
                <a:cubicBezTo>
                  <a:pt x="69" y="58"/>
                  <a:pt x="69" y="58"/>
                  <a:pt x="69" y="58"/>
                </a:cubicBezTo>
                <a:cubicBezTo>
                  <a:pt x="69" y="58"/>
                  <a:pt x="69" y="58"/>
                  <a:pt x="69" y="58"/>
                </a:cubicBezTo>
                <a:cubicBezTo>
                  <a:pt x="66" y="64"/>
                  <a:pt x="49" y="61"/>
                  <a:pt x="31" y="53"/>
                </a:cubicBezTo>
                <a:cubicBezTo>
                  <a:pt x="13" y="45"/>
                  <a:pt x="0" y="33"/>
                  <a:pt x="3" y="27"/>
                </a:cubicBezTo>
                <a:cubicBezTo>
                  <a:pt x="3" y="27"/>
                  <a:pt x="4" y="27"/>
                  <a:pt x="4" y="26"/>
                </a:cubicBezTo>
                <a:cubicBezTo>
                  <a:pt x="3" y="26"/>
                  <a:pt x="3" y="26"/>
                  <a:pt x="3" y="26"/>
                </a:cubicBezTo>
                <a:cubicBezTo>
                  <a:pt x="10" y="11"/>
                  <a:pt x="10" y="11"/>
                  <a:pt x="10" y="11"/>
                </a:cubicBezTo>
                <a:cubicBezTo>
                  <a:pt x="11" y="18"/>
                  <a:pt x="23" y="28"/>
                  <a:pt x="40" y="36"/>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cxnSp>
        <p:nvCxnSpPr>
          <p:cNvPr id="64" name="直接箭头连接符 63"/>
          <p:cNvCxnSpPr>
            <a:stCxn id="67" idx="4"/>
          </p:cNvCxnSpPr>
          <p:nvPr/>
        </p:nvCxnSpPr>
        <p:spPr>
          <a:xfrm>
            <a:off x="5161760" y="3377351"/>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65" name="文本框 1"/>
          <p:cNvSpPr txBox="1"/>
          <p:nvPr/>
        </p:nvSpPr>
        <p:spPr>
          <a:xfrm>
            <a:off x="4430334" y="4255804"/>
            <a:ext cx="1525015" cy="246221"/>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抗栓药物治疗</a:t>
            </a:r>
          </a:p>
        </p:txBody>
      </p:sp>
      <p:sp>
        <p:nvSpPr>
          <p:cNvPr id="66" name="椭圆 65"/>
          <p:cNvSpPr/>
          <p:nvPr/>
        </p:nvSpPr>
        <p:spPr>
          <a:xfrm>
            <a:off x="5102072" y="3710609"/>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67" name="椭圆 66"/>
          <p:cNvSpPr/>
          <p:nvPr/>
        </p:nvSpPr>
        <p:spPr>
          <a:xfrm>
            <a:off x="4546550" y="2159114"/>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4" name="矩形 3"/>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 name="矩形 1"/>
          <p:cNvSpPr/>
          <p:nvPr/>
        </p:nvSpPr>
        <p:spPr>
          <a:xfrm>
            <a:off x="923925" y="6351905"/>
            <a:ext cx="2968625" cy="37909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GRACE: </a:t>
            </a:r>
            <a:r>
              <a:rPr lang="zh-CN" altLang="en-US" sz="1400" dirty="0">
                <a:solidFill>
                  <a:schemeClr val="tx1"/>
                </a:solidFill>
                <a:latin typeface="Microsoft YaHei UI" panose="020B0503020204020204" pitchFamily="34" charset="-122"/>
                <a:ea typeface="Microsoft YaHei UI" panose="020B0503020204020204" pitchFamily="34" charset="-122"/>
              </a:rPr>
              <a:t>全球急性冠状动脉事件注册</a:t>
            </a:r>
            <a:r>
              <a:rPr lang="en-US" altLang="zh-CN" sz="1400" dirty="0">
                <a:solidFill>
                  <a:schemeClr val="tx1"/>
                </a:solidFill>
                <a:latin typeface="Microsoft YaHei UI" panose="020B0503020204020204" pitchFamily="34" charset="-122"/>
                <a:ea typeface="Microsoft YaHei UI" panose="020B0503020204020204" pitchFamily="34" charset="-122"/>
              </a:rPr>
              <a:t> </a:t>
            </a:r>
            <a:endParaRPr lang="zh-CN" altLang="en-US" sz="1400" baseline="30000" dirty="0">
              <a:solidFill>
                <a:schemeClr val="tx1"/>
              </a:solidFill>
              <a:latin typeface="Microsoft YaHei UI" panose="020B0503020204020204" pitchFamily="34" charset="-122"/>
              <a:ea typeface="Microsoft YaHei UI" panose="020B0503020204020204" pitchFamily="34" charset="-122"/>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0002" y="447895"/>
            <a:ext cx="8131586" cy="5652444"/>
          </a:xfrm>
          <a:prstGeom prst="rect">
            <a:avLst/>
          </a:prstGeom>
        </p:spPr>
      </p:pic>
      <p:sp>
        <p:nvSpPr>
          <p:cNvPr id="13" name="文本框 12"/>
          <p:cNvSpPr txBox="1"/>
          <p:nvPr/>
        </p:nvSpPr>
        <p:spPr>
          <a:xfrm>
            <a:off x="106045" y="123825"/>
            <a:ext cx="5431155" cy="82994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根据危险分层进行的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患者治疗策略和时间的选择</a:t>
            </a:r>
            <a:endParaRPr lang="zh-CN" altLang="en-US" sz="2400" b="1" dirty="0">
              <a:solidFill>
                <a:srgbClr val="AE1022"/>
              </a:solidFill>
            </a:endParaRPr>
          </a:p>
        </p:txBody>
      </p:sp>
      <p:sp>
        <p:nvSpPr>
          <p:cNvPr id="7" name="矩形 6"/>
          <p:cNvSpPr/>
          <p:nvPr/>
        </p:nvSpPr>
        <p:spPr>
          <a:xfrm>
            <a:off x="6192609" y="559942"/>
            <a:ext cx="1107180" cy="175719"/>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出现症状</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10" name="矩形 9"/>
          <p:cNvSpPr/>
          <p:nvPr/>
        </p:nvSpPr>
        <p:spPr>
          <a:xfrm>
            <a:off x="5394271" y="922169"/>
            <a:ext cx="1238036" cy="175719"/>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b="1" dirty="0">
                <a:solidFill>
                  <a:schemeClr val="tx1"/>
                </a:solidFill>
                <a:latin typeface="Microsoft YaHei UI" panose="020B0503020204020204" pitchFamily="34" charset="-122"/>
                <a:ea typeface="Microsoft YaHei UI" panose="020B0503020204020204" pitchFamily="34" charset="-122"/>
              </a:rPr>
              <a:t>首次接诊</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17" name="矩形 16"/>
          <p:cNvSpPr/>
          <p:nvPr/>
        </p:nvSpPr>
        <p:spPr>
          <a:xfrm>
            <a:off x="6820666" y="915266"/>
            <a:ext cx="1465441" cy="175719"/>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Microsoft YaHei UI" panose="020B0503020204020204" pitchFamily="34" charset="-122"/>
                <a:ea typeface="Microsoft YaHei UI" panose="020B0503020204020204" pitchFamily="34" charset="-122"/>
              </a:rPr>
              <a:t>NSTE-ACS</a:t>
            </a:r>
            <a:r>
              <a:rPr lang="zh-CN" altLang="en-US" sz="1400" b="1" dirty="0">
                <a:solidFill>
                  <a:schemeClr val="tx1"/>
                </a:solidFill>
                <a:latin typeface="Microsoft YaHei UI" panose="020B0503020204020204" pitchFamily="34" charset="-122"/>
                <a:ea typeface="Microsoft YaHei UI" panose="020B0503020204020204" pitchFamily="34" charset="-122"/>
              </a:rPr>
              <a:t>诊断</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19" name="矩形 18"/>
          <p:cNvSpPr/>
          <p:nvPr/>
        </p:nvSpPr>
        <p:spPr>
          <a:xfrm>
            <a:off x="3242213" y="1357616"/>
            <a:ext cx="1107180" cy="175719"/>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Microsoft YaHei UI" panose="020B0503020204020204" pitchFamily="34" charset="-122"/>
                <a:ea typeface="Microsoft YaHei UI" panose="020B0503020204020204" pitchFamily="34" charset="-122"/>
              </a:rPr>
              <a:t>PCI</a:t>
            </a:r>
            <a:r>
              <a:rPr lang="zh-CN" altLang="en-US" sz="1400" b="1" dirty="0">
                <a:solidFill>
                  <a:schemeClr val="tx1"/>
                </a:solidFill>
                <a:latin typeface="Microsoft YaHei UI" panose="020B0503020204020204" pitchFamily="34" charset="-122"/>
                <a:ea typeface="Microsoft YaHei UI" panose="020B0503020204020204" pitchFamily="34" charset="-122"/>
              </a:rPr>
              <a:t>中心</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21" name="矩形 20"/>
          <p:cNvSpPr/>
          <p:nvPr/>
        </p:nvSpPr>
        <p:spPr>
          <a:xfrm>
            <a:off x="5311739" y="1310081"/>
            <a:ext cx="226031" cy="260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是</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35" name="矩形 34"/>
          <p:cNvSpPr/>
          <p:nvPr/>
        </p:nvSpPr>
        <p:spPr>
          <a:xfrm>
            <a:off x="9356332" y="2903531"/>
            <a:ext cx="226031" cy="215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是</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37" name="矩形 36"/>
          <p:cNvSpPr/>
          <p:nvPr/>
        </p:nvSpPr>
        <p:spPr>
          <a:xfrm>
            <a:off x="9356332" y="1633843"/>
            <a:ext cx="226031" cy="215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是</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39" name="矩形 38"/>
          <p:cNvSpPr/>
          <p:nvPr/>
        </p:nvSpPr>
        <p:spPr>
          <a:xfrm>
            <a:off x="5690170" y="2614899"/>
            <a:ext cx="226031" cy="260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是</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41" name="矩形 40"/>
          <p:cNvSpPr/>
          <p:nvPr/>
        </p:nvSpPr>
        <p:spPr>
          <a:xfrm>
            <a:off x="3663266" y="2269002"/>
            <a:ext cx="226031" cy="260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是</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43" name="矩形 42"/>
          <p:cNvSpPr/>
          <p:nvPr/>
        </p:nvSpPr>
        <p:spPr>
          <a:xfrm>
            <a:off x="3663267" y="1609744"/>
            <a:ext cx="226031" cy="260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是</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45" name="矩形 44"/>
          <p:cNvSpPr/>
          <p:nvPr/>
        </p:nvSpPr>
        <p:spPr>
          <a:xfrm>
            <a:off x="5067547" y="1881603"/>
            <a:ext cx="1985661" cy="17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立即转运至</a:t>
            </a:r>
            <a:r>
              <a:rPr lang="en-US" altLang="zh-CN" sz="1400" b="1" dirty="0">
                <a:solidFill>
                  <a:schemeClr val="tx1"/>
                </a:solidFill>
                <a:latin typeface="Microsoft YaHei UI" panose="020B0503020204020204" pitchFamily="34" charset="-122"/>
                <a:ea typeface="Microsoft YaHei UI" panose="020B0503020204020204" pitchFamily="34" charset="-122"/>
              </a:rPr>
              <a:t>PCI</a:t>
            </a:r>
            <a:r>
              <a:rPr lang="zh-CN" altLang="en-US" sz="1400" b="1" dirty="0">
                <a:solidFill>
                  <a:schemeClr val="tx1"/>
                </a:solidFill>
                <a:latin typeface="Microsoft YaHei UI" panose="020B0503020204020204" pitchFamily="34" charset="-122"/>
                <a:ea typeface="Microsoft YaHei UI" panose="020B0503020204020204" pitchFamily="34" charset="-122"/>
              </a:rPr>
              <a:t>中心</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6925453" y="2172702"/>
            <a:ext cx="1550723" cy="209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当天转运</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49" name="矩形 48"/>
          <p:cNvSpPr/>
          <p:nvPr/>
        </p:nvSpPr>
        <p:spPr>
          <a:xfrm>
            <a:off x="8915757" y="1981488"/>
            <a:ext cx="1107180" cy="175719"/>
          </a:xfrm>
          <a:prstGeom prst="rect">
            <a:avLst/>
          </a:prstGeom>
          <a:solidFill>
            <a:srgbClr val="D47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极高风险</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51" name="矩形 50"/>
          <p:cNvSpPr/>
          <p:nvPr/>
        </p:nvSpPr>
        <p:spPr>
          <a:xfrm>
            <a:off x="3231939" y="2008358"/>
            <a:ext cx="1107180" cy="175719"/>
          </a:xfrm>
          <a:prstGeom prst="rect">
            <a:avLst/>
          </a:prstGeom>
          <a:solidFill>
            <a:srgbClr val="D47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极高风险</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53" name="矩形 52"/>
          <p:cNvSpPr/>
          <p:nvPr/>
        </p:nvSpPr>
        <p:spPr>
          <a:xfrm>
            <a:off x="5249595" y="2307454"/>
            <a:ext cx="1107180" cy="175719"/>
          </a:xfrm>
          <a:prstGeom prst="rect">
            <a:avLst/>
          </a:prstGeom>
          <a:solidFill>
            <a:srgbClr val="F0CF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高风险</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55" name="矩形 54"/>
          <p:cNvSpPr/>
          <p:nvPr/>
        </p:nvSpPr>
        <p:spPr>
          <a:xfrm>
            <a:off x="8914495" y="2309621"/>
            <a:ext cx="1107180" cy="175719"/>
          </a:xfrm>
          <a:prstGeom prst="rect">
            <a:avLst/>
          </a:prstGeom>
          <a:solidFill>
            <a:srgbClr val="F0CF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高风险</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57" name="矩形 56"/>
          <p:cNvSpPr/>
          <p:nvPr/>
        </p:nvSpPr>
        <p:spPr>
          <a:xfrm>
            <a:off x="8914495" y="2637754"/>
            <a:ext cx="1107180" cy="17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低风险</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59" name="矩形 58"/>
          <p:cNvSpPr/>
          <p:nvPr/>
        </p:nvSpPr>
        <p:spPr>
          <a:xfrm>
            <a:off x="8755247" y="3267183"/>
            <a:ext cx="1437367" cy="3213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择期侵入治疗</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61" name="矩形 60"/>
          <p:cNvSpPr/>
          <p:nvPr/>
        </p:nvSpPr>
        <p:spPr>
          <a:xfrm>
            <a:off x="8702211" y="3970962"/>
            <a:ext cx="1546261" cy="539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低风险</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dirty="0">
                <a:solidFill>
                  <a:schemeClr val="tx1"/>
                </a:solidFill>
                <a:latin typeface="Microsoft YaHei UI" panose="020B0503020204020204" pitchFamily="34" charset="-122"/>
                <a:ea typeface="Microsoft YaHei UI" panose="020B0503020204020204" pitchFamily="34" charset="-122"/>
              </a:rPr>
              <a:t>缺乏任何极高风险及高风险特征</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63" name="矩形 62"/>
          <p:cNvSpPr/>
          <p:nvPr/>
        </p:nvSpPr>
        <p:spPr>
          <a:xfrm>
            <a:off x="3145362" y="3237230"/>
            <a:ext cx="1272115" cy="372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立即侵入治疗</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400" b="1" dirty="0">
                <a:solidFill>
                  <a:schemeClr val="tx1"/>
                </a:solidFill>
                <a:latin typeface="Microsoft YaHei UI" panose="020B0503020204020204" pitchFamily="34" charset="-122"/>
                <a:ea typeface="Microsoft YaHei UI" panose="020B0503020204020204" pitchFamily="34" charset="-122"/>
              </a:rPr>
              <a:t>(&lt;2h)</a:t>
            </a:r>
          </a:p>
        </p:txBody>
      </p:sp>
      <p:sp>
        <p:nvSpPr>
          <p:cNvPr id="65" name="矩形 64"/>
          <p:cNvSpPr/>
          <p:nvPr/>
        </p:nvSpPr>
        <p:spPr>
          <a:xfrm>
            <a:off x="5177155" y="3270250"/>
            <a:ext cx="1271905" cy="323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早期侵入治疗</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400" b="1" dirty="0">
                <a:solidFill>
                  <a:schemeClr val="tx1"/>
                </a:solidFill>
                <a:latin typeface="Microsoft YaHei UI" panose="020B0503020204020204" pitchFamily="34" charset="-122"/>
                <a:ea typeface="Microsoft YaHei UI" panose="020B0503020204020204" pitchFamily="34" charset="-122"/>
              </a:rPr>
              <a:t>(&lt;24h)</a:t>
            </a:r>
          </a:p>
        </p:txBody>
      </p:sp>
      <p:sp>
        <p:nvSpPr>
          <p:cNvPr id="67" name="矩形 66"/>
          <p:cNvSpPr/>
          <p:nvPr/>
        </p:nvSpPr>
        <p:spPr>
          <a:xfrm>
            <a:off x="2309136" y="1695022"/>
            <a:ext cx="337430" cy="96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风险确认</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69" name="矩形 68"/>
          <p:cNvSpPr/>
          <p:nvPr/>
        </p:nvSpPr>
        <p:spPr>
          <a:xfrm>
            <a:off x="2309136" y="3009638"/>
            <a:ext cx="337430" cy="8309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治疗策略</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71" name="矩形 70"/>
          <p:cNvSpPr/>
          <p:nvPr/>
        </p:nvSpPr>
        <p:spPr>
          <a:xfrm>
            <a:off x="2309136" y="4008086"/>
            <a:ext cx="337430" cy="8309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风险分类</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73" name="矩形 72"/>
          <p:cNvSpPr/>
          <p:nvPr/>
        </p:nvSpPr>
        <p:spPr>
          <a:xfrm>
            <a:off x="2781659" y="3944871"/>
            <a:ext cx="2016371" cy="2214708"/>
          </a:xfrm>
          <a:prstGeom prst="rect">
            <a:avLst/>
          </a:prstGeom>
          <a:solidFill>
            <a:srgbClr val="D47F8C"/>
          </a:solidFill>
          <a:ln>
            <a:solidFill>
              <a:srgbClr val="61C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极高风险（</a:t>
            </a:r>
            <a:r>
              <a:rPr lang="en-US" altLang="zh-CN" sz="1400" b="1" dirty="0">
                <a:solidFill>
                  <a:schemeClr val="tx1"/>
                </a:solidFill>
                <a:latin typeface="Microsoft YaHei UI" panose="020B0503020204020204" pitchFamily="34" charset="-122"/>
                <a:ea typeface="Microsoft YaHei UI" panose="020B0503020204020204" pitchFamily="34" charset="-122"/>
              </a:rPr>
              <a:t>6</a:t>
            </a:r>
            <a:r>
              <a:rPr lang="zh-CN" altLang="en-US" sz="1400" b="1" dirty="0">
                <a:solidFill>
                  <a:schemeClr val="tx1"/>
                </a:solidFill>
                <a:latin typeface="Microsoft YaHei UI" panose="020B0503020204020204" pitchFamily="34" charset="-122"/>
                <a:ea typeface="Microsoft YaHei UI" panose="020B0503020204020204" pitchFamily="34" charset="-122"/>
              </a:rPr>
              <a:t>条之一）</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血流动力学不稳定或心源性休克</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药物治疗不能缓解的再发性</a:t>
            </a:r>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难治性胸痛</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危及生命的心律失常</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MI</a:t>
            </a:r>
            <a:r>
              <a:rPr lang="zh-CN" altLang="en-US" sz="1200" dirty="0">
                <a:solidFill>
                  <a:schemeClr val="tx1"/>
                </a:solidFill>
                <a:latin typeface="Microsoft YaHei UI" panose="020B0503020204020204" pitchFamily="34" charset="-122"/>
                <a:ea typeface="Microsoft YaHei UI" panose="020B0503020204020204" pitchFamily="34" charset="-122"/>
              </a:rPr>
              <a:t>机械并发症</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明确与</a:t>
            </a:r>
            <a:r>
              <a:rPr lang="en-US" altLang="zh-CN" sz="1200" dirty="0">
                <a:solidFill>
                  <a:schemeClr val="tx1"/>
                </a:solidFill>
                <a:latin typeface="Microsoft YaHei UI" panose="020B0503020204020204" pitchFamily="34" charset="-122"/>
                <a:ea typeface="Microsoft YaHei UI" panose="020B0503020204020204" pitchFamily="34" charset="-122"/>
              </a:rPr>
              <a:t>NSTE-ACS</a:t>
            </a:r>
            <a:r>
              <a:rPr lang="zh-CN" altLang="en-US" sz="1200" dirty="0">
                <a:solidFill>
                  <a:schemeClr val="tx1"/>
                </a:solidFill>
                <a:latin typeface="Microsoft YaHei UI" panose="020B0503020204020204" pitchFamily="34" charset="-122"/>
                <a:ea typeface="Microsoft YaHei UI" panose="020B0503020204020204" pitchFamily="34" charset="-122"/>
              </a:rPr>
              <a:t>相关的急性心衰</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-- 6</a:t>
            </a:r>
            <a:r>
              <a:rPr lang="zh-CN" altLang="en-US" sz="1200" dirty="0">
                <a:solidFill>
                  <a:schemeClr val="tx1"/>
                </a:solidFill>
                <a:latin typeface="Microsoft YaHei UI" panose="020B0503020204020204" pitchFamily="34" charset="-122"/>
                <a:ea typeface="Microsoft YaHei UI" panose="020B0503020204020204" pitchFamily="34" charset="-122"/>
              </a:rPr>
              <a:t>个导联</a:t>
            </a:r>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段压低＞</a:t>
            </a:r>
            <a:r>
              <a:rPr lang="en-US" altLang="zh-CN" sz="1200" dirty="0">
                <a:solidFill>
                  <a:schemeClr val="tx1"/>
                </a:solidFill>
                <a:latin typeface="Microsoft YaHei UI" panose="020B0503020204020204" pitchFamily="34" charset="-122"/>
                <a:ea typeface="Microsoft YaHei UI" panose="020B0503020204020204" pitchFamily="34" charset="-122"/>
              </a:rPr>
              <a:t>1mm</a:t>
            </a:r>
            <a:r>
              <a:rPr lang="zh-CN" altLang="en-US" sz="1200" dirty="0">
                <a:solidFill>
                  <a:schemeClr val="tx1"/>
                </a:solidFill>
                <a:latin typeface="Microsoft YaHei UI" panose="020B0503020204020204" pitchFamily="34" charset="-122"/>
                <a:ea typeface="Microsoft YaHei UI" panose="020B0503020204020204" pitchFamily="34" charset="-122"/>
              </a:rPr>
              <a:t>，合并</a:t>
            </a:r>
            <a:r>
              <a:rPr lang="en-US" altLang="zh-CN" sz="1200" dirty="0" err="1">
                <a:solidFill>
                  <a:schemeClr val="tx1"/>
                </a:solidFill>
                <a:latin typeface="Microsoft YaHei UI" panose="020B0503020204020204" pitchFamily="34" charset="-122"/>
                <a:ea typeface="Microsoft YaHei UI" panose="020B0503020204020204" pitchFamily="34" charset="-122"/>
              </a:rPr>
              <a:t>aVR</a:t>
            </a:r>
            <a:r>
              <a:rPr lang="zh-CN" altLang="en-US" sz="1200" dirty="0">
                <a:solidFill>
                  <a:schemeClr val="tx1"/>
                </a:solidFill>
                <a:latin typeface="Microsoft YaHei UI" panose="020B0503020204020204" pitchFamily="34" charset="-122"/>
                <a:ea typeface="Microsoft YaHei UI" panose="020B0503020204020204" pitchFamily="34" charset="-122"/>
              </a:rPr>
              <a:t>或</a:t>
            </a:r>
            <a:r>
              <a:rPr lang="en-US" altLang="zh-CN" sz="1200" dirty="0">
                <a:solidFill>
                  <a:schemeClr val="tx1"/>
                </a:solidFill>
                <a:latin typeface="Microsoft YaHei UI" panose="020B0503020204020204" pitchFamily="34" charset="-122"/>
                <a:ea typeface="Microsoft YaHei UI" panose="020B0503020204020204" pitchFamily="34" charset="-122"/>
              </a:rPr>
              <a:t>V1</a:t>
            </a:r>
            <a:r>
              <a:rPr lang="zh-CN" altLang="en-US" sz="1200" dirty="0">
                <a:solidFill>
                  <a:schemeClr val="tx1"/>
                </a:solidFill>
                <a:latin typeface="Microsoft YaHei UI" panose="020B0503020204020204" pitchFamily="34" charset="-122"/>
                <a:ea typeface="Microsoft YaHei UI" panose="020B0503020204020204" pitchFamily="34" charset="-122"/>
              </a:rPr>
              <a:t>导联</a:t>
            </a:r>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段抬高</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75" name="矩形 74"/>
          <p:cNvSpPr/>
          <p:nvPr/>
        </p:nvSpPr>
        <p:spPr>
          <a:xfrm>
            <a:off x="4833528" y="3942031"/>
            <a:ext cx="2165345" cy="1626435"/>
          </a:xfrm>
          <a:prstGeom prst="rect">
            <a:avLst/>
          </a:prstGeom>
          <a:solidFill>
            <a:srgbClr val="F0CFD2"/>
          </a:solidFill>
          <a:ln>
            <a:solidFill>
              <a:srgbClr val="61C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高风险（</a:t>
            </a:r>
            <a:r>
              <a:rPr lang="en-US" altLang="zh-CN" sz="1400" b="1" dirty="0">
                <a:solidFill>
                  <a:schemeClr val="tx1"/>
                </a:solidFill>
                <a:latin typeface="Microsoft YaHei UI" panose="020B0503020204020204" pitchFamily="34" charset="-122"/>
                <a:ea typeface="Microsoft YaHei UI" panose="020B0503020204020204" pitchFamily="34" charset="-122"/>
              </a:rPr>
              <a:t>4</a:t>
            </a:r>
            <a:r>
              <a:rPr lang="zh-CN" altLang="en-US" sz="1400" b="1" dirty="0">
                <a:solidFill>
                  <a:schemeClr val="tx1"/>
                </a:solidFill>
                <a:latin typeface="Microsoft YaHei UI" panose="020B0503020204020204" pitchFamily="34" charset="-122"/>
                <a:ea typeface="Microsoft YaHei UI" panose="020B0503020204020204" pitchFamily="34" charset="-122"/>
              </a:rPr>
              <a:t>条之一）</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已明确的</a:t>
            </a:r>
            <a:r>
              <a:rPr lang="en-US" altLang="zh-CN" sz="1200" dirty="0">
                <a:solidFill>
                  <a:schemeClr val="tx1"/>
                </a:solidFill>
                <a:latin typeface="Microsoft YaHei UI" panose="020B0503020204020204" pitchFamily="34" charset="-122"/>
                <a:ea typeface="Microsoft YaHei UI" panose="020B0503020204020204" pitchFamily="34" charset="-122"/>
              </a:rPr>
              <a:t>NSTEMI</a:t>
            </a:r>
            <a:r>
              <a:rPr lang="zh-CN" altLang="en-US" sz="1200" dirty="0">
                <a:solidFill>
                  <a:schemeClr val="tx1"/>
                </a:solidFill>
                <a:latin typeface="Microsoft YaHei UI" panose="020B0503020204020204" pitchFamily="34" charset="-122"/>
                <a:ea typeface="Microsoft YaHei UI" panose="020B0503020204020204" pitchFamily="34" charset="-122"/>
              </a:rPr>
              <a:t>诊断</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新发动态或可能新发连续的</a:t>
            </a:r>
            <a:r>
              <a:rPr lang="en-US" altLang="zh-CN" sz="1200" dirty="0">
                <a:solidFill>
                  <a:schemeClr val="tx1"/>
                </a:solidFill>
                <a:latin typeface="Microsoft YaHei UI" panose="020B0503020204020204" pitchFamily="34" charset="-122"/>
                <a:ea typeface="Microsoft YaHei UI" panose="020B0503020204020204" pitchFamily="34" charset="-122"/>
              </a:rPr>
              <a:t>ST/T</a:t>
            </a:r>
            <a:r>
              <a:rPr lang="zh-CN" altLang="en-US" sz="1200" dirty="0">
                <a:solidFill>
                  <a:schemeClr val="tx1"/>
                </a:solidFill>
                <a:latin typeface="Microsoft YaHei UI" panose="020B0503020204020204" pitchFamily="34" charset="-122"/>
                <a:ea typeface="Microsoft YaHei UI" panose="020B0503020204020204" pitchFamily="34" charset="-122"/>
              </a:rPr>
              <a:t>段改变（有或无症状）</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无</a:t>
            </a:r>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段抬高或心源性休克的已复苏心脏骤停</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--GRACE</a:t>
            </a:r>
            <a:r>
              <a:rPr lang="zh-CN" altLang="en-US" sz="1200" dirty="0">
                <a:solidFill>
                  <a:schemeClr val="tx1"/>
                </a:solidFill>
                <a:latin typeface="Microsoft YaHei UI" panose="020B0503020204020204" pitchFamily="34" charset="-122"/>
                <a:ea typeface="Microsoft YaHei UI" panose="020B0503020204020204" pitchFamily="34" charset="-122"/>
              </a:rPr>
              <a:t>风险评分＞</a:t>
            </a:r>
            <a:r>
              <a:rPr lang="en-US" altLang="zh-CN" sz="1200" dirty="0">
                <a:solidFill>
                  <a:schemeClr val="tx1"/>
                </a:solidFill>
                <a:latin typeface="Microsoft YaHei UI" panose="020B0503020204020204" pitchFamily="34" charset="-122"/>
                <a:ea typeface="Microsoft YaHei UI" panose="020B0503020204020204" pitchFamily="34" charset="-122"/>
              </a:rPr>
              <a:t>140</a:t>
            </a:r>
            <a:r>
              <a:rPr lang="zh-CN" altLang="en-US" sz="1200" dirty="0">
                <a:solidFill>
                  <a:schemeClr val="tx1"/>
                </a:solidFill>
                <a:latin typeface="Microsoft YaHei UI" panose="020B0503020204020204" pitchFamily="34" charset="-122"/>
                <a:ea typeface="Microsoft YaHei UI" panose="020B0503020204020204" pitchFamily="34" charset="-122"/>
              </a:rPr>
              <a:t>分</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endParaRPr lang="en-US" altLang="zh-CN" sz="1200" dirty="0">
              <a:solidFill>
                <a:schemeClr val="tx1"/>
              </a:solidFill>
              <a:latin typeface="Microsoft YaHei UI" panose="020B0503020204020204" pitchFamily="34" charset="-122"/>
              <a:ea typeface="Microsoft YaHei UI" panose="020B0503020204020204" pitchFamily="34" charset="-122"/>
            </a:endParaRPr>
          </a:p>
          <a:p>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77" name="矩形 76"/>
          <p:cNvSpPr/>
          <p:nvPr/>
        </p:nvSpPr>
        <p:spPr>
          <a:xfrm>
            <a:off x="8556799" y="1328216"/>
            <a:ext cx="1927834" cy="223853"/>
          </a:xfrm>
          <a:prstGeom prst="rect">
            <a:avLst/>
          </a:prstGeom>
          <a:solidFill>
            <a:srgbClr val="DEDED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急救中心或非</a:t>
            </a:r>
            <a:r>
              <a:rPr lang="en-US" altLang="zh-CN" sz="1400" b="1" dirty="0">
                <a:solidFill>
                  <a:schemeClr val="tx1"/>
                </a:solidFill>
                <a:latin typeface="Microsoft YaHei UI" panose="020B0503020204020204" pitchFamily="34" charset="-122"/>
                <a:ea typeface="Microsoft YaHei UI" panose="020B0503020204020204" pitchFamily="34" charset="-122"/>
              </a:rPr>
              <a:t>PCI</a:t>
            </a:r>
            <a:r>
              <a:rPr lang="zh-CN" altLang="en-US" sz="1400" b="1" dirty="0">
                <a:solidFill>
                  <a:schemeClr val="tx1"/>
                </a:solidFill>
                <a:latin typeface="Microsoft YaHei UI" panose="020B0503020204020204" pitchFamily="34" charset="-122"/>
                <a:ea typeface="Microsoft YaHei UI" panose="020B0503020204020204" pitchFamily="34" charset="-122"/>
              </a:rPr>
              <a:t>中心</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79" name="文本框 78"/>
          <p:cNvSpPr txBox="1"/>
          <p:nvPr/>
        </p:nvSpPr>
        <p:spPr>
          <a:xfrm>
            <a:off x="7097833" y="4448175"/>
            <a:ext cx="4641748" cy="1815882"/>
          </a:xfrm>
          <a:prstGeom prst="rect">
            <a:avLst/>
          </a:prstGeom>
          <a:noFill/>
        </p:spPr>
        <p:txBody>
          <a:bodyPr wrap="square" rtlCol="0">
            <a:spAutoFit/>
          </a:bodyPr>
          <a:lstStyle/>
          <a:p>
            <a:pPr defTabSz="685800">
              <a:defRPr/>
            </a:pPr>
            <a:r>
              <a:rPr lang="zh-CN" altLang="en-US" sz="1600" b="1" dirty="0">
                <a:solidFill>
                  <a:srgbClr val="FF0000"/>
                </a:solidFill>
                <a:latin typeface="Lucida Handwriting" panose="03010101010101010101" pitchFamily="66" charset="0"/>
                <a:ea typeface="Microsoft YaHei UI" panose="020B0503020204020204" pitchFamily="34" charset="-122"/>
              </a:rPr>
              <a:t>变更：</a:t>
            </a:r>
            <a:endParaRPr lang="en-US" altLang="zh-CN" sz="1600" b="1" dirty="0">
              <a:solidFill>
                <a:srgbClr val="FF0000"/>
              </a:solidFill>
              <a:latin typeface="Lucida Handwriting" panose="03010101010101010101" pitchFamily="66" charset="0"/>
              <a:ea typeface="Microsoft YaHei UI" panose="020B0503020204020204" pitchFamily="34" charset="-122"/>
            </a:endParaRPr>
          </a:p>
          <a:p>
            <a:pPr defTabSz="685800">
              <a:defRPr/>
            </a:pPr>
            <a:r>
              <a:rPr lang="en-US" altLang="zh-CN" sz="1600" dirty="0">
                <a:solidFill>
                  <a:srgbClr val="FF0000"/>
                </a:solidFill>
                <a:latin typeface="Microsoft YaHei UI" panose="020B0503020204020204" pitchFamily="34" charset="-122"/>
                <a:ea typeface="Microsoft YaHei UI" panose="020B0503020204020204" pitchFamily="34" charset="-122"/>
              </a:rPr>
              <a:t>-- </a:t>
            </a:r>
            <a:r>
              <a:rPr lang="zh-CN" altLang="en-US" sz="1600" b="1" dirty="0">
                <a:solidFill>
                  <a:srgbClr val="FF0000"/>
                </a:solidFill>
                <a:latin typeface="Microsoft YaHei UI" panose="020B0503020204020204" pitchFamily="34" charset="-122"/>
                <a:ea typeface="Microsoft YaHei UI" panose="020B0503020204020204" pitchFamily="34" charset="-122"/>
              </a:rPr>
              <a:t>取消了中危组（</a:t>
            </a:r>
            <a:r>
              <a:rPr lang="en-US" altLang="zh-CN" sz="1600" b="1" dirty="0">
                <a:solidFill>
                  <a:srgbClr val="FF0000"/>
                </a:solidFill>
                <a:latin typeface="Microsoft YaHei UI" panose="020B0503020204020204" pitchFamily="34" charset="-122"/>
                <a:ea typeface="Microsoft YaHei UI" panose="020B0503020204020204" pitchFamily="34" charset="-122"/>
              </a:rPr>
              <a:t>72</a:t>
            </a:r>
            <a:r>
              <a:rPr lang="zh-CN" altLang="en-US" sz="1600" b="1" dirty="0">
                <a:solidFill>
                  <a:srgbClr val="FF0000"/>
                </a:solidFill>
                <a:latin typeface="Microsoft YaHei UI" panose="020B0503020204020204" pitchFamily="34" charset="-122"/>
                <a:ea typeface="Microsoft YaHei UI" panose="020B0503020204020204" pitchFamily="34" charset="-122"/>
              </a:rPr>
              <a:t>小时行侵入治疗）</a:t>
            </a:r>
            <a:endParaRPr lang="en-US" altLang="zh-CN" sz="1600" b="1" dirty="0">
              <a:solidFill>
                <a:srgbClr val="FF0000"/>
              </a:solidFill>
              <a:latin typeface="Microsoft YaHei UI" panose="020B0503020204020204" pitchFamily="34" charset="-122"/>
              <a:ea typeface="Microsoft YaHei UI" panose="020B0503020204020204" pitchFamily="34" charset="-122"/>
            </a:endParaRPr>
          </a:p>
          <a:p>
            <a:pPr defTabSz="685800">
              <a:defRPr/>
            </a:pPr>
            <a:r>
              <a:rPr lang="en-US" altLang="zh-CN" sz="1600" b="1" dirty="0">
                <a:solidFill>
                  <a:srgbClr val="FF0000"/>
                </a:solidFill>
                <a:latin typeface="Microsoft YaHei UI" panose="020B0503020204020204" pitchFamily="34" charset="-122"/>
                <a:ea typeface="Microsoft YaHei UI" panose="020B0503020204020204" pitchFamily="34" charset="-122"/>
              </a:rPr>
              <a:t>-- </a:t>
            </a:r>
            <a:r>
              <a:rPr lang="zh-CN" altLang="en-US" sz="1600" b="1" dirty="0">
                <a:solidFill>
                  <a:srgbClr val="FF0000"/>
                </a:solidFill>
                <a:latin typeface="Microsoft YaHei UI" panose="020B0503020204020204" pitchFamily="34" charset="-122"/>
                <a:ea typeface="Microsoft YaHei UI" panose="020B0503020204020204" pitchFamily="34" charset="-122"/>
              </a:rPr>
              <a:t>高危组标准之一“肌钙蛋白升高或者下降”改为“确诊</a:t>
            </a:r>
            <a:r>
              <a:rPr lang="en-US" altLang="zh-CN" sz="1600" b="1" dirty="0">
                <a:solidFill>
                  <a:srgbClr val="FF0000"/>
                </a:solidFill>
                <a:latin typeface="Microsoft YaHei UI" panose="020B0503020204020204" pitchFamily="34" charset="-122"/>
                <a:ea typeface="Microsoft YaHei UI" panose="020B0503020204020204" pitchFamily="34" charset="-122"/>
              </a:rPr>
              <a:t>NSTEMI</a:t>
            </a:r>
            <a:r>
              <a:rPr lang="zh-CN" altLang="en-US" sz="1600" b="1" dirty="0">
                <a:solidFill>
                  <a:srgbClr val="FF0000"/>
                </a:solidFill>
                <a:latin typeface="Microsoft YaHei UI" panose="020B0503020204020204" pitchFamily="34" charset="-122"/>
                <a:ea typeface="Microsoft YaHei UI" panose="020B0503020204020204" pitchFamily="34" charset="-122"/>
              </a:rPr>
              <a:t>”</a:t>
            </a:r>
            <a:endParaRPr lang="en-US" altLang="zh-CN" sz="1600" b="1" dirty="0">
              <a:solidFill>
                <a:srgbClr val="FF0000"/>
              </a:solidFill>
              <a:latin typeface="Microsoft YaHei UI" panose="020B0503020204020204" pitchFamily="34" charset="-122"/>
              <a:ea typeface="Microsoft YaHei UI" panose="020B0503020204020204" pitchFamily="34" charset="-122"/>
            </a:endParaRPr>
          </a:p>
          <a:p>
            <a:pPr defTabSz="685800">
              <a:defRPr/>
            </a:pPr>
            <a:r>
              <a:rPr lang="en-US" altLang="zh-CN" sz="1600" b="1" dirty="0">
                <a:solidFill>
                  <a:srgbClr val="FF0000"/>
                </a:solidFill>
                <a:latin typeface="Microsoft YaHei UI" panose="020B0503020204020204" pitchFamily="34" charset="-122"/>
                <a:ea typeface="Microsoft YaHei UI" panose="020B0503020204020204" pitchFamily="34" charset="-122"/>
              </a:rPr>
              <a:t>-- </a:t>
            </a:r>
            <a:r>
              <a:rPr lang="zh-CN" altLang="en-US" sz="1600" b="1" dirty="0">
                <a:solidFill>
                  <a:srgbClr val="FF0000"/>
                </a:solidFill>
                <a:latin typeface="Microsoft YaHei UI" panose="020B0503020204020204" pitchFamily="34" charset="-122"/>
                <a:ea typeface="Microsoft YaHei UI" panose="020B0503020204020204" pitchFamily="34" charset="-122"/>
              </a:rPr>
              <a:t>心脏骤停由极高危组列入高危组</a:t>
            </a:r>
            <a:endParaRPr lang="en-US" altLang="zh-CN" sz="1600" b="1" dirty="0">
              <a:solidFill>
                <a:srgbClr val="FF0000"/>
              </a:solidFill>
              <a:latin typeface="Microsoft YaHei UI" panose="020B0503020204020204" pitchFamily="34" charset="-122"/>
              <a:ea typeface="Microsoft YaHei UI" panose="020B0503020204020204" pitchFamily="34" charset="-122"/>
            </a:endParaRPr>
          </a:p>
          <a:p>
            <a:pPr defTabSz="685800">
              <a:defRPr/>
            </a:pPr>
            <a:r>
              <a:rPr lang="en-US" altLang="zh-CN" sz="1600" b="1" dirty="0">
                <a:solidFill>
                  <a:srgbClr val="FF0000"/>
                </a:solidFill>
                <a:latin typeface="Microsoft YaHei UI" panose="020B0503020204020204" pitchFamily="34" charset="-122"/>
                <a:ea typeface="Microsoft YaHei UI" panose="020B0503020204020204" pitchFamily="34" charset="-122"/>
              </a:rPr>
              <a:t>-- </a:t>
            </a:r>
            <a:r>
              <a:rPr lang="zh-CN" altLang="en-US" sz="1600" b="1" dirty="0">
                <a:solidFill>
                  <a:srgbClr val="FF0000"/>
                </a:solidFill>
                <a:latin typeface="Microsoft YaHei UI" panose="020B0503020204020204" pitchFamily="34" charset="-122"/>
                <a:ea typeface="Microsoft YaHei UI" panose="020B0503020204020204" pitchFamily="34" charset="-122"/>
              </a:rPr>
              <a:t>更加细化了</a:t>
            </a:r>
            <a:r>
              <a:rPr lang="en-US" altLang="zh-CN" sz="1600" b="1" dirty="0">
                <a:solidFill>
                  <a:srgbClr val="FF0000"/>
                </a:solidFill>
                <a:latin typeface="Microsoft YaHei UI" panose="020B0503020204020204" pitchFamily="34" charset="-122"/>
                <a:ea typeface="Microsoft YaHei UI" panose="020B0503020204020204" pitchFamily="34" charset="-122"/>
              </a:rPr>
              <a:t>ECG</a:t>
            </a:r>
            <a:r>
              <a:rPr lang="zh-CN" altLang="en-US" sz="1600" b="1" dirty="0">
                <a:solidFill>
                  <a:srgbClr val="FF0000"/>
                </a:solidFill>
                <a:latin typeface="Microsoft YaHei UI" panose="020B0503020204020204" pitchFamily="34" charset="-122"/>
                <a:ea typeface="Microsoft YaHei UI" panose="020B0503020204020204" pitchFamily="34" charset="-122"/>
              </a:rPr>
              <a:t>改变（</a:t>
            </a:r>
            <a:r>
              <a:rPr lang="en-US" altLang="zh-CN" sz="1600" b="1" dirty="0">
                <a:solidFill>
                  <a:srgbClr val="FF0000"/>
                </a:solidFill>
                <a:latin typeface="Microsoft YaHei UI" panose="020B0503020204020204" pitchFamily="34" charset="-122"/>
                <a:ea typeface="Microsoft YaHei UI" panose="020B0503020204020204" pitchFamily="34" charset="-122"/>
              </a:rPr>
              <a:t>ST</a:t>
            </a:r>
            <a:r>
              <a:rPr lang="zh-CN" altLang="en-US" sz="1600" b="1" dirty="0">
                <a:solidFill>
                  <a:srgbClr val="FF0000"/>
                </a:solidFill>
                <a:latin typeface="Microsoft YaHei UI" panose="020B0503020204020204" pitchFamily="34" charset="-122"/>
                <a:ea typeface="Microsoft YaHei UI" panose="020B0503020204020204" pitchFamily="34" charset="-122"/>
              </a:rPr>
              <a:t>段压低导联数量、幅度及特指的</a:t>
            </a:r>
            <a:r>
              <a:rPr lang="en-US" altLang="zh-CN" sz="1600" b="1" dirty="0">
                <a:solidFill>
                  <a:srgbClr val="FF0000"/>
                </a:solidFill>
                <a:latin typeface="Microsoft YaHei UI" panose="020B0503020204020204" pitchFamily="34" charset="-122"/>
                <a:ea typeface="Microsoft YaHei UI" panose="020B0503020204020204" pitchFamily="34" charset="-122"/>
              </a:rPr>
              <a:t>2</a:t>
            </a:r>
            <a:r>
              <a:rPr lang="zh-CN" altLang="en-US" sz="1600" b="1" dirty="0">
                <a:solidFill>
                  <a:srgbClr val="FF0000"/>
                </a:solidFill>
                <a:latin typeface="Microsoft YaHei UI" panose="020B0503020204020204" pitchFamily="34" charset="-122"/>
                <a:ea typeface="Microsoft YaHei UI" panose="020B0503020204020204" pitchFamily="34" charset="-122"/>
              </a:rPr>
              <a:t>个导联）</a:t>
            </a:r>
            <a:endParaRPr lang="en-US" altLang="zh-CN" sz="1600" b="1" dirty="0">
              <a:solidFill>
                <a:srgbClr val="FF0000"/>
              </a:solidFill>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4" name="矩形 3"/>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13" name="文本框 12"/>
          <p:cNvSpPr txBox="1"/>
          <p:nvPr/>
        </p:nvSpPr>
        <p:spPr>
          <a:xfrm>
            <a:off x="143838" y="212832"/>
            <a:ext cx="10202237"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新章节：自发性冠状动脉夹层</a:t>
            </a:r>
            <a:r>
              <a:rPr lang="en-US" altLang="zh-CN" sz="2400" b="1" dirty="0">
                <a:solidFill>
                  <a:srgbClr val="AE1022"/>
                </a:solidFill>
                <a:latin typeface="Microsoft YaHei UI" panose="020B0503020204020204" pitchFamily="34" charset="-122"/>
                <a:ea typeface="Microsoft YaHei UI" panose="020B0503020204020204" pitchFamily="34" charset="-122"/>
              </a:rPr>
              <a:t>(SCAD)</a:t>
            </a:r>
            <a:r>
              <a:rPr lang="zh-CN" altLang="en-US" sz="2400" b="1" dirty="0">
                <a:solidFill>
                  <a:srgbClr val="AE1022"/>
                </a:solidFill>
                <a:latin typeface="Microsoft YaHei UI" panose="020B0503020204020204" pitchFamily="34" charset="-122"/>
                <a:ea typeface="Microsoft YaHei UI" panose="020B0503020204020204" pitchFamily="34" charset="-122"/>
              </a:rPr>
              <a:t>相关的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患者的诊断与治疗</a:t>
            </a:r>
            <a:endParaRPr lang="zh-CN" altLang="en-US" sz="2400" b="1" dirty="0">
              <a:solidFill>
                <a:srgbClr val="AE1022"/>
              </a:solidFill>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044" y="652409"/>
            <a:ext cx="9939535" cy="5033305"/>
          </a:xfrm>
          <a:prstGeom prst="rect">
            <a:avLst/>
          </a:prstGeom>
        </p:spPr>
      </p:pic>
      <p:sp>
        <p:nvSpPr>
          <p:cNvPr id="8" name="矩形 7"/>
          <p:cNvSpPr/>
          <p:nvPr/>
        </p:nvSpPr>
        <p:spPr>
          <a:xfrm>
            <a:off x="4464121" y="823543"/>
            <a:ext cx="2337371" cy="4616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Microsoft YaHei UI" panose="020B0503020204020204" pitchFamily="34" charset="-122"/>
                <a:ea typeface="Microsoft YaHei UI" panose="020B0503020204020204" pitchFamily="34" charset="-122"/>
              </a:rPr>
              <a:t>造影疑似</a:t>
            </a:r>
            <a:r>
              <a:rPr lang="en-US" altLang="zh-CN" sz="2000" b="1" dirty="0">
                <a:solidFill>
                  <a:schemeClr val="tx1"/>
                </a:solidFill>
                <a:latin typeface="Microsoft YaHei UI" panose="020B0503020204020204" pitchFamily="34" charset="-122"/>
                <a:ea typeface="Microsoft YaHei UI" panose="020B0503020204020204" pitchFamily="34" charset="-122"/>
              </a:rPr>
              <a:t>SCAD</a:t>
            </a:r>
          </a:p>
        </p:txBody>
      </p:sp>
      <p:sp>
        <p:nvSpPr>
          <p:cNvPr id="9" name="矩形 8"/>
          <p:cNvSpPr/>
          <p:nvPr/>
        </p:nvSpPr>
        <p:spPr>
          <a:xfrm>
            <a:off x="1333928" y="1510301"/>
            <a:ext cx="2337371" cy="392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latin typeface="Microsoft YaHei UI" panose="020B0503020204020204" pitchFamily="34" charset="-122"/>
                <a:ea typeface="Microsoft YaHei UI" panose="020B0503020204020204" pitchFamily="34" charset="-122"/>
              </a:rPr>
              <a:t>1</a:t>
            </a:r>
            <a:r>
              <a:rPr lang="zh-CN" altLang="en-US" sz="1600" b="1" dirty="0">
                <a:solidFill>
                  <a:schemeClr val="tx1"/>
                </a:solidFill>
                <a:latin typeface="Microsoft YaHei UI" panose="020B0503020204020204" pitchFamily="34" charset="-122"/>
                <a:ea typeface="Microsoft YaHei UI" panose="020B0503020204020204" pitchFamily="34" charset="-122"/>
              </a:rPr>
              <a:t>型</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（多个影像透明管腔）</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11" name="矩形 10"/>
          <p:cNvSpPr/>
          <p:nvPr/>
        </p:nvSpPr>
        <p:spPr>
          <a:xfrm>
            <a:off x="4464120" y="1510301"/>
            <a:ext cx="2337371" cy="392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latin typeface="Microsoft YaHei UI" panose="020B0503020204020204" pitchFamily="34" charset="-122"/>
                <a:ea typeface="Microsoft YaHei UI" panose="020B0503020204020204" pitchFamily="34" charset="-122"/>
              </a:rPr>
              <a:t>2</a:t>
            </a:r>
            <a:r>
              <a:rPr lang="zh-CN" altLang="en-US" sz="1600" b="1" dirty="0">
                <a:solidFill>
                  <a:schemeClr val="tx1"/>
                </a:solidFill>
                <a:latin typeface="Microsoft YaHei UI" panose="020B0503020204020204" pitchFamily="34" charset="-122"/>
                <a:ea typeface="Microsoft YaHei UI" panose="020B0503020204020204" pitchFamily="34" charset="-122"/>
              </a:rPr>
              <a:t>型</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600" b="1" dirty="0">
                <a:solidFill>
                  <a:schemeClr val="tx1"/>
                </a:solidFill>
                <a:latin typeface="Microsoft YaHei UI" panose="020B0503020204020204" pitchFamily="34" charset="-122"/>
                <a:ea typeface="Microsoft YaHei UI" panose="020B0503020204020204" pitchFamily="34" charset="-122"/>
              </a:rPr>
              <a:t>（长弥漫</a:t>
            </a:r>
            <a:r>
              <a:rPr lang="en-US" altLang="zh-CN" sz="1600" b="1" dirty="0">
                <a:solidFill>
                  <a:schemeClr val="tx1"/>
                </a:solidFill>
                <a:latin typeface="Microsoft YaHei UI" panose="020B0503020204020204" pitchFamily="34" charset="-122"/>
                <a:ea typeface="Microsoft YaHei UI" panose="020B0503020204020204" pitchFamily="34" charset="-122"/>
              </a:rPr>
              <a:t>/</a:t>
            </a:r>
            <a:r>
              <a:rPr lang="zh-CN" altLang="en-US" sz="1600" b="1" dirty="0">
                <a:solidFill>
                  <a:schemeClr val="tx1"/>
                </a:solidFill>
                <a:latin typeface="Microsoft YaHei UI" panose="020B0503020204020204" pitchFamily="34" charset="-122"/>
                <a:ea typeface="Microsoft YaHei UI" panose="020B0503020204020204" pitchFamily="34" charset="-122"/>
              </a:rPr>
              <a:t>光滑狭窄）</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12" name="矩形 11"/>
          <p:cNvSpPr/>
          <p:nvPr/>
        </p:nvSpPr>
        <p:spPr>
          <a:xfrm>
            <a:off x="7544655" y="1510300"/>
            <a:ext cx="2337371" cy="392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latin typeface="Microsoft YaHei UI" panose="020B0503020204020204" pitchFamily="34" charset="-122"/>
                <a:ea typeface="Microsoft YaHei UI" panose="020B0503020204020204" pitchFamily="34" charset="-122"/>
              </a:rPr>
              <a:t>3</a:t>
            </a:r>
            <a:r>
              <a:rPr lang="zh-CN" altLang="en-US" sz="1600" b="1" dirty="0">
                <a:solidFill>
                  <a:schemeClr val="tx1"/>
                </a:solidFill>
                <a:latin typeface="Microsoft YaHei UI" panose="020B0503020204020204" pitchFamily="34" charset="-122"/>
                <a:ea typeface="Microsoft YaHei UI" panose="020B0503020204020204" pitchFamily="34" charset="-122"/>
              </a:rPr>
              <a:t>型</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（局部或管状狭窄）</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14" name="矩形 13"/>
          <p:cNvSpPr/>
          <p:nvPr/>
        </p:nvSpPr>
        <p:spPr>
          <a:xfrm>
            <a:off x="1308242" y="2388600"/>
            <a:ext cx="2337371" cy="392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阻塞性病变</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冠脉血流减少</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15" name="矩形 14"/>
          <p:cNvSpPr/>
          <p:nvPr/>
        </p:nvSpPr>
        <p:spPr>
          <a:xfrm>
            <a:off x="4428160" y="2383463"/>
            <a:ext cx="2337371" cy="392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阻塞性病变</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冠脉血流正常</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16" name="矩形 15"/>
          <p:cNvSpPr/>
          <p:nvPr/>
        </p:nvSpPr>
        <p:spPr>
          <a:xfrm>
            <a:off x="7544654" y="2383463"/>
            <a:ext cx="2337371" cy="392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非阻塞性病变</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18" name="矩形 17"/>
          <p:cNvSpPr/>
          <p:nvPr/>
        </p:nvSpPr>
        <p:spPr>
          <a:xfrm>
            <a:off x="4428161" y="3082249"/>
            <a:ext cx="2337371" cy="392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管腔内成像</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600" b="1" dirty="0">
                <a:solidFill>
                  <a:schemeClr val="tx1"/>
                </a:solidFill>
                <a:latin typeface="Microsoft YaHei UI" panose="020B0503020204020204" pitchFamily="34" charset="-122"/>
                <a:ea typeface="Microsoft YaHei UI" panose="020B0503020204020204" pitchFamily="34" charset="-122"/>
              </a:rPr>
              <a:t>(IVUS</a:t>
            </a:r>
            <a:r>
              <a:rPr lang="zh-CN" altLang="en-US" sz="1600" b="1" dirty="0">
                <a:solidFill>
                  <a:schemeClr val="tx1"/>
                </a:solidFill>
                <a:latin typeface="Microsoft YaHei UI" panose="020B0503020204020204" pitchFamily="34" charset="-122"/>
                <a:ea typeface="Microsoft YaHei UI" panose="020B0503020204020204" pitchFamily="34" charset="-122"/>
              </a:rPr>
              <a:t>或</a:t>
            </a:r>
            <a:r>
              <a:rPr lang="en-US" altLang="zh-CN" sz="1600" b="1" dirty="0">
                <a:solidFill>
                  <a:schemeClr val="tx1"/>
                </a:solidFill>
                <a:latin typeface="Microsoft YaHei UI" panose="020B0503020204020204" pitchFamily="34" charset="-122"/>
                <a:ea typeface="Microsoft YaHei UI" panose="020B0503020204020204" pitchFamily="34" charset="-122"/>
              </a:rPr>
              <a:t>OCT)</a:t>
            </a:r>
          </a:p>
        </p:txBody>
      </p:sp>
      <p:sp>
        <p:nvSpPr>
          <p:cNvPr id="20" name="矩形 19"/>
          <p:cNvSpPr/>
          <p:nvPr/>
        </p:nvSpPr>
        <p:spPr>
          <a:xfrm>
            <a:off x="2321960" y="2945161"/>
            <a:ext cx="318499" cy="392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是</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2" name="矩形 21"/>
          <p:cNvSpPr/>
          <p:nvPr/>
        </p:nvSpPr>
        <p:spPr>
          <a:xfrm>
            <a:off x="8553234" y="2945932"/>
            <a:ext cx="318499" cy="392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是</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3" name="矩形 22"/>
          <p:cNvSpPr/>
          <p:nvPr/>
        </p:nvSpPr>
        <p:spPr>
          <a:xfrm>
            <a:off x="2325381" y="4102704"/>
            <a:ext cx="318499" cy="392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是</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4" name="矩形 23"/>
          <p:cNvSpPr/>
          <p:nvPr/>
        </p:nvSpPr>
        <p:spPr>
          <a:xfrm>
            <a:off x="4044590" y="4589014"/>
            <a:ext cx="318499" cy="392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是</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5" name="矩形 24"/>
          <p:cNvSpPr/>
          <p:nvPr/>
        </p:nvSpPr>
        <p:spPr>
          <a:xfrm>
            <a:off x="4044589" y="5247546"/>
            <a:ext cx="318499" cy="392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是</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6" name="矩形 25"/>
          <p:cNvSpPr/>
          <p:nvPr/>
        </p:nvSpPr>
        <p:spPr>
          <a:xfrm>
            <a:off x="5447870" y="4102704"/>
            <a:ext cx="318499" cy="330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是</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7226155" y="4558192"/>
            <a:ext cx="318499" cy="392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否</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28" name="矩形 27"/>
          <p:cNvSpPr/>
          <p:nvPr/>
        </p:nvSpPr>
        <p:spPr>
          <a:xfrm>
            <a:off x="1444625" y="3759200"/>
            <a:ext cx="1755775" cy="186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600" b="1" dirty="0">
                <a:solidFill>
                  <a:schemeClr val="tx1"/>
                </a:solidFill>
                <a:latin typeface="Microsoft YaHei UI" panose="020B0503020204020204" pitchFamily="34" charset="-122"/>
                <a:ea typeface="Microsoft YaHei UI" panose="020B0503020204020204" pitchFamily="34" charset="-122"/>
              </a:rPr>
              <a:t>PCI</a:t>
            </a:r>
            <a:r>
              <a:rPr lang="zh-CN" altLang="en-US" sz="1600" b="1" dirty="0">
                <a:solidFill>
                  <a:schemeClr val="tx1"/>
                </a:solidFill>
                <a:latin typeface="Microsoft YaHei UI" panose="020B0503020204020204" pitchFamily="34" charset="-122"/>
                <a:ea typeface="Microsoft YaHei UI" panose="020B0503020204020204" pitchFamily="34" charset="-122"/>
              </a:rPr>
              <a:t>或</a:t>
            </a:r>
            <a:r>
              <a:rPr lang="en-US" altLang="zh-CN" sz="1600" b="1" dirty="0">
                <a:solidFill>
                  <a:schemeClr val="tx1"/>
                </a:solidFill>
                <a:latin typeface="Microsoft YaHei UI" panose="020B0503020204020204" pitchFamily="34" charset="-122"/>
                <a:ea typeface="Microsoft YaHei UI" panose="020B0503020204020204" pitchFamily="34" charset="-122"/>
              </a:rPr>
              <a:t>CABGa           </a:t>
            </a:r>
          </a:p>
        </p:txBody>
      </p:sp>
      <p:sp>
        <p:nvSpPr>
          <p:cNvPr id="29" name="矩形 28"/>
          <p:cNvSpPr/>
          <p:nvPr/>
        </p:nvSpPr>
        <p:spPr>
          <a:xfrm>
            <a:off x="5857123" y="3732212"/>
            <a:ext cx="2686693" cy="252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tx1"/>
                </a:solidFill>
                <a:latin typeface="Microsoft YaHei UI" panose="020B0503020204020204" pitchFamily="34" charset="-122"/>
                <a:ea typeface="Microsoft YaHei UI" panose="020B0503020204020204" pitchFamily="34" charset="-122"/>
              </a:rPr>
              <a:t>最佳药物治疗</a:t>
            </a:r>
            <a:r>
              <a:rPr lang="en-US" altLang="zh-CN" sz="1600" b="1" baseline="30000" dirty="0">
                <a:solidFill>
                  <a:schemeClr val="tx1"/>
                </a:solidFill>
                <a:latin typeface="Microsoft YaHei UI" panose="020B0503020204020204" pitchFamily="34" charset="-122"/>
                <a:ea typeface="Microsoft YaHei UI" panose="020B0503020204020204" pitchFamily="34" charset="-122"/>
              </a:rPr>
              <a:t>b</a:t>
            </a:r>
            <a:r>
              <a:rPr lang="zh-CN" altLang="en-US" sz="1600" b="1" dirty="0">
                <a:solidFill>
                  <a:schemeClr val="tx1"/>
                </a:solidFill>
                <a:latin typeface="Microsoft YaHei UI" panose="020B0503020204020204" pitchFamily="34" charset="-122"/>
                <a:ea typeface="Microsoft YaHei UI" panose="020B0503020204020204" pitchFamily="34" charset="-122"/>
              </a:rPr>
              <a:t>或自发愈合</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30" name="矩形 29"/>
          <p:cNvSpPr/>
          <p:nvPr/>
        </p:nvSpPr>
        <p:spPr>
          <a:xfrm>
            <a:off x="4789769" y="4674745"/>
            <a:ext cx="1428963" cy="2109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tx1"/>
                </a:solidFill>
                <a:latin typeface="Microsoft YaHei UI" panose="020B0503020204020204" pitchFamily="34" charset="-122"/>
                <a:ea typeface="Microsoft YaHei UI" panose="020B0503020204020204" pitchFamily="34" charset="-122"/>
              </a:rPr>
              <a:t>高危解剖结构</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31" name="矩形 30"/>
          <p:cNvSpPr/>
          <p:nvPr/>
        </p:nvSpPr>
        <p:spPr>
          <a:xfrm>
            <a:off x="8261105" y="4682485"/>
            <a:ext cx="1696587" cy="2059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考虑</a:t>
            </a:r>
            <a:r>
              <a:rPr lang="en-US" altLang="zh-CN" sz="1600" b="1" dirty="0">
                <a:solidFill>
                  <a:schemeClr val="tx1"/>
                </a:solidFill>
                <a:latin typeface="Microsoft YaHei UI" panose="020B0503020204020204" pitchFamily="34" charset="-122"/>
                <a:ea typeface="Microsoft YaHei UI" panose="020B0503020204020204" pitchFamily="34" charset="-122"/>
              </a:rPr>
              <a:t>ICA</a:t>
            </a:r>
            <a:r>
              <a:rPr lang="zh-CN" altLang="en-US" sz="1600" b="1" dirty="0">
                <a:solidFill>
                  <a:schemeClr val="tx1"/>
                </a:solidFill>
                <a:latin typeface="Microsoft YaHei UI" panose="020B0503020204020204" pitchFamily="34" charset="-122"/>
                <a:ea typeface="Microsoft YaHei UI" panose="020B0503020204020204" pitchFamily="34" charset="-122"/>
              </a:rPr>
              <a:t>或</a:t>
            </a:r>
            <a:r>
              <a:rPr lang="en-US" altLang="zh-CN" sz="1600" b="1" dirty="0">
                <a:solidFill>
                  <a:schemeClr val="tx1"/>
                </a:solidFill>
                <a:latin typeface="Microsoft YaHei UI" panose="020B0503020204020204" pitchFamily="34" charset="-122"/>
                <a:ea typeface="Microsoft YaHei UI" panose="020B0503020204020204" pitchFamily="34" charset="-122"/>
              </a:rPr>
              <a:t>CCTA</a:t>
            </a:r>
          </a:p>
        </p:txBody>
      </p:sp>
      <p:sp>
        <p:nvSpPr>
          <p:cNvPr id="32" name="矩形 31"/>
          <p:cNvSpPr/>
          <p:nvPr/>
        </p:nvSpPr>
        <p:spPr>
          <a:xfrm>
            <a:off x="5916690" y="5325300"/>
            <a:ext cx="2955043" cy="2303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持续</a:t>
            </a:r>
            <a:r>
              <a:rPr lang="en-US" altLang="zh-CN" sz="1600" b="1" dirty="0">
                <a:solidFill>
                  <a:schemeClr val="tx1"/>
                </a:solidFill>
                <a:latin typeface="Microsoft YaHei UI" panose="020B0503020204020204" pitchFamily="34" charset="-122"/>
                <a:ea typeface="Microsoft YaHei UI" panose="020B0503020204020204" pitchFamily="34" charset="-122"/>
              </a:rPr>
              <a:t>/</a:t>
            </a:r>
            <a:r>
              <a:rPr lang="zh-CN" altLang="en-US" sz="1600" b="1" dirty="0">
                <a:solidFill>
                  <a:schemeClr val="tx1"/>
                </a:solidFill>
                <a:latin typeface="Microsoft YaHei UI" panose="020B0503020204020204" pitchFamily="34" charset="-122"/>
                <a:ea typeface="Microsoft YaHei UI" panose="020B0503020204020204" pitchFamily="34" charset="-122"/>
              </a:rPr>
              <a:t>新发心绞痛或缺血</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33" name="矩形 32"/>
          <p:cNvSpPr/>
          <p:nvPr/>
        </p:nvSpPr>
        <p:spPr>
          <a:xfrm>
            <a:off x="1513840" y="5356225"/>
            <a:ext cx="1929130" cy="199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icrosoft YaHei UI" panose="020B0503020204020204" pitchFamily="34" charset="-122"/>
                <a:ea typeface="Microsoft YaHei UI" panose="020B0503020204020204" pitchFamily="34" charset="-122"/>
              </a:rPr>
              <a:t>视为阻塞性冠心病</a:t>
            </a:r>
            <a:endParaRPr lang="en-US" altLang="zh-CN" sz="1600" b="1" dirty="0">
              <a:solidFill>
                <a:schemeClr val="tx1"/>
              </a:solidFill>
              <a:latin typeface="Microsoft YaHei UI" panose="020B0503020204020204" pitchFamily="34" charset="-122"/>
              <a:ea typeface="Microsoft YaHei UI" panose="020B0503020204020204" pitchFamily="34" charset="-122"/>
            </a:endParaRPr>
          </a:p>
        </p:txBody>
      </p:sp>
      <p:sp>
        <p:nvSpPr>
          <p:cNvPr id="34" name="矩形 33"/>
          <p:cNvSpPr/>
          <p:nvPr/>
        </p:nvSpPr>
        <p:spPr>
          <a:xfrm>
            <a:off x="442227" y="1668404"/>
            <a:ext cx="238855" cy="96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诊断</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81" name="矩形 80"/>
          <p:cNvSpPr/>
          <p:nvPr/>
        </p:nvSpPr>
        <p:spPr>
          <a:xfrm>
            <a:off x="450221" y="3180845"/>
            <a:ext cx="238855" cy="96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治疗</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83" name="矩形 82"/>
          <p:cNvSpPr/>
          <p:nvPr/>
        </p:nvSpPr>
        <p:spPr>
          <a:xfrm>
            <a:off x="452501" y="4433820"/>
            <a:ext cx="238855" cy="96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随访</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139" name="矩形 138"/>
          <p:cNvSpPr/>
          <p:nvPr/>
        </p:nvSpPr>
        <p:spPr>
          <a:xfrm>
            <a:off x="1061085" y="5730875"/>
            <a:ext cx="9655175" cy="40767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 </a:t>
            </a:r>
            <a:r>
              <a:rPr lang="zh-CN" altLang="en-US" sz="1400" dirty="0">
                <a:solidFill>
                  <a:schemeClr val="tx1"/>
                </a:solidFill>
                <a:latin typeface="Microsoft YaHei UI" panose="020B0503020204020204" pitchFamily="34" charset="-122"/>
                <a:ea typeface="Microsoft YaHei UI" panose="020B0503020204020204" pitchFamily="34" charset="-122"/>
              </a:rPr>
              <a:t>根据当地医师意见选择血运重建策略</a:t>
            </a:r>
            <a:r>
              <a:rPr lang="en-US" altLang="zh-CN" sz="1400" dirty="0">
                <a:solidFill>
                  <a:schemeClr val="tx1"/>
                </a:solidFill>
                <a:latin typeface="Microsoft YaHei UI" panose="020B0503020204020204" pitchFamily="34" charset="-122"/>
                <a:ea typeface="Microsoft YaHei UI" panose="020B0503020204020204" pitchFamily="34" charset="-122"/>
              </a:rPr>
              <a:t>; b: </a:t>
            </a:r>
            <a:r>
              <a:rPr lang="zh-CN" altLang="en-US" sz="1400" dirty="0">
                <a:solidFill>
                  <a:schemeClr val="tx1"/>
                </a:solidFill>
                <a:latin typeface="Microsoft YaHei UI" panose="020B0503020204020204" pitchFamily="34" charset="-122"/>
                <a:ea typeface="Microsoft YaHei UI" panose="020B0503020204020204" pitchFamily="34" charset="-122"/>
              </a:rPr>
              <a:t>推荐</a:t>
            </a:r>
            <a:r>
              <a:rPr lang="en-US" altLang="zh-CN" sz="1400" dirty="0">
                <a:solidFill>
                  <a:schemeClr val="tx1"/>
                </a:solidFill>
                <a:latin typeface="Microsoft YaHei UI" panose="020B0503020204020204" pitchFamily="34" charset="-122"/>
                <a:ea typeface="Microsoft YaHei UI" panose="020B0503020204020204" pitchFamily="34" charset="-122"/>
              </a:rPr>
              <a:t>β</a:t>
            </a:r>
            <a:r>
              <a:rPr lang="zh-CN" altLang="en-US" sz="1400" dirty="0">
                <a:solidFill>
                  <a:schemeClr val="tx1"/>
                </a:solidFill>
                <a:latin typeface="Microsoft YaHei UI" panose="020B0503020204020204" pitchFamily="34" charset="-122"/>
                <a:ea typeface="Microsoft YaHei UI" panose="020B0503020204020204" pitchFamily="34" charset="-122"/>
              </a:rPr>
              <a:t>受体阻滞剂治疗，</a:t>
            </a:r>
            <a:r>
              <a:rPr lang="en-US" altLang="zh-CN" sz="1400" dirty="0">
                <a:solidFill>
                  <a:schemeClr val="tx1"/>
                </a:solidFill>
                <a:latin typeface="Microsoft YaHei UI" panose="020B0503020204020204" pitchFamily="34" charset="-122"/>
                <a:ea typeface="Microsoft YaHei UI" panose="020B0503020204020204" pitchFamily="34" charset="-122"/>
              </a:rPr>
              <a:t>DAPT</a:t>
            </a:r>
            <a:r>
              <a:rPr lang="zh-CN" altLang="en-US" sz="1400" dirty="0">
                <a:solidFill>
                  <a:schemeClr val="tx1"/>
                </a:solidFill>
                <a:latin typeface="Microsoft YaHei UI" panose="020B0503020204020204" pitchFamily="34" charset="-122"/>
                <a:ea typeface="Microsoft YaHei UI" panose="020B0503020204020204" pitchFamily="34" charset="-122"/>
              </a:rPr>
              <a:t>治疗获益存疑</a:t>
            </a:r>
            <a:r>
              <a:rPr lang="en-US" altLang="zh-CN" sz="1400" dirty="0">
                <a:solidFill>
                  <a:schemeClr val="tx1"/>
                </a:solidFill>
                <a:latin typeface="Microsoft YaHei UI" panose="020B0503020204020204" pitchFamily="34" charset="-122"/>
                <a:ea typeface="Microsoft YaHei UI" panose="020B0503020204020204" pitchFamily="34" charset="-122"/>
              </a:rPr>
              <a:t>; c: </a:t>
            </a:r>
            <a:r>
              <a:rPr lang="zh-CN" altLang="en-US" sz="1400" dirty="0">
                <a:solidFill>
                  <a:schemeClr val="tx1"/>
                </a:solidFill>
                <a:latin typeface="Microsoft YaHei UI" panose="020B0503020204020204" pitchFamily="34" charset="-122"/>
                <a:ea typeface="Microsoft YaHei UI" panose="020B0503020204020204" pitchFamily="34" charset="-122"/>
              </a:rPr>
              <a:t>左主干或前降支、回旋支、右冠近段病变，多血管</a:t>
            </a:r>
            <a:r>
              <a:rPr lang="en-US" altLang="zh-CN" sz="1400" dirty="0">
                <a:solidFill>
                  <a:schemeClr val="tx1"/>
                </a:solidFill>
                <a:latin typeface="Microsoft YaHei UI" panose="020B0503020204020204" pitchFamily="34" charset="-122"/>
                <a:ea typeface="Microsoft YaHei UI" panose="020B0503020204020204" pitchFamily="34" charset="-122"/>
              </a:rPr>
              <a:t>SCAD;</a:t>
            </a:r>
            <a:r>
              <a:rPr lang="zh-CN" altLang="en-US" sz="1400" dirty="0">
                <a:solidFill>
                  <a:schemeClr val="tx1"/>
                </a:solidFill>
                <a:latin typeface="Microsoft YaHei UI" panose="020B0503020204020204" pitchFamily="34" charset="-122"/>
                <a:ea typeface="Microsoft YaHei UI" panose="020B0503020204020204" pitchFamily="34" charset="-122"/>
              </a:rPr>
              <a:t> </a:t>
            </a:r>
            <a:r>
              <a:rPr lang="en-US" altLang="zh-CN" sz="1400" dirty="0">
                <a:solidFill>
                  <a:schemeClr val="tx1"/>
                </a:solidFill>
                <a:latin typeface="Microsoft YaHei UI" panose="020B0503020204020204" pitchFamily="34" charset="-122"/>
                <a:ea typeface="Microsoft YaHei UI" panose="020B0503020204020204" pitchFamily="34" charset="-122"/>
              </a:rPr>
              <a:t>IVUS: </a:t>
            </a:r>
            <a:r>
              <a:rPr lang="zh-CN" altLang="en-US" sz="1400" dirty="0">
                <a:solidFill>
                  <a:schemeClr val="tx1"/>
                </a:solidFill>
                <a:latin typeface="Microsoft YaHei UI" panose="020B0503020204020204" pitchFamily="34" charset="-122"/>
                <a:ea typeface="Microsoft YaHei UI" panose="020B0503020204020204" pitchFamily="34" charset="-122"/>
              </a:rPr>
              <a:t>腔内血管超声</a:t>
            </a:r>
            <a:r>
              <a:rPr lang="en-US" altLang="zh-CN" sz="1400" dirty="0">
                <a:solidFill>
                  <a:schemeClr val="tx1"/>
                </a:solidFill>
                <a:latin typeface="Microsoft YaHei UI" panose="020B0503020204020204" pitchFamily="34" charset="-122"/>
                <a:ea typeface="Microsoft YaHei UI" panose="020B0503020204020204" pitchFamily="34" charset="-122"/>
              </a:rPr>
              <a:t>; OCT;</a:t>
            </a:r>
            <a:r>
              <a:rPr lang="zh-CN" altLang="en-US" sz="1400" dirty="0">
                <a:solidFill>
                  <a:schemeClr val="tx1"/>
                </a:solidFill>
                <a:latin typeface="Microsoft YaHei UI" panose="020B0503020204020204" pitchFamily="34" charset="-122"/>
                <a:ea typeface="Microsoft YaHei UI" panose="020B0503020204020204" pitchFamily="34" charset="-122"/>
              </a:rPr>
              <a:t> 光学断层成像</a:t>
            </a:r>
            <a:r>
              <a:rPr lang="en-US" altLang="zh-CN" sz="1400" dirty="0">
                <a:solidFill>
                  <a:schemeClr val="tx1"/>
                </a:solidFill>
                <a:latin typeface="Microsoft YaHei UI" panose="020B0503020204020204" pitchFamily="34" charset="-122"/>
                <a:ea typeface="Microsoft YaHei UI" panose="020B0503020204020204" pitchFamily="34" charset="-122"/>
              </a:rPr>
              <a:t>; ICA: </a:t>
            </a:r>
            <a:r>
              <a:rPr lang="zh-CN" altLang="en-US" sz="1400" dirty="0">
                <a:solidFill>
                  <a:schemeClr val="tx1"/>
                </a:solidFill>
                <a:latin typeface="Microsoft YaHei UI" panose="020B0503020204020204" pitchFamily="34" charset="-122"/>
                <a:ea typeface="Microsoft YaHei UI" panose="020B0503020204020204" pitchFamily="34" charset="-122"/>
              </a:rPr>
              <a:t>侵入性冠脉造影</a:t>
            </a:r>
            <a:r>
              <a:rPr lang="en-US" altLang="zh-CN" sz="1400" dirty="0">
                <a:solidFill>
                  <a:schemeClr val="tx1"/>
                </a:solidFill>
                <a:latin typeface="Microsoft YaHei UI" panose="020B0503020204020204" pitchFamily="34" charset="-122"/>
                <a:ea typeface="Microsoft YaHei UI" panose="020B0503020204020204" pitchFamily="34" charset="-122"/>
              </a:rPr>
              <a:t>; CCTA:</a:t>
            </a:r>
            <a:r>
              <a:rPr lang="zh-CN" altLang="en-US" sz="1400" dirty="0">
                <a:solidFill>
                  <a:schemeClr val="tx1"/>
                </a:solidFill>
                <a:latin typeface="Microsoft YaHei UI" panose="020B0503020204020204" pitchFamily="34" charset="-122"/>
                <a:ea typeface="Microsoft YaHei UI" panose="020B0503020204020204" pitchFamily="34" charset="-122"/>
              </a:rPr>
              <a:t> 冠脉</a:t>
            </a:r>
            <a:r>
              <a:rPr lang="en-US" altLang="zh-CN" sz="1400" dirty="0">
                <a:solidFill>
                  <a:schemeClr val="tx1"/>
                </a:solidFill>
                <a:latin typeface="Microsoft YaHei UI" panose="020B0503020204020204" pitchFamily="34" charset="-122"/>
                <a:ea typeface="Microsoft YaHei UI" panose="020B0503020204020204" pitchFamily="34" charset="-122"/>
              </a:rPr>
              <a:t>CT</a:t>
            </a:r>
            <a:r>
              <a:rPr lang="zh-CN" altLang="en-US" sz="1400" dirty="0">
                <a:solidFill>
                  <a:schemeClr val="tx1"/>
                </a:solidFill>
                <a:latin typeface="Microsoft YaHei UI" panose="020B0503020204020204" pitchFamily="34" charset="-122"/>
                <a:ea typeface="Microsoft YaHei UI" panose="020B0503020204020204" pitchFamily="34" charset="-122"/>
              </a:rPr>
              <a:t>造影。</a:t>
            </a:r>
            <a:endParaRPr lang="zh-CN" altLang="en-US" sz="1400" baseline="30000" dirty="0">
              <a:solidFill>
                <a:schemeClr val="tx1"/>
              </a:solidFill>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68" y="1102661"/>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0167" y="1102379"/>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8839" y="1108506"/>
            <a:ext cx="810713" cy="658747"/>
          </a:xfrm>
          <a:prstGeom prst="rect">
            <a:avLst/>
          </a:prstGeom>
        </p:spPr>
      </p:pic>
      <p:sp>
        <p:nvSpPr>
          <p:cNvPr id="23" name="文本框 22"/>
          <p:cNvSpPr txBox="1"/>
          <p:nvPr/>
        </p:nvSpPr>
        <p:spPr>
          <a:xfrm>
            <a:off x="348268" y="1252859"/>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050071" y="1109822"/>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867524" y="1115072"/>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414891" y="472352"/>
            <a:ext cx="4881009"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冠状动脉血运重建指南推荐（</a:t>
            </a:r>
            <a:r>
              <a:rPr lang="en-US" altLang="zh-CN" sz="2400" b="1" dirty="0">
                <a:solidFill>
                  <a:srgbClr val="AE1022"/>
                </a:solidFill>
                <a:latin typeface="Microsoft YaHei UI" panose="020B0503020204020204" pitchFamily="34" charset="-122"/>
                <a:ea typeface="Microsoft YaHei UI" panose="020B0503020204020204" pitchFamily="34" charset="-122"/>
              </a:rPr>
              <a:t>1</a:t>
            </a:r>
            <a:r>
              <a:rPr lang="zh-CN" altLang="en-US" sz="2400" b="1" dirty="0">
                <a:solidFill>
                  <a:srgbClr val="AE1022"/>
                </a:solidFill>
                <a:latin typeface="Microsoft YaHei UI" panose="020B0503020204020204" pitchFamily="34" charset="-122"/>
                <a:ea typeface="Microsoft YaHei UI" panose="020B0503020204020204" pitchFamily="34" charset="-122"/>
              </a:rPr>
              <a:t>）</a:t>
            </a:r>
            <a:endParaRPr lang="zh-CN" altLang="en-US" sz="2400" b="1" dirty="0">
              <a:solidFill>
                <a:srgbClr val="AE1022"/>
              </a:solidFill>
            </a:endParaRP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599" y="1742287"/>
            <a:ext cx="10248169" cy="375008"/>
          </a:xfrm>
          <a:prstGeom prst="rect">
            <a:avLst/>
          </a:prstGeom>
        </p:spPr>
      </p:pic>
      <p:sp>
        <p:nvSpPr>
          <p:cNvPr id="2" name="矩形 1"/>
          <p:cNvSpPr/>
          <p:nvPr/>
        </p:nvSpPr>
        <p:spPr>
          <a:xfrm>
            <a:off x="359602" y="2132462"/>
            <a:ext cx="8578783" cy="204317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推荐对至少符合以下</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项极高风险标准的患者进行立即（＜</a:t>
            </a:r>
            <a:r>
              <a:rPr lang="en-US" altLang="zh-CN" dirty="0">
                <a:latin typeface="Microsoft YaHei UI" panose="020B0503020204020204" pitchFamily="34" charset="-122"/>
                <a:ea typeface="Microsoft YaHei UI" panose="020B0503020204020204" pitchFamily="34" charset="-122"/>
              </a:rPr>
              <a:t>2h</a:t>
            </a:r>
            <a:r>
              <a:rPr lang="zh-CN" altLang="en-US" dirty="0">
                <a:latin typeface="Microsoft YaHei UI" panose="020B0503020204020204" pitchFamily="34" charset="-122"/>
                <a:ea typeface="Microsoft YaHei UI" panose="020B0503020204020204" pitchFamily="34" charset="-122"/>
              </a:rPr>
              <a:t>）侵入治疗策略：</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血流动力学不稳定或心源性休克</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药物治疗无效的反复或难治性胸痛</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危及生命的心律失常</a:t>
            </a:r>
            <a:endParaRPr lang="en-US" altLang="zh-CN" dirty="0">
              <a:latin typeface="Microsoft YaHei UI" panose="020B0503020204020204" pitchFamily="34" charset="-122"/>
              <a:ea typeface="Microsoft YaHei UI" panose="020B0503020204020204" pitchFamily="34" charset="-122"/>
            </a:endParaRPr>
          </a:p>
          <a:p>
            <a:r>
              <a:rPr lang="en-US" altLang="zh-CN" sz="1800" dirty="0">
                <a:solidFill>
                  <a:schemeClr val="tx1"/>
                </a:solidFill>
                <a:latin typeface="Microsoft YaHei UI" panose="020B0503020204020204" pitchFamily="34" charset="-122"/>
                <a:ea typeface="Microsoft YaHei UI" panose="020B0503020204020204" pitchFamily="34" charset="-122"/>
              </a:rPr>
              <a:t>--- MI</a:t>
            </a:r>
            <a:r>
              <a:rPr lang="zh-CN" altLang="en-US" sz="1800" dirty="0">
                <a:solidFill>
                  <a:schemeClr val="tx1"/>
                </a:solidFill>
                <a:latin typeface="Microsoft YaHei UI" panose="020B0503020204020204" pitchFamily="34" charset="-122"/>
                <a:ea typeface="Microsoft YaHei UI" panose="020B0503020204020204" pitchFamily="34" charset="-122"/>
              </a:rPr>
              <a:t>机械并发症；</a:t>
            </a:r>
            <a:endParaRPr lang="en-US" altLang="zh-CN" sz="1800" dirty="0">
              <a:solidFill>
                <a:schemeClr val="tx1"/>
              </a:solidFill>
              <a:latin typeface="Microsoft YaHei UI" panose="020B0503020204020204" pitchFamily="34" charset="-122"/>
              <a:ea typeface="Microsoft YaHei UI" panose="020B0503020204020204" pitchFamily="34" charset="-122"/>
            </a:endParaRPr>
          </a:p>
          <a:p>
            <a:r>
              <a:rPr lang="en-US" altLang="zh-CN" sz="1800" dirty="0">
                <a:solidFill>
                  <a:schemeClr val="tx1"/>
                </a:solidFill>
                <a:latin typeface="Microsoft YaHei UI" panose="020B0503020204020204" pitchFamily="34" charset="-122"/>
                <a:ea typeface="Microsoft YaHei UI" panose="020B0503020204020204" pitchFamily="34" charset="-122"/>
              </a:rPr>
              <a:t>--- </a:t>
            </a:r>
            <a:r>
              <a:rPr lang="zh-CN" altLang="en-US" sz="1800" dirty="0">
                <a:solidFill>
                  <a:schemeClr val="tx1"/>
                </a:solidFill>
                <a:latin typeface="Microsoft YaHei UI" panose="020B0503020204020204" pitchFamily="34" charset="-122"/>
                <a:ea typeface="Microsoft YaHei UI" panose="020B0503020204020204" pitchFamily="34" charset="-122"/>
              </a:rPr>
              <a:t>明确与</a:t>
            </a:r>
            <a:r>
              <a:rPr lang="en-US" altLang="zh-CN" sz="1800" dirty="0">
                <a:solidFill>
                  <a:schemeClr val="tx1"/>
                </a:solidFill>
                <a:latin typeface="Microsoft YaHei UI" panose="020B0503020204020204" pitchFamily="34" charset="-122"/>
                <a:ea typeface="Microsoft YaHei UI" panose="020B0503020204020204" pitchFamily="34" charset="-122"/>
              </a:rPr>
              <a:t>NSTE-ACS</a:t>
            </a:r>
            <a:r>
              <a:rPr lang="zh-CN" altLang="en-US" sz="1800" dirty="0">
                <a:solidFill>
                  <a:schemeClr val="tx1"/>
                </a:solidFill>
                <a:latin typeface="Microsoft YaHei UI" panose="020B0503020204020204" pitchFamily="34" charset="-122"/>
                <a:ea typeface="Microsoft YaHei UI" panose="020B0503020204020204" pitchFamily="34" charset="-122"/>
              </a:rPr>
              <a:t>相关的急性心衰</a:t>
            </a:r>
            <a:endParaRPr lang="en-US" altLang="zh-CN" dirty="0">
              <a:latin typeface="Microsoft YaHei UI" panose="020B0503020204020204" pitchFamily="34" charset="-122"/>
              <a:ea typeface="Microsoft YaHei UI" panose="020B0503020204020204" pitchFamily="34" charset="-122"/>
            </a:endParaRPr>
          </a:p>
          <a:p>
            <a:r>
              <a:rPr lang="en-US" altLang="zh-CN" sz="1800" dirty="0">
                <a:solidFill>
                  <a:schemeClr val="tx1"/>
                </a:solidFill>
                <a:latin typeface="Microsoft YaHei UI" panose="020B0503020204020204" pitchFamily="34" charset="-122"/>
                <a:ea typeface="Microsoft YaHei UI" panose="020B0503020204020204" pitchFamily="34" charset="-122"/>
              </a:rPr>
              <a:t>--- 6</a:t>
            </a:r>
            <a:r>
              <a:rPr lang="zh-CN" altLang="en-US" sz="1800" dirty="0">
                <a:solidFill>
                  <a:schemeClr val="tx1"/>
                </a:solidFill>
                <a:latin typeface="Microsoft YaHei UI" panose="020B0503020204020204" pitchFamily="34" charset="-122"/>
                <a:ea typeface="Microsoft YaHei UI" panose="020B0503020204020204" pitchFamily="34" charset="-122"/>
              </a:rPr>
              <a:t>个导联</a:t>
            </a:r>
            <a:r>
              <a:rPr lang="en-US" altLang="zh-CN" sz="1800" dirty="0">
                <a:solidFill>
                  <a:schemeClr val="tx1"/>
                </a:solidFill>
                <a:latin typeface="Microsoft YaHei UI" panose="020B0503020204020204" pitchFamily="34" charset="-122"/>
                <a:ea typeface="Microsoft YaHei UI" panose="020B0503020204020204" pitchFamily="34" charset="-122"/>
              </a:rPr>
              <a:t>ST</a:t>
            </a:r>
            <a:r>
              <a:rPr lang="zh-CN" altLang="en-US" sz="1800" dirty="0">
                <a:solidFill>
                  <a:schemeClr val="tx1"/>
                </a:solidFill>
                <a:latin typeface="Microsoft YaHei UI" panose="020B0503020204020204" pitchFamily="34" charset="-122"/>
                <a:ea typeface="Microsoft YaHei UI" panose="020B0503020204020204" pitchFamily="34" charset="-122"/>
              </a:rPr>
              <a:t>段压低＞</a:t>
            </a:r>
            <a:r>
              <a:rPr lang="en-US" altLang="zh-CN" sz="1800" dirty="0">
                <a:solidFill>
                  <a:schemeClr val="tx1"/>
                </a:solidFill>
                <a:latin typeface="Microsoft YaHei UI" panose="020B0503020204020204" pitchFamily="34" charset="-122"/>
                <a:ea typeface="Microsoft YaHei UI" panose="020B0503020204020204" pitchFamily="34" charset="-122"/>
              </a:rPr>
              <a:t>1mm</a:t>
            </a:r>
            <a:r>
              <a:rPr lang="zh-CN" altLang="en-US" sz="1800" dirty="0">
                <a:solidFill>
                  <a:schemeClr val="tx1"/>
                </a:solidFill>
                <a:latin typeface="Microsoft YaHei UI" panose="020B0503020204020204" pitchFamily="34" charset="-122"/>
                <a:ea typeface="Microsoft YaHei UI" panose="020B0503020204020204" pitchFamily="34" charset="-122"/>
              </a:rPr>
              <a:t>合并</a:t>
            </a:r>
            <a:r>
              <a:rPr lang="en-US" altLang="zh-CN" sz="1800" dirty="0" err="1">
                <a:solidFill>
                  <a:schemeClr val="tx1"/>
                </a:solidFill>
                <a:latin typeface="Microsoft YaHei UI" panose="020B0503020204020204" pitchFamily="34" charset="-122"/>
                <a:ea typeface="Microsoft YaHei UI" panose="020B0503020204020204" pitchFamily="34" charset="-122"/>
              </a:rPr>
              <a:t>aVR</a:t>
            </a:r>
            <a:r>
              <a:rPr lang="zh-CN" altLang="en-US" sz="1800" dirty="0">
                <a:solidFill>
                  <a:schemeClr val="tx1"/>
                </a:solidFill>
                <a:latin typeface="Microsoft YaHei UI" panose="020B0503020204020204" pitchFamily="34" charset="-122"/>
                <a:ea typeface="Microsoft YaHei UI" panose="020B0503020204020204" pitchFamily="34" charset="-122"/>
              </a:rPr>
              <a:t>或</a:t>
            </a:r>
            <a:r>
              <a:rPr lang="en-US" altLang="zh-CN" sz="1800" dirty="0">
                <a:solidFill>
                  <a:schemeClr val="tx1"/>
                </a:solidFill>
                <a:latin typeface="Microsoft YaHei UI" panose="020B0503020204020204" pitchFamily="34" charset="-122"/>
                <a:ea typeface="Microsoft YaHei UI" panose="020B0503020204020204" pitchFamily="34" charset="-122"/>
              </a:rPr>
              <a:t>V1</a:t>
            </a:r>
            <a:r>
              <a:rPr lang="zh-CN" altLang="en-US" sz="1800" dirty="0">
                <a:solidFill>
                  <a:schemeClr val="tx1"/>
                </a:solidFill>
                <a:latin typeface="Microsoft YaHei UI" panose="020B0503020204020204" pitchFamily="34" charset="-122"/>
                <a:ea typeface="Microsoft YaHei UI" panose="020B0503020204020204" pitchFamily="34" charset="-122"/>
              </a:rPr>
              <a:t>导联</a:t>
            </a:r>
            <a:r>
              <a:rPr lang="en-US" altLang="zh-CN" sz="1800" dirty="0">
                <a:solidFill>
                  <a:schemeClr val="tx1"/>
                </a:solidFill>
                <a:latin typeface="Microsoft YaHei UI" panose="020B0503020204020204" pitchFamily="34" charset="-122"/>
                <a:ea typeface="Microsoft YaHei UI" panose="020B0503020204020204" pitchFamily="34" charset="-122"/>
              </a:rPr>
              <a:t>ST</a:t>
            </a:r>
            <a:r>
              <a:rPr lang="zh-CN" altLang="en-US" sz="1800" dirty="0">
                <a:solidFill>
                  <a:schemeClr val="tx1"/>
                </a:solidFill>
                <a:latin typeface="Microsoft YaHei UI" panose="020B0503020204020204" pitchFamily="34" charset="-122"/>
                <a:ea typeface="Microsoft YaHei UI" panose="020B0503020204020204" pitchFamily="34" charset="-122"/>
              </a:rPr>
              <a:t>段抬高</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sp>
        <p:nvSpPr>
          <p:cNvPr id="20" name="文本框 19"/>
          <p:cNvSpPr txBox="1"/>
          <p:nvPr/>
        </p:nvSpPr>
        <p:spPr>
          <a:xfrm>
            <a:off x="348269" y="1738991"/>
            <a:ext cx="39360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侵入性治疗的时机</a:t>
            </a:r>
          </a:p>
        </p:txBody>
      </p:sp>
      <p:sp>
        <p:nvSpPr>
          <p:cNvPr id="12" name="矩形 11"/>
          <p:cNvSpPr/>
          <p:nvPr/>
        </p:nvSpPr>
        <p:spPr>
          <a:xfrm>
            <a:off x="353935" y="4204977"/>
            <a:ext cx="8578783" cy="150231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推荐对符合以下任何</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项高风险标准的患者进行早期（＜</a:t>
            </a:r>
            <a:r>
              <a:rPr lang="en-US" altLang="zh-CN" dirty="0">
                <a:latin typeface="Microsoft YaHei UI" panose="020B0503020204020204" pitchFamily="34" charset="-122"/>
                <a:ea typeface="Microsoft YaHei UI" panose="020B0503020204020204" pitchFamily="34" charset="-122"/>
              </a:rPr>
              <a:t>24h</a:t>
            </a:r>
            <a:r>
              <a:rPr lang="zh-CN" altLang="en-US" dirty="0">
                <a:latin typeface="Microsoft YaHei UI" panose="020B0503020204020204" pitchFamily="34" charset="-122"/>
                <a:ea typeface="Microsoft YaHei UI" panose="020B0503020204020204" pitchFamily="34" charset="-122"/>
              </a:rPr>
              <a:t>）侵入治疗策略：</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sz="1800" dirty="0">
                <a:solidFill>
                  <a:schemeClr val="tx1"/>
                </a:solidFill>
                <a:latin typeface="Microsoft YaHei UI" panose="020B0503020204020204" pitchFamily="34" charset="-122"/>
                <a:ea typeface="Microsoft YaHei UI" panose="020B0503020204020204" pitchFamily="34" charset="-122"/>
              </a:rPr>
              <a:t>已明确诊断的</a:t>
            </a:r>
            <a:r>
              <a:rPr lang="en-US" altLang="zh-CN" sz="1800" dirty="0">
                <a:solidFill>
                  <a:schemeClr val="tx1"/>
                </a:solidFill>
                <a:latin typeface="Microsoft YaHei UI" panose="020B0503020204020204" pitchFamily="34" charset="-122"/>
                <a:ea typeface="Microsoft YaHei UI" panose="020B0503020204020204" pitchFamily="34" charset="-122"/>
              </a:rPr>
              <a:t>NSTEMI</a:t>
            </a:r>
          </a:p>
          <a:p>
            <a:r>
              <a:rPr lang="en-US" altLang="zh-CN" sz="1800" dirty="0">
                <a:solidFill>
                  <a:schemeClr val="tx1"/>
                </a:solidFill>
                <a:latin typeface="Microsoft YaHei UI" panose="020B0503020204020204" pitchFamily="34" charset="-122"/>
                <a:ea typeface="Microsoft YaHei UI" panose="020B0503020204020204" pitchFamily="34" charset="-122"/>
              </a:rPr>
              <a:t>--- </a:t>
            </a:r>
            <a:r>
              <a:rPr lang="zh-CN" altLang="en-US" sz="1800" dirty="0">
                <a:solidFill>
                  <a:schemeClr val="tx1"/>
                </a:solidFill>
                <a:latin typeface="Microsoft YaHei UI" panose="020B0503020204020204" pitchFamily="34" charset="-122"/>
                <a:ea typeface="Microsoft YaHei UI" panose="020B0503020204020204" pitchFamily="34" charset="-122"/>
              </a:rPr>
              <a:t>提示持续性缺血症状的新发动态或可能新发连续的</a:t>
            </a:r>
            <a:r>
              <a:rPr lang="en-US" altLang="zh-CN" sz="1800" dirty="0">
                <a:solidFill>
                  <a:schemeClr val="tx1"/>
                </a:solidFill>
                <a:latin typeface="Microsoft YaHei UI" panose="020B0503020204020204" pitchFamily="34" charset="-122"/>
                <a:ea typeface="Microsoft YaHei UI" panose="020B0503020204020204" pitchFamily="34" charset="-122"/>
              </a:rPr>
              <a:t>ST/T</a:t>
            </a:r>
            <a:r>
              <a:rPr lang="zh-CN" altLang="en-US" sz="1800" dirty="0">
                <a:solidFill>
                  <a:schemeClr val="tx1"/>
                </a:solidFill>
                <a:latin typeface="Microsoft YaHei UI" panose="020B0503020204020204" pitchFamily="34" charset="-122"/>
                <a:ea typeface="Microsoft YaHei UI" panose="020B0503020204020204" pitchFamily="34" charset="-122"/>
              </a:rPr>
              <a:t>段改变</a:t>
            </a:r>
            <a:endParaRPr lang="en-US" altLang="zh-CN" sz="1800" dirty="0">
              <a:solidFill>
                <a:schemeClr val="tx1"/>
              </a:solidFill>
              <a:latin typeface="Microsoft YaHei UI" panose="020B0503020204020204" pitchFamily="34" charset="-122"/>
              <a:ea typeface="Microsoft YaHei UI" panose="020B0503020204020204" pitchFamily="34" charset="-122"/>
            </a:endParaRPr>
          </a:p>
          <a:p>
            <a:r>
              <a:rPr lang="en-US" altLang="zh-CN" sz="1800" dirty="0">
                <a:solidFill>
                  <a:schemeClr val="tx1"/>
                </a:solidFill>
                <a:latin typeface="Microsoft YaHei UI" panose="020B0503020204020204" pitchFamily="34" charset="-122"/>
                <a:ea typeface="Microsoft YaHei UI" panose="020B0503020204020204" pitchFamily="34" charset="-122"/>
              </a:rPr>
              <a:t>--- </a:t>
            </a:r>
            <a:r>
              <a:rPr lang="zh-CN" altLang="en-US" sz="1800" dirty="0">
                <a:solidFill>
                  <a:schemeClr val="tx1"/>
                </a:solidFill>
                <a:latin typeface="Microsoft YaHei UI" panose="020B0503020204020204" pitchFamily="34" charset="-122"/>
                <a:ea typeface="Microsoft YaHei UI" panose="020B0503020204020204" pitchFamily="34" charset="-122"/>
              </a:rPr>
              <a:t>一过性</a:t>
            </a:r>
            <a:r>
              <a:rPr lang="en-US" altLang="zh-CN" sz="1800" dirty="0">
                <a:solidFill>
                  <a:schemeClr val="tx1"/>
                </a:solidFill>
                <a:latin typeface="Microsoft YaHei UI" panose="020B0503020204020204" pitchFamily="34" charset="-122"/>
                <a:ea typeface="Microsoft YaHei UI" panose="020B0503020204020204" pitchFamily="34" charset="-122"/>
              </a:rPr>
              <a:t>ST</a:t>
            </a:r>
            <a:r>
              <a:rPr lang="zh-CN" altLang="en-US" sz="1800" dirty="0">
                <a:solidFill>
                  <a:schemeClr val="tx1"/>
                </a:solidFill>
                <a:latin typeface="Microsoft YaHei UI" panose="020B0503020204020204" pitchFamily="34" charset="-122"/>
                <a:ea typeface="Microsoft YaHei UI" panose="020B0503020204020204" pitchFamily="34" charset="-122"/>
              </a:rPr>
              <a:t>段抬高</a:t>
            </a:r>
            <a:endParaRPr lang="en-US" altLang="zh-CN" sz="1800" dirty="0">
              <a:solidFill>
                <a:schemeClr val="tx1"/>
              </a:solidFill>
              <a:latin typeface="Microsoft YaHei UI" panose="020B0503020204020204" pitchFamily="34" charset="-122"/>
              <a:ea typeface="Microsoft YaHei UI" panose="020B0503020204020204" pitchFamily="34" charset="-122"/>
            </a:endParaRPr>
          </a:p>
          <a:p>
            <a:r>
              <a:rPr lang="en-US" altLang="zh-CN" sz="1800" dirty="0">
                <a:solidFill>
                  <a:schemeClr val="tx1"/>
                </a:solidFill>
                <a:latin typeface="Microsoft YaHei UI" panose="020B0503020204020204" pitchFamily="34" charset="-122"/>
                <a:ea typeface="Microsoft YaHei UI" panose="020B0503020204020204" pitchFamily="34" charset="-122"/>
              </a:rPr>
              <a:t>--- GRACE</a:t>
            </a:r>
            <a:r>
              <a:rPr lang="zh-CN" altLang="en-US" sz="1800" dirty="0">
                <a:solidFill>
                  <a:schemeClr val="tx1"/>
                </a:solidFill>
                <a:latin typeface="Microsoft YaHei UI" panose="020B0503020204020204" pitchFamily="34" charset="-122"/>
                <a:ea typeface="Microsoft YaHei UI" panose="020B0503020204020204" pitchFamily="34" charset="-122"/>
              </a:rPr>
              <a:t>风险评分＞</a:t>
            </a:r>
            <a:r>
              <a:rPr lang="en-US" altLang="zh-CN" sz="1800" dirty="0">
                <a:solidFill>
                  <a:schemeClr val="tx1"/>
                </a:solidFill>
                <a:latin typeface="Microsoft YaHei UI" panose="020B0503020204020204" pitchFamily="34" charset="-122"/>
                <a:ea typeface="Microsoft YaHei UI" panose="020B0503020204020204" pitchFamily="34" charset="-122"/>
              </a:rPr>
              <a:t>140</a:t>
            </a:r>
            <a:r>
              <a:rPr lang="zh-CN" altLang="en-US" sz="1800" dirty="0">
                <a:solidFill>
                  <a:schemeClr val="tx1"/>
                </a:solidFill>
                <a:latin typeface="Microsoft YaHei UI" panose="020B0503020204020204" pitchFamily="34" charset="-122"/>
                <a:ea typeface="Microsoft YaHei UI" panose="020B0503020204020204" pitchFamily="34" charset="-122"/>
              </a:rPr>
              <a:t>分</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pic>
        <p:nvPicPr>
          <p:cNvPr id="15" name="图片 14"/>
          <p:cNvPicPr>
            <a:picLocks noChangeAspect="1"/>
          </p:cNvPicPr>
          <p:nvPr/>
        </p:nvPicPr>
        <p:blipFill rotWithShape="1">
          <a:blip r:embed="rId4">
            <a:extLst>
              <a:ext uri="{28A0092B-C50C-407E-A947-70E740481C1C}">
                <a14:useLocalDpi xmlns:a14="http://schemas.microsoft.com/office/drawing/2010/main" val="0"/>
              </a:ext>
            </a:extLst>
          </a:blip>
          <a:srcRect t="12419" b="57292"/>
          <a:stretch>
            <a:fillRect/>
          </a:stretch>
        </p:blipFill>
        <p:spPr>
          <a:xfrm>
            <a:off x="8949716" y="2132462"/>
            <a:ext cx="1686380" cy="2043173"/>
          </a:xfrm>
          <a:prstGeom prst="rect">
            <a:avLst/>
          </a:prstGeom>
        </p:spPr>
      </p:pic>
      <p:pic>
        <p:nvPicPr>
          <p:cNvPr id="16" name="图片 15"/>
          <p:cNvPicPr>
            <a:picLocks noChangeAspect="1"/>
          </p:cNvPicPr>
          <p:nvPr/>
        </p:nvPicPr>
        <p:blipFill rotWithShape="1">
          <a:blip r:embed="rId4">
            <a:extLst>
              <a:ext uri="{28A0092B-C50C-407E-A947-70E740481C1C}">
                <a14:useLocalDpi xmlns:a14="http://schemas.microsoft.com/office/drawing/2010/main" val="0"/>
              </a:ext>
            </a:extLst>
          </a:blip>
          <a:srcRect t="66687" b="11041"/>
          <a:stretch>
            <a:fillRect/>
          </a:stretch>
        </p:blipFill>
        <p:spPr>
          <a:xfrm>
            <a:off x="8947627" y="4204977"/>
            <a:ext cx="1686380" cy="1502317"/>
          </a:xfrm>
          <a:prstGeom prst="rect">
            <a:avLst/>
          </a:prstGeom>
        </p:spPr>
      </p:pic>
      <p:sp>
        <p:nvSpPr>
          <p:cNvPr id="26" name="文本框 25"/>
          <p:cNvSpPr txBox="1"/>
          <p:nvPr/>
        </p:nvSpPr>
        <p:spPr>
          <a:xfrm>
            <a:off x="10599341" y="4740125"/>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3" name="矩形: 圆角 2"/>
          <p:cNvSpPr/>
          <p:nvPr/>
        </p:nvSpPr>
        <p:spPr>
          <a:xfrm>
            <a:off x="209408" y="4171406"/>
            <a:ext cx="11224517" cy="1569458"/>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9237" b="26430"/>
          <a:stretch>
            <a:fillRect/>
          </a:stretch>
        </p:blipFill>
        <p:spPr>
          <a:xfrm>
            <a:off x="8948609" y="2638170"/>
            <a:ext cx="1690185" cy="695796"/>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268" y="938277"/>
            <a:ext cx="8590118" cy="669729"/>
          </a:xfrm>
          <a:prstGeom prst="rect">
            <a:avLst/>
          </a:prstGeom>
        </p:spPr>
      </p:pic>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0167" y="937995"/>
            <a:ext cx="788182" cy="664874"/>
          </a:xfrm>
          <a:prstGeom prst="rect">
            <a:avLst/>
          </a:prstGeom>
        </p:spPr>
      </p:pic>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8839" y="944122"/>
            <a:ext cx="810713" cy="658747"/>
          </a:xfrm>
          <a:prstGeom prst="rect">
            <a:avLst/>
          </a:prstGeom>
        </p:spPr>
      </p:pic>
      <p:sp>
        <p:nvSpPr>
          <p:cNvPr id="23" name="文本框 22"/>
          <p:cNvSpPr txBox="1"/>
          <p:nvPr/>
        </p:nvSpPr>
        <p:spPr>
          <a:xfrm>
            <a:off x="348268" y="1088475"/>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050071" y="945438"/>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867524" y="950688"/>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414891" y="307968"/>
            <a:ext cx="4680984"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冠状动脉血运重建指南推荐（</a:t>
            </a:r>
            <a:r>
              <a:rPr lang="en-US" altLang="zh-CN" sz="2400" b="1" dirty="0">
                <a:solidFill>
                  <a:srgbClr val="AE1022"/>
                </a:solidFill>
                <a:latin typeface="Microsoft YaHei UI" panose="020B0503020204020204" pitchFamily="34" charset="-122"/>
                <a:ea typeface="Microsoft YaHei UI" panose="020B0503020204020204" pitchFamily="34" charset="-122"/>
              </a:rPr>
              <a:t>2</a:t>
            </a:r>
            <a:r>
              <a:rPr lang="zh-CN" altLang="en-US" sz="2400" b="1" dirty="0">
                <a:solidFill>
                  <a:srgbClr val="AE1022"/>
                </a:solidFill>
                <a:latin typeface="Microsoft YaHei UI" panose="020B0503020204020204" pitchFamily="34" charset="-122"/>
                <a:ea typeface="Microsoft YaHei UI" panose="020B0503020204020204" pitchFamily="34" charset="-122"/>
              </a:rPr>
              <a:t>）</a:t>
            </a:r>
            <a:endParaRPr lang="zh-CN" altLang="en-US" sz="2400" b="1" dirty="0">
              <a:solidFill>
                <a:srgbClr val="AE1022"/>
              </a:solidFill>
            </a:endParaRPr>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599" y="1577903"/>
            <a:ext cx="10248169" cy="375008"/>
          </a:xfrm>
          <a:prstGeom prst="rect">
            <a:avLst/>
          </a:prstGeom>
        </p:spPr>
      </p:pic>
      <p:sp>
        <p:nvSpPr>
          <p:cNvPr id="2" name="矩形 1"/>
          <p:cNvSpPr/>
          <p:nvPr/>
        </p:nvSpPr>
        <p:spPr>
          <a:xfrm>
            <a:off x="359602" y="1968078"/>
            <a:ext cx="8578783" cy="61418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对于考虑低风险的患者，推荐在适当的缺血测试或经冠脉</a:t>
            </a:r>
            <a:r>
              <a:rPr lang="en-US" altLang="zh-CN" dirty="0">
                <a:latin typeface="Microsoft YaHei UI" panose="020B0503020204020204" pitchFamily="34" charset="-122"/>
                <a:ea typeface="Microsoft YaHei UI" panose="020B0503020204020204" pitchFamily="34" charset="-122"/>
              </a:rPr>
              <a:t>CT</a:t>
            </a:r>
            <a:r>
              <a:rPr lang="zh-CN" altLang="en-US" dirty="0">
                <a:latin typeface="Microsoft YaHei UI" panose="020B0503020204020204" pitchFamily="34" charset="-122"/>
                <a:ea typeface="Microsoft YaHei UI" panose="020B0503020204020204" pitchFamily="34" charset="-122"/>
              </a:rPr>
              <a:t>造影探查有否阻塞性冠心病后，行择期侵入性治疗</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sp>
        <p:nvSpPr>
          <p:cNvPr id="20" name="文本框 19"/>
          <p:cNvSpPr txBox="1"/>
          <p:nvPr/>
        </p:nvSpPr>
        <p:spPr>
          <a:xfrm>
            <a:off x="348269" y="1574607"/>
            <a:ext cx="39360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侵入性治疗的时机</a:t>
            </a:r>
          </a:p>
        </p:txBody>
      </p:sp>
      <p:sp>
        <p:nvSpPr>
          <p:cNvPr id="12" name="矩形 11"/>
          <p:cNvSpPr/>
          <p:nvPr/>
        </p:nvSpPr>
        <p:spPr>
          <a:xfrm>
            <a:off x="354673" y="2633033"/>
            <a:ext cx="8578045" cy="69579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solidFill>
                  <a:schemeClr val="tx1"/>
                </a:solidFill>
                <a:latin typeface="Microsoft YaHei UI" panose="020B0503020204020204" pitchFamily="34" charset="-122"/>
                <a:ea typeface="Microsoft YaHei UI" panose="020B0503020204020204" pitchFamily="34" charset="-122"/>
              </a:rPr>
              <a:t>对于院外心脏骤停被成功复苏后血流动力学稳定的无</a:t>
            </a:r>
            <a:r>
              <a:rPr lang="en-US" altLang="zh-CN" sz="1800" dirty="0">
                <a:solidFill>
                  <a:schemeClr val="tx1"/>
                </a:solidFill>
                <a:latin typeface="Microsoft YaHei UI" panose="020B0503020204020204" pitchFamily="34" charset="-122"/>
                <a:ea typeface="Microsoft YaHei UI" panose="020B0503020204020204" pitchFamily="34" charset="-122"/>
              </a:rPr>
              <a:t>ST</a:t>
            </a:r>
            <a:r>
              <a:rPr lang="zh-CN" altLang="en-US" sz="1800" dirty="0">
                <a:solidFill>
                  <a:schemeClr val="tx1"/>
                </a:solidFill>
                <a:latin typeface="Microsoft YaHei UI" panose="020B0503020204020204" pitchFamily="34" charset="-122"/>
                <a:ea typeface="Microsoft YaHei UI" panose="020B0503020204020204" pitchFamily="34" charset="-122"/>
              </a:rPr>
              <a:t>段抬高患者，应考虑延迟冠脉造影，而不是立即冠脉造影</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pic>
        <p:nvPicPr>
          <p:cNvPr id="16" name="图片 15"/>
          <p:cNvPicPr>
            <a:picLocks noChangeAspect="1"/>
          </p:cNvPicPr>
          <p:nvPr/>
        </p:nvPicPr>
        <p:blipFill rotWithShape="1">
          <a:blip r:embed="rId5">
            <a:extLst>
              <a:ext uri="{28A0092B-C50C-407E-A947-70E740481C1C}">
                <a14:useLocalDpi xmlns:a14="http://schemas.microsoft.com/office/drawing/2010/main" val="0"/>
              </a:ext>
            </a:extLst>
          </a:blip>
          <a:srcRect t="72521" b="18406"/>
          <a:stretch>
            <a:fillRect/>
          </a:stretch>
        </p:blipFill>
        <p:spPr>
          <a:xfrm>
            <a:off x="8940238" y="1973215"/>
            <a:ext cx="1686380" cy="627459"/>
          </a:xfrm>
          <a:prstGeom prst="rect">
            <a:avLst/>
          </a:prstGeom>
        </p:spPr>
      </p:pic>
      <p:sp>
        <p:nvSpPr>
          <p:cNvPr id="26" name="文本框 25"/>
          <p:cNvSpPr txBox="1"/>
          <p:nvPr/>
        </p:nvSpPr>
        <p:spPr>
          <a:xfrm>
            <a:off x="10617837" y="2710671"/>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673" y="3356152"/>
            <a:ext cx="10248169" cy="375008"/>
          </a:xfrm>
          <a:prstGeom prst="rect">
            <a:avLst/>
          </a:prstGeom>
        </p:spPr>
      </p:pic>
      <p:sp>
        <p:nvSpPr>
          <p:cNvPr id="11" name="文本框 10"/>
          <p:cNvSpPr txBox="1"/>
          <p:nvPr/>
        </p:nvSpPr>
        <p:spPr>
          <a:xfrm>
            <a:off x="338044" y="3355182"/>
            <a:ext cx="111061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技术因素</a:t>
            </a:r>
          </a:p>
        </p:txBody>
      </p:sp>
      <p:sp>
        <p:nvSpPr>
          <p:cNvPr id="13" name="矩形 12"/>
          <p:cNvSpPr/>
          <p:nvPr/>
        </p:nvSpPr>
        <p:spPr>
          <a:xfrm>
            <a:off x="354674" y="3749590"/>
            <a:ext cx="8580428" cy="37500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除存在其它关键的操作考虑外，推荐将桡动脉入路作为标准入路途径</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pic>
        <p:nvPicPr>
          <p:cNvPr id="14" name="图片 13"/>
          <p:cNvPicPr>
            <a:picLocks noChangeAspect="1"/>
          </p:cNvPicPr>
          <p:nvPr/>
        </p:nvPicPr>
        <p:blipFill rotWithShape="1">
          <a:blip r:embed="rId5">
            <a:extLst>
              <a:ext uri="{28A0092B-C50C-407E-A947-70E740481C1C}">
                <a14:useLocalDpi xmlns:a14="http://schemas.microsoft.com/office/drawing/2010/main" val="0"/>
              </a:ext>
            </a:extLst>
          </a:blip>
          <a:srcRect t="74536" b="20283"/>
          <a:stretch>
            <a:fillRect/>
          </a:stretch>
        </p:blipFill>
        <p:spPr>
          <a:xfrm>
            <a:off x="8935101" y="3749590"/>
            <a:ext cx="1686380" cy="375008"/>
          </a:xfrm>
          <a:prstGeom prst="rect">
            <a:avLst/>
          </a:prstGeom>
        </p:spPr>
      </p:pic>
      <p:sp>
        <p:nvSpPr>
          <p:cNvPr id="17" name="矩形 16"/>
          <p:cNvSpPr/>
          <p:nvPr/>
        </p:nvSpPr>
        <p:spPr>
          <a:xfrm>
            <a:off x="353113" y="4162194"/>
            <a:ext cx="8580428" cy="180195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对于任何</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，均推荐药物洗脱支架优先于裸金属支架，无论以下情况如何：</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临床表现</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病变类型</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计划非心脏手术</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预期的</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时程</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同时进行抗凝治疗</a:t>
            </a:r>
            <a:endParaRPr lang="en-US" altLang="zh-CN" dirty="0">
              <a:latin typeface="Microsoft YaHei UI" panose="020B0503020204020204" pitchFamily="34" charset="-122"/>
              <a:ea typeface="Microsoft YaHei UI" panose="020B0503020204020204" pitchFamily="34" charset="-122"/>
            </a:endParaRPr>
          </a:p>
        </p:txBody>
      </p:sp>
      <p:sp>
        <p:nvSpPr>
          <p:cNvPr id="18" name="文本框 17"/>
          <p:cNvSpPr txBox="1"/>
          <p:nvPr/>
        </p:nvSpPr>
        <p:spPr>
          <a:xfrm>
            <a:off x="10617837" y="2040331"/>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pic>
        <p:nvPicPr>
          <p:cNvPr id="38" name="图片 37"/>
          <p:cNvPicPr>
            <a:picLocks noChangeAspect="1"/>
          </p:cNvPicPr>
          <p:nvPr/>
        </p:nvPicPr>
        <p:blipFill rotWithShape="1">
          <a:blip r:embed="rId6">
            <a:extLst>
              <a:ext uri="{28A0092B-C50C-407E-A947-70E740481C1C}">
                <a14:useLocalDpi xmlns:a14="http://schemas.microsoft.com/office/drawing/2010/main" val="0"/>
              </a:ext>
            </a:extLst>
          </a:blip>
          <a:srcRect t="11501" b="5381"/>
          <a:stretch>
            <a:fillRect/>
          </a:stretch>
        </p:blipFill>
        <p:spPr>
          <a:xfrm>
            <a:off x="8949619" y="4167331"/>
            <a:ext cx="1668627" cy="1801957"/>
          </a:xfrm>
          <a:prstGeom prst="rect">
            <a:avLst/>
          </a:prstGeom>
        </p:spPr>
      </p:pic>
      <p:sp>
        <p:nvSpPr>
          <p:cNvPr id="3" name="矩形: 圆角 2"/>
          <p:cNvSpPr/>
          <p:nvPr/>
        </p:nvSpPr>
        <p:spPr>
          <a:xfrm>
            <a:off x="277982" y="1952702"/>
            <a:ext cx="11224517" cy="1433820"/>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735" y="1344107"/>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2634" y="1343825"/>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1306" y="1349952"/>
            <a:ext cx="810713" cy="658747"/>
          </a:xfrm>
          <a:prstGeom prst="rect">
            <a:avLst/>
          </a:prstGeom>
        </p:spPr>
      </p:pic>
      <p:sp>
        <p:nvSpPr>
          <p:cNvPr id="23" name="文本框 22"/>
          <p:cNvSpPr txBox="1"/>
          <p:nvPr/>
        </p:nvSpPr>
        <p:spPr>
          <a:xfrm>
            <a:off x="440735" y="1494305"/>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142538" y="1351268"/>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9959991" y="1356518"/>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430511" y="536714"/>
            <a:ext cx="4893964"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冠状动脉血运重建指南推荐（</a:t>
            </a:r>
            <a:r>
              <a:rPr lang="en-US" altLang="zh-CN" sz="2400" b="1" dirty="0">
                <a:solidFill>
                  <a:srgbClr val="AE1022"/>
                </a:solidFill>
                <a:latin typeface="Microsoft YaHei UI" panose="020B0503020204020204" pitchFamily="34" charset="-122"/>
                <a:ea typeface="Microsoft YaHei UI" panose="020B0503020204020204" pitchFamily="34" charset="-122"/>
              </a:rPr>
              <a:t>3</a:t>
            </a:r>
            <a:r>
              <a:rPr lang="zh-CN" altLang="en-US" sz="2400" b="1" dirty="0">
                <a:solidFill>
                  <a:srgbClr val="AE1022"/>
                </a:solidFill>
                <a:latin typeface="Microsoft YaHei UI" panose="020B0503020204020204" pitchFamily="34" charset="-122"/>
                <a:ea typeface="Microsoft YaHei UI" panose="020B0503020204020204" pitchFamily="34" charset="-122"/>
              </a:rPr>
              <a:t>）</a:t>
            </a:r>
            <a:endParaRPr lang="zh-CN" altLang="en-US" sz="2400" b="1" dirty="0">
              <a:solidFill>
                <a:srgbClr val="AE1022"/>
              </a:solidFill>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77" y="1984556"/>
            <a:ext cx="10248169" cy="375008"/>
          </a:xfrm>
          <a:prstGeom prst="rect">
            <a:avLst/>
          </a:prstGeom>
        </p:spPr>
      </p:pic>
      <p:sp>
        <p:nvSpPr>
          <p:cNvPr id="11" name="文本框 10"/>
          <p:cNvSpPr txBox="1"/>
          <p:nvPr/>
        </p:nvSpPr>
        <p:spPr>
          <a:xfrm>
            <a:off x="430511" y="1983586"/>
            <a:ext cx="111061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技术因素</a:t>
            </a:r>
          </a:p>
        </p:txBody>
      </p:sp>
      <p:sp>
        <p:nvSpPr>
          <p:cNvPr id="13" name="矩形 12"/>
          <p:cNvSpPr/>
          <p:nvPr/>
        </p:nvSpPr>
        <p:spPr>
          <a:xfrm>
            <a:off x="447140" y="3642607"/>
            <a:ext cx="8580428" cy="29152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应考虑对无心源性休克的多血管病变</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患者行完全血运重建</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sp>
        <p:nvSpPr>
          <p:cNvPr id="17" name="矩形 16"/>
          <p:cNvSpPr/>
          <p:nvPr/>
        </p:nvSpPr>
        <p:spPr>
          <a:xfrm>
            <a:off x="445580" y="2379637"/>
            <a:ext cx="8580428" cy="120410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根据稳定性冠心病处理原则，推荐根据患者的临床状况、合并症及疾病的严重程度</a:t>
            </a:r>
            <a:r>
              <a:rPr lang="en-US" altLang="zh-CN" sz="1800" dirty="0">
                <a:latin typeface="Microsoft YaHei UI" panose="020B0503020204020204" pitchFamily="34" charset="-122"/>
                <a:ea typeface="Microsoft YaHei UI" panose="020B0503020204020204" pitchFamily="34" charset="-122"/>
              </a:rPr>
              <a:t>[</a:t>
            </a:r>
            <a:r>
              <a:rPr lang="zh-CN" altLang="en-US" sz="1800" dirty="0">
                <a:latin typeface="Microsoft YaHei UI" panose="020B0503020204020204" pitchFamily="34" charset="-122"/>
                <a:ea typeface="Microsoft YaHei UI" panose="020B0503020204020204" pitchFamily="34" charset="-122"/>
              </a:rPr>
              <a:t>即病变分布和冠脉造影提示的病变特征</a:t>
            </a:r>
            <a:r>
              <a:rPr lang="zh-CN" altLang="en-US" dirty="0">
                <a:latin typeface="Microsoft YaHei UI" panose="020B0503020204020204" pitchFamily="34" charset="-122"/>
                <a:ea typeface="Microsoft YaHei UI" panose="020B0503020204020204" pitchFamily="34" charset="-122"/>
              </a:rPr>
              <a:t>（</a:t>
            </a:r>
            <a:r>
              <a:rPr lang="zh-CN" altLang="en-US" sz="1800" dirty="0">
                <a:latin typeface="Microsoft YaHei UI" panose="020B0503020204020204" pitchFamily="34" charset="-122"/>
                <a:ea typeface="Microsoft YaHei UI" panose="020B0503020204020204" pitchFamily="34" charset="-122"/>
              </a:rPr>
              <a:t>如</a:t>
            </a:r>
            <a:r>
              <a:rPr lang="en-US" altLang="zh-CN" sz="1800" dirty="0">
                <a:latin typeface="Microsoft YaHei UI" panose="020B0503020204020204" pitchFamily="34" charset="-122"/>
                <a:ea typeface="Microsoft YaHei UI" panose="020B0503020204020204" pitchFamily="34" charset="-122"/>
              </a:rPr>
              <a:t>SYNTAX</a:t>
            </a:r>
            <a:r>
              <a:rPr lang="zh-CN" altLang="en-US" sz="1800" dirty="0">
                <a:latin typeface="Microsoft YaHei UI" panose="020B0503020204020204" pitchFamily="34" charset="-122"/>
                <a:ea typeface="Microsoft YaHei UI" panose="020B0503020204020204" pitchFamily="34" charset="-122"/>
              </a:rPr>
              <a:t>评分</a:t>
            </a:r>
            <a:r>
              <a:rPr lang="zh-CN" altLang="en-US" dirty="0">
                <a:latin typeface="Microsoft YaHei UI" panose="020B0503020204020204" pitchFamily="34" charset="-122"/>
                <a:ea typeface="Microsoft YaHei UI" panose="020B0503020204020204" pitchFamily="34" charset="-122"/>
              </a:rPr>
              <a:t>）</a:t>
            </a:r>
            <a:r>
              <a:rPr lang="en-US" altLang="zh-CN" sz="1800" dirty="0">
                <a:latin typeface="Microsoft YaHei UI" panose="020B0503020204020204" pitchFamily="34" charset="-122"/>
                <a:ea typeface="Microsoft YaHei UI" panose="020B0503020204020204" pitchFamily="34" charset="-122"/>
              </a:rPr>
              <a:t>]</a:t>
            </a:r>
            <a:r>
              <a:rPr lang="zh-CN" altLang="en-US" sz="1800" dirty="0">
                <a:latin typeface="Microsoft YaHei UI" panose="020B0503020204020204" pitchFamily="34" charset="-122"/>
                <a:ea typeface="Microsoft YaHei UI" panose="020B0503020204020204" pitchFamily="34" charset="-122"/>
              </a:rPr>
              <a:t>，制定血运重建策略</a:t>
            </a:r>
            <a:r>
              <a:rPr lang="en-US" altLang="zh-CN" sz="1800" dirty="0">
                <a:latin typeface="Microsoft YaHei UI" panose="020B0503020204020204" pitchFamily="34" charset="-122"/>
                <a:ea typeface="Microsoft YaHei UI" panose="020B0503020204020204" pitchFamily="34" charset="-122"/>
              </a:rPr>
              <a:t>(</a:t>
            </a:r>
            <a:r>
              <a:rPr lang="zh-CN" altLang="en-US" sz="1800" dirty="0">
                <a:latin typeface="Microsoft YaHei UI" panose="020B0503020204020204" pitchFamily="34" charset="-122"/>
                <a:ea typeface="Microsoft YaHei UI" panose="020B0503020204020204" pitchFamily="34" charset="-122"/>
              </a:rPr>
              <a:t>专门针对罪犯病变的</a:t>
            </a:r>
            <a:r>
              <a:rPr lang="en-US" altLang="zh-CN" sz="1800" dirty="0">
                <a:latin typeface="Microsoft YaHei UI" panose="020B0503020204020204" pitchFamily="34" charset="-122"/>
                <a:ea typeface="Microsoft YaHei UI" panose="020B0503020204020204" pitchFamily="34" charset="-122"/>
              </a:rPr>
              <a:t>PCI/</a:t>
            </a:r>
            <a:r>
              <a:rPr lang="zh-CN" altLang="en-US" sz="1800" dirty="0">
                <a:latin typeface="Microsoft YaHei UI" panose="020B0503020204020204" pitchFamily="34" charset="-122"/>
                <a:ea typeface="Microsoft YaHei UI" panose="020B0503020204020204" pitchFamily="34" charset="-122"/>
              </a:rPr>
              <a:t>多支血管病变</a:t>
            </a:r>
            <a:r>
              <a:rPr lang="en-US" altLang="zh-CN" sz="1800" dirty="0">
                <a:latin typeface="Microsoft YaHei UI" panose="020B0503020204020204" pitchFamily="34" charset="-122"/>
                <a:ea typeface="Microsoft YaHei UI" panose="020B0503020204020204" pitchFamily="34" charset="-122"/>
              </a:rPr>
              <a:t>PCI/CABG)</a:t>
            </a:r>
            <a:r>
              <a:rPr lang="zh-CN" altLang="en-US" sz="1800" dirty="0">
                <a:latin typeface="Microsoft YaHei UI" panose="020B0503020204020204" pitchFamily="34" charset="-122"/>
                <a:ea typeface="Microsoft YaHei UI" panose="020B0503020204020204" pitchFamily="34" charset="-122"/>
              </a:rPr>
              <a:t>。但是，针对罪犯狭窄病变的直接</a:t>
            </a:r>
            <a:r>
              <a:rPr lang="en-US" altLang="zh-CN" dirty="0">
                <a:latin typeface="Microsoft YaHei UI" panose="020B0503020204020204" pitchFamily="34" charset="-122"/>
                <a:ea typeface="Microsoft YaHei UI" panose="020B0503020204020204" pitchFamily="34" charset="-122"/>
              </a:rPr>
              <a:t>PCI</a:t>
            </a:r>
            <a:r>
              <a:rPr lang="zh-CN" altLang="en-US" sz="1800" dirty="0">
                <a:latin typeface="Microsoft YaHei UI" panose="020B0503020204020204" pitchFamily="34" charset="-122"/>
                <a:ea typeface="Microsoft YaHei UI" panose="020B0503020204020204" pitchFamily="34" charset="-122"/>
              </a:rPr>
              <a:t>不需要心脏团队会诊</a:t>
            </a:r>
            <a:endParaRPr lang="en-US" altLang="zh-CN" dirty="0">
              <a:latin typeface="Microsoft YaHei UI" panose="020B0503020204020204" pitchFamily="34" charset="-122"/>
              <a:ea typeface="Microsoft YaHei UI" panose="020B0503020204020204" pitchFamily="34" charset="-122"/>
            </a:endParaRPr>
          </a:p>
        </p:txBody>
      </p:sp>
      <p:pic>
        <p:nvPicPr>
          <p:cNvPr id="34" name="图片 33"/>
          <p:cNvPicPr>
            <a:picLocks noChangeAspect="1"/>
          </p:cNvPicPr>
          <p:nvPr/>
        </p:nvPicPr>
        <p:blipFill rotWithShape="1">
          <a:blip r:embed="rId4">
            <a:extLst>
              <a:ext uri="{28A0092B-C50C-407E-A947-70E740481C1C}">
                <a14:useLocalDpi xmlns:a14="http://schemas.microsoft.com/office/drawing/2010/main" val="0"/>
              </a:ext>
            </a:extLst>
          </a:blip>
          <a:srcRect t="28969" b="27413"/>
          <a:stretch>
            <a:fillRect/>
          </a:stretch>
        </p:blipFill>
        <p:spPr>
          <a:xfrm>
            <a:off x="9038208" y="2379637"/>
            <a:ext cx="1686380" cy="1220846"/>
          </a:xfrm>
          <a:prstGeom prst="rect">
            <a:avLst/>
          </a:prstGeom>
        </p:spPr>
      </p:pic>
      <p:sp>
        <p:nvSpPr>
          <p:cNvPr id="4" name="矩形 3"/>
          <p:cNvSpPr/>
          <p:nvPr/>
        </p:nvSpPr>
        <p:spPr>
          <a:xfrm>
            <a:off x="447140" y="4003949"/>
            <a:ext cx="8580428" cy="27824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对于怀疑自发性冠脉夹层的患者，应考虑应用腔内冠脉成像进行诊断</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pic>
        <p:nvPicPr>
          <p:cNvPr id="15" name="图片 14"/>
          <p:cNvPicPr>
            <a:picLocks noChangeAspect="1"/>
          </p:cNvPicPr>
          <p:nvPr/>
        </p:nvPicPr>
        <p:blipFill rotWithShape="1">
          <a:blip r:embed="rId5">
            <a:extLst>
              <a:ext uri="{28A0092B-C50C-407E-A947-70E740481C1C}">
                <a14:useLocalDpi xmlns:a14="http://schemas.microsoft.com/office/drawing/2010/main" val="0"/>
              </a:ext>
            </a:extLst>
          </a:blip>
          <a:srcRect l="-1" r="2238" b="51591"/>
          <a:stretch>
            <a:fillRect/>
          </a:stretch>
        </p:blipFill>
        <p:spPr>
          <a:xfrm>
            <a:off x="9050633" y="3624587"/>
            <a:ext cx="1649813" cy="336560"/>
          </a:xfrm>
          <a:prstGeom prst="rect">
            <a:avLst/>
          </a:prstGeom>
        </p:spPr>
      </p:pic>
      <p:pic>
        <p:nvPicPr>
          <p:cNvPr id="19" name="图片 18"/>
          <p:cNvPicPr>
            <a:picLocks noChangeAspect="1"/>
          </p:cNvPicPr>
          <p:nvPr/>
        </p:nvPicPr>
        <p:blipFill rotWithShape="1">
          <a:blip r:embed="rId5">
            <a:extLst>
              <a:ext uri="{28A0092B-C50C-407E-A947-70E740481C1C}">
                <a14:useLocalDpi xmlns:a14="http://schemas.microsoft.com/office/drawing/2010/main" val="0"/>
              </a:ext>
            </a:extLst>
          </a:blip>
          <a:srcRect l="-1" r="2238" b="51591"/>
          <a:stretch>
            <a:fillRect/>
          </a:stretch>
        </p:blipFill>
        <p:spPr>
          <a:xfrm>
            <a:off x="9045496" y="3974977"/>
            <a:ext cx="1649813" cy="336560"/>
          </a:xfrm>
          <a:prstGeom prst="rect">
            <a:avLst/>
          </a:prstGeom>
        </p:spPr>
      </p:pic>
      <p:sp>
        <p:nvSpPr>
          <p:cNvPr id="25" name="矩形 24"/>
          <p:cNvSpPr/>
          <p:nvPr/>
        </p:nvSpPr>
        <p:spPr>
          <a:xfrm>
            <a:off x="442369" y="4340182"/>
            <a:ext cx="8580428" cy="29152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对于多支血管病变的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患者，可考虑在</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期间行完全血运重建</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pic>
        <p:nvPicPr>
          <p:cNvPr id="35" name="图片 34"/>
          <p:cNvPicPr>
            <a:picLocks noChangeAspect="1"/>
          </p:cNvPicPr>
          <p:nvPr/>
        </p:nvPicPr>
        <p:blipFill rotWithShape="1">
          <a:blip r:embed="rId6">
            <a:extLst>
              <a:ext uri="{28A0092B-C50C-407E-A947-70E740481C1C}">
                <a14:useLocalDpi xmlns:a14="http://schemas.microsoft.com/office/drawing/2010/main" val="0"/>
              </a:ext>
            </a:extLst>
          </a:blip>
          <a:srcRect t="32553" b="36458"/>
          <a:stretch>
            <a:fillRect/>
          </a:stretch>
        </p:blipFill>
        <p:spPr>
          <a:xfrm>
            <a:off x="9042642" y="4340182"/>
            <a:ext cx="1687054" cy="291524"/>
          </a:xfrm>
          <a:prstGeom prst="rect">
            <a:avLst/>
          </a:prstGeom>
        </p:spPr>
      </p:pic>
      <p:sp>
        <p:nvSpPr>
          <p:cNvPr id="37" name="矩形 36"/>
          <p:cNvSpPr/>
          <p:nvPr/>
        </p:nvSpPr>
        <p:spPr>
          <a:xfrm>
            <a:off x="440735" y="4676034"/>
            <a:ext cx="8580428" cy="29152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可考虑在</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期间对</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非罪犯病变在</a:t>
            </a:r>
            <a:r>
              <a:rPr lang="en-US" altLang="zh-CN" dirty="0">
                <a:latin typeface="Microsoft YaHei UI" panose="020B0503020204020204" pitchFamily="34" charset="-122"/>
                <a:ea typeface="Microsoft YaHei UI" panose="020B0503020204020204" pitchFamily="34" charset="-122"/>
              </a:rPr>
              <a:t>FFR</a:t>
            </a:r>
            <a:r>
              <a:rPr lang="zh-CN" altLang="en-US" dirty="0">
                <a:latin typeface="Microsoft YaHei UI" panose="020B0503020204020204" pitchFamily="34" charset="-122"/>
                <a:ea typeface="Microsoft YaHei UI" panose="020B0503020204020204" pitchFamily="34" charset="-122"/>
              </a:rPr>
              <a:t>引导下进行血运重建</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pic>
        <p:nvPicPr>
          <p:cNvPr id="39" name="图片 38"/>
          <p:cNvPicPr>
            <a:picLocks noChangeAspect="1"/>
          </p:cNvPicPr>
          <p:nvPr/>
        </p:nvPicPr>
        <p:blipFill rotWithShape="1">
          <a:blip r:embed="rId6">
            <a:extLst>
              <a:ext uri="{28A0092B-C50C-407E-A947-70E740481C1C}">
                <a14:useLocalDpi xmlns:a14="http://schemas.microsoft.com/office/drawing/2010/main" val="0"/>
              </a:ext>
            </a:extLst>
          </a:blip>
          <a:srcRect t="32553" b="36458"/>
          <a:stretch>
            <a:fillRect/>
          </a:stretch>
        </p:blipFill>
        <p:spPr>
          <a:xfrm>
            <a:off x="9045496" y="4680298"/>
            <a:ext cx="1687054" cy="291524"/>
          </a:xfrm>
          <a:prstGeom prst="rect">
            <a:avLst/>
          </a:prstGeom>
        </p:spPr>
      </p:pic>
      <p:sp>
        <p:nvSpPr>
          <p:cNvPr id="41" name="矩形: 圆角 40"/>
          <p:cNvSpPr/>
          <p:nvPr/>
        </p:nvSpPr>
        <p:spPr>
          <a:xfrm>
            <a:off x="364732" y="3574335"/>
            <a:ext cx="11090954" cy="365205"/>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43" name="文本框 42"/>
          <p:cNvSpPr txBox="1"/>
          <p:nvPr/>
        </p:nvSpPr>
        <p:spPr>
          <a:xfrm>
            <a:off x="10689391" y="3570029"/>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45" name="矩形: 圆角 44"/>
          <p:cNvSpPr/>
          <p:nvPr/>
        </p:nvSpPr>
        <p:spPr>
          <a:xfrm>
            <a:off x="364732" y="4307266"/>
            <a:ext cx="11090954" cy="682831"/>
          </a:xfrm>
          <a:prstGeom prst="roundRect">
            <a:avLst/>
          </a:prstGeom>
          <a:solidFill>
            <a:schemeClr val="accent2">
              <a:lumMod val="60000"/>
              <a:lumOff val="40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charset="-122"/>
            </a:endParaRPr>
          </a:p>
        </p:txBody>
      </p:sp>
      <p:sp>
        <p:nvSpPr>
          <p:cNvPr id="47" name="文本框 46"/>
          <p:cNvSpPr txBox="1"/>
          <p:nvPr/>
        </p:nvSpPr>
        <p:spPr>
          <a:xfrm>
            <a:off x="10679898" y="4410666"/>
            <a:ext cx="884662"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新增</a:t>
            </a:r>
            <a:endParaRPr lang="zh-CN" altLang="en-US" sz="2400" b="1" dirty="0">
              <a:solidFill>
                <a:srgbClr val="AE1022"/>
              </a:solidFill>
            </a:endParaRPr>
          </a:p>
        </p:txBody>
      </p:sp>
      <p:sp>
        <p:nvSpPr>
          <p:cNvPr id="49" name="矩形 48"/>
          <p:cNvSpPr/>
          <p:nvPr/>
        </p:nvSpPr>
        <p:spPr>
          <a:xfrm>
            <a:off x="1022954" y="6352134"/>
            <a:ext cx="2223679" cy="3788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FFR</a:t>
            </a:r>
            <a:r>
              <a:rPr lang="zh-CN" altLang="en-US" sz="1400" dirty="0">
                <a:solidFill>
                  <a:schemeClr val="tx1"/>
                </a:solidFill>
                <a:latin typeface="Microsoft YaHei UI" panose="020B0503020204020204" pitchFamily="34" charset="-122"/>
                <a:ea typeface="Microsoft YaHei UI" panose="020B0503020204020204" pitchFamily="34" charset="-122"/>
              </a:rPr>
              <a:t>：冠脉血流储备分数</a:t>
            </a:r>
            <a:endParaRPr lang="zh-CN" altLang="en-US" sz="1400" baseline="30000" dirty="0">
              <a:solidFill>
                <a:schemeClr val="tx1"/>
              </a:solidFill>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3" name="文本框 2"/>
          <p:cNvSpPr txBox="1"/>
          <p:nvPr/>
        </p:nvSpPr>
        <p:spPr>
          <a:xfrm>
            <a:off x="959219" y="175127"/>
            <a:ext cx="9058085" cy="46037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新章节：冠状动脉无阻塞性心肌梗死（</a:t>
            </a:r>
            <a:r>
              <a:rPr lang="en-US" altLang="zh-CN" sz="2400" b="1" dirty="0">
                <a:solidFill>
                  <a:srgbClr val="AE1022"/>
                </a:solidFill>
                <a:latin typeface="Microsoft YaHei UI" panose="020B0503020204020204" pitchFamily="34" charset="-122"/>
                <a:ea typeface="Microsoft YaHei UI" panose="020B0503020204020204" pitchFamily="34" charset="-122"/>
              </a:rPr>
              <a:t>MINOCA</a:t>
            </a:r>
            <a:r>
              <a:rPr lang="zh-CN" altLang="en-US" sz="2400" b="1" dirty="0">
                <a:solidFill>
                  <a:srgbClr val="AE1022"/>
                </a:solidFill>
                <a:latin typeface="Microsoft YaHei UI" panose="020B0503020204020204" pitchFamily="34" charset="-122"/>
                <a:ea typeface="Microsoft YaHei UI" panose="020B0503020204020204" pitchFamily="34" charset="-122"/>
              </a:rPr>
              <a:t>）的诊断标准</a:t>
            </a:r>
          </a:p>
        </p:txBody>
      </p:sp>
      <p:sp>
        <p:nvSpPr>
          <p:cNvPr id="34" name="矩形 33"/>
          <p:cNvSpPr/>
          <p:nvPr/>
        </p:nvSpPr>
        <p:spPr>
          <a:xfrm>
            <a:off x="960947" y="798005"/>
            <a:ext cx="9699849" cy="30777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对于符合以下标准的急性心肌梗死患者，可诊断</a:t>
            </a:r>
            <a:r>
              <a:rPr lang="en-US" altLang="zh-CN" b="1" dirty="0">
                <a:latin typeface="Microsoft YaHei UI" panose="020B0503020204020204" pitchFamily="34" charset="-122"/>
                <a:ea typeface="Microsoft YaHei UI" panose="020B0503020204020204" pitchFamily="34" charset="-122"/>
              </a:rPr>
              <a:t>MINOCA</a:t>
            </a:r>
            <a:r>
              <a:rPr lang="zh-CN" altLang="en-US" b="1" dirty="0">
                <a:latin typeface="Microsoft YaHei UI" panose="020B0503020204020204" pitchFamily="34" charset="-122"/>
                <a:ea typeface="Microsoft YaHei UI" panose="020B0503020204020204" pitchFamily="34" charset="-122"/>
              </a:rPr>
              <a:t>：</a:t>
            </a:r>
          </a:p>
        </p:txBody>
      </p:sp>
      <p:sp>
        <p:nvSpPr>
          <p:cNvPr id="38" name="矩形 37"/>
          <p:cNvSpPr/>
          <p:nvPr/>
        </p:nvSpPr>
        <p:spPr>
          <a:xfrm>
            <a:off x="963004" y="1155499"/>
            <a:ext cx="9696428" cy="232196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800" dirty="0">
                <a:latin typeface="Microsoft YaHei UI" panose="020B0503020204020204" pitchFamily="34" charset="-122"/>
                <a:ea typeface="Microsoft YaHei UI" panose="020B0503020204020204" pitchFamily="34" charset="-122"/>
              </a:rPr>
              <a:t>1. </a:t>
            </a:r>
            <a:r>
              <a:rPr lang="zh-CN" altLang="en-US" sz="1800" dirty="0">
                <a:latin typeface="Microsoft YaHei UI" panose="020B0503020204020204" pitchFamily="34" charset="-122"/>
                <a:ea typeface="Microsoft YaHei UI" panose="020B0503020204020204" pitchFamily="34" charset="-122"/>
              </a:rPr>
              <a:t>急性心肌梗死（根据“第四版心肌梗死通用定义”修改）：</a:t>
            </a:r>
            <a:endParaRPr lang="en-US" altLang="zh-CN" sz="1800"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肌钙蛋白检测结果至少有</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次大于正常上限的</a:t>
            </a:r>
            <a:r>
              <a:rPr lang="en-US" altLang="zh-CN" dirty="0">
                <a:latin typeface="Microsoft YaHei UI" panose="020B0503020204020204" pitchFamily="34" charset="-122"/>
                <a:ea typeface="Microsoft YaHei UI" panose="020B0503020204020204" pitchFamily="34" charset="-122"/>
              </a:rPr>
              <a:t>99%</a:t>
            </a:r>
          </a:p>
          <a:p>
            <a:r>
              <a:rPr lang="en-US" altLang="zh-CN" sz="1800" dirty="0">
                <a:latin typeface="Microsoft YaHei UI" panose="020B0503020204020204" pitchFamily="34" charset="-122"/>
                <a:ea typeface="Microsoft YaHei UI" panose="020B0503020204020204" pitchFamily="34" charset="-122"/>
              </a:rPr>
              <a:t>--- </a:t>
            </a:r>
            <a:r>
              <a:rPr lang="zh-CN" altLang="en-US" sz="1800" dirty="0">
                <a:latin typeface="Microsoft YaHei UI" panose="020B0503020204020204" pitchFamily="34" charset="-122"/>
                <a:ea typeface="Microsoft YaHei UI" panose="020B0503020204020204" pitchFamily="34" charset="-122"/>
              </a:rPr>
              <a:t>满足以下至少</a:t>
            </a:r>
            <a:r>
              <a:rPr lang="en-US" altLang="zh-CN" sz="1800" dirty="0">
                <a:latin typeface="Microsoft YaHei UI" panose="020B0503020204020204" pitchFamily="34" charset="-122"/>
                <a:ea typeface="Microsoft YaHei UI" panose="020B0503020204020204" pitchFamily="34" charset="-122"/>
              </a:rPr>
              <a:t>1</a:t>
            </a:r>
            <a:r>
              <a:rPr lang="zh-CN" altLang="en-US" sz="1800" dirty="0">
                <a:latin typeface="Microsoft YaHei UI" panose="020B0503020204020204" pitchFamily="34" charset="-122"/>
                <a:ea typeface="Microsoft YaHei UI" panose="020B0503020204020204" pitchFamily="34" charset="-122"/>
              </a:rPr>
              <a:t>项心肌梗死的临床表现：</a:t>
            </a:r>
            <a:endParaRPr lang="en-US" altLang="zh-CN" sz="1800" dirty="0">
              <a:latin typeface="Microsoft YaHei UI" panose="020B0503020204020204" pitchFamily="34" charset="-122"/>
              <a:ea typeface="Microsoft YaHei UI" panose="020B0503020204020204" pitchFamily="34" charset="-122"/>
            </a:endParaRPr>
          </a:p>
          <a:p>
            <a:pPr marL="342900" indent="-342900">
              <a:buAutoNum type="alphaLcPeriod"/>
            </a:pPr>
            <a:r>
              <a:rPr lang="zh-CN" altLang="en-US" sz="1800" dirty="0">
                <a:latin typeface="Microsoft YaHei UI" panose="020B0503020204020204" pitchFamily="34" charset="-122"/>
                <a:ea typeface="Microsoft YaHei UI" panose="020B0503020204020204" pitchFamily="34" charset="-122"/>
              </a:rPr>
              <a:t>心肌缺血症状</a:t>
            </a:r>
            <a:endParaRPr lang="en-US" altLang="zh-CN" sz="1800" dirty="0">
              <a:latin typeface="Microsoft YaHei UI" panose="020B0503020204020204" pitchFamily="34" charset="-122"/>
              <a:ea typeface="Microsoft YaHei UI" panose="020B0503020204020204" pitchFamily="34" charset="-122"/>
            </a:endParaRPr>
          </a:p>
          <a:p>
            <a:pPr marL="342900" indent="-342900">
              <a:buAutoNum type="alphaLcPeriod"/>
            </a:pPr>
            <a:r>
              <a:rPr lang="zh-CN" altLang="en-US" sz="1800" dirty="0">
                <a:latin typeface="Microsoft YaHei UI" panose="020B0503020204020204" pitchFamily="34" charset="-122"/>
                <a:ea typeface="Microsoft YaHei UI" panose="020B0503020204020204" pitchFamily="34" charset="-122"/>
              </a:rPr>
              <a:t>心电图新出现的缺血性改变</a:t>
            </a:r>
            <a:endParaRPr lang="en-US" altLang="zh-CN" sz="1800" dirty="0">
              <a:latin typeface="Microsoft YaHei UI" panose="020B0503020204020204" pitchFamily="34" charset="-122"/>
              <a:ea typeface="Microsoft YaHei UI" panose="020B0503020204020204" pitchFamily="34" charset="-122"/>
            </a:endParaRPr>
          </a:p>
          <a:p>
            <a:pPr marL="342900" indent="-342900">
              <a:buAutoNum type="alphaLcPeriod"/>
            </a:pPr>
            <a:r>
              <a:rPr lang="zh-CN" altLang="en-US" dirty="0">
                <a:latin typeface="Microsoft YaHei UI" panose="020B0503020204020204" pitchFamily="34" charset="-122"/>
                <a:ea typeface="Microsoft YaHei UI" panose="020B0503020204020204" pitchFamily="34" charset="-122"/>
              </a:rPr>
              <a:t>出现病理性</a:t>
            </a:r>
            <a:r>
              <a:rPr lang="en-US" altLang="zh-CN" dirty="0">
                <a:latin typeface="Microsoft YaHei UI" panose="020B0503020204020204" pitchFamily="34" charset="-122"/>
                <a:ea typeface="Microsoft YaHei UI" panose="020B0503020204020204" pitchFamily="34" charset="-122"/>
              </a:rPr>
              <a:t>Q</a:t>
            </a:r>
            <a:r>
              <a:rPr lang="zh-CN" altLang="en-US" dirty="0">
                <a:latin typeface="Microsoft YaHei UI" panose="020B0503020204020204" pitchFamily="34" charset="-122"/>
                <a:ea typeface="Microsoft YaHei UI" panose="020B0503020204020204" pitchFamily="34" charset="-122"/>
              </a:rPr>
              <a:t>波</a:t>
            </a:r>
            <a:endParaRPr lang="en-US" altLang="zh-CN" dirty="0">
              <a:latin typeface="Microsoft YaHei UI" panose="020B0503020204020204" pitchFamily="34" charset="-122"/>
              <a:ea typeface="Microsoft YaHei UI" panose="020B0503020204020204" pitchFamily="34" charset="-122"/>
            </a:endParaRPr>
          </a:p>
          <a:p>
            <a:pPr marL="342900" indent="-342900">
              <a:buAutoNum type="alphaLcPeriod"/>
            </a:pPr>
            <a:r>
              <a:rPr lang="zh-CN" altLang="en-US" sz="1800" dirty="0">
                <a:latin typeface="Microsoft YaHei UI" panose="020B0503020204020204" pitchFamily="34" charset="-122"/>
                <a:ea typeface="Microsoft YaHei UI" panose="020B0503020204020204" pitchFamily="34" charset="-122"/>
              </a:rPr>
              <a:t>影像学证据新发现的存活心肌丧失或与导致缺血病因一致的新发局部室壁运动异常</a:t>
            </a:r>
            <a:endParaRPr lang="en-US" altLang="zh-CN" sz="1800" dirty="0">
              <a:latin typeface="Microsoft YaHei UI" panose="020B0503020204020204" pitchFamily="34" charset="-122"/>
              <a:ea typeface="Microsoft YaHei UI" panose="020B0503020204020204" pitchFamily="34" charset="-122"/>
            </a:endParaRPr>
          </a:p>
          <a:p>
            <a:pPr marL="342900" indent="-342900">
              <a:buAutoNum type="alphaLcPeriod"/>
            </a:pPr>
            <a:r>
              <a:rPr lang="zh-CN" altLang="en-US" dirty="0">
                <a:latin typeface="Microsoft YaHei UI" panose="020B0503020204020204" pitchFamily="34" charset="-122"/>
                <a:ea typeface="Microsoft YaHei UI" panose="020B0503020204020204" pitchFamily="34" charset="-122"/>
              </a:rPr>
              <a:t>冠脉造影或尸检明确的冠脉血栓</a:t>
            </a:r>
            <a:endParaRPr lang="zh-CN" altLang="en-US" sz="1800" dirty="0">
              <a:latin typeface="Microsoft YaHei UI" panose="020B0503020204020204" pitchFamily="34" charset="-122"/>
              <a:ea typeface="Microsoft YaHei UI" panose="020B0503020204020204" pitchFamily="34" charset="-122"/>
            </a:endParaRPr>
          </a:p>
        </p:txBody>
      </p:sp>
      <p:sp>
        <p:nvSpPr>
          <p:cNvPr id="4" name="矩形 3"/>
          <p:cNvSpPr/>
          <p:nvPr/>
        </p:nvSpPr>
        <p:spPr>
          <a:xfrm>
            <a:off x="959220" y="3536117"/>
            <a:ext cx="9696428" cy="17650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800" dirty="0">
                <a:latin typeface="Microsoft YaHei UI" panose="020B0503020204020204" pitchFamily="34" charset="-122"/>
                <a:ea typeface="Microsoft YaHei UI" panose="020B0503020204020204" pitchFamily="34" charset="-122"/>
              </a:rPr>
              <a:t>2. </a:t>
            </a:r>
            <a:r>
              <a:rPr lang="zh-CN" altLang="en-US" sz="1800" dirty="0">
                <a:latin typeface="Microsoft YaHei UI" panose="020B0503020204020204" pitchFamily="34" charset="-122"/>
                <a:ea typeface="Microsoft YaHei UI" panose="020B0503020204020204" pitchFamily="34" charset="-122"/>
              </a:rPr>
              <a:t>冠脉造影下无阻塞性冠状动脉：</a:t>
            </a:r>
            <a:endParaRPr lang="en-US" altLang="zh-CN" sz="1800"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zh-CN" altLang="en-US" sz="1800" dirty="0">
                <a:latin typeface="Microsoft YaHei UI" panose="020B0503020204020204" pitchFamily="34" charset="-122"/>
                <a:ea typeface="Microsoft YaHei UI" panose="020B0503020204020204" pitchFamily="34" charset="-122"/>
              </a:rPr>
              <a:t>定义为冠脉造影下无主要心外膜血管存在狭窄程度≥</a:t>
            </a:r>
            <a:r>
              <a:rPr lang="en-US" altLang="zh-CN" sz="1800" dirty="0">
                <a:latin typeface="Microsoft YaHei UI" panose="020B0503020204020204" pitchFamily="34" charset="-122"/>
                <a:ea typeface="Microsoft YaHei UI" panose="020B0503020204020204" pitchFamily="34" charset="-122"/>
              </a:rPr>
              <a:t>50%</a:t>
            </a:r>
            <a:r>
              <a:rPr lang="zh-CN" altLang="en-US" sz="1800" dirty="0">
                <a:latin typeface="Microsoft YaHei UI" panose="020B0503020204020204" pitchFamily="34" charset="-122"/>
                <a:ea typeface="Microsoft YaHei UI" panose="020B0503020204020204" pitchFamily="34" charset="-122"/>
              </a:rPr>
              <a:t>的病变</a:t>
            </a:r>
            <a:endParaRPr lang="en-US" altLang="zh-CN" sz="1800" dirty="0">
              <a:latin typeface="Microsoft YaHei UI" panose="020B0503020204020204" pitchFamily="34" charset="-122"/>
              <a:ea typeface="Microsoft YaHei UI" panose="020B0503020204020204" pitchFamily="34" charset="-122"/>
            </a:endParaRPr>
          </a:p>
          <a:p>
            <a:r>
              <a:rPr lang="zh-CN" altLang="en-US" dirty="0">
                <a:latin typeface="Microsoft YaHei UI" panose="020B0503020204020204" pitchFamily="34" charset="-122"/>
                <a:ea typeface="Microsoft YaHei UI" panose="020B0503020204020204" pitchFamily="34" charset="-122"/>
              </a:rPr>
              <a:t>包括以下情形患者：</a:t>
            </a:r>
            <a:endParaRPr lang="en-US" altLang="zh-CN" sz="1800"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正常冠状动脉（无造影下狭窄）</a:t>
            </a:r>
            <a:endParaRPr lang="en-US" altLang="zh-CN"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轻度管腔不规则（造影下血管狭窄＜</a:t>
            </a:r>
            <a:r>
              <a:rPr lang="en-US" altLang="zh-CN" dirty="0">
                <a:latin typeface="Microsoft YaHei UI" panose="020B0503020204020204" pitchFamily="34" charset="-122"/>
                <a:ea typeface="Microsoft YaHei UI" panose="020B0503020204020204" pitchFamily="34" charset="-122"/>
              </a:rPr>
              <a:t>30%</a:t>
            </a:r>
            <a:r>
              <a:rPr lang="zh-CN" altLang="en-US" dirty="0">
                <a:latin typeface="Microsoft YaHei UI" panose="020B0503020204020204" pitchFamily="34" charset="-122"/>
                <a:ea typeface="Microsoft YaHei UI" panose="020B0503020204020204" pitchFamily="34" charset="-122"/>
              </a:rPr>
              <a:t>）</a:t>
            </a:r>
            <a:endParaRPr lang="en-US" altLang="zh-CN" dirty="0">
              <a:latin typeface="Microsoft YaHei UI" panose="020B0503020204020204" pitchFamily="34" charset="-122"/>
              <a:ea typeface="Microsoft YaHei UI" panose="020B0503020204020204" pitchFamily="34" charset="-122"/>
            </a:endParaRPr>
          </a:p>
          <a:p>
            <a:r>
              <a:rPr lang="en-US" altLang="zh-CN" sz="1800"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中度冠脉粥样硬化病变（造影下冠脉狭窄＞</a:t>
            </a:r>
            <a:r>
              <a:rPr lang="en-US" altLang="zh-CN" dirty="0">
                <a:latin typeface="Microsoft YaHei UI" panose="020B0503020204020204" pitchFamily="34" charset="-122"/>
                <a:ea typeface="Microsoft YaHei UI" panose="020B0503020204020204" pitchFamily="34" charset="-122"/>
              </a:rPr>
              <a:t>30%</a:t>
            </a:r>
            <a:r>
              <a:rPr lang="zh-CN" altLang="en-US" dirty="0">
                <a:latin typeface="Microsoft YaHei UI" panose="020B0503020204020204" pitchFamily="34" charset="-122"/>
                <a:ea typeface="Microsoft YaHei UI" panose="020B0503020204020204" pitchFamily="34" charset="-122"/>
              </a:rPr>
              <a:t>但小于</a:t>
            </a:r>
            <a:r>
              <a:rPr lang="en-US" altLang="zh-CN" dirty="0">
                <a:latin typeface="Microsoft YaHei UI" panose="020B0503020204020204" pitchFamily="34" charset="-122"/>
                <a:ea typeface="Microsoft YaHei UI" panose="020B0503020204020204" pitchFamily="34" charset="-122"/>
              </a:rPr>
              <a:t>50%</a:t>
            </a:r>
            <a:r>
              <a:rPr lang="zh-CN" altLang="en-US" dirty="0">
                <a:latin typeface="Microsoft YaHei UI" panose="020B0503020204020204" pitchFamily="34" charset="-122"/>
                <a:ea typeface="Microsoft YaHei UI" panose="020B0503020204020204" pitchFamily="34" charset="-122"/>
              </a:rPr>
              <a:t>）</a:t>
            </a:r>
            <a:endParaRPr lang="en-US" altLang="zh-CN" sz="1800" dirty="0">
              <a:latin typeface="Microsoft YaHei UI" panose="020B0503020204020204" pitchFamily="34" charset="-122"/>
              <a:ea typeface="Microsoft YaHei UI" panose="020B0503020204020204" pitchFamily="34" charset="-122"/>
            </a:endParaRPr>
          </a:p>
        </p:txBody>
      </p:sp>
      <p:sp>
        <p:nvSpPr>
          <p:cNvPr id="20" name="矩形 19"/>
          <p:cNvSpPr/>
          <p:nvPr/>
        </p:nvSpPr>
        <p:spPr>
          <a:xfrm>
            <a:off x="961277" y="5357603"/>
            <a:ext cx="9696428" cy="64250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3.</a:t>
            </a:r>
            <a:r>
              <a:rPr lang="zh-CN" altLang="en-US" dirty="0">
                <a:latin typeface="Microsoft YaHei UI" panose="020B0503020204020204" pitchFamily="34" charset="-122"/>
                <a:ea typeface="Microsoft YaHei UI" panose="020B0503020204020204" pitchFamily="34" charset="-122"/>
              </a:rPr>
              <a:t>根据临床表现无其它需要排除的鉴别诊断：</a:t>
            </a:r>
            <a:endParaRPr lang="en-US" altLang="zh-CN" dirty="0">
              <a:latin typeface="Microsoft YaHei UI" panose="020B0503020204020204" pitchFamily="34" charset="-122"/>
              <a:ea typeface="Microsoft YaHei UI" panose="020B0503020204020204" pitchFamily="34" charset="-122"/>
            </a:endParaRPr>
          </a:p>
          <a:p>
            <a:r>
              <a:rPr lang="en-US" altLang="zh-CN" dirty="0">
                <a:latin typeface="Microsoft YaHei UI" panose="020B0503020204020204" pitchFamily="34" charset="-122"/>
                <a:ea typeface="Microsoft YaHei UI" panose="020B0503020204020204" pitchFamily="34" charset="-122"/>
              </a:rPr>
              <a:t>--- </a:t>
            </a:r>
            <a:r>
              <a:rPr lang="zh-CN" altLang="en-US" dirty="0">
                <a:latin typeface="Microsoft YaHei UI" panose="020B0503020204020204" pitchFamily="34" charset="-122"/>
                <a:ea typeface="Microsoft YaHei UI" panose="020B0503020204020204" pitchFamily="34" charset="-122"/>
              </a:rPr>
              <a:t>鉴别诊断包括但不限于非缺血性病因，如败血症，肺栓塞或心肌炎</a:t>
            </a:r>
            <a:endParaRPr lang="en-US" altLang="zh-CN" dirty="0">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3" name="文本框 2"/>
          <p:cNvSpPr txBox="1"/>
          <p:nvPr/>
        </p:nvSpPr>
        <p:spPr>
          <a:xfrm>
            <a:off x="1945535" y="82192"/>
            <a:ext cx="7522101" cy="46037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冠状动脉无阻塞性心肌梗死（</a:t>
            </a:r>
            <a:r>
              <a:rPr lang="en-US" altLang="zh-CN" sz="2400" b="1" dirty="0">
                <a:solidFill>
                  <a:srgbClr val="AE1022"/>
                </a:solidFill>
                <a:latin typeface="Microsoft YaHei UI" panose="020B0503020204020204" pitchFamily="34" charset="-122"/>
                <a:ea typeface="Microsoft YaHei UI" panose="020B0503020204020204" pitchFamily="34" charset="-122"/>
              </a:rPr>
              <a:t>MINOCA</a:t>
            </a:r>
            <a:r>
              <a:rPr lang="zh-CN" altLang="en-US" sz="2400" b="1" dirty="0">
                <a:solidFill>
                  <a:srgbClr val="AE1022"/>
                </a:solidFill>
                <a:latin typeface="Microsoft YaHei UI" panose="020B0503020204020204" pitchFamily="34" charset="-122"/>
                <a:ea typeface="Microsoft YaHei UI" panose="020B0503020204020204" pitchFamily="34" charset="-122"/>
              </a:rPr>
              <a:t>）的诊断流程</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2020" y="612892"/>
            <a:ext cx="7808360" cy="5518657"/>
          </a:xfrm>
          <a:prstGeom prst="rect">
            <a:avLst/>
          </a:prstGeom>
        </p:spPr>
      </p:pic>
      <p:sp>
        <p:nvSpPr>
          <p:cNvPr id="6" name="矩形 5"/>
          <p:cNvSpPr/>
          <p:nvPr/>
        </p:nvSpPr>
        <p:spPr>
          <a:xfrm>
            <a:off x="1885746" y="4782984"/>
            <a:ext cx="238855" cy="96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诊断</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7" name="矩形 6"/>
          <p:cNvSpPr/>
          <p:nvPr/>
        </p:nvSpPr>
        <p:spPr>
          <a:xfrm>
            <a:off x="1887021" y="3123343"/>
            <a:ext cx="237580" cy="121364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诊断程序</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8" name="矩形 7"/>
          <p:cNvSpPr/>
          <p:nvPr/>
        </p:nvSpPr>
        <p:spPr>
          <a:xfrm>
            <a:off x="1887021" y="1079875"/>
            <a:ext cx="237580" cy="121364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临床表现</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9" name="矩形 8"/>
          <p:cNvSpPr/>
          <p:nvPr/>
        </p:nvSpPr>
        <p:spPr>
          <a:xfrm>
            <a:off x="7758653" y="1464067"/>
            <a:ext cx="1107180" cy="1284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缺血原因</a:t>
            </a:r>
            <a:r>
              <a:rPr lang="en-US" altLang="zh-CN" sz="1200" dirty="0">
                <a:solidFill>
                  <a:schemeClr val="tx1"/>
                </a:solidFill>
                <a:latin typeface="Microsoft YaHei UI" panose="020B0503020204020204" pitchFamily="34" charset="-122"/>
                <a:ea typeface="Microsoft YaHei UI" panose="020B0503020204020204" pitchFamily="34" charset="-122"/>
              </a:rPr>
              <a:t>)</a:t>
            </a:r>
          </a:p>
        </p:txBody>
      </p:sp>
      <p:sp>
        <p:nvSpPr>
          <p:cNvPr id="11" name="矩形 10"/>
          <p:cNvSpPr/>
          <p:nvPr/>
        </p:nvSpPr>
        <p:spPr>
          <a:xfrm>
            <a:off x="4765995" y="893229"/>
            <a:ext cx="1280346" cy="291100"/>
          </a:xfrm>
          <a:prstGeom prst="rect">
            <a:avLst/>
          </a:prstGeom>
          <a:solidFill>
            <a:srgbClr val="FE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诊断工作</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4021455" y="1312545"/>
            <a:ext cx="2261235" cy="4616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Microsoft YaHei UI" panose="020B0503020204020204" pitchFamily="34" charset="-122"/>
                <a:ea typeface="Microsoft YaHei UI" panose="020B0503020204020204" pitchFamily="34" charset="-122"/>
              </a:rPr>
              <a:t>排除：</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r>
              <a:rPr lang="zh-CN" altLang="en-US" sz="1200" dirty="0">
                <a:solidFill>
                  <a:schemeClr val="tx1"/>
                </a:solidFill>
                <a:latin typeface="Microsoft YaHei UI" panose="020B0503020204020204" pitchFamily="34" charset="-122"/>
                <a:ea typeface="Microsoft YaHei UI" panose="020B0503020204020204" pitchFamily="34" charset="-122"/>
              </a:rPr>
              <a:t>遗漏的阻塞病变（缺血原因）   </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zh-CN" altLang="en-US" sz="1200" dirty="0">
                <a:solidFill>
                  <a:schemeClr val="tx1"/>
                </a:solidFill>
                <a:latin typeface="Microsoft YaHei UI" panose="020B0503020204020204" pitchFamily="34" charset="-122"/>
                <a:ea typeface="Microsoft YaHei UI" panose="020B0503020204020204" pitchFamily="34" charset="-122"/>
              </a:rPr>
              <a:t>心肌损伤（非缺血原因）</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15" name="矩形 14"/>
          <p:cNvSpPr/>
          <p:nvPr/>
        </p:nvSpPr>
        <p:spPr>
          <a:xfrm>
            <a:off x="2296274" y="1184329"/>
            <a:ext cx="1464068" cy="14717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icrosoft YaHei UI" panose="020B0503020204020204" pitchFamily="34" charset="-122"/>
                <a:ea typeface="Microsoft YaHei UI" panose="020B0503020204020204" pitchFamily="34" charset="-122"/>
              </a:rPr>
              <a:t>肌钙蛋白检测结果至少有</a:t>
            </a:r>
            <a:r>
              <a:rPr lang="en-US" altLang="zh-CN" sz="1200" dirty="0">
                <a:solidFill>
                  <a:schemeClr val="tx1"/>
                </a:solidFill>
                <a:latin typeface="Microsoft YaHei UI" panose="020B0503020204020204" pitchFamily="34" charset="-122"/>
                <a:ea typeface="Microsoft YaHei UI" panose="020B0503020204020204" pitchFamily="34" charset="-122"/>
              </a:rPr>
              <a:t>1</a:t>
            </a:r>
            <a:r>
              <a:rPr lang="zh-CN" altLang="en-US" sz="1200" dirty="0">
                <a:solidFill>
                  <a:schemeClr val="tx1"/>
                </a:solidFill>
                <a:latin typeface="Microsoft YaHei UI" panose="020B0503020204020204" pitchFamily="34" charset="-122"/>
                <a:ea typeface="Microsoft YaHei UI" panose="020B0503020204020204" pitchFamily="34" charset="-122"/>
              </a:rPr>
              <a:t>次大于正常上限的</a:t>
            </a:r>
            <a:r>
              <a:rPr lang="en-US" altLang="zh-CN" sz="1200" dirty="0">
                <a:solidFill>
                  <a:schemeClr val="tx1"/>
                </a:solidFill>
                <a:latin typeface="Microsoft YaHei UI" panose="020B0503020204020204" pitchFamily="34" charset="-122"/>
                <a:ea typeface="Microsoft YaHei UI" panose="020B0503020204020204" pitchFamily="34" charset="-122"/>
              </a:rPr>
              <a:t>99%</a:t>
            </a:r>
          </a:p>
          <a:p>
            <a:pPr algn="ctr"/>
            <a:r>
              <a:rPr lang="en-US" altLang="zh-CN" sz="1200" dirty="0">
                <a:solidFill>
                  <a:schemeClr val="tx1"/>
                </a:solidFill>
                <a:latin typeface="Microsoft YaHei UI" panose="020B0503020204020204" pitchFamily="34" charset="-122"/>
                <a:ea typeface="Microsoft YaHei UI" panose="020B0503020204020204" pitchFamily="34" charset="-122"/>
              </a:rPr>
              <a:t>+</a:t>
            </a:r>
          </a:p>
          <a:p>
            <a:pPr algn="ctr"/>
            <a:r>
              <a:rPr lang="zh-CN" altLang="en-US" sz="1200" dirty="0">
                <a:solidFill>
                  <a:schemeClr val="tx1"/>
                </a:solidFill>
                <a:latin typeface="Microsoft YaHei UI" panose="020B0503020204020204" pitchFamily="34" charset="-122"/>
                <a:ea typeface="Microsoft YaHei UI" panose="020B0503020204020204" pitchFamily="34" charset="-122"/>
              </a:rPr>
              <a:t>缺血症状</a:t>
            </a:r>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体征</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200" dirty="0">
                <a:solidFill>
                  <a:schemeClr val="tx1"/>
                </a:solidFill>
                <a:latin typeface="Microsoft YaHei UI" panose="020B0503020204020204" pitchFamily="34" charset="-122"/>
                <a:ea typeface="Microsoft YaHei UI" panose="020B0503020204020204" pitchFamily="34" charset="-122"/>
              </a:rPr>
              <a:t>+</a:t>
            </a:r>
          </a:p>
          <a:p>
            <a:pPr algn="ctr"/>
            <a:r>
              <a:rPr lang="zh-CN" altLang="en-US" sz="1200" dirty="0">
                <a:solidFill>
                  <a:schemeClr val="tx1"/>
                </a:solidFill>
                <a:latin typeface="Microsoft YaHei UI" panose="020B0503020204020204" pitchFamily="34" charset="-122"/>
                <a:ea typeface="Microsoft YaHei UI" panose="020B0503020204020204" pitchFamily="34" charset="-122"/>
              </a:rPr>
              <a:t>无阻塞性冠心病</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dirty="0">
                <a:solidFill>
                  <a:schemeClr val="tx1"/>
                </a:solidFill>
                <a:latin typeface="Microsoft YaHei UI" panose="020B0503020204020204" pitchFamily="34" charset="-122"/>
                <a:ea typeface="Microsoft YaHei UI" panose="020B0503020204020204" pitchFamily="34" charset="-122"/>
              </a:rPr>
              <a:t>（＜</a:t>
            </a:r>
            <a:r>
              <a:rPr lang="en-US" altLang="zh-CN" sz="1200" dirty="0">
                <a:solidFill>
                  <a:schemeClr val="tx1"/>
                </a:solidFill>
                <a:latin typeface="Microsoft YaHei UI" panose="020B0503020204020204" pitchFamily="34" charset="-122"/>
                <a:ea typeface="Microsoft YaHei UI" panose="020B0503020204020204" pitchFamily="34" charset="-122"/>
              </a:rPr>
              <a:t>50%</a:t>
            </a:r>
            <a:r>
              <a:rPr lang="zh-CN" altLang="en-US" sz="1200" dirty="0">
                <a:solidFill>
                  <a:schemeClr val="tx1"/>
                </a:solidFill>
                <a:latin typeface="Microsoft YaHei UI" panose="020B0503020204020204" pitchFamily="34" charset="-122"/>
                <a:ea typeface="Microsoft YaHei UI" panose="020B0503020204020204" pitchFamily="34" charset="-122"/>
              </a:rPr>
              <a:t>病变）</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17" name="矩形 16"/>
          <p:cNvSpPr/>
          <p:nvPr/>
        </p:nvSpPr>
        <p:spPr>
          <a:xfrm>
            <a:off x="2296273" y="3071973"/>
            <a:ext cx="1464067" cy="52989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icrosoft YaHei UI" panose="020B0503020204020204" pitchFamily="34" charset="-122"/>
                <a:ea typeface="Microsoft YaHei UI" panose="020B0503020204020204" pitchFamily="34" charset="-122"/>
              </a:rPr>
              <a:t>结合临床实际</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临床其它明显诊断</a:t>
            </a:r>
            <a:r>
              <a:rPr lang="en-US" altLang="zh-CN" sz="1200" dirty="0">
                <a:solidFill>
                  <a:schemeClr val="tx1"/>
                </a:solidFill>
                <a:latin typeface="Microsoft YaHei UI" panose="020B0503020204020204" pitchFamily="34" charset="-122"/>
                <a:ea typeface="Microsoft YaHei UI" panose="020B0503020204020204" pitchFamily="34" charset="-122"/>
              </a:rPr>
              <a:t>)</a:t>
            </a:r>
          </a:p>
        </p:txBody>
      </p:sp>
      <p:sp>
        <p:nvSpPr>
          <p:cNvPr id="19" name="矩形 18"/>
          <p:cNvSpPr/>
          <p:nvPr/>
        </p:nvSpPr>
        <p:spPr>
          <a:xfrm>
            <a:off x="2388133" y="4435196"/>
            <a:ext cx="1280346" cy="291100"/>
          </a:xfrm>
          <a:prstGeom prst="rect">
            <a:avLst/>
          </a:prstGeom>
          <a:solidFill>
            <a:srgbClr val="FF0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icrosoft YaHei UI" panose="020B0503020204020204" pitchFamily="34" charset="-122"/>
                <a:ea typeface="Microsoft YaHei UI" panose="020B0503020204020204" pitchFamily="34" charset="-122"/>
              </a:rPr>
              <a:t>鉴别诊断</a:t>
            </a:r>
            <a:endParaRPr lang="en-US" altLang="zh-CN" sz="1400" b="1" dirty="0">
              <a:solidFill>
                <a:schemeClr val="tx1"/>
              </a:solidFill>
              <a:latin typeface="Microsoft YaHei UI" panose="020B0503020204020204" pitchFamily="34" charset="-122"/>
              <a:ea typeface="Microsoft YaHei UI" panose="020B0503020204020204" pitchFamily="34" charset="-122"/>
            </a:endParaRPr>
          </a:p>
        </p:txBody>
      </p:sp>
      <p:sp>
        <p:nvSpPr>
          <p:cNvPr id="23" name="矩形 22"/>
          <p:cNvSpPr/>
          <p:nvPr/>
        </p:nvSpPr>
        <p:spPr>
          <a:xfrm>
            <a:off x="2296272" y="4752162"/>
            <a:ext cx="1464068" cy="1128600"/>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脓毒症</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肺栓塞</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心脏挫伤</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主动脉夹层</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 </a:t>
            </a:r>
            <a:r>
              <a:rPr lang="zh-CN" altLang="en-US" sz="1200" dirty="0">
                <a:solidFill>
                  <a:schemeClr val="tx1"/>
                </a:solidFill>
                <a:latin typeface="Microsoft YaHei UI" panose="020B0503020204020204" pitchFamily="34" charset="-122"/>
                <a:ea typeface="Microsoft YaHei UI" panose="020B0503020204020204" pitchFamily="34" charset="-122"/>
              </a:rPr>
              <a:t>其它非心因性肌钙蛋白升高</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25" name="矩形 24"/>
          <p:cNvSpPr/>
          <p:nvPr/>
        </p:nvSpPr>
        <p:spPr>
          <a:xfrm>
            <a:off x="4577138" y="2753473"/>
            <a:ext cx="2553127" cy="16952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icrosoft YaHei UI" panose="020B0503020204020204" pitchFamily="34" charset="-122"/>
                <a:ea typeface="Microsoft YaHei UI" panose="020B0503020204020204" pitchFamily="34" charset="-122"/>
              </a:rPr>
              <a:t>左室功能评估（左室造影，超声）</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29" name="矩形 28"/>
          <p:cNvSpPr/>
          <p:nvPr/>
        </p:nvSpPr>
        <p:spPr>
          <a:xfrm>
            <a:off x="3932012" y="3071973"/>
            <a:ext cx="1122873" cy="8656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icrosoft YaHei UI" panose="020B0503020204020204" pitchFamily="34" charset="-122"/>
                <a:ea typeface="Microsoft YaHei UI" panose="020B0503020204020204" pitchFamily="34" charset="-122"/>
              </a:rPr>
              <a:t>重新评估造影发现（临床忽略的诊断）</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31" name="矩形 30"/>
          <p:cNvSpPr/>
          <p:nvPr/>
        </p:nvSpPr>
        <p:spPr>
          <a:xfrm>
            <a:off x="5342255" y="3107055"/>
            <a:ext cx="1107440" cy="12319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心脏磁共振</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33" name="矩形 32"/>
          <p:cNvSpPr/>
          <p:nvPr/>
        </p:nvSpPr>
        <p:spPr>
          <a:xfrm>
            <a:off x="5327104" y="3350025"/>
            <a:ext cx="813418" cy="38014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icrosoft YaHei UI" panose="020B0503020204020204" pitchFamily="34" charset="-122"/>
                <a:ea typeface="Microsoft YaHei UI" panose="020B0503020204020204" pitchFamily="34" charset="-122"/>
              </a:rPr>
              <a:t>非缺血性图像</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37" name="矩形 36"/>
          <p:cNvSpPr/>
          <p:nvPr/>
        </p:nvSpPr>
        <p:spPr>
          <a:xfrm>
            <a:off x="6275752" y="3362219"/>
            <a:ext cx="746635" cy="38014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icrosoft YaHei UI" panose="020B0503020204020204" pitchFamily="34" charset="-122"/>
                <a:ea typeface="Microsoft YaHei UI" panose="020B0503020204020204" pitchFamily="34" charset="-122"/>
              </a:rPr>
              <a:t>缺血性图像</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41" name="矩形 40"/>
          <p:cNvSpPr/>
          <p:nvPr/>
        </p:nvSpPr>
        <p:spPr>
          <a:xfrm>
            <a:off x="7105910" y="3074611"/>
            <a:ext cx="904127" cy="5272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腔内血管</a:t>
            </a: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000" dirty="0">
                <a:solidFill>
                  <a:schemeClr val="tx1"/>
                </a:solidFill>
                <a:latin typeface="Microsoft YaHei UI" panose="020B0503020204020204" pitchFamily="34" charset="-122"/>
                <a:ea typeface="Microsoft YaHei UI" panose="020B0503020204020204" pitchFamily="34" charset="-122"/>
              </a:rPr>
              <a:t>成像</a:t>
            </a: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000" dirty="0">
                <a:solidFill>
                  <a:schemeClr val="tx1"/>
                </a:solidFill>
                <a:latin typeface="Microsoft YaHei UI" panose="020B0503020204020204" pitchFamily="34" charset="-122"/>
                <a:ea typeface="Microsoft YaHei UI" panose="020B0503020204020204" pitchFamily="34" charset="-122"/>
              </a:rPr>
              <a:t>(IVUS/OCT)</a:t>
            </a:r>
          </a:p>
        </p:txBody>
      </p:sp>
      <p:sp>
        <p:nvSpPr>
          <p:cNvPr id="43" name="矩形 42"/>
          <p:cNvSpPr/>
          <p:nvPr/>
        </p:nvSpPr>
        <p:spPr>
          <a:xfrm>
            <a:off x="8034391" y="3077111"/>
            <a:ext cx="1433245" cy="52989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腔内功能血测定</a:t>
            </a: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000" dirty="0">
                <a:solidFill>
                  <a:schemeClr val="tx1"/>
                </a:solidFill>
                <a:latin typeface="Microsoft YaHei UI" panose="020B0503020204020204" pitchFamily="34" charset="-122"/>
                <a:ea typeface="Microsoft YaHei UI" panose="020B0503020204020204" pitchFamily="34" charset="-122"/>
              </a:rPr>
              <a:t>(</a:t>
            </a:r>
            <a:r>
              <a:rPr lang="zh-CN" altLang="en-US" sz="1000" dirty="0">
                <a:solidFill>
                  <a:schemeClr val="tx1"/>
                </a:solidFill>
                <a:latin typeface="Microsoft YaHei UI" panose="020B0503020204020204" pitchFamily="34" charset="-122"/>
                <a:ea typeface="Microsoft YaHei UI" panose="020B0503020204020204" pitchFamily="34" charset="-122"/>
              </a:rPr>
              <a:t>乙酰胆碱</a:t>
            </a:r>
            <a:r>
              <a:rPr lang="en-US" altLang="zh-CN" sz="1000" dirty="0">
                <a:solidFill>
                  <a:schemeClr val="tx1"/>
                </a:solidFill>
                <a:latin typeface="Microsoft YaHei UI" panose="020B0503020204020204" pitchFamily="34" charset="-122"/>
                <a:ea typeface="Microsoft YaHei UI" panose="020B0503020204020204" pitchFamily="34" charset="-122"/>
              </a:rPr>
              <a:t>/</a:t>
            </a:r>
            <a:r>
              <a:rPr lang="zh-CN" altLang="en-US" sz="1000" dirty="0">
                <a:solidFill>
                  <a:schemeClr val="tx1"/>
                </a:solidFill>
                <a:latin typeface="Microsoft YaHei UI" panose="020B0503020204020204" pitchFamily="34" charset="-122"/>
                <a:ea typeface="Microsoft YaHei UI" panose="020B0503020204020204" pitchFamily="34" charset="-122"/>
              </a:rPr>
              <a:t>麦角新碱</a:t>
            </a:r>
            <a:r>
              <a:rPr lang="en-US" altLang="zh-CN" sz="1000" dirty="0">
                <a:solidFill>
                  <a:schemeClr val="tx1"/>
                </a:solidFill>
                <a:latin typeface="Microsoft YaHei UI" panose="020B0503020204020204" pitchFamily="34" charset="-122"/>
                <a:ea typeface="Microsoft YaHei UI" panose="020B0503020204020204" pitchFamily="34" charset="-122"/>
              </a:rPr>
              <a:t>)</a:t>
            </a:r>
          </a:p>
        </p:txBody>
      </p:sp>
      <p:sp>
        <p:nvSpPr>
          <p:cNvPr id="45" name="矩形 44"/>
          <p:cNvSpPr/>
          <p:nvPr/>
        </p:nvSpPr>
        <p:spPr>
          <a:xfrm>
            <a:off x="3821984" y="4530903"/>
            <a:ext cx="813166" cy="206779"/>
          </a:xfrm>
          <a:prstGeom prst="rect">
            <a:avLst/>
          </a:prstGeom>
          <a:solidFill>
            <a:srgbClr val="FE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真性心梗</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3837395" y="4740331"/>
            <a:ext cx="740878" cy="641747"/>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阻塞性冠心病</a:t>
            </a: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000" dirty="0">
                <a:solidFill>
                  <a:schemeClr val="tx1"/>
                </a:solidFill>
                <a:latin typeface="Microsoft YaHei UI" panose="020B0503020204020204" pitchFamily="34" charset="-122"/>
                <a:ea typeface="Microsoft YaHei UI" panose="020B0503020204020204" pitchFamily="34" charset="-122"/>
              </a:rPr>
              <a:t>自发性冠脉夹层</a:t>
            </a:r>
            <a:endParaRPr lang="en-US" altLang="zh-CN" sz="1000" dirty="0">
              <a:solidFill>
                <a:schemeClr val="tx1"/>
              </a:solidFill>
              <a:latin typeface="Microsoft YaHei UI" panose="020B0503020204020204" pitchFamily="34" charset="-122"/>
              <a:ea typeface="Microsoft YaHei UI" panose="020B0503020204020204" pitchFamily="34" charset="-122"/>
            </a:endParaRPr>
          </a:p>
        </p:txBody>
      </p:sp>
      <p:sp>
        <p:nvSpPr>
          <p:cNvPr id="49" name="矩形 48"/>
          <p:cNvSpPr/>
          <p:nvPr/>
        </p:nvSpPr>
        <p:spPr>
          <a:xfrm>
            <a:off x="4600504" y="4742667"/>
            <a:ext cx="772880" cy="464754"/>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心碎综合征</a:t>
            </a:r>
            <a:endParaRPr lang="en-US" altLang="zh-CN" sz="1000" dirty="0">
              <a:solidFill>
                <a:schemeClr val="tx1"/>
              </a:solidFill>
              <a:latin typeface="Microsoft YaHei UI" panose="020B0503020204020204" pitchFamily="34" charset="-122"/>
              <a:ea typeface="Microsoft YaHei UI" panose="020B0503020204020204" pitchFamily="34" charset="-122"/>
            </a:endParaRPr>
          </a:p>
        </p:txBody>
      </p:sp>
      <p:sp>
        <p:nvSpPr>
          <p:cNvPr id="51" name="矩形 50"/>
          <p:cNvSpPr/>
          <p:nvPr/>
        </p:nvSpPr>
        <p:spPr>
          <a:xfrm>
            <a:off x="5409829" y="4741769"/>
            <a:ext cx="831721" cy="464754"/>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其它心肌病</a:t>
            </a:r>
            <a:endParaRPr lang="en-US" altLang="zh-CN" sz="1000" dirty="0">
              <a:solidFill>
                <a:schemeClr val="tx1"/>
              </a:solidFill>
              <a:latin typeface="Microsoft YaHei UI" panose="020B0503020204020204" pitchFamily="34" charset="-122"/>
              <a:ea typeface="Microsoft YaHei UI" panose="020B0503020204020204" pitchFamily="34" charset="-122"/>
            </a:endParaRPr>
          </a:p>
        </p:txBody>
      </p:sp>
      <p:sp>
        <p:nvSpPr>
          <p:cNvPr id="53" name="矩形 52"/>
          <p:cNvSpPr/>
          <p:nvPr/>
        </p:nvSpPr>
        <p:spPr>
          <a:xfrm>
            <a:off x="6282114" y="4742981"/>
            <a:ext cx="728978" cy="464754"/>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心肌炎</a:t>
            </a:r>
            <a:endParaRPr lang="en-US" altLang="zh-CN" sz="1000" dirty="0">
              <a:solidFill>
                <a:schemeClr val="tx1"/>
              </a:solidFill>
              <a:latin typeface="Microsoft YaHei UI" panose="020B0503020204020204" pitchFamily="34" charset="-122"/>
              <a:ea typeface="Microsoft YaHei UI" panose="020B0503020204020204" pitchFamily="34" charset="-122"/>
            </a:endParaRPr>
          </a:p>
        </p:txBody>
      </p:sp>
      <p:sp>
        <p:nvSpPr>
          <p:cNvPr id="55" name="矩形 54"/>
          <p:cNvSpPr/>
          <p:nvPr/>
        </p:nvSpPr>
        <p:spPr>
          <a:xfrm>
            <a:off x="5152490" y="4526840"/>
            <a:ext cx="1164283" cy="169525"/>
          </a:xfrm>
          <a:prstGeom prst="rect">
            <a:avLst/>
          </a:prstGeom>
          <a:solidFill>
            <a:srgbClr val="FE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非</a:t>
            </a:r>
            <a:r>
              <a:rPr lang="en-US" altLang="zh-CN" sz="1200" b="1" dirty="0">
                <a:solidFill>
                  <a:schemeClr val="tx1"/>
                </a:solidFill>
                <a:latin typeface="Microsoft YaHei UI" panose="020B0503020204020204" pitchFamily="34" charset="-122"/>
                <a:ea typeface="Microsoft YaHei UI" panose="020B0503020204020204" pitchFamily="34" charset="-122"/>
              </a:rPr>
              <a:t>MINOCA</a:t>
            </a:r>
          </a:p>
        </p:txBody>
      </p:sp>
      <p:sp>
        <p:nvSpPr>
          <p:cNvPr id="57" name="矩形 56"/>
          <p:cNvSpPr/>
          <p:nvPr/>
        </p:nvSpPr>
        <p:spPr>
          <a:xfrm>
            <a:off x="7556853" y="4566861"/>
            <a:ext cx="1530640" cy="185301"/>
          </a:xfrm>
          <a:prstGeom prst="rect">
            <a:avLst/>
          </a:prstGeom>
          <a:solidFill>
            <a:srgbClr val="3FD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特殊缺血性疾病</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59" name="矩形 58"/>
          <p:cNvSpPr/>
          <p:nvPr/>
        </p:nvSpPr>
        <p:spPr>
          <a:xfrm>
            <a:off x="7123077" y="4759242"/>
            <a:ext cx="772880" cy="464754"/>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未分类的</a:t>
            </a:r>
            <a:r>
              <a:rPr lang="en-US" altLang="zh-CN" sz="1000" dirty="0">
                <a:solidFill>
                  <a:schemeClr val="tx1"/>
                </a:solidFill>
                <a:latin typeface="Microsoft YaHei UI" panose="020B0503020204020204" pitchFamily="34" charset="-122"/>
                <a:ea typeface="Microsoft YaHei UI" panose="020B0503020204020204" pitchFamily="34" charset="-122"/>
              </a:rPr>
              <a:t>MINOCA</a:t>
            </a:r>
          </a:p>
        </p:txBody>
      </p:sp>
      <p:sp>
        <p:nvSpPr>
          <p:cNvPr id="61" name="矩形 60"/>
          <p:cNvSpPr/>
          <p:nvPr/>
        </p:nvSpPr>
        <p:spPr>
          <a:xfrm>
            <a:off x="7918188" y="4759242"/>
            <a:ext cx="772880" cy="1304346"/>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斑块破裂斑块侵蚀</a:t>
            </a: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000" dirty="0">
                <a:solidFill>
                  <a:schemeClr val="tx1"/>
                </a:solidFill>
                <a:latin typeface="Microsoft YaHei UI" panose="020B0503020204020204" pitchFamily="34" charset="-122"/>
                <a:ea typeface="Microsoft YaHei UI" panose="020B0503020204020204" pitchFamily="34" charset="-122"/>
              </a:rPr>
              <a:t>冠脉栓塞</a:t>
            </a:r>
            <a:r>
              <a:rPr lang="en-US" altLang="zh-CN" sz="1000" dirty="0">
                <a:solidFill>
                  <a:schemeClr val="tx1"/>
                </a:solidFill>
                <a:latin typeface="Microsoft YaHei UI" panose="020B0503020204020204" pitchFamily="34" charset="-122"/>
                <a:ea typeface="Microsoft YaHei UI" panose="020B0503020204020204" pitchFamily="34" charset="-122"/>
              </a:rPr>
              <a:t>/</a:t>
            </a:r>
            <a:r>
              <a:rPr lang="zh-CN" altLang="en-US" sz="1000" dirty="0">
                <a:solidFill>
                  <a:schemeClr val="tx1"/>
                </a:solidFill>
                <a:latin typeface="Microsoft YaHei UI" panose="020B0503020204020204" pitchFamily="34" charset="-122"/>
                <a:ea typeface="Microsoft YaHei UI" panose="020B0503020204020204" pitchFamily="34" charset="-122"/>
              </a:rPr>
              <a:t>血栓</a:t>
            </a: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000" dirty="0">
                <a:solidFill>
                  <a:schemeClr val="tx1"/>
                </a:solidFill>
                <a:latin typeface="Microsoft YaHei UI" panose="020B0503020204020204" pitchFamily="34" charset="-122"/>
                <a:ea typeface="Microsoft YaHei UI" panose="020B0503020204020204" pitchFamily="34" charset="-122"/>
              </a:rPr>
              <a:t>自发冠脉夹层</a:t>
            </a:r>
            <a:endParaRPr lang="en-US" altLang="zh-CN" sz="1000" dirty="0">
              <a:solidFill>
                <a:schemeClr val="tx1"/>
              </a:solidFill>
              <a:latin typeface="Microsoft YaHei UI" panose="020B0503020204020204" pitchFamily="34" charset="-122"/>
              <a:ea typeface="Microsoft YaHei UI" panose="020B0503020204020204" pitchFamily="34" charset="-122"/>
            </a:endParaRPr>
          </a:p>
        </p:txBody>
      </p:sp>
      <p:sp>
        <p:nvSpPr>
          <p:cNvPr id="63" name="矩形 62"/>
          <p:cNvSpPr/>
          <p:nvPr/>
        </p:nvSpPr>
        <p:spPr>
          <a:xfrm>
            <a:off x="8703505" y="4755402"/>
            <a:ext cx="772880" cy="1144394"/>
          </a:xfrm>
          <a:prstGeom prst="rect">
            <a:avLst/>
          </a:prstGeom>
          <a:solidFill>
            <a:srgbClr val="E4E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Microsoft YaHei UI" panose="020B0503020204020204" pitchFamily="34" charset="-122"/>
                <a:ea typeface="Microsoft YaHei UI" panose="020B0503020204020204" pitchFamily="34" charset="-122"/>
              </a:rPr>
              <a:t>冠脉痉挛</a:t>
            </a:r>
            <a:endParaRPr lang="en-US" altLang="zh-CN" sz="1000"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000" dirty="0">
                <a:solidFill>
                  <a:schemeClr val="tx1"/>
                </a:solidFill>
                <a:latin typeface="Microsoft YaHei UI" panose="020B0503020204020204" pitchFamily="34" charset="-122"/>
                <a:ea typeface="Microsoft YaHei UI" panose="020B0503020204020204" pitchFamily="34" charset="-122"/>
              </a:rPr>
              <a:t>微血管病变</a:t>
            </a:r>
            <a:endParaRPr lang="en-US" altLang="zh-CN" sz="1000" dirty="0">
              <a:solidFill>
                <a:schemeClr val="tx1"/>
              </a:solidFill>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1529039"/>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1528757"/>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534884"/>
            <a:ext cx="810713" cy="658747"/>
          </a:xfrm>
          <a:prstGeom prst="rect">
            <a:avLst/>
          </a:prstGeom>
        </p:spPr>
      </p:pic>
      <p:sp>
        <p:nvSpPr>
          <p:cNvPr id="23" name="文本框 22"/>
          <p:cNvSpPr txBox="1"/>
          <p:nvPr/>
        </p:nvSpPr>
        <p:spPr>
          <a:xfrm>
            <a:off x="697585" y="1679237"/>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399388" y="1536200"/>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541450"/>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1010992" y="536714"/>
            <a:ext cx="7609026"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冠状动脉无阻塞性心肌梗死（</a:t>
            </a:r>
            <a:r>
              <a:rPr lang="en-US" altLang="zh-CN" sz="2400" b="1" dirty="0">
                <a:solidFill>
                  <a:srgbClr val="AE1022"/>
                </a:solidFill>
                <a:latin typeface="Microsoft YaHei UI" panose="020B0503020204020204" pitchFamily="34" charset="-122"/>
                <a:ea typeface="Microsoft YaHei UI" panose="020B0503020204020204" pitchFamily="34" charset="-122"/>
              </a:rPr>
              <a:t>MINOCA</a:t>
            </a:r>
            <a:r>
              <a:rPr lang="zh-CN" altLang="en-US" sz="2400" b="1" dirty="0">
                <a:solidFill>
                  <a:srgbClr val="AE1022"/>
                </a:solidFill>
                <a:latin typeface="Microsoft YaHei UI" panose="020B0503020204020204" pitchFamily="34" charset="-122"/>
                <a:ea typeface="Microsoft YaHei UI" panose="020B0503020204020204" pitchFamily="34" charset="-122"/>
              </a:rPr>
              <a:t>）指南推荐</a:t>
            </a:r>
            <a:endParaRPr lang="zh-CN" altLang="en-US" sz="2400" b="1" dirty="0">
              <a:solidFill>
                <a:srgbClr val="AE1022"/>
              </a:solidFill>
            </a:endParaRPr>
          </a:p>
        </p:txBody>
      </p:sp>
      <p:sp>
        <p:nvSpPr>
          <p:cNvPr id="13" name="矩形 12"/>
          <p:cNvSpPr/>
          <p:nvPr/>
        </p:nvSpPr>
        <p:spPr>
          <a:xfrm>
            <a:off x="706279" y="2836393"/>
            <a:ext cx="8580428" cy="29208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对所有无明显潜在原因的</a:t>
            </a:r>
            <a:r>
              <a:rPr lang="en-US" altLang="zh-CN" dirty="0">
                <a:latin typeface="Microsoft YaHei UI" panose="020B0503020204020204" pitchFamily="34" charset="-122"/>
                <a:ea typeface="Microsoft YaHei UI" panose="020B0503020204020204" pitchFamily="34" charset="-122"/>
              </a:rPr>
              <a:t>MINOCA</a:t>
            </a:r>
            <a:r>
              <a:rPr lang="zh-CN" altLang="en-US" dirty="0">
                <a:latin typeface="Microsoft YaHei UI" panose="020B0503020204020204" pitchFamily="34" charset="-122"/>
                <a:ea typeface="Microsoft YaHei UI" panose="020B0503020204020204" pitchFamily="34" charset="-122"/>
              </a:rPr>
              <a:t>患者，推荐行心脏磁共振检查</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sp>
        <p:nvSpPr>
          <p:cNvPr id="17" name="矩形 16"/>
          <p:cNvSpPr/>
          <p:nvPr/>
        </p:nvSpPr>
        <p:spPr>
          <a:xfrm>
            <a:off x="702430" y="2203905"/>
            <a:ext cx="8580428" cy="58502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对所有初步怀疑</a:t>
            </a:r>
            <a:r>
              <a:rPr lang="en-US" altLang="zh-CN" dirty="0">
                <a:latin typeface="Microsoft YaHei UI" panose="020B0503020204020204" pitchFamily="34" charset="-122"/>
                <a:ea typeface="Microsoft YaHei UI" panose="020B0503020204020204" pitchFamily="34" charset="-122"/>
              </a:rPr>
              <a:t>MINOCA</a:t>
            </a:r>
            <a:r>
              <a:rPr lang="zh-CN" altLang="en-US" dirty="0">
                <a:latin typeface="Microsoft YaHei UI" panose="020B0503020204020204" pitchFamily="34" charset="-122"/>
                <a:ea typeface="Microsoft YaHei UI" panose="020B0503020204020204" pitchFamily="34" charset="-122"/>
              </a:rPr>
              <a:t>诊断的患者，推荐按照诊断流程区分真性</a:t>
            </a:r>
            <a:r>
              <a:rPr lang="en-US" altLang="zh-CN" dirty="0">
                <a:latin typeface="Microsoft YaHei UI" panose="020B0503020204020204" pitchFamily="34" charset="-122"/>
                <a:ea typeface="Microsoft YaHei UI" panose="020B0503020204020204" pitchFamily="34" charset="-122"/>
              </a:rPr>
              <a:t>MINOCA</a:t>
            </a:r>
            <a:r>
              <a:rPr lang="zh-CN" altLang="en-US" dirty="0">
                <a:latin typeface="Microsoft YaHei UI" panose="020B0503020204020204" pitchFamily="34" charset="-122"/>
                <a:ea typeface="Microsoft YaHei UI" panose="020B0503020204020204" pitchFamily="34" charset="-122"/>
              </a:rPr>
              <a:t>和其它诊断可能</a:t>
            </a:r>
            <a:endParaRPr lang="en-US" altLang="zh-CN" dirty="0">
              <a:latin typeface="Microsoft YaHei UI" panose="020B0503020204020204" pitchFamily="34" charset="-122"/>
              <a:ea typeface="Microsoft YaHei UI" panose="020B0503020204020204" pitchFamily="34" charset="-122"/>
            </a:endParaRPr>
          </a:p>
        </p:txBody>
      </p:sp>
      <p:sp>
        <p:nvSpPr>
          <p:cNvPr id="4" name="矩形 3"/>
          <p:cNvSpPr/>
          <p:nvPr/>
        </p:nvSpPr>
        <p:spPr>
          <a:xfrm>
            <a:off x="705525" y="3176068"/>
            <a:ext cx="8580428" cy="57843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推荐按照</a:t>
            </a:r>
            <a:r>
              <a:rPr lang="en-US" altLang="zh-CN" dirty="0">
                <a:latin typeface="Microsoft YaHei UI" panose="020B0503020204020204" pitchFamily="34" charset="-122"/>
                <a:ea typeface="Microsoft YaHei UI" panose="020B0503020204020204" pitchFamily="34" charset="-122"/>
              </a:rPr>
              <a:t>MINOCA</a:t>
            </a:r>
            <a:r>
              <a:rPr lang="zh-CN" altLang="en-US" dirty="0">
                <a:latin typeface="Microsoft YaHei UI" panose="020B0503020204020204" pitchFamily="34" charset="-122"/>
                <a:ea typeface="Microsoft YaHei UI" panose="020B0503020204020204" pitchFamily="34" charset="-122"/>
              </a:rPr>
              <a:t>为初始诊断对患者进行治疗，并根据特定疾病指南确定潜在原因</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sp>
        <p:nvSpPr>
          <p:cNvPr id="25" name="矩形 24"/>
          <p:cNvSpPr/>
          <p:nvPr/>
        </p:nvSpPr>
        <p:spPr>
          <a:xfrm>
            <a:off x="702430" y="3796087"/>
            <a:ext cx="8580428" cy="57843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对于最终诊断为无明显原因的</a:t>
            </a:r>
            <a:r>
              <a:rPr lang="en-US" altLang="zh-CN" dirty="0">
                <a:latin typeface="Microsoft YaHei UI" panose="020B0503020204020204" pitchFamily="34" charset="-122"/>
                <a:ea typeface="Microsoft YaHei UI" panose="020B0503020204020204" pitchFamily="34" charset="-122"/>
              </a:rPr>
              <a:t>MINOCA</a:t>
            </a:r>
            <a:r>
              <a:rPr lang="zh-CN" altLang="en-US" dirty="0">
                <a:latin typeface="Microsoft YaHei UI" panose="020B0503020204020204" pitchFamily="34" charset="-122"/>
                <a:ea typeface="Microsoft YaHei UI" panose="020B0503020204020204" pitchFamily="34" charset="-122"/>
              </a:rPr>
              <a:t>患者，可按照粥样硬化性疾病二级预防指南进行治疗</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sp>
        <p:nvSpPr>
          <p:cNvPr id="49" name="矩形 48"/>
          <p:cNvSpPr/>
          <p:nvPr/>
        </p:nvSpPr>
        <p:spPr>
          <a:xfrm>
            <a:off x="1022954" y="6352134"/>
            <a:ext cx="2223679" cy="3788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FFR</a:t>
            </a:r>
            <a:r>
              <a:rPr lang="zh-CN" altLang="en-US" sz="1400" dirty="0">
                <a:solidFill>
                  <a:schemeClr val="tx1"/>
                </a:solidFill>
                <a:latin typeface="Microsoft YaHei UI" panose="020B0503020204020204" pitchFamily="34" charset="-122"/>
                <a:ea typeface="Microsoft YaHei UI" panose="020B0503020204020204" pitchFamily="34" charset="-122"/>
              </a:rPr>
              <a:t>：冠脉血流储备分数</a:t>
            </a:r>
            <a:endParaRPr lang="zh-CN" altLang="en-US" sz="1400" baseline="30000" dirty="0">
              <a:solidFill>
                <a:schemeClr val="tx1"/>
              </a:solidFill>
              <a:latin typeface="Microsoft YaHei UI" panose="020B0503020204020204" pitchFamily="34" charset="-122"/>
              <a:ea typeface="Microsoft YaHei UI" panose="020B0503020204020204" pitchFamily="34" charset="-122"/>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09210" y="2172257"/>
            <a:ext cx="1656833" cy="224049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1985431" y="396330"/>
            <a:ext cx="8129627" cy="523220"/>
          </a:xfrm>
          <a:prstGeom prst="rect">
            <a:avLst/>
          </a:prstGeom>
          <a:noFill/>
        </p:spPr>
        <p:txBody>
          <a:bodyPr wrap="square" rtlCol="0">
            <a:spAutoFit/>
          </a:bodyPr>
          <a:lstStyle/>
          <a:p>
            <a:r>
              <a:rPr lang="en-US" altLang="zh-CN" sz="2800" b="1" dirty="0">
                <a:solidFill>
                  <a:srgbClr val="AE1022"/>
                </a:solidFill>
                <a:latin typeface="Microsoft YaHei UI" panose="020B0503020204020204" pitchFamily="34" charset="-122"/>
                <a:ea typeface="Microsoft YaHei UI" panose="020B0503020204020204" pitchFamily="34" charset="-122"/>
              </a:rPr>
              <a:t>2020ESC</a:t>
            </a:r>
            <a:r>
              <a:rPr lang="zh-CN" altLang="en-US" sz="2800" b="1" dirty="0">
                <a:solidFill>
                  <a:srgbClr val="AE1022"/>
                </a:solidFill>
                <a:latin typeface="Microsoft YaHei UI" panose="020B0503020204020204" pitchFamily="34" charset="-122"/>
                <a:ea typeface="Microsoft YaHei UI" panose="020B0503020204020204" pitchFamily="34" charset="-122"/>
              </a:rPr>
              <a:t>非</a:t>
            </a:r>
            <a:r>
              <a:rPr lang="en-US" altLang="zh-CN" sz="2800" b="1" dirty="0">
                <a:solidFill>
                  <a:srgbClr val="AE1022"/>
                </a:solidFill>
                <a:latin typeface="Microsoft YaHei UI" panose="020B0503020204020204" pitchFamily="34" charset="-122"/>
                <a:ea typeface="Microsoft YaHei UI" panose="020B0503020204020204" pitchFamily="34" charset="-122"/>
              </a:rPr>
              <a:t>ST</a:t>
            </a:r>
            <a:r>
              <a:rPr lang="zh-CN" altLang="en-US" sz="2800" b="1" dirty="0">
                <a:solidFill>
                  <a:srgbClr val="AE1022"/>
                </a:solidFill>
                <a:latin typeface="Microsoft YaHei UI" panose="020B0503020204020204" pitchFamily="34" charset="-122"/>
                <a:ea typeface="Microsoft YaHei UI" panose="020B0503020204020204" pitchFamily="34" charset="-122"/>
              </a:rPr>
              <a:t>段抬高性急性冠脉综合征临床指南</a:t>
            </a:r>
            <a:endParaRPr lang="zh-CN" altLang="en-US" sz="2800" b="1" dirty="0">
              <a:solidFill>
                <a:srgbClr val="AE1022"/>
              </a:solidFill>
            </a:endParaRPr>
          </a:p>
        </p:txBody>
      </p:sp>
      <p:grpSp>
        <p:nvGrpSpPr>
          <p:cNvPr id="35" name="Group 135"/>
          <p:cNvGrpSpPr>
            <a:grpSpLocks noChangeAspect="1"/>
          </p:cNvGrpSpPr>
          <p:nvPr/>
        </p:nvGrpSpPr>
        <p:grpSpPr bwMode="auto">
          <a:xfrm>
            <a:off x="3055625" y="2264321"/>
            <a:ext cx="578560" cy="745891"/>
            <a:chOff x="764" y="3082"/>
            <a:chExt cx="612" cy="789"/>
          </a:xfrm>
          <a:solidFill>
            <a:schemeClr val="bg1">
              <a:lumMod val="65000"/>
            </a:schemeClr>
          </a:solidFill>
        </p:grpSpPr>
        <p:sp>
          <p:nvSpPr>
            <p:cNvPr id="36" name="Freeform 136"/>
            <p:cNvSpPr>
              <a:spLocks noEditPoints="1"/>
            </p:cNvSpPr>
            <p:nvPr/>
          </p:nvSpPr>
          <p:spPr bwMode="auto">
            <a:xfrm>
              <a:off x="889" y="3358"/>
              <a:ext cx="359" cy="364"/>
            </a:xfrm>
            <a:custGeom>
              <a:avLst/>
              <a:gdLst>
                <a:gd name="T0" fmla="*/ 97 w 152"/>
                <a:gd name="T1" fmla="*/ 144 h 154"/>
                <a:gd name="T2" fmla="*/ 142 w 152"/>
                <a:gd name="T3" fmla="*/ 144 h 154"/>
                <a:gd name="T4" fmla="*/ 142 w 152"/>
                <a:gd name="T5" fmla="*/ 99 h 154"/>
                <a:gd name="T6" fmla="*/ 97 w 152"/>
                <a:gd name="T7" fmla="*/ 99 h 154"/>
                <a:gd name="T8" fmla="*/ 97 w 152"/>
                <a:gd name="T9" fmla="*/ 144 h 154"/>
                <a:gd name="T10" fmla="*/ 5 w 152"/>
                <a:gd name="T11" fmla="*/ 28 h 154"/>
                <a:gd name="T12" fmla="*/ 5 w 152"/>
                <a:gd name="T13" fmla="*/ 17 h 154"/>
                <a:gd name="T14" fmla="*/ 16 w 152"/>
                <a:gd name="T15" fmla="*/ 18 h 154"/>
                <a:gd name="T16" fmla="*/ 31 w 152"/>
                <a:gd name="T17" fmla="*/ 34 h 154"/>
                <a:gd name="T18" fmla="*/ 57 w 152"/>
                <a:gd name="T19" fmla="*/ 4 h 154"/>
                <a:gd name="T20" fmla="*/ 69 w 152"/>
                <a:gd name="T21" fmla="*/ 3 h 154"/>
                <a:gd name="T22" fmla="*/ 69 w 152"/>
                <a:gd name="T23" fmla="*/ 14 h 154"/>
                <a:gd name="T24" fmla="*/ 36 w 152"/>
                <a:gd name="T25" fmla="*/ 51 h 154"/>
                <a:gd name="T26" fmla="*/ 25 w 152"/>
                <a:gd name="T27" fmla="*/ 51 h 154"/>
                <a:gd name="T28" fmla="*/ 5 w 152"/>
                <a:gd name="T29" fmla="*/ 28 h 154"/>
                <a:gd name="T30" fmla="*/ 97 w 152"/>
                <a:gd name="T31" fmla="*/ 13 h 154"/>
                <a:gd name="T32" fmla="*/ 97 w 152"/>
                <a:gd name="T33" fmla="*/ 57 h 154"/>
                <a:gd name="T34" fmla="*/ 142 w 152"/>
                <a:gd name="T35" fmla="*/ 57 h 154"/>
                <a:gd name="T36" fmla="*/ 142 w 152"/>
                <a:gd name="T37" fmla="*/ 13 h 154"/>
                <a:gd name="T38" fmla="*/ 97 w 152"/>
                <a:gd name="T39" fmla="*/ 13 h 154"/>
                <a:gd name="T40" fmla="*/ 87 w 152"/>
                <a:gd name="T41" fmla="*/ 62 h 154"/>
                <a:gd name="T42" fmla="*/ 87 w 152"/>
                <a:gd name="T43" fmla="*/ 2 h 154"/>
                <a:gd name="T44" fmla="*/ 152 w 152"/>
                <a:gd name="T45" fmla="*/ 2 h 154"/>
                <a:gd name="T46" fmla="*/ 152 w 152"/>
                <a:gd name="T47" fmla="*/ 68 h 154"/>
                <a:gd name="T48" fmla="*/ 87 w 152"/>
                <a:gd name="T49" fmla="*/ 68 h 154"/>
                <a:gd name="T50" fmla="*/ 87 w 152"/>
                <a:gd name="T51" fmla="*/ 62 h 154"/>
                <a:gd name="T52" fmla="*/ 11 w 152"/>
                <a:gd name="T53" fmla="*/ 144 h 154"/>
                <a:gd name="T54" fmla="*/ 55 w 152"/>
                <a:gd name="T55" fmla="*/ 144 h 154"/>
                <a:gd name="T56" fmla="*/ 55 w 152"/>
                <a:gd name="T57" fmla="*/ 99 h 154"/>
                <a:gd name="T58" fmla="*/ 11 w 152"/>
                <a:gd name="T59" fmla="*/ 99 h 154"/>
                <a:gd name="T60" fmla="*/ 11 w 152"/>
                <a:gd name="T61" fmla="*/ 144 h 154"/>
                <a:gd name="T62" fmla="*/ 61 w 152"/>
                <a:gd name="T63" fmla="*/ 154 h 154"/>
                <a:gd name="T64" fmla="*/ 0 w 152"/>
                <a:gd name="T65" fmla="*/ 154 h 154"/>
                <a:gd name="T66" fmla="*/ 0 w 152"/>
                <a:gd name="T67" fmla="*/ 89 h 154"/>
                <a:gd name="T68" fmla="*/ 66 w 152"/>
                <a:gd name="T69" fmla="*/ 89 h 154"/>
                <a:gd name="T70" fmla="*/ 66 w 152"/>
                <a:gd name="T71" fmla="*/ 154 h 154"/>
                <a:gd name="T72" fmla="*/ 61 w 152"/>
                <a:gd name="T73" fmla="*/ 154 h 154"/>
                <a:gd name="T74" fmla="*/ 147 w 152"/>
                <a:gd name="T75" fmla="*/ 154 h 154"/>
                <a:gd name="T76" fmla="*/ 87 w 152"/>
                <a:gd name="T77" fmla="*/ 154 h 154"/>
                <a:gd name="T78" fmla="*/ 87 w 152"/>
                <a:gd name="T79" fmla="*/ 89 h 154"/>
                <a:gd name="T80" fmla="*/ 152 w 152"/>
                <a:gd name="T81" fmla="*/ 89 h 154"/>
                <a:gd name="T82" fmla="*/ 152 w 152"/>
                <a:gd name="T83" fmla="*/ 154 h 154"/>
                <a:gd name="T84" fmla="*/ 147 w 152"/>
                <a:gd name="T8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2" h="154">
                  <a:moveTo>
                    <a:pt x="97" y="144"/>
                  </a:moveTo>
                  <a:cubicBezTo>
                    <a:pt x="142" y="144"/>
                    <a:pt x="142" y="144"/>
                    <a:pt x="142" y="144"/>
                  </a:cubicBezTo>
                  <a:cubicBezTo>
                    <a:pt x="142" y="99"/>
                    <a:pt x="142" y="99"/>
                    <a:pt x="142" y="99"/>
                  </a:cubicBezTo>
                  <a:cubicBezTo>
                    <a:pt x="97" y="99"/>
                    <a:pt x="97" y="99"/>
                    <a:pt x="97" y="99"/>
                  </a:cubicBezTo>
                  <a:cubicBezTo>
                    <a:pt x="97" y="144"/>
                    <a:pt x="97" y="144"/>
                    <a:pt x="97" y="144"/>
                  </a:cubicBezTo>
                  <a:close/>
                  <a:moveTo>
                    <a:pt x="5" y="28"/>
                  </a:moveTo>
                  <a:cubicBezTo>
                    <a:pt x="2" y="25"/>
                    <a:pt x="2" y="20"/>
                    <a:pt x="5" y="17"/>
                  </a:cubicBezTo>
                  <a:cubicBezTo>
                    <a:pt x="9" y="14"/>
                    <a:pt x="14" y="15"/>
                    <a:pt x="16" y="18"/>
                  </a:cubicBezTo>
                  <a:cubicBezTo>
                    <a:pt x="31" y="34"/>
                    <a:pt x="31" y="34"/>
                    <a:pt x="31" y="34"/>
                  </a:cubicBezTo>
                  <a:cubicBezTo>
                    <a:pt x="57" y="4"/>
                    <a:pt x="57" y="4"/>
                    <a:pt x="57" y="4"/>
                  </a:cubicBezTo>
                  <a:cubicBezTo>
                    <a:pt x="60" y="1"/>
                    <a:pt x="65" y="0"/>
                    <a:pt x="69" y="3"/>
                  </a:cubicBezTo>
                  <a:cubicBezTo>
                    <a:pt x="72" y="6"/>
                    <a:pt x="72" y="11"/>
                    <a:pt x="69" y="14"/>
                  </a:cubicBezTo>
                  <a:cubicBezTo>
                    <a:pt x="36" y="51"/>
                    <a:pt x="36" y="51"/>
                    <a:pt x="36" y="51"/>
                  </a:cubicBezTo>
                  <a:cubicBezTo>
                    <a:pt x="33" y="54"/>
                    <a:pt x="28" y="54"/>
                    <a:pt x="25" y="51"/>
                  </a:cubicBezTo>
                  <a:cubicBezTo>
                    <a:pt x="5" y="28"/>
                    <a:pt x="5" y="28"/>
                    <a:pt x="5" y="28"/>
                  </a:cubicBezTo>
                  <a:close/>
                  <a:moveTo>
                    <a:pt x="97" y="13"/>
                  </a:moveTo>
                  <a:cubicBezTo>
                    <a:pt x="97" y="57"/>
                    <a:pt x="97" y="57"/>
                    <a:pt x="97" y="57"/>
                  </a:cubicBezTo>
                  <a:cubicBezTo>
                    <a:pt x="142" y="57"/>
                    <a:pt x="142" y="57"/>
                    <a:pt x="142" y="57"/>
                  </a:cubicBezTo>
                  <a:cubicBezTo>
                    <a:pt x="142" y="13"/>
                    <a:pt x="142" y="13"/>
                    <a:pt x="142" y="13"/>
                  </a:cubicBezTo>
                  <a:cubicBezTo>
                    <a:pt x="97" y="13"/>
                    <a:pt x="97" y="13"/>
                    <a:pt x="97" y="13"/>
                  </a:cubicBezTo>
                  <a:close/>
                  <a:moveTo>
                    <a:pt x="87" y="62"/>
                  </a:moveTo>
                  <a:cubicBezTo>
                    <a:pt x="87" y="2"/>
                    <a:pt x="87" y="2"/>
                    <a:pt x="87" y="2"/>
                  </a:cubicBezTo>
                  <a:cubicBezTo>
                    <a:pt x="109" y="2"/>
                    <a:pt x="130" y="2"/>
                    <a:pt x="152" y="2"/>
                  </a:cubicBezTo>
                  <a:cubicBezTo>
                    <a:pt x="152" y="68"/>
                    <a:pt x="152" y="68"/>
                    <a:pt x="152" y="68"/>
                  </a:cubicBezTo>
                  <a:cubicBezTo>
                    <a:pt x="87" y="68"/>
                    <a:pt x="87" y="68"/>
                    <a:pt x="87" y="68"/>
                  </a:cubicBezTo>
                  <a:cubicBezTo>
                    <a:pt x="87" y="62"/>
                    <a:pt x="87" y="62"/>
                    <a:pt x="87" y="62"/>
                  </a:cubicBezTo>
                  <a:close/>
                  <a:moveTo>
                    <a:pt x="11" y="144"/>
                  </a:moveTo>
                  <a:cubicBezTo>
                    <a:pt x="55" y="144"/>
                    <a:pt x="55" y="144"/>
                    <a:pt x="55" y="144"/>
                  </a:cubicBezTo>
                  <a:cubicBezTo>
                    <a:pt x="55" y="99"/>
                    <a:pt x="55" y="99"/>
                    <a:pt x="55" y="99"/>
                  </a:cubicBezTo>
                  <a:cubicBezTo>
                    <a:pt x="11" y="99"/>
                    <a:pt x="11" y="99"/>
                    <a:pt x="11" y="99"/>
                  </a:cubicBezTo>
                  <a:cubicBezTo>
                    <a:pt x="11" y="144"/>
                    <a:pt x="11" y="144"/>
                    <a:pt x="11" y="144"/>
                  </a:cubicBezTo>
                  <a:close/>
                  <a:moveTo>
                    <a:pt x="61" y="154"/>
                  </a:moveTo>
                  <a:cubicBezTo>
                    <a:pt x="41" y="154"/>
                    <a:pt x="20" y="154"/>
                    <a:pt x="0" y="154"/>
                  </a:cubicBezTo>
                  <a:cubicBezTo>
                    <a:pt x="0" y="89"/>
                    <a:pt x="0" y="89"/>
                    <a:pt x="0" y="89"/>
                  </a:cubicBezTo>
                  <a:cubicBezTo>
                    <a:pt x="22" y="89"/>
                    <a:pt x="44" y="89"/>
                    <a:pt x="66" y="89"/>
                  </a:cubicBezTo>
                  <a:cubicBezTo>
                    <a:pt x="66" y="154"/>
                    <a:pt x="66" y="154"/>
                    <a:pt x="66" y="154"/>
                  </a:cubicBezTo>
                  <a:cubicBezTo>
                    <a:pt x="61" y="154"/>
                    <a:pt x="61" y="154"/>
                    <a:pt x="61" y="154"/>
                  </a:cubicBezTo>
                  <a:close/>
                  <a:moveTo>
                    <a:pt x="147" y="154"/>
                  </a:moveTo>
                  <a:cubicBezTo>
                    <a:pt x="87" y="154"/>
                    <a:pt x="87" y="154"/>
                    <a:pt x="87" y="154"/>
                  </a:cubicBezTo>
                  <a:cubicBezTo>
                    <a:pt x="87" y="89"/>
                    <a:pt x="87" y="89"/>
                    <a:pt x="87" y="89"/>
                  </a:cubicBezTo>
                  <a:cubicBezTo>
                    <a:pt x="109" y="89"/>
                    <a:pt x="130" y="89"/>
                    <a:pt x="152" y="89"/>
                  </a:cubicBezTo>
                  <a:cubicBezTo>
                    <a:pt x="152" y="154"/>
                    <a:pt x="152" y="154"/>
                    <a:pt x="152" y="154"/>
                  </a:cubicBezTo>
                  <a:cubicBezTo>
                    <a:pt x="147" y="154"/>
                    <a:pt x="147" y="154"/>
                    <a:pt x="147" y="1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37"/>
            <p:cNvSpPr>
              <a:spLocks noEditPoints="1"/>
            </p:cNvSpPr>
            <p:nvPr/>
          </p:nvSpPr>
          <p:spPr bwMode="auto">
            <a:xfrm>
              <a:off x="764" y="3082"/>
              <a:ext cx="612" cy="789"/>
            </a:xfrm>
            <a:custGeom>
              <a:avLst/>
              <a:gdLst>
                <a:gd name="T0" fmla="*/ 26 w 259"/>
                <a:gd name="T1" fmla="*/ 36 h 334"/>
                <a:gd name="T2" fmla="*/ 60 w 259"/>
                <a:gd name="T3" fmla="*/ 36 h 334"/>
                <a:gd name="T4" fmla="*/ 60 w 259"/>
                <a:gd name="T5" fmla="*/ 52 h 334"/>
                <a:gd name="T6" fmla="*/ 26 w 259"/>
                <a:gd name="T7" fmla="*/ 52 h 334"/>
                <a:gd name="T8" fmla="*/ 19 w 259"/>
                <a:gd name="T9" fmla="*/ 55 h 334"/>
                <a:gd name="T10" fmla="*/ 16 w 259"/>
                <a:gd name="T11" fmla="*/ 62 h 334"/>
                <a:gd name="T12" fmla="*/ 16 w 259"/>
                <a:gd name="T13" fmla="*/ 308 h 334"/>
                <a:gd name="T14" fmla="*/ 26 w 259"/>
                <a:gd name="T15" fmla="*/ 318 h 334"/>
                <a:gd name="T16" fmla="*/ 233 w 259"/>
                <a:gd name="T17" fmla="*/ 318 h 334"/>
                <a:gd name="T18" fmla="*/ 243 w 259"/>
                <a:gd name="T19" fmla="*/ 308 h 334"/>
                <a:gd name="T20" fmla="*/ 243 w 259"/>
                <a:gd name="T21" fmla="*/ 62 h 334"/>
                <a:gd name="T22" fmla="*/ 240 w 259"/>
                <a:gd name="T23" fmla="*/ 55 h 334"/>
                <a:gd name="T24" fmla="*/ 233 w 259"/>
                <a:gd name="T25" fmla="*/ 52 h 334"/>
                <a:gd name="T26" fmla="*/ 199 w 259"/>
                <a:gd name="T27" fmla="*/ 52 h 334"/>
                <a:gd name="T28" fmla="*/ 199 w 259"/>
                <a:gd name="T29" fmla="*/ 36 h 334"/>
                <a:gd name="T30" fmla="*/ 233 w 259"/>
                <a:gd name="T31" fmla="*/ 36 h 334"/>
                <a:gd name="T32" fmla="*/ 251 w 259"/>
                <a:gd name="T33" fmla="*/ 44 h 334"/>
                <a:gd name="T34" fmla="*/ 259 w 259"/>
                <a:gd name="T35" fmla="*/ 62 h 334"/>
                <a:gd name="T36" fmla="*/ 259 w 259"/>
                <a:gd name="T37" fmla="*/ 308 h 334"/>
                <a:gd name="T38" fmla="*/ 233 w 259"/>
                <a:gd name="T39" fmla="*/ 334 h 334"/>
                <a:gd name="T40" fmla="*/ 26 w 259"/>
                <a:gd name="T41" fmla="*/ 334 h 334"/>
                <a:gd name="T42" fmla="*/ 0 w 259"/>
                <a:gd name="T43" fmla="*/ 308 h 334"/>
                <a:gd name="T44" fmla="*/ 0 w 259"/>
                <a:gd name="T45" fmla="*/ 62 h 334"/>
                <a:gd name="T46" fmla="*/ 7 w 259"/>
                <a:gd name="T47" fmla="*/ 44 h 334"/>
                <a:gd name="T48" fmla="*/ 26 w 259"/>
                <a:gd name="T49" fmla="*/ 36 h 334"/>
                <a:gd name="T50" fmla="*/ 129 w 259"/>
                <a:gd name="T51" fmla="*/ 0 h 334"/>
                <a:gd name="T52" fmla="*/ 149 w 259"/>
                <a:gd name="T53" fmla="*/ 5 h 334"/>
                <a:gd name="T54" fmla="*/ 157 w 259"/>
                <a:gd name="T55" fmla="*/ 25 h 334"/>
                <a:gd name="T56" fmla="*/ 157 w 259"/>
                <a:gd name="T57" fmla="*/ 25 h 334"/>
                <a:gd name="T58" fmla="*/ 188 w 259"/>
                <a:gd name="T59" fmla="*/ 25 h 334"/>
                <a:gd name="T60" fmla="*/ 188 w 259"/>
                <a:gd name="T61" fmla="*/ 64 h 334"/>
                <a:gd name="T62" fmla="*/ 71 w 259"/>
                <a:gd name="T63" fmla="*/ 64 h 334"/>
                <a:gd name="T64" fmla="*/ 71 w 259"/>
                <a:gd name="T65" fmla="*/ 25 h 334"/>
                <a:gd name="T66" fmla="*/ 102 w 259"/>
                <a:gd name="T67" fmla="*/ 25 h 334"/>
                <a:gd name="T68" fmla="*/ 102 w 259"/>
                <a:gd name="T69" fmla="*/ 25 h 334"/>
                <a:gd name="T70" fmla="*/ 110 w 259"/>
                <a:gd name="T71" fmla="*/ 5 h 334"/>
                <a:gd name="T72" fmla="*/ 129 w 259"/>
                <a:gd name="T73" fmla="*/ 0 h 334"/>
                <a:gd name="T74" fmla="*/ 138 w 259"/>
                <a:gd name="T75" fmla="*/ 16 h 334"/>
                <a:gd name="T76" fmla="*/ 129 w 259"/>
                <a:gd name="T77" fmla="*/ 13 h 334"/>
                <a:gd name="T78" fmla="*/ 121 w 259"/>
                <a:gd name="T79" fmla="*/ 16 h 334"/>
                <a:gd name="T80" fmla="*/ 118 w 259"/>
                <a:gd name="T81" fmla="*/ 25 h 334"/>
                <a:gd name="T82" fmla="*/ 121 w 259"/>
                <a:gd name="T83" fmla="*/ 33 h 334"/>
                <a:gd name="T84" fmla="*/ 129 w 259"/>
                <a:gd name="T85" fmla="*/ 36 h 334"/>
                <a:gd name="T86" fmla="*/ 130 w 259"/>
                <a:gd name="T87" fmla="*/ 36 h 334"/>
                <a:gd name="T88" fmla="*/ 138 w 259"/>
                <a:gd name="T89" fmla="*/ 33 h 334"/>
                <a:gd name="T90" fmla="*/ 141 w 259"/>
                <a:gd name="T91" fmla="*/ 25 h 334"/>
                <a:gd name="T92" fmla="*/ 138 w 259"/>
                <a:gd name="T93" fmla="*/ 16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9" h="334">
                  <a:moveTo>
                    <a:pt x="26" y="36"/>
                  </a:moveTo>
                  <a:cubicBezTo>
                    <a:pt x="60" y="36"/>
                    <a:pt x="60" y="36"/>
                    <a:pt x="60" y="36"/>
                  </a:cubicBezTo>
                  <a:cubicBezTo>
                    <a:pt x="60" y="52"/>
                    <a:pt x="60" y="52"/>
                    <a:pt x="60" y="52"/>
                  </a:cubicBezTo>
                  <a:cubicBezTo>
                    <a:pt x="26" y="52"/>
                    <a:pt x="26" y="52"/>
                    <a:pt x="26" y="52"/>
                  </a:cubicBezTo>
                  <a:cubicBezTo>
                    <a:pt x="23" y="52"/>
                    <a:pt x="21" y="53"/>
                    <a:pt x="19" y="55"/>
                  </a:cubicBezTo>
                  <a:cubicBezTo>
                    <a:pt x="17" y="57"/>
                    <a:pt x="16" y="59"/>
                    <a:pt x="16" y="62"/>
                  </a:cubicBezTo>
                  <a:cubicBezTo>
                    <a:pt x="16" y="308"/>
                    <a:pt x="16" y="308"/>
                    <a:pt x="16" y="308"/>
                  </a:cubicBezTo>
                  <a:cubicBezTo>
                    <a:pt x="16" y="314"/>
                    <a:pt x="20" y="318"/>
                    <a:pt x="26" y="318"/>
                  </a:cubicBezTo>
                  <a:cubicBezTo>
                    <a:pt x="233" y="318"/>
                    <a:pt x="233" y="318"/>
                    <a:pt x="233" y="318"/>
                  </a:cubicBezTo>
                  <a:cubicBezTo>
                    <a:pt x="239" y="318"/>
                    <a:pt x="243" y="314"/>
                    <a:pt x="243" y="308"/>
                  </a:cubicBezTo>
                  <a:cubicBezTo>
                    <a:pt x="243" y="62"/>
                    <a:pt x="243" y="62"/>
                    <a:pt x="243" y="62"/>
                  </a:cubicBezTo>
                  <a:cubicBezTo>
                    <a:pt x="243" y="59"/>
                    <a:pt x="242" y="57"/>
                    <a:pt x="240" y="55"/>
                  </a:cubicBezTo>
                  <a:cubicBezTo>
                    <a:pt x="238" y="53"/>
                    <a:pt x="236" y="52"/>
                    <a:pt x="233" y="52"/>
                  </a:cubicBezTo>
                  <a:cubicBezTo>
                    <a:pt x="199" y="52"/>
                    <a:pt x="199" y="52"/>
                    <a:pt x="199" y="52"/>
                  </a:cubicBezTo>
                  <a:cubicBezTo>
                    <a:pt x="199" y="36"/>
                    <a:pt x="199" y="36"/>
                    <a:pt x="199" y="36"/>
                  </a:cubicBezTo>
                  <a:cubicBezTo>
                    <a:pt x="233" y="36"/>
                    <a:pt x="233" y="36"/>
                    <a:pt x="233" y="36"/>
                  </a:cubicBezTo>
                  <a:cubicBezTo>
                    <a:pt x="240" y="36"/>
                    <a:pt x="246" y="39"/>
                    <a:pt x="251" y="44"/>
                  </a:cubicBezTo>
                  <a:cubicBezTo>
                    <a:pt x="256" y="49"/>
                    <a:pt x="259" y="55"/>
                    <a:pt x="259" y="62"/>
                  </a:cubicBezTo>
                  <a:cubicBezTo>
                    <a:pt x="259" y="308"/>
                    <a:pt x="259" y="308"/>
                    <a:pt x="259" y="308"/>
                  </a:cubicBezTo>
                  <a:cubicBezTo>
                    <a:pt x="259" y="322"/>
                    <a:pt x="247" y="334"/>
                    <a:pt x="233" y="334"/>
                  </a:cubicBezTo>
                  <a:cubicBezTo>
                    <a:pt x="26" y="334"/>
                    <a:pt x="26" y="334"/>
                    <a:pt x="26" y="334"/>
                  </a:cubicBezTo>
                  <a:cubicBezTo>
                    <a:pt x="12" y="334"/>
                    <a:pt x="0" y="322"/>
                    <a:pt x="0" y="308"/>
                  </a:cubicBezTo>
                  <a:cubicBezTo>
                    <a:pt x="0" y="62"/>
                    <a:pt x="0" y="62"/>
                    <a:pt x="0" y="62"/>
                  </a:cubicBezTo>
                  <a:cubicBezTo>
                    <a:pt x="0" y="55"/>
                    <a:pt x="3" y="49"/>
                    <a:pt x="7" y="44"/>
                  </a:cubicBezTo>
                  <a:cubicBezTo>
                    <a:pt x="12" y="39"/>
                    <a:pt x="19" y="36"/>
                    <a:pt x="26" y="36"/>
                  </a:cubicBezTo>
                  <a:close/>
                  <a:moveTo>
                    <a:pt x="129" y="0"/>
                  </a:moveTo>
                  <a:cubicBezTo>
                    <a:pt x="137" y="0"/>
                    <a:pt x="144" y="0"/>
                    <a:pt x="149" y="5"/>
                  </a:cubicBezTo>
                  <a:cubicBezTo>
                    <a:pt x="154" y="10"/>
                    <a:pt x="157" y="17"/>
                    <a:pt x="157" y="25"/>
                  </a:cubicBezTo>
                  <a:cubicBezTo>
                    <a:pt x="157" y="25"/>
                    <a:pt x="157" y="25"/>
                    <a:pt x="157" y="25"/>
                  </a:cubicBezTo>
                  <a:cubicBezTo>
                    <a:pt x="188" y="25"/>
                    <a:pt x="188" y="25"/>
                    <a:pt x="188" y="25"/>
                  </a:cubicBezTo>
                  <a:cubicBezTo>
                    <a:pt x="188" y="64"/>
                    <a:pt x="188" y="64"/>
                    <a:pt x="188" y="64"/>
                  </a:cubicBezTo>
                  <a:cubicBezTo>
                    <a:pt x="71" y="64"/>
                    <a:pt x="71" y="64"/>
                    <a:pt x="71" y="64"/>
                  </a:cubicBezTo>
                  <a:cubicBezTo>
                    <a:pt x="71" y="25"/>
                    <a:pt x="71" y="25"/>
                    <a:pt x="71" y="25"/>
                  </a:cubicBezTo>
                  <a:cubicBezTo>
                    <a:pt x="102" y="25"/>
                    <a:pt x="102" y="25"/>
                    <a:pt x="102" y="25"/>
                  </a:cubicBezTo>
                  <a:cubicBezTo>
                    <a:pt x="102" y="25"/>
                    <a:pt x="102" y="25"/>
                    <a:pt x="102" y="25"/>
                  </a:cubicBezTo>
                  <a:cubicBezTo>
                    <a:pt x="102" y="17"/>
                    <a:pt x="105" y="10"/>
                    <a:pt x="110" y="5"/>
                  </a:cubicBezTo>
                  <a:cubicBezTo>
                    <a:pt x="115" y="0"/>
                    <a:pt x="122" y="0"/>
                    <a:pt x="129" y="0"/>
                  </a:cubicBezTo>
                  <a:close/>
                  <a:moveTo>
                    <a:pt x="138" y="16"/>
                  </a:moveTo>
                  <a:cubicBezTo>
                    <a:pt x="136" y="14"/>
                    <a:pt x="133" y="13"/>
                    <a:pt x="129" y="13"/>
                  </a:cubicBezTo>
                  <a:cubicBezTo>
                    <a:pt x="126" y="13"/>
                    <a:pt x="123" y="14"/>
                    <a:pt x="121" y="16"/>
                  </a:cubicBezTo>
                  <a:cubicBezTo>
                    <a:pt x="119" y="18"/>
                    <a:pt x="118" y="21"/>
                    <a:pt x="118" y="25"/>
                  </a:cubicBezTo>
                  <a:cubicBezTo>
                    <a:pt x="118" y="28"/>
                    <a:pt x="119" y="31"/>
                    <a:pt x="121" y="33"/>
                  </a:cubicBezTo>
                  <a:cubicBezTo>
                    <a:pt x="123" y="35"/>
                    <a:pt x="126" y="36"/>
                    <a:pt x="129" y="36"/>
                  </a:cubicBezTo>
                  <a:cubicBezTo>
                    <a:pt x="130" y="36"/>
                    <a:pt x="130" y="36"/>
                    <a:pt x="130" y="36"/>
                  </a:cubicBezTo>
                  <a:cubicBezTo>
                    <a:pt x="133" y="36"/>
                    <a:pt x="136" y="35"/>
                    <a:pt x="138" y="33"/>
                  </a:cubicBezTo>
                  <a:cubicBezTo>
                    <a:pt x="140" y="31"/>
                    <a:pt x="141" y="28"/>
                    <a:pt x="141" y="25"/>
                  </a:cubicBezTo>
                  <a:cubicBezTo>
                    <a:pt x="141" y="21"/>
                    <a:pt x="140" y="18"/>
                    <a:pt x="13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8" name="Group 141"/>
          <p:cNvGrpSpPr>
            <a:grpSpLocks noChangeAspect="1"/>
          </p:cNvGrpSpPr>
          <p:nvPr/>
        </p:nvGrpSpPr>
        <p:grpSpPr bwMode="auto">
          <a:xfrm>
            <a:off x="6942310" y="2427598"/>
            <a:ext cx="669199" cy="568251"/>
            <a:chOff x="-264" y="1985"/>
            <a:chExt cx="590" cy="501"/>
          </a:xfrm>
          <a:solidFill>
            <a:schemeClr val="bg1">
              <a:lumMod val="65000"/>
            </a:schemeClr>
          </a:solidFill>
        </p:grpSpPr>
        <p:sp>
          <p:nvSpPr>
            <p:cNvPr id="39" name="Freeform 142"/>
            <p:cNvSpPr>
              <a:spLocks noEditPoints="1"/>
            </p:cNvSpPr>
            <p:nvPr/>
          </p:nvSpPr>
          <p:spPr bwMode="auto">
            <a:xfrm>
              <a:off x="-161" y="2283"/>
              <a:ext cx="317" cy="127"/>
            </a:xfrm>
            <a:custGeom>
              <a:avLst/>
              <a:gdLst>
                <a:gd name="T0" fmla="*/ 0 w 317"/>
                <a:gd name="T1" fmla="*/ 127 h 127"/>
                <a:gd name="T2" fmla="*/ 317 w 317"/>
                <a:gd name="T3" fmla="*/ 0 h 127"/>
                <a:gd name="T4" fmla="*/ 55 w 317"/>
                <a:gd name="T5" fmla="*/ 90 h 127"/>
                <a:gd name="T6" fmla="*/ 33 w 317"/>
                <a:gd name="T7" fmla="*/ 68 h 127"/>
                <a:gd name="T8" fmla="*/ 55 w 317"/>
                <a:gd name="T9" fmla="*/ 90 h 127"/>
                <a:gd name="T10" fmla="*/ 33 w 317"/>
                <a:gd name="T11" fmla="*/ 49 h 127"/>
                <a:gd name="T12" fmla="*/ 55 w 317"/>
                <a:gd name="T13" fmla="*/ 28 h 127"/>
                <a:gd name="T14" fmla="*/ 92 w 317"/>
                <a:gd name="T15" fmla="*/ 90 h 127"/>
                <a:gd name="T16" fmla="*/ 71 w 317"/>
                <a:gd name="T17" fmla="*/ 68 h 127"/>
                <a:gd name="T18" fmla="*/ 92 w 317"/>
                <a:gd name="T19" fmla="*/ 90 h 127"/>
                <a:gd name="T20" fmla="*/ 71 w 317"/>
                <a:gd name="T21" fmla="*/ 49 h 127"/>
                <a:gd name="T22" fmla="*/ 92 w 317"/>
                <a:gd name="T23" fmla="*/ 28 h 127"/>
                <a:gd name="T24" fmla="*/ 133 w 317"/>
                <a:gd name="T25" fmla="*/ 90 h 127"/>
                <a:gd name="T26" fmla="*/ 111 w 317"/>
                <a:gd name="T27" fmla="*/ 68 h 127"/>
                <a:gd name="T28" fmla="*/ 133 w 317"/>
                <a:gd name="T29" fmla="*/ 90 h 127"/>
                <a:gd name="T30" fmla="*/ 111 w 317"/>
                <a:gd name="T31" fmla="*/ 49 h 127"/>
                <a:gd name="T32" fmla="*/ 133 w 317"/>
                <a:gd name="T33" fmla="*/ 28 h 127"/>
                <a:gd name="T34" fmla="*/ 170 w 317"/>
                <a:gd name="T35" fmla="*/ 90 h 127"/>
                <a:gd name="T36" fmla="*/ 152 w 317"/>
                <a:gd name="T37" fmla="*/ 68 h 127"/>
                <a:gd name="T38" fmla="*/ 170 w 317"/>
                <a:gd name="T39" fmla="*/ 90 h 127"/>
                <a:gd name="T40" fmla="*/ 152 w 317"/>
                <a:gd name="T41" fmla="*/ 49 h 127"/>
                <a:gd name="T42" fmla="*/ 170 w 317"/>
                <a:gd name="T43" fmla="*/ 28 h 127"/>
                <a:gd name="T44" fmla="*/ 211 w 317"/>
                <a:gd name="T45" fmla="*/ 90 h 127"/>
                <a:gd name="T46" fmla="*/ 189 w 317"/>
                <a:gd name="T47" fmla="*/ 68 h 127"/>
                <a:gd name="T48" fmla="*/ 211 w 317"/>
                <a:gd name="T49" fmla="*/ 90 h 127"/>
                <a:gd name="T50" fmla="*/ 189 w 317"/>
                <a:gd name="T51" fmla="*/ 49 h 127"/>
                <a:gd name="T52" fmla="*/ 211 w 317"/>
                <a:gd name="T53" fmla="*/ 28 h 127"/>
                <a:gd name="T54" fmla="*/ 251 w 317"/>
                <a:gd name="T55" fmla="*/ 90 h 127"/>
                <a:gd name="T56" fmla="*/ 229 w 317"/>
                <a:gd name="T57" fmla="*/ 68 h 127"/>
                <a:gd name="T58" fmla="*/ 251 w 317"/>
                <a:gd name="T59" fmla="*/ 90 h 127"/>
                <a:gd name="T60" fmla="*/ 229 w 317"/>
                <a:gd name="T61" fmla="*/ 49 h 127"/>
                <a:gd name="T62" fmla="*/ 251 w 317"/>
                <a:gd name="T63" fmla="*/ 28 h 127"/>
                <a:gd name="T64" fmla="*/ 288 w 317"/>
                <a:gd name="T65" fmla="*/ 90 h 127"/>
                <a:gd name="T66" fmla="*/ 267 w 317"/>
                <a:gd name="T67" fmla="*/ 68 h 127"/>
                <a:gd name="T68" fmla="*/ 288 w 317"/>
                <a:gd name="T69" fmla="*/ 90 h 127"/>
                <a:gd name="T70" fmla="*/ 267 w 317"/>
                <a:gd name="T71" fmla="*/ 49 h 127"/>
                <a:gd name="T72" fmla="*/ 288 w 317"/>
                <a:gd name="T73" fmla="*/ 28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7" h="127">
                  <a:moveTo>
                    <a:pt x="0" y="0"/>
                  </a:moveTo>
                  <a:lnTo>
                    <a:pt x="0" y="127"/>
                  </a:lnTo>
                  <a:lnTo>
                    <a:pt x="317" y="127"/>
                  </a:lnTo>
                  <a:lnTo>
                    <a:pt x="317" y="0"/>
                  </a:lnTo>
                  <a:lnTo>
                    <a:pt x="0" y="0"/>
                  </a:lnTo>
                  <a:close/>
                  <a:moveTo>
                    <a:pt x="55" y="90"/>
                  </a:moveTo>
                  <a:lnTo>
                    <a:pt x="33" y="90"/>
                  </a:lnTo>
                  <a:lnTo>
                    <a:pt x="33" y="68"/>
                  </a:lnTo>
                  <a:lnTo>
                    <a:pt x="55" y="68"/>
                  </a:lnTo>
                  <a:lnTo>
                    <a:pt x="55" y="90"/>
                  </a:lnTo>
                  <a:close/>
                  <a:moveTo>
                    <a:pt x="55" y="49"/>
                  </a:moveTo>
                  <a:lnTo>
                    <a:pt x="33" y="49"/>
                  </a:lnTo>
                  <a:lnTo>
                    <a:pt x="33" y="28"/>
                  </a:lnTo>
                  <a:lnTo>
                    <a:pt x="55" y="28"/>
                  </a:lnTo>
                  <a:lnTo>
                    <a:pt x="55" y="49"/>
                  </a:lnTo>
                  <a:close/>
                  <a:moveTo>
                    <a:pt x="92" y="90"/>
                  </a:moveTo>
                  <a:lnTo>
                    <a:pt x="71" y="90"/>
                  </a:lnTo>
                  <a:lnTo>
                    <a:pt x="71" y="68"/>
                  </a:lnTo>
                  <a:lnTo>
                    <a:pt x="92" y="68"/>
                  </a:lnTo>
                  <a:lnTo>
                    <a:pt x="92" y="90"/>
                  </a:lnTo>
                  <a:close/>
                  <a:moveTo>
                    <a:pt x="92" y="49"/>
                  </a:moveTo>
                  <a:lnTo>
                    <a:pt x="71" y="49"/>
                  </a:lnTo>
                  <a:lnTo>
                    <a:pt x="71" y="28"/>
                  </a:lnTo>
                  <a:lnTo>
                    <a:pt x="92" y="28"/>
                  </a:lnTo>
                  <a:lnTo>
                    <a:pt x="92" y="49"/>
                  </a:lnTo>
                  <a:close/>
                  <a:moveTo>
                    <a:pt x="133" y="90"/>
                  </a:moveTo>
                  <a:lnTo>
                    <a:pt x="111" y="90"/>
                  </a:lnTo>
                  <a:lnTo>
                    <a:pt x="111" y="68"/>
                  </a:lnTo>
                  <a:lnTo>
                    <a:pt x="133" y="68"/>
                  </a:lnTo>
                  <a:lnTo>
                    <a:pt x="133" y="90"/>
                  </a:lnTo>
                  <a:close/>
                  <a:moveTo>
                    <a:pt x="133" y="49"/>
                  </a:moveTo>
                  <a:lnTo>
                    <a:pt x="111" y="49"/>
                  </a:lnTo>
                  <a:lnTo>
                    <a:pt x="111" y="28"/>
                  </a:lnTo>
                  <a:lnTo>
                    <a:pt x="133" y="28"/>
                  </a:lnTo>
                  <a:lnTo>
                    <a:pt x="133" y="49"/>
                  </a:lnTo>
                  <a:close/>
                  <a:moveTo>
                    <a:pt x="170" y="90"/>
                  </a:moveTo>
                  <a:lnTo>
                    <a:pt x="152" y="90"/>
                  </a:lnTo>
                  <a:lnTo>
                    <a:pt x="152" y="68"/>
                  </a:lnTo>
                  <a:lnTo>
                    <a:pt x="170" y="68"/>
                  </a:lnTo>
                  <a:lnTo>
                    <a:pt x="170" y="90"/>
                  </a:lnTo>
                  <a:close/>
                  <a:moveTo>
                    <a:pt x="170" y="49"/>
                  </a:moveTo>
                  <a:lnTo>
                    <a:pt x="152" y="49"/>
                  </a:lnTo>
                  <a:lnTo>
                    <a:pt x="152" y="28"/>
                  </a:lnTo>
                  <a:lnTo>
                    <a:pt x="170" y="28"/>
                  </a:lnTo>
                  <a:lnTo>
                    <a:pt x="170" y="49"/>
                  </a:lnTo>
                  <a:close/>
                  <a:moveTo>
                    <a:pt x="211" y="90"/>
                  </a:moveTo>
                  <a:lnTo>
                    <a:pt x="189" y="90"/>
                  </a:lnTo>
                  <a:lnTo>
                    <a:pt x="189" y="68"/>
                  </a:lnTo>
                  <a:lnTo>
                    <a:pt x="211" y="68"/>
                  </a:lnTo>
                  <a:lnTo>
                    <a:pt x="211" y="90"/>
                  </a:lnTo>
                  <a:close/>
                  <a:moveTo>
                    <a:pt x="211" y="49"/>
                  </a:moveTo>
                  <a:lnTo>
                    <a:pt x="189" y="49"/>
                  </a:lnTo>
                  <a:lnTo>
                    <a:pt x="189" y="28"/>
                  </a:lnTo>
                  <a:lnTo>
                    <a:pt x="211" y="28"/>
                  </a:lnTo>
                  <a:lnTo>
                    <a:pt x="211" y="49"/>
                  </a:lnTo>
                  <a:close/>
                  <a:moveTo>
                    <a:pt x="251" y="90"/>
                  </a:moveTo>
                  <a:lnTo>
                    <a:pt x="229" y="90"/>
                  </a:lnTo>
                  <a:lnTo>
                    <a:pt x="229" y="68"/>
                  </a:lnTo>
                  <a:lnTo>
                    <a:pt x="251" y="68"/>
                  </a:lnTo>
                  <a:lnTo>
                    <a:pt x="251" y="90"/>
                  </a:lnTo>
                  <a:close/>
                  <a:moveTo>
                    <a:pt x="251" y="49"/>
                  </a:moveTo>
                  <a:lnTo>
                    <a:pt x="229" y="49"/>
                  </a:lnTo>
                  <a:lnTo>
                    <a:pt x="229" y="28"/>
                  </a:lnTo>
                  <a:lnTo>
                    <a:pt x="251" y="28"/>
                  </a:lnTo>
                  <a:lnTo>
                    <a:pt x="251" y="49"/>
                  </a:lnTo>
                  <a:close/>
                  <a:moveTo>
                    <a:pt x="288" y="90"/>
                  </a:moveTo>
                  <a:lnTo>
                    <a:pt x="267" y="90"/>
                  </a:lnTo>
                  <a:lnTo>
                    <a:pt x="267" y="68"/>
                  </a:lnTo>
                  <a:lnTo>
                    <a:pt x="288" y="68"/>
                  </a:lnTo>
                  <a:lnTo>
                    <a:pt x="288" y="90"/>
                  </a:lnTo>
                  <a:close/>
                  <a:moveTo>
                    <a:pt x="288" y="49"/>
                  </a:moveTo>
                  <a:lnTo>
                    <a:pt x="267" y="49"/>
                  </a:lnTo>
                  <a:lnTo>
                    <a:pt x="267" y="28"/>
                  </a:lnTo>
                  <a:lnTo>
                    <a:pt x="288" y="28"/>
                  </a:lnTo>
                  <a:lnTo>
                    <a:pt x="288" y="49"/>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42" name="Freeform 143"/>
            <p:cNvSpPr/>
            <p:nvPr/>
          </p:nvSpPr>
          <p:spPr bwMode="auto">
            <a:xfrm>
              <a:off x="47" y="2099"/>
              <a:ext cx="250" cy="118"/>
            </a:xfrm>
            <a:custGeom>
              <a:avLst/>
              <a:gdLst>
                <a:gd name="T0" fmla="*/ 206 w 250"/>
                <a:gd name="T1" fmla="*/ 59 h 118"/>
                <a:gd name="T2" fmla="*/ 196 w 250"/>
                <a:gd name="T3" fmla="*/ 75 h 118"/>
                <a:gd name="T4" fmla="*/ 182 w 250"/>
                <a:gd name="T5" fmla="*/ 0 h 118"/>
                <a:gd name="T6" fmla="*/ 156 w 250"/>
                <a:gd name="T7" fmla="*/ 59 h 118"/>
                <a:gd name="T8" fmla="*/ 95 w 250"/>
                <a:gd name="T9" fmla="*/ 59 h 118"/>
                <a:gd name="T10" fmla="*/ 83 w 250"/>
                <a:gd name="T11" fmla="*/ 75 h 118"/>
                <a:gd name="T12" fmla="*/ 69 w 250"/>
                <a:gd name="T13" fmla="*/ 0 h 118"/>
                <a:gd name="T14" fmla="*/ 43 w 250"/>
                <a:gd name="T15" fmla="*/ 59 h 118"/>
                <a:gd name="T16" fmla="*/ 0 w 250"/>
                <a:gd name="T17" fmla="*/ 59 h 118"/>
                <a:gd name="T18" fmla="*/ 0 w 250"/>
                <a:gd name="T19" fmla="*/ 73 h 118"/>
                <a:gd name="T20" fmla="*/ 52 w 250"/>
                <a:gd name="T21" fmla="*/ 73 h 118"/>
                <a:gd name="T22" fmla="*/ 64 w 250"/>
                <a:gd name="T23" fmla="*/ 47 h 118"/>
                <a:gd name="T24" fmla="*/ 78 w 250"/>
                <a:gd name="T25" fmla="*/ 118 h 118"/>
                <a:gd name="T26" fmla="*/ 102 w 250"/>
                <a:gd name="T27" fmla="*/ 73 h 118"/>
                <a:gd name="T28" fmla="*/ 165 w 250"/>
                <a:gd name="T29" fmla="*/ 73 h 118"/>
                <a:gd name="T30" fmla="*/ 175 w 250"/>
                <a:gd name="T31" fmla="*/ 47 h 118"/>
                <a:gd name="T32" fmla="*/ 189 w 250"/>
                <a:gd name="T33" fmla="*/ 118 h 118"/>
                <a:gd name="T34" fmla="*/ 215 w 250"/>
                <a:gd name="T35" fmla="*/ 73 h 118"/>
                <a:gd name="T36" fmla="*/ 250 w 250"/>
                <a:gd name="T37" fmla="*/ 73 h 118"/>
                <a:gd name="T38" fmla="*/ 250 w 250"/>
                <a:gd name="T39" fmla="*/ 59 h 118"/>
                <a:gd name="T40" fmla="*/ 206 w 250"/>
                <a:gd name="T41" fmla="*/ 5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0" h="118">
                  <a:moveTo>
                    <a:pt x="206" y="59"/>
                  </a:moveTo>
                  <a:lnTo>
                    <a:pt x="196" y="75"/>
                  </a:lnTo>
                  <a:lnTo>
                    <a:pt x="182" y="0"/>
                  </a:lnTo>
                  <a:lnTo>
                    <a:pt x="156" y="59"/>
                  </a:lnTo>
                  <a:lnTo>
                    <a:pt x="95" y="59"/>
                  </a:lnTo>
                  <a:lnTo>
                    <a:pt x="83" y="75"/>
                  </a:lnTo>
                  <a:lnTo>
                    <a:pt x="69" y="0"/>
                  </a:lnTo>
                  <a:lnTo>
                    <a:pt x="43" y="59"/>
                  </a:lnTo>
                  <a:lnTo>
                    <a:pt x="0" y="59"/>
                  </a:lnTo>
                  <a:lnTo>
                    <a:pt x="0" y="73"/>
                  </a:lnTo>
                  <a:lnTo>
                    <a:pt x="52" y="73"/>
                  </a:lnTo>
                  <a:lnTo>
                    <a:pt x="64" y="47"/>
                  </a:lnTo>
                  <a:lnTo>
                    <a:pt x="78" y="118"/>
                  </a:lnTo>
                  <a:lnTo>
                    <a:pt x="102" y="73"/>
                  </a:lnTo>
                  <a:lnTo>
                    <a:pt x="165" y="73"/>
                  </a:lnTo>
                  <a:lnTo>
                    <a:pt x="175" y="47"/>
                  </a:lnTo>
                  <a:lnTo>
                    <a:pt x="189" y="118"/>
                  </a:lnTo>
                  <a:lnTo>
                    <a:pt x="215" y="73"/>
                  </a:lnTo>
                  <a:lnTo>
                    <a:pt x="250" y="73"/>
                  </a:lnTo>
                  <a:lnTo>
                    <a:pt x="250" y="59"/>
                  </a:lnTo>
                  <a:lnTo>
                    <a:pt x="206" y="59"/>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44" name="Freeform 144"/>
            <p:cNvSpPr>
              <a:spLocks noEditPoints="1"/>
            </p:cNvSpPr>
            <p:nvPr/>
          </p:nvSpPr>
          <p:spPr bwMode="auto">
            <a:xfrm>
              <a:off x="-264" y="1985"/>
              <a:ext cx="590" cy="501"/>
            </a:xfrm>
            <a:custGeom>
              <a:avLst/>
              <a:gdLst>
                <a:gd name="T0" fmla="*/ 222 w 250"/>
                <a:gd name="T1" fmla="*/ 170 h 212"/>
                <a:gd name="T2" fmla="*/ 222 w 250"/>
                <a:gd name="T3" fmla="*/ 165 h 212"/>
                <a:gd name="T4" fmla="*/ 222 w 250"/>
                <a:gd name="T5" fmla="*/ 156 h 212"/>
                <a:gd name="T6" fmla="*/ 222 w 250"/>
                <a:gd name="T7" fmla="*/ 150 h 212"/>
                <a:gd name="T8" fmla="*/ 222 w 250"/>
                <a:gd name="T9" fmla="*/ 142 h 212"/>
                <a:gd name="T10" fmla="*/ 222 w 250"/>
                <a:gd name="T11" fmla="*/ 136 h 212"/>
                <a:gd name="T12" fmla="*/ 222 w 250"/>
                <a:gd name="T13" fmla="*/ 124 h 212"/>
                <a:gd name="T14" fmla="*/ 222 w 250"/>
                <a:gd name="T15" fmla="*/ 111 h 212"/>
                <a:gd name="T16" fmla="*/ 250 w 250"/>
                <a:gd name="T17" fmla="*/ 111 h 212"/>
                <a:gd name="T18" fmla="*/ 250 w 250"/>
                <a:gd name="T19" fmla="*/ 36 h 212"/>
                <a:gd name="T20" fmla="*/ 222 w 250"/>
                <a:gd name="T21" fmla="*/ 36 h 212"/>
                <a:gd name="T22" fmla="*/ 222 w 250"/>
                <a:gd name="T23" fmla="*/ 0 h 212"/>
                <a:gd name="T24" fmla="*/ 0 w 250"/>
                <a:gd name="T25" fmla="*/ 0 h 212"/>
                <a:gd name="T26" fmla="*/ 0 w 250"/>
                <a:gd name="T27" fmla="*/ 212 h 212"/>
                <a:gd name="T28" fmla="*/ 222 w 250"/>
                <a:gd name="T29" fmla="*/ 212 h 212"/>
                <a:gd name="T30" fmla="*/ 222 w 250"/>
                <a:gd name="T31" fmla="*/ 188 h 212"/>
                <a:gd name="T32" fmla="*/ 222 w 250"/>
                <a:gd name="T33" fmla="*/ 183 h 212"/>
                <a:gd name="T34" fmla="*/ 222 w 250"/>
                <a:gd name="T35" fmla="*/ 178 h 212"/>
                <a:gd name="T36" fmla="*/ 222 w 250"/>
                <a:gd name="T37" fmla="*/ 170 h 212"/>
                <a:gd name="T38" fmla="*/ 209 w 250"/>
                <a:gd name="T39" fmla="*/ 131 h 212"/>
                <a:gd name="T40" fmla="*/ 208 w 250"/>
                <a:gd name="T41" fmla="*/ 131 h 212"/>
                <a:gd name="T42" fmla="*/ 208 w 250"/>
                <a:gd name="T43" fmla="*/ 136 h 212"/>
                <a:gd name="T44" fmla="*/ 209 w 250"/>
                <a:gd name="T45" fmla="*/ 136 h 212"/>
                <a:gd name="T46" fmla="*/ 209 w 250"/>
                <a:gd name="T47" fmla="*/ 145 h 212"/>
                <a:gd name="T48" fmla="*/ 208 w 250"/>
                <a:gd name="T49" fmla="*/ 145 h 212"/>
                <a:gd name="T50" fmla="*/ 208 w 250"/>
                <a:gd name="T51" fmla="*/ 151 h 212"/>
                <a:gd name="T52" fmla="*/ 209 w 250"/>
                <a:gd name="T53" fmla="*/ 151 h 212"/>
                <a:gd name="T54" fmla="*/ 209 w 250"/>
                <a:gd name="T55" fmla="*/ 161 h 212"/>
                <a:gd name="T56" fmla="*/ 208 w 250"/>
                <a:gd name="T57" fmla="*/ 161 h 212"/>
                <a:gd name="T58" fmla="*/ 208 w 250"/>
                <a:gd name="T59" fmla="*/ 166 h 212"/>
                <a:gd name="T60" fmla="*/ 209 w 250"/>
                <a:gd name="T61" fmla="*/ 166 h 212"/>
                <a:gd name="T62" fmla="*/ 209 w 250"/>
                <a:gd name="T63" fmla="*/ 174 h 212"/>
                <a:gd name="T64" fmla="*/ 208 w 250"/>
                <a:gd name="T65" fmla="*/ 174 h 212"/>
                <a:gd name="T66" fmla="*/ 208 w 250"/>
                <a:gd name="T67" fmla="*/ 179 h 212"/>
                <a:gd name="T68" fmla="*/ 209 w 250"/>
                <a:gd name="T69" fmla="*/ 179 h 212"/>
                <a:gd name="T70" fmla="*/ 209 w 250"/>
                <a:gd name="T71" fmla="*/ 199 h 212"/>
                <a:gd name="T72" fmla="*/ 13 w 250"/>
                <a:gd name="T73" fmla="*/ 199 h 212"/>
                <a:gd name="T74" fmla="*/ 13 w 250"/>
                <a:gd name="T75" fmla="*/ 13 h 212"/>
                <a:gd name="T76" fmla="*/ 209 w 250"/>
                <a:gd name="T77" fmla="*/ 13 h 212"/>
                <a:gd name="T78" fmla="*/ 209 w 250"/>
                <a:gd name="T79" fmla="*/ 36 h 212"/>
                <a:gd name="T80" fmla="*/ 178 w 250"/>
                <a:gd name="T81" fmla="*/ 36 h 212"/>
                <a:gd name="T82" fmla="*/ 178 w 250"/>
                <a:gd name="T83" fmla="*/ 31 h 212"/>
                <a:gd name="T84" fmla="*/ 44 w 250"/>
                <a:gd name="T85" fmla="*/ 31 h 212"/>
                <a:gd name="T86" fmla="*/ 44 w 250"/>
                <a:gd name="T87" fmla="*/ 116 h 212"/>
                <a:gd name="T88" fmla="*/ 178 w 250"/>
                <a:gd name="T89" fmla="*/ 116 h 212"/>
                <a:gd name="T90" fmla="*/ 178 w 250"/>
                <a:gd name="T91" fmla="*/ 111 h 212"/>
                <a:gd name="T92" fmla="*/ 209 w 250"/>
                <a:gd name="T93" fmla="*/ 111 h 212"/>
                <a:gd name="T94" fmla="*/ 209 w 250"/>
                <a:gd name="T95" fmla="*/ 131 h 212"/>
                <a:gd name="T96" fmla="*/ 125 w 250"/>
                <a:gd name="T97" fmla="*/ 105 h 212"/>
                <a:gd name="T98" fmla="*/ 125 w 250"/>
                <a:gd name="T99" fmla="*/ 42 h 212"/>
                <a:gd name="T100" fmla="*/ 244 w 250"/>
                <a:gd name="T101" fmla="*/ 42 h 212"/>
                <a:gd name="T102" fmla="*/ 244 w 250"/>
                <a:gd name="T103" fmla="*/ 105 h 212"/>
                <a:gd name="T104" fmla="*/ 125 w 250"/>
                <a:gd name="T105" fmla="*/ 1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0" h="212">
                  <a:moveTo>
                    <a:pt x="222" y="170"/>
                  </a:moveTo>
                  <a:cubicBezTo>
                    <a:pt x="222" y="165"/>
                    <a:pt x="222" y="165"/>
                    <a:pt x="222" y="165"/>
                  </a:cubicBezTo>
                  <a:cubicBezTo>
                    <a:pt x="222" y="156"/>
                    <a:pt x="222" y="156"/>
                    <a:pt x="222" y="156"/>
                  </a:cubicBezTo>
                  <a:cubicBezTo>
                    <a:pt x="222" y="150"/>
                    <a:pt x="222" y="150"/>
                    <a:pt x="222" y="150"/>
                  </a:cubicBezTo>
                  <a:cubicBezTo>
                    <a:pt x="222" y="142"/>
                    <a:pt x="222" y="142"/>
                    <a:pt x="222" y="142"/>
                  </a:cubicBezTo>
                  <a:cubicBezTo>
                    <a:pt x="222" y="136"/>
                    <a:pt x="222" y="136"/>
                    <a:pt x="222" y="136"/>
                  </a:cubicBezTo>
                  <a:cubicBezTo>
                    <a:pt x="222" y="124"/>
                    <a:pt x="222" y="124"/>
                    <a:pt x="222" y="124"/>
                  </a:cubicBezTo>
                  <a:cubicBezTo>
                    <a:pt x="222" y="111"/>
                    <a:pt x="222" y="111"/>
                    <a:pt x="222" y="111"/>
                  </a:cubicBezTo>
                  <a:cubicBezTo>
                    <a:pt x="250" y="111"/>
                    <a:pt x="250" y="111"/>
                    <a:pt x="250" y="111"/>
                  </a:cubicBezTo>
                  <a:cubicBezTo>
                    <a:pt x="250" y="36"/>
                    <a:pt x="250" y="36"/>
                    <a:pt x="250" y="36"/>
                  </a:cubicBezTo>
                  <a:cubicBezTo>
                    <a:pt x="222" y="36"/>
                    <a:pt x="222" y="36"/>
                    <a:pt x="222" y="36"/>
                  </a:cubicBezTo>
                  <a:cubicBezTo>
                    <a:pt x="222" y="0"/>
                    <a:pt x="222" y="0"/>
                    <a:pt x="222" y="0"/>
                  </a:cubicBezTo>
                  <a:cubicBezTo>
                    <a:pt x="0" y="0"/>
                    <a:pt x="0" y="0"/>
                    <a:pt x="0" y="0"/>
                  </a:cubicBezTo>
                  <a:cubicBezTo>
                    <a:pt x="0" y="212"/>
                    <a:pt x="0" y="212"/>
                    <a:pt x="0" y="212"/>
                  </a:cubicBezTo>
                  <a:cubicBezTo>
                    <a:pt x="222" y="212"/>
                    <a:pt x="222" y="212"/>
                    <a:pt x="222" y="212"/>
                  </a:cubicBezTo>
                  <a:cubicBezTo>
                    <a:pt x="222" y="188"/>
                    <a:pt x="222" y="188"/>
                    <a:pt x="222" y="188"/>
                  </a:cubicBezTo>
                  <a:cubicBezTo>
                    <a:pt x="222" y="183"/>
                    <a:pt x="222" y="183"/>
                    <a:pt x="222" y="183"/>
                  </a:cubicBezTo>
                  <a:cubicBezTo>
                    <a:pt x="222" y="178"/>
                    <a:pt x="222" y="178"/>
                    <a:pt x="222" y="178"/>
                  </a:cubicBezTo>
                  <a:lnTo>
                    <a:pt x="222" y="170"/>
                  </a:lnTo>
                  <a:close/>
                  <a:moveTo>
                    <a:pt x="209" y="131"/>
                  </a:moveTo>
                  <a:cubicBezTo>
                    <a:pt x="209" y="131"/>
                    <a:pt x="209" y="131"/>
                    <a:pt x="208" y="131"/>
                  </a:cubicBezTo>
                  <a:cubicBezTo>
                    <a:pt x="208" y="136"/>
                    <a:pt x="208" y="136"/>
                    <a:pt x="208" y="136"/>
                  </a:cubicBezTo>
                  <a:cubicBezTo>
                    <a:pt x="209" y="136"/>
                    <a:pt x="209" y="136"/>
                    <a:pt x="209" y="136"/>
                  </a:cubicBezTo>
                  <a:cubicBezTo>
                    <a:pt x="209" y="145"/>
                    <a:pt x="209" y="145"/>
                    <a:pt x="209" y="145"/>
                  </a:cubicBezTo>
                  <a:cubicBezTo>
                    <a:pt x="209" y="145"/>
                    <a:pt x="209" y="145"/>
                    <a:pt x="208" y="145"/>
                  </a:cubicBezTo>
                  <a:cubicBezTo>
                    <a:pt x="208" y="151"/>
                    <a:pt x="208" y="151"/>
                    <a:pt x="208" y="151"/>
                  </a:cubicBezTo>
                  <a:cubicBezTo>
                    <a:pt x="209" y="151"/>
                    <a:pt x="209" y="151"/>
                    <a:pt x="209" y="151"/>
                  </a:cubicBezTo>
                  <a:cubicBezTo>
                    <a:pt x="209" y="161"/>
                    <a:pt x="209" y="161"/>
                    <a:pt x="209" y="161"/>
                  </a:cubicBezTo>
                  <a:cubicBezTo>
                    <a:pt x="209" y="161"/>
                    <a:pt x="209" y="161"/>
                    <a:pt x="208" y="161"/>
                  </a:cubicBezTo>
                  <a:cubicBezTo>
                    <a:pt x="208" y="166"/>
                    <a:pt x="208" y="166"/>
                    <a:pt x="208" y="166"/>
                  </a:cubicBezTo>
                  <a:cubicBezTo>
                    <a:pt x="209" y="166"/>
                    <a:pt x="209" y="166"/>
                    <a:pt x="209" y="166"/>
                  </a:cubicBezTo>
                  <a:cubicBezTo>
                    <a:pt x="209" y="174"/>
                    <a:pt x="209" y="174"/>
                    <a:pt x="209" y="174"/>
                  </a:cubicBezTo>
                  <a:cubicBezTo>
                    <a:pt x="209" y="174"/>
                    <a:pt x="209" y="174"/>
                    <a:pt x="208" y="174"/>
                  </a:cubicBezTo>
                  <a:cubicBezTo>
                    <a:pt x="208" y="179"/>
                    <a:pt x="208" y="179"/>
                    <a:pt x="208" y="179"/>
                  </a:cubicBezTo>
                  <a:cubicBezTo>
                    <a:pt x="209" y="179"/>
                    <a:pt x="209" y="179"/>
                    <a:pt x="209" y="179"/>
                  </a:cubicBezTo>
                  <a:cubicBezTo>
                    <a:pt x="209" y="199"/>
                    <a:pt x="209" y="199"/>
                    <a:pt x="209" y="199"/>
                  </a:cubicBezTo>
                  <a:cubicBezTo>
                    <a:pt x="13" y="199"/>
                    <a:pt x="13" y="199"/>
                    <a:pt x="13" y="199"/>
                  </a:cubicBezTo>
                  <a:cubicBezTo>
                    <a:pt x="13" y="13"/>
                    <a:pt x="13" y="13"/>
                    <a:pt x="13" y="13"/>
                  </a:cubicBezTo>
                  <a:cubicBezTo>
                    <a:pt x="209" y="13"/>
                    <a:pt x="209" y="13"/>
                    <a:pt x="209" y="13"/>
                  </a:cubicBezTo>
                  <a:cubicBezTo>
                    <a:pt x="209" y="36"/>
                    <a:pt x="209" y="36"/>
                    <a:pt x="209" y="36"/>
                  </a:cubicBezTo>
                  <a:cubicBezTo>
                    <a:pt x="178" y="36"/>
                    <a:pt x="178" y="36"/>
                    <a:pt x="178" y="36"/>
                  </a:cubicBezTo>
                  <a:cubicBezTo>
                    <a:pt x="178" y="31"/>
                    <a:pt x="178" y="31"/>
                    <a:pt x="178" y="31"/>
                  </a:cubicBezTo>
                  <a:cubicBezTo>
                    <a:pt x="44" y="31"/>
                    <a:pt x="44" y="31"/>
                    <a:pt x="44" y="31"/>
                  </a:cubicBezTo>
                  <a:cubicBezTo>
                    <a:pt x="44" y="116"/>
                    <a:pt x="44" y="116"/>
                    <a:pt x="44" y="116"/>
                  </a:cubicBezTo>
                  <a:cubicBezTo>
                    <a:pt x="178" y="116"/>
                    <a:pt x="178" y="116"/>
                    <a:pt x="178" y="116"/>
                  </a:cubicBezTo>
                  <a:cubicBezTo>
                    <a:pt x="178" y="111"/>
                    <a:pt x="178" y="111"/>
                    <a:pt x="178" y="111"/>
                  </a:cubicBezTo>
                  <a:cubicBezTo>
                    <a:pt x="209" y="111"/>
                    <a:pt x="209" y="111"/>
                    <a:pt x="209" y="111"/>
                  </a:cubicBezTo>
                  <a:lnTo>
                    <a:pt x="209" y="131"/>
                  </a:lnTo>
                  <a:close/>
                  <a:moveTo>
                    <a:pt x="125" y="105"/>
                  </a:moveTo>
                  <a:cubicBezTo>
                    <a:pt x="125" y="42"/>
                    <a:pt x="125" y="42"/>
                    <a:pt x="125" y="42"/>
                  </a:cubicBezTo>
                  <a:cubicBezTo>
                    <a:pt x="244" y="42"/>
                    <a:pt x="244" y="42"/>
                    <a:pt x="244" y="42"/>
                  </a:cubicBezTo>
                  <a:cubicBezTo>
                    <a:pt x="244" y="105"/>
                    <a:pt x="244" y="105"/>
                    <a:pt x="244" y="105"/>
                  </a:cubicBezTo>
                  <a:lnTo>
                    <a:pt x="125" y="105"/>
                  </a:lnTo>
                  <a:close/>
                </a:path>
              </a:pathLst>
            </a:custGeom>
            <a:grpFill/>
            <a:ln w="9525">
              <a:noFill/>
              <a:round/>
            </a:ln>
          </p:spPr>
          <p:txBody>
            <a:bodyPr vert="horz" wrap="square" lIns="91440" tIns="45720" rIns="91440" bIns="45720" numCol="1" anchor="t" anchorCtr="0" compatLnSpc="1"/>
            <a:lstStyle/>
            <a:p>
              <a:endParaRPr lang="zh-CN" altLang="en-US"/>
            </a:p>
          </p:txBody>
        </p:sp>
      </p:grpSp>
      <p:sp>
        <p:nvSpPr>
          <p:cNvPr id="46" name="Freeform 149"/>
          <p:cNvSpPr>
            <a:spLocks noEditPoints="1"/>
          </p:cNvSpPr>
          <p:nvPr/>
        </p:nvSpPr>
        <p:spPr bwMode="auto">
          <a:xfrm>
            <a:off x="5030087" y="2396462"/>
            <a:ext cx="722573" cy="645843"/>
          </a:xfrm>
          <a:custGeom>
            <a:avLst/>
            <a:gdLst>
              <a:gd name="T0" fmla="*/ 121 w 151"/>
              <a:gd name="T1" fmla="*/ 116 h 149"/>
              <a:gd name="T2" fmla="*/ 72 w 151"/>
              <a:gd name="T3" fmla="*/ 142 h 149"/>
              <a:gd name="T4" fmla="*/ 71 w 151"/>
              <a:gd name="T5" fmla="*/ 141 h 149"/>
              <a:gd name="T6" fmla="*/ 70 w 151"/>
              <a:gd name="T7" fmla="*/ 141 h 149"/>
              <a:gd name="T8" fmla="*/ 53 w 151"/>
              <a:gd name="T9" fmla="*/ 124 h 149"/>
              <a:gd name="T10" fmla="*/ 101 w 151"/>
              <a:gd name="T11" fmla="*/ 95 h 149"/>
              <a:gd name="T12" fmla="*/ 127 w 151"/>
              <a:gd name="T13" fmla="*/ 48 h 149"/>
              <a:gd name="T14" fmla="*/ 145 w 151"/>
              <a:gd name="T15" fmla="*/ 66 h 149"/>
              <a:gd name="T16" fmla="*/ 145 w 151"/>
              <a:gd name="T17" fmla="*/ 66 h 149"/>
              <a:gd name="T18" fmla="*/ 121 w 151"/>
              <a:gd name="T19" fmla="*/ 116 h 149"/>
              <a:gd name="T20" fmla="*/ 90 w 151"/>
              <a:gd name="T21" fmla="*/ 99 h 149"/>
              <a:gd name="T22" fmla="*/ 93 w 151"/>
              <a:gd name="T23" fmla="*/ 49 h 149"/>
              <a:gd name="T24" fmla="*/ 120 w 151"/>
              <a:gd name="T25" fmla="*/ 41 h 149"/>
              <a:gd name="T26" fmla="*/ 97 w 151"/>
              <a:gd name="T27" fmla="*/ 92 h 149"/>
              <a:gd name="T28" fmla="*/ 90 w 151"/>
              <a:gd name="T29" fmla="*/ 99 h 149"/>
              <a:gd name="T30" fmla="*/ 48 w 151"/>
              <a:gd name="T31" fmla="*/ 118 h 149"/>
              <a:gd name="T32" fmla="*/ 71 w 151"/>
              <a:gd name="T33" fmla="*/ 67 h 149"/>
              <a:gd name="T34" fmla="*/ 83 w 151"/>
              <a:gd name="T35" fmla="*/ 56 h 149"/>
              <a:gd name="T36" fmla="*/ 79 w 151"/>
              <a:gd name="T37" fmla="*/ 108 h 149"/>
              <a:gd name="T38" fmla="*/ 48 w 151"/>
              <a:gd name="T39" fmla="*/ 118 h 149"/>
              <a:gd name="T40" fmla="*/ 42 w 151"/>
              <a:gd name="T41" fmla="*/ 32 h 149"/>
              <a:gd name="T42" fmla="*/ 35 w 151"/>
              <a:gd name="T43" fmla="*/ 30 h 149"/>
              <a:gd name="T44" fmla="*/ 69 w 151"/>
              <a:gd name="T45" fmla="*/ 20 h 149"/>
              <a:gd name="T46" fmla="*/ 80 w 151"/>
              <a:gd name="T47" fmla="*/ 36 h 149"/>
              <a:gd name="T48" fmla="*/ 42 w 151"/>
              <a:gd name="T49" fmla="*/ 32 h 149"/>
              <a:gd name="T50" fmla="*/ 13 w 151"/>
              <a:gd name="T51" fmla="*/ 6 h 149"/>
              <a:gd name="T52" fmla="*/ 52 w 151"/>
              <a:gd name="T53" fmla="*/ 10 h 149"/>
              <a:gd name="T54" fmla="*/ 62 w 151"/>
              <a:gd name="T55" fmla="*/ 15 h 149"/>
              <a:gd name="T56" fmla="*/ 27 w 151"/>
              <a:gd name="T57" fmla="*/ 24 h 149"/>
              <a:gd name="T58" fmla="*/ 13 w 151"/>
              <a:gd name="T59" fmla="*/ 6 h 149"/>
              <a:gd name="T60" fmla="*/ 40 w 151"/>
              <a:gd name="T61" fmla="*/ 36 h 149"/>
              <a:gd name="T62" fmla="*/ 77 w 151"/>
              <a:gd name="T63" fmla="*/ 42 h 149"/>
              <a:gd name="T64" fmla="*/ 69 w 151"/>
              <a:gd name="T65" fmla="*/ 58 h 149"/>
              <a:gd name="T66" fmla="*/ 69 w 151"/>
              <a:gd name="T67" fmla="*/ 58 h 149"/>
              <a:gd name="T68" fmla="*/ 31 w 151"/>
              <a:gd name="T69" fmla="*/ 53 h 149"/>
              <a:gd name="T70" fmla="*/ 3 w 151"/>
              <a:gd name="T71" fmla="*/ 27 h 149"/>
              <a:gd name="T72" fmla="*/ 4 w 151"/>
              <a:gd name="T73" fmla="*/ 26 h 149"/>
              <a:gd name="T74" fmla="*/ 3 w 151"/>
              <a:gd name="T75" fmla="*/ 26 h 149"/>
              <a:gd name="T76" fmla="*/ 10 w 151"/>
              <a:gd name="T77" fmla="*/ 11 h 149"/>
              <a:gd name="T78" fmla="*/ 40 w 151"/>
              <a:gd name="T79" fmla="*/ 36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1" h="149">
                <a:moveTo>
                  <a:pt x="121" y="116"/>
                </a:moveTo>
                <a:cubicBezTo>
                  <a:pt x="101" y="137"/>
                  <a:pt x="79" y="149"/>
                  <a:pt x="72" y="142"/>
                </a:cubicBezTo>
                <a:cubicBezTo>
                  <a:pt x="72" y="142"/>
                  <a:pt x="71" y="141"/>
                  <a:pt x="71" y="141"/>
                </a:cubicBezTo>
                <a:cubicBezTo>
                  <a:pt x="70" y="141"/>
                  <a:pt x="70" y="141"/>
                  <a:pt x="70" y="141"/>
                </a:cubicBezTo>
                <a:cubicBezTo>
                  <a:pt x="53" y="124"/>
                  <a:pt x="53" y="124"/>
                  <a:pt x="53" y="124"/>
                </a:cubicBezTo>
                <a:cubicBezTo>
                  <a:pt x="63" y="127"/>
                  <a:pt x="83" y="115"/>
                  <a:pt x="101" y="95"/>
                </a:cubicBezTo>
                <a:cubicBezTo>
                  <a:pt x="119" y="77"/>
                  <a:pt x="128" y="58"/>
                  <a:pt x="127" y="48"/>
                </a:cubicBezTo>
                <a:cubicBezTo>
                  <a:pt x="145" y="66"/>
                  <a:pt x="145" y="66"/>
                  <a:pt x="145" y="66"/>
                </a:cubicBezTo>
                <a:cubicBezTo>
                  <a:pt x="145" y="66"/>
                  <a:pt x="145" y="66"/>
                  <a:pt x="145" y="66"/>
                </a:cubicBezTo>
                <a:cubicBezTo>
                  <a:pt x="151" y="73"/>
                  <a:pt x="141" y="95"/>
                  <a:pt x="121" y="116"/>
                </a:cubicBezTo>
                <a:close/>
                <a:moveTo>
                  <a:pt x="90" y="99"/>
                </a:moveTo>
                <a:cubicBezTo>
                  <a:pt x="93" y="49"/>
                  <a:pt x="93" y="49"/>
                  <a:pt x="93" y="49"/>
                </a:cubicBezTo>
                <a:cubicBezTo>
                  <a:pt x="105" y="40"/>
                  <a:pt x="116" y="37"/>
                  <a:pt x="120" y="41"/>
                </a:cubicBezTo>
                <a:cubicBezTo>
                  <a:pt x="128" y="48"/>
                  <a:pt x="117" y="70"/>
                  <a:pt x="97" y="92"/>
                </a:cubicBezTo>
                <a:cubicBezTo>
                  <a:pt x="95" y="95"/>
                  <a:pt x="92" y="97"/>
                  <a:pt x="90" y="99"/>
                </a:cubicBezTo>
                <a:close/>
                <a:moveTo>
                  <a:pt x="48" y="118"/>
                </a:moveTo>
                <a:cubicBezTo>
                  <a:pt x="41" y="112"/>
                  <a:pt x="51" y="89"/>
                  <a:pt x="71" y="67"/>
                </a:cubicBezTo>
                <a:cubicBezTo>
                  <a:pt x="75" y="64"/>
                  <a:pt x="79" y="60"/>
                  <a:pt x="83" y="56"/>
                </a:cubicBezTo>
                <a:cubicBezTo>
                  <a:pt x="79" y="108"/>
                  <a:pt x="79" y="108"/>
                  <a:pt x="79" y="108"/>
                </a:cubicBezTo>
                <a:cubicBezTo>
                  <a:pt x="65" y="118"/>
                  <a:pt x="53" y="123"/>
                  <a:pt x="48" y="118"/>
                </a:cubicBezTo>
                <a:close/>
                <a:moveTo>
                  <a:pt x="42" y="32"/>
                </a:moveTo>
                <a:cubicBezTo>
                  <a:pt x="39" y="32"/>
                  <a:pt x="37" y="30"/>
                  <a:pt x="35" y="30"/>
                </a:cubicBezTo>
                <a:cubicBezTo>
                  <a:pt x="69" y="20"/>
                  <a:pt x="69" y="20"/>
                  <a:pt x="69" y="20"/>
                </a:cubicBezTo>
                <a:cubicBezTo>
                  <a:pt x="77" y="27"/>
                  <a:pt x="82" y="32"/>
                  <a:pt x="80" y="36"/>
                </a:cubicBezTo>
                <a:cubicBezTo>
                  <a:pt x="77" y="43"/>
                  <a:pt x="60" y="41"/>
                  <a:pt x="42" y="32"/>
                </a:cubicBezTo>
                <a:close/>
                <a:moveTo>
                  <a:pt x="13" y="6"/>
                </a:moveTo>
                <a:cubicBezTo>
                  <a:pt x="16" y="0"/>
                  <a:pt x="33" y="1"/>
                  <a:pt x="52" y="10"/>
                </a:cubicBezTo>
                <a:cubicBezTo>
                  <a:pt x="56" y="12"/>
                  <a:pt x="59" y="13"/>
                  <a:pt x="62" y="15"/>
                </a:cubicBezTo>
                <a:cubicBezTo>
                  <a:pt x="27" y="24"/>
                  <a:pt x="27" y="24"/>
                  <a:pt x="27" y="24"/>
                </a:cubicBezTo>
                <a:cubicBezTo>
                  <a:pt x="17" y="18"/>
                  <a:pt x="11" y="10"/>
                  <a:pt x="13" y="6"/>
                </a:cubicBezTo>
                <a:close/>
                <a:moveTo>
                  <a:pt x="40" y="36"/>
                </a:moveTo>
                <a:cubicBezTo>
                  <a:pt x="56" y="43"/>
                  <a:pt x="71" y="46"/>
                  <a:pt x="77" y="42"/>
                </a:cubicBezTo>
                <a:cubicBezTo>
                  <a:pt x="69" y="58"/>
                  <a:pt x="69" y="58"/>
                  <a:pt x="69" y="58"/>
                </a:cubicBezTo>
                <a:cubicBezTo>
                  <a:pt x="69" y="58"/>
                  <a:pt x="69" y="58"/>
                  <a:pt x="69" y="58"/>
                </a:cubicBezTo>
                <a:cubicBezTo>
                  <a:pt x="66" y="64"/>
                  <a:pt x="49" y="61"/>
                  <a:pt x="31" y="53"/>
                </a:cubicBezTo>
                <a:cubicBezTo>
                  <a:pt x="13" y="45"/>
                  <a:pt x="0" y="33"/>
                  <a:pt x="3" y="27"/>
                </a:cubicBezTo>
                <a:cubicBezTo>
                  <a:pt x="3" y="27"/>
                  <a:pt x="4" y="27"/>
                  <a:pt x="4" y="26"/>
                </a:cubicBezTo>
                <a:cubicBezTo>
                  <a:pt x="3" y="26"/>
                  <a:pt x="3" y="26"/>
                  <a:pt x="3" y="26"/>
                </a:cubicBezTo>
                <a:cubicBezTo>
                  <a:pt x="10" y="11"/>
                  <a:pt x="10" y="11"/>
                  <a:pt x="10" y="11"/>
                </a:cubicBezTo>
                <a:cubicBezTo>
                  <a:pt x="11" y="18"/>
                  <a:pt x="23" y="28"/>
                  <a:pt x="40" y="36"/>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47" name="Rectangle 3_1"/>
          <p:cNvSpPr/>
          <p:nvPr/>
        </p:nvSpPr>
        <p:spPr>
          <a:xfrm rot="5400000">
            <a:off x="6291066" y="750351"/>
            <a:ext cx="34748" cy="5913459"/>
          </a:xfrm>
          <a:prstGeom prst="round2SameRect">
            <a:avLst>
              <a:gd name="adj1" fmla="val 0"/>
              <a:gd name="adj2" fmla="val 0"/>
            </a:avLst>
          </a:prstGeom>
          <a:solidFill>
            <a:srgbClr val="E480A4">
              <a:alpha val="2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49" name="TextBox 52"/>
          <p:cNvSpPr txBox="1"/>
          <p:nvPr/>
        </p:nvSpPr>
        <p:spPr>
          <a:xfrm>
            <a:off x="2541232" y="4204407"/>
            <a:ext cx="1620957" cy="338554"/>
          </a:xfrm>
          <a:prstGeom prst="rect">
            <a:avLst/>
          </a:prstGeom>
          <a:noFill/>
        </p:spPr>
        <p:txBody>
          <a:bodyPr wrap="none" rtlCol="0">
            <a:spAutoFit/>
          </a:bodyPr>
          <a:lstStyle/>
          <a:p>
            <a:pPr algn="ctr"/>
            <a:r>
              <a:rPr lang="zh-CN" altLang="en-US" sz="1600" dirty="0">
                <a:solidFill>
                  <a:schemeClr val="bg1">
                    <a:lumMod val="75000"/>
                  </a:schemeClr>
                </a:solidFill>
                <a:cs typeface="+mn-ea"/>
                <a:sym typeface="+mn-lt"/>
              </a:rPr>
              <a:t>诊断与风险评估</a:t>
            </a:r>
          </a:p>
        </p:txBody>
      </p:sp>
      <p:cxnSp>
        <p:nvCxnSpPr>
          <p:cNvPr id="50" name="直接箭头连接符 49"/>
          <p:cNvCxnSpPr>
            <a:stCxn id="52" idx="4"/>
          </p:cNvCxnSpPr>
          <p:nvPr/>
        </p:nvCxnSpPr>
        <p:spPr>
          <a:xfrm>
            <a:off x="9262499" y="3413973"/>
            <a:ext cx="0" cy="554725"/>
          </a:xfrm>
          <a:prstGeom prst="straightConnector1">
            <a:avLst/>
          </a:prstGeom>
          <a:solidFill>
            <a:schemeClr val="bg1"/>
          </a:solidFill>
          <a:ln w="57150">
            <a:solidFill>
              <a:srgbClr val="D1206E">
                <a:alpha val="32157"/>
              </a:srgb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51" name="椭圆 50"/>
          <p:cNvSpPr/>
          <p:nvPr/>
        </p:nvSpPr>
        <p:spPr>
          <a:xfrm>
            <a:off x="3280513" y="3643824"/>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52" name="椭圆 51"/>
          <p:cNvSpPr/>
          <p:nvPr/>
        </p:nvSpPr>
        <p:spPr>
          <a:xfrm>
            <a:off x="8518096" y="1939906"/>
            <a:ext cx="1488806" cy="1474067"/>
          </a:xfrm>
          <a:prstGeom prst="ellipse">
            <a:avLst/>
          </a:prstGeom>
          <a:noFill/>
          <a:ln w="76200">
            <a:gradFill>
              <a:gsLst>
                <a:gs pos="0">
                  <a:srgbClr val="821B52"/>
                </a:gs>
                <a:gs pos="100000">
                  <a:srgbClr val="E480A4"/>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68" name="直接箭头连接符 67"/>
          <p:cNvCxnSpPr>
            <a:stCxn id="71" idx="4"/>
          </p:cNvCxnSpPr>
          <p:nvPr/>
        </p:nvCxnSpPr>
        <p:spPr>
          <a:xfrm>
            <a:off x="3342632" y="3310566"/>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69" name="文本框 1"/>
          <p:cNvSpPr txBox="1"/>
          <p:nvPr/>
        </p:nvSpPr>
        <p:spPr>
          <a:xfrm>
            <a:off x="6311185" y="4260850"/>
            <a:ext cx="1845268" cy="246221"/>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侵入治疗策略</a:t>
            </a:r>
          </a:p>
        </p:txBody>
      </p:sp>
      <p:sp>
        <p:nvSpPr>
          <p:cNvPr id="70" name="椭圆 69"/>
          <p:cNvSpPr/>
          <p:nvPr/>
        </p:nvSpPr>
        <p:spPr>
          <a:xfrm>
            <a:off x="7180609" y="3654100"/>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71" name="椭圆 70"/>
          <p:cNvSpPr/>
          <p:nvPr/>
        </p:nvSpPr>
        <p:spPr>
          <a:xfrm>
            <a:off x="2727423" y="2092329"/>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72" name="直接箭头连接符 71"/>
          <p:cNvCxnSpPr>
            <a:stCxn id="75" idx="4"/>
          </p:cNvCxnSpPr>
          <p:nvPr/>
        </p:nvCxnSpPr>
        <p:spPr>
          <a:xfrm>
            <a:off x="7237850" y="3312435"/>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73" name="文本框 1"/>
          <p:cNvSpPr txBox="1"/>
          <p:nvPr/>
        </p:nvSpPr>
        <p:spPr>
          <a:xfrm>
            <a:off x="4604993" y="4250574"/>
            <a:ext cx="1525015" cy="246221"/>
          </a:xfrm>
          <a:prstGeom prst="rect">
            <a:avLst/>
          </a:prstGeom>
          <a:noFill/>
        </p:spPr>
        <p:txBody>
          <a:bodyPr wrap="square" lIns="0" tIns="0" rIns="0" bIns="0" rtlCol="0">
            <a:spAutoFit/>
          </a:bodyPr>
          <a:lstStyle/>
          <a:p>
            <a:pPr algn="ctr"/>
            <a:r>
              <a:rPr lang="zh-CN" altLang="en-US" sz="1600" dirty="0">
                <a:solidFill>
                  <a:schemeClr val="bg1">
                    <a:lumMod val="75000"/>
                  </a:schemeClr>
                </a:solidFill>
                <a:cs typeface="+mn-ea"/>
                <a:sym typeface="Arial" panose="020B0604020202020204"/>
              </a:rPr>
              <a:t>抗栓药物治疗</a:t>
            </a:r>
          </a:p>
        </p:txBody>
      </p:sp>
      <p:sp>
        <p:nvSpPr>
          <p:cNvPr id="74" name="椭圆 73"/>
          <p:cNvSpPr/>
          <p:nvPr/>
        </p:nvSpPr>
        <p:spPr>
          <a:xfrm>
            <a:off x="5302416" y="3643824"/>
            <a:ext cx="130170" cy="130171"/>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75" name="椭圆 74"/>
          <p:cNvSpPr/>
          <p:nvPr/>
        </p:nvSpPr>
        <p:spPr>
          <a:xfrm>
            <a:off x="6622640" y="2094198"/>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cxnSp>
        <p:nvCxnSpPr>
          <p:cNvPr id="76" name="直接箭头连接符 75"/>
          <p:cNvCxnSpPr>
            <a:stCxn id="79" idx="4"/>
          </p:cNvCxnSpPr>
          <p:nvPr/>
        </p:nvCxnSpPr>
        <p:spPr>
          <a:xfrm>
            <a:off x="5369140" y="3308816"/>
            <a:ext cx="5398" cy="692859"/>
          </a:xfrm>
          <a:prstGeom prst="straightConnector1">
            <a:avLst/>
          </a:prstGeom>
          <a:solidFill>
            <a:schemeClr val="bg1"/>
          </a:solidFill>
          <a:ln w="57150">
            <a:solidFill>
              <a:schemeClr val="bg1">
                <a:lumMod val="75000"/>
                <a:alpha val="32157"/>
              </a:schemeClr>
            </a:solidFill>
            <a:tailEnd type="triangle" w="sm" len="sm"/>
          </a:ln>
        </p:spPr>
        <p:style>
          <a:lnRef idx="2">
            <a:schemeClr val="accent1">
              <a:shade val="50000"/>
            </a:schemeClr>
          </a:lnRef>
          <a:fillRef idx="1">
            <a:schemeClr val="accent1"/>
          </a:fillRef>
          <a:effectRef idx="0">
            <a:schemeClr val="accent1"/>
          </a:effectRef>
          <a:fontRef idx="minor">
            <a:schemeClr val="lt1"/>
          </a:fontRef>
        </p:style>
      </p:cxnSp>
      <p:sp>
        <p:nvSpPr>
          <p:cNvPr id="77" name="文本框 1"/>
          <p:cNvSpPr txBox="1"/>
          <p:nvPr/>
        </p:nvSpPr>
        <p:spPr>
          <a:xfrm>
            <a:off x="8497342" y="4065908"/>
            <a:ext cx="1525015" cy="615553"/>
          </a:xfrm>
          <a:prstGeom prst="rect">
            <a:avLst/>
          </a:prstGeom>
          <a:noFill/>
        </p:spPr>
        <p:txBody>
          <a:bodyPr wrap="square" lIns="0" tIns="0" rIns="0" bIns="0" rtlCol="0">
            <a:spAutoFit/>
          </a:bodyPr>
          <a:lstStyle/>
          <a:p>
            <a:pPr algn="ctr"/>
            <a:r>
              <a:rPr lang="zh-CN" altLang="en-US" sz="2000" b="1" dirty="0">
                <a:solidFill>
                  <a:srgbClr val="821B52"/>
                </a:solidFill>
                <a:cs typeface="+mn-ea"/>
                <a:sym typeface="Arial" panose="020B0604020202020204"/>
              </a:rPr>
              <a:t>特殊人群与</a:t>
            </a:r>
            <a:endParaRPr lang="en-US" altLang="zh-CN" sz="2000" b="1" dirty="0">
              <a:solidFill>
                <a:srgbClr val="821B52"/>
              </a:solidFill>
              <a:cs typeface="+mn-ea"/>
              <a:sym typeface="Arial" panose="020B0604020202020204"/>
            </a:endParaRPr>
          </a:p>
          <a:p>
            <a:pPr algn="ctr"/>
            <a:r>
              <a:rPr lang="zh-CN" altLang="en-US" sz="2000" b="1" dirty="0">
                <a:solidFill>
                  <a:srgbClr val="821B52"/>
                </a:solidFill>
                <a:cs typeface="+mn-ea"/>
                <a:sym typeface="Arial" panose="020B0604020202020204"/>
              </a:rPr>
              <a:t>长期管理</a:t>
            </a:r>
          </a:p>
        </p:txBody>
      </p:sp>
      <p:sp>
        <p:nvSpPr>
          <p:cNvPr id="78" name="椭圆 77"/>
          <p:cNvSpPr/>
          <p:nvPr/>
        </p:nvSpPr>
        <p:spPr>
          <a:xfrm>
            <a:off x="9206640" y="3643824"/>
            <a:ext cx="130170" cy="130171"/>
          </a:xfrm>
          <a:prstGeom prst="ellipse">
            <a:avLst/>
          </a:prstGeom>
          <a:solidFill>
            <a:schemeClr val="bg1"/>
          </a:solidFill>
          <a:ln w="57150">
            <a:solidFill>
              <a:srgbClr val="8300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mn-ea"/>
              <a:sym typeface="Arial" panose="020B0604020202020204"/>
            </a:endParaRPr>
          </a:p>
        </p:txBody>
      </p:sp>
      <p:sp>
        <p:nvSpPr>
          <p:cNvPr id="79" name="椭圆 78"/>
          <p:cNvSpPr/>
          <p:nvPr/>
        </p:nvSpPr>
        <p:spPr>
          <a:xfrm>
            <a:off x="4753930" y="2090579"/>
            <a:ext cx="1230419" cy="1218237"/>
          </a:xfrm>
          <a:prstGeom prst="ellipse">
            <a:avLst/>
          </a:prstGeom>
          <a:noFill/>
          <a:ln w="76200">
            <a:gradFill>
              <a:gsLst>
                <a:gs pos="0">
                  <a:schemeClr val="bg1">
                    <a:lumMod val="65000"/>
                  </a:schemeClr>
                </a:gs>
                <a:gs pos="100000">
                  <a:schemeClr val="bg1">
                    <a:lumMod val="85000"/>
                  </a:schemeClr>
                </a:gs>
              </a:gsLst>
              <a:lin ang="5400000" scaled="0"/>
            </a:gradFill>
          </a:ln>
          <a:effectLst/>
        </p:spPr>
        <p:txBody>
          <a:bodyPr wrap="square" lIns="91440" tIns="45720" rIns="91440" bIns="45720" anchor="ctr">
            <a:normAutofit/>
          </a:bodyPr>
          <a:lstStyle/>
          <a:p>
            <a:pPr defTabSz="914400">
              <a:spcBef>
                <a:spcPct val="0"/>
              </a:spcBef>
            </a:pPr>
            <a:endParaRPr lang="zh-CN" altLang="en-US" sz="2000" b="1" i="1">
              <a:solidFill>
                <a:schemeClr val="bg1"/>
              </a:solidFill>
              <a:latin typeface="Arial" panose="020B0604020202020204"/>
              <a:ea typeface="微软雅黑" panose="020B0503020204020204" charset="-122"/>
              <a:cs typeface="+mn-ea"/>
              <a:sym typeface="Arial" panose="020B0604020202020204"/>
            </a:endParaRPr>
          </a:p>
        </p:txBody>
      </p:sp>
      <p:sp>
        <p:nvSpPr>
          <p:cNvPr id="80" name="iconfont-11624-5524664"/>
          <p:cNvSpPr>
            <a:spLocks noChangeAspect="1"/>
          </p:cNvSpPr>
          <p:nvPr/>
        </p:nvSpPr>
        <p:spPr bwMode="auto">
          <a:xfrm>
            <a:off x="8926394" y="2396461"/>
            <a:ext cx="720080" cy="593759"/>
          </a:xfrm>
          <a:custGeom>
            <a:avLst/>
            <a:gdLst>
              <a:gd name="connsiteX0" fmla="*/ 435416 w 609586"/>
              <a:gd name="connsiteY0" fmla="*/ 80352 h 502648"/>
              <a:gd name="connsiteX1" fmla="*/ 551577 w 609586"/>
              <a:gd name="connsiteY1" fmla="*/ 190215 h 502648"/>
              <a:gd name="connsiteX2" fmla="*/ 551577 w 609586"/>
              <a:gd name="connsiteY2" fmla="*/ 217693 h 502648"/>
              <a:gd name="connsiteX3" fmla="*/ 496140 w 609586"/>
              <a:gd name="connsiteY3" fmla="*/ 310936 h 502648"/>
              <a:gd name="connsiteX4" fmla="*/ 609586 w 609586"/>
              <a:gd name="connsiteY4" fmla="*/ 437323 h 502648"/>
              <a:gd name="connsiteX5" fmla="*/ 580534 w 609586"/>
              <a:gd name="connsiteY5" fmla="*/ 464753 h 502648"/>
              <a:gd name="connsiteX6" fmla="*/ 504951 w 609586"/>
              <a:gd name="connsiteY6" fmla="*/ 464753 h 502648"/>
              <a:gd name="connsiteX7" fmla="*/ 373787 w 609586"/>
              <a:gd name="connsiteY7" fmla="*/ 301459 h 502648"/>
              <a:gd name="connsiteX8" fmla="*/ 426510 w 609586"/>
              <a:gd name="connsiteY8" fmla="*/ 179500 h 502648"/>
              <a:gd name="connsiteX9" fmla="*/ 426510 w 609586"/>
              <a:gd name="connsiteY9" fmla="*/ 143641 h 502648"/>
              <a:gd name="connsiteX10" fmla="*/ 412126 w 609586"/>
              <a:gd name="connsiteY10" fmla="*/ 82543 h 502648"/>
              <a:gd name="connsiteX11" fmla="*/ 435416 w 609586"/>
              <a:gd name="connsiteY11" fmla="*/ 80352 h 502648"/>
              <a:gd name="connsiteX12" fmla="*/ 227788 w 609586"/>
              <a:gd name="connsiteY12" fmla="*/ 0 h 502648"/>
              <a:gd name="connsiteX13" fmla="*/ 379662 w 609586"/>
              <a:gd name="connsiteY13" fmla="*/ 143662 h 502648"/>
              <a:gd name="connsiteX14" fmla="*/ 379662 w 609586"/>
              <a:gd name="connsiteY14" fmla="*/ 179565 h 502648"/>
              <a:gd name="connsiteX15" fmla="*/ 307225 w 609586"/>
              <a:gd name="connsiteY15" fmla="*/ 301465 h 502648"/>
              <a:gd name="connsiteX16" fmla="*/ 455528 w 609586"/>
              <a:gd name="connsiteY16" fmla="*/ 466745 h 502648"/>
              <a:gd name="connsiteX17" fmla="*/ 417524 w 609586"/>
              <a:gd name="connsiteY17" fmla="*/ 502648 h 502648"/>
              <a:gd name="connsiteX18" fmla="*/ 38004 w 609586"/>
              <a:gd name="connsiteY18" fmla="*/ 502648 h 502648"/>
              <a:gd name="connsiteX19" fmla="*/ 0 w 609586"/>
              <a:gd name="connsiteY19" fmla="*/ 466745 h 502648"/>
              <a:gd name="connsiteX20" fmla="*/ 148350 w 609586"/>
              <a:gd name="connsiteY20" fmla="*/ 301465 h 502648"/>
              <a:gd name="connsiteX21" fmla="*/ 75913 w 609586"/>
              <a:gd name="connsiteY21" fmla="*/ 179565 h 502648"/>
              <a:gd name="connsiteX22" fmla="*/ 75913 w 609586"/>
              <a:gd name="connsiteY22" fmla="*/ 143662 h 502648"/>
              <a:gd name="connsiteX23" fmla="*/ 227788 w 609586"/>
              <a:gd name="connsiteY23" fmla="*/ 0 h 5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586" h="502648">
                <a:moveTo>
                  <a:pt x="435416" y="80352"/>
                </a:moveTo>
                <a:cubicBezTo>
                  <a:pt x="499521" y="80352"/>
                  <a:pt x="551577" y="129545"/>
                  <a:pt x="551577" y="190215"/>
                </a:cubicBezTo>
                <a:lnTo>
                  <a:pt x="551577" y="217693"/>
                </a:lnTo>
                <a:cubicBezTo>
                  <a:pt x="551577" y="257219"/>
                  <a:pt x="529288" y="291601"/>
                  <a:pt x="496140" y="310936"/>
                </a:cubicBezTo>
                <a:cubicBezTo>
                  <a:pt x="553434" y="331175"/>
                  <a:pt x="609586" y="382416"/>
                  <a:pt x="609586" y="437323"/>
                </a:cubicBezTo>
                <a:cubicBezTo>
                  <a:pt x="609586" y="452467"/>
                  <a:pt x="596584" y="464753"/>
                  <a:pt x="580534" y="464753"/>
                </a:cubicBezTo>
                <a:lnTo>
                  <a:pt x="504951" y="464753"/>
                </a:lnTo>
                <a:cubicBezTo>
                  <a:pt x="503855" y="393607"/>
                  <a:pt x="444465" y="318793"/>
                  <a:pt x="373787" y="301459"/>
                </a:cubicBezTo>
                <a:cubicBezTo>
                  <a:pt x="411936" y="270457"/>
                  <a:pt x="426510" y="231217"/>
                  <a:pt x="426510" y="179500"/>
                </a:cubicBezTo>
                <a:lnTo>
                  <a:pt x="426510" y="143641"/>
                </a:lnTo>
                <a:cubicBezTo>
                  <a:pt x="426510" y="121783"/>
                  <a:pt x="421318" y="101068"/>
                  <a:pt x="412126" y="82543"/>
                </a:cubicBezTo>
                <a:cubicBezTo>
                  <a:pt x="419651" y="81114"/>
                  <a:pt x="427415" y="80352"/>
                  <a:pt x="435416" y="80352"/>
                </a:cubicBezTo>
                <a:close/>
                <a:moveTo>
                  <a:pt x="227788" y="0"/>
                </a:moveTo>
                <a:cubicBezTo>
                  <a:pt x="311607" y="0"/>
                  <a:pt x="379662" y="64378"/>
                  <a:pt x="379662" y="143662"/>
                </a:cubicBezTo>
                <a:lnTo>
                  <a:pt x="379662" y="179565"/>
                </a:lnTo>
                <a:cubicBezTo>
                  <a:pt x="379662" y="231230"/>
                  <a:pt x="350516" y="276180"/>
                  <a:pt x="307225" y="301465"/>
                </a:cubicBezTo>
                <a:cubicBezTo>
                  <a:pt x="382186" y="327940"/>
                  <a:pt x="455528" y="394986"/>
                  <a:pt x="455528" y="466745"/>
                </a:cubicBezTo>
                <a:cubicBezTo>
                  <a:pt x="455528" y="486554"/>
                  <a:pt x="438574" y="502648"/>
                  <a:pt x="417524" y="502648"/>
                </a:cubicBezTo>
                <a:lnTo>
                  <a:pt x="38004" y="502648"/>
                </a:lnTo>
                <a:cubicBezTo>
                  <a:pt x="16954" y="502648"/>
                  <a:pt x="0" y="486554"/>
                  <a:pt x="0" y="466745"/>
                </a:cubicBezTo>
                <a:cubicBezTo>
                  <a:pt x="0" y="394986"/>
                  <a:pt x="73389" y="327940"/>
                  <a:pt x="148350" y="301465"/>
                </a:cubicBezTo>
                <a:cubicBezTo>
                  <a:pt x="105012" y="276180"/>
                  <a:pt x="75913" y="231230"/>
                  <a:pt x="75913" y="179565"/>
                </a:cubicBezTo>
                <a:lnTo>
                  <a:pt x="75913" y="143662"/>
                </a:lnTo>
                <a:cubicBezTo>
                  <a:pt x="75913" y="64378"/>
                  <a:pt x="143969" y="0"/>
                  <a:pt x="227788" y="0"/>
                </a:cubicBezTo>
                <a:close/>
              </a:path>
            </a:pathLst>
          </a:custGeom>
          <a:solidFill>
            <a:srgbClr val="830051"/>
          </a:solidFill>
          <a:ln>
            <a:noFill/>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994791"/>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994509"/>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000636"/>
            <a:ext cx="810713" cy="658747"/>
          </a:xfrm>
          <a:prstGeom prst="rect">
            <a:avLst/>
          </a:prstGeom>
        </p:spPr>
      </p:pic>
      <p:sp>
        <p:nvSpPr>
          <p:cNvPr id="23" name="文本框 22"/>
          <p:cNvSpPr txBox="1"/>
          <p:nvPr/>
        </p:nvSpPr>
        <p:spPr>
          <a:xfrm>
            <a:off x="697585" y="1144989"/>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399388" y="1001952"/>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007202"/>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1010992" y="341508"/>
            <a:ext cx="753197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合并心衰或心源性休克的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患者指南推荐</a:t>
            </a:r>
            <a:endParaRPr lang="zh-CN" altLang="en-US" sz="2400" b="1" dirty="0">
              <a:solidFill>
                <a:srgbClr val="AE1022"/>
              </a:solidFill>
            </a:endParaRPr>
          </a:p>
        </p:txBody>
      </p:sp>
      <p:sp>
        <p:nvSpPr>
          <p:cNvPr id="13" name="矩形 12"/>
          <p:cNvSpPr/>
          <p:nvPr/>
        </p:nvSpPr>
        <p:spPr>
          <a:xfrm>
            <a:off x="702138" y="1991576"/>
            <a:ext cx="8580428" cy="66973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无论距离症状出现有否时间延迟，如因</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引起心源性休克患者的冠脉解剖情况允许行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治疗，推荐对罪犯病变行急诊</a:t>
            </a:r>
            <a:r>
              <a:rPr lang="en-US" altLang="zh-CN" dirty="0">
                <a:latin typeface="Microsoft YaHei UI" panose="020B0503020204020204" pitchFamily="34" charset="-122"/>
                <a:ea typeface="Microsoft YaHei UI" panose="020B0503020204020204" pitchFamily="34" charset="-122"/>
              </a:rPr>
              <a:t>PCI</a:t>
            </a:r>
            <a:endParaRPr lang="en-US" altLang="zh-CN" sz="1800" dirty="0">
              <a:solidFill>
                <a:schemeClr val="tx1"/>
              </a:solidFill>
              <a:latin typeface="Microsoft YaHei UI" panose="020B0503020204020204" pitchFamily="34" charset="-122"/>
              <a:ea typeface="Microsoft YaHei UI" panose="020B0503020204020204" pitchFamily="34" charset="-122"/>
            </a:endParaRPr>
          </a:p>
        </p:txBody>
      </p:sp>
      <p:sp>
        <p:nvSpPr>
          <p:cNvPr id="17" name="矩形 16"/>
          <p:cNvSpPr/>
          <p:nvPr/>
        </p:nvSpPr>
        <p:spPr>
          <a:xfrm>
            <a:off x="702138" y="1638835"/>
            <a:ext cx="8580428" cy="32145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推荐对合并心源性休克的</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患者进行急诊冠脉造影</a:t>
            </a:r>
            <a:endParaRPr lang="en-US" altLang="zh-CN" dirty="0">
              <a:latin typeface="Microsoft YaHei UI" panose="020B0503020204020204" pitchFamily="34" charset="-122"/>
              <a:ea typeface="Microsoft YaHei UI" panose="020B0503020204020204" pitchFamily="34" charset="-122"/>
            </a:endParaRPr>
          </a:p>
        </p:txBody>
      </p:sp>
      <p:sp>
        <p:nvSpPr>
          <p:cNvPr id="4" name="矩形 3"/>
          <p:cNvSpPr/>
          <p:nvPr/>
        </p:nvSpPr>
        <p:spPr>
          <a:xfrm>
            <a:off x="702138" y="3500282"/>
            <a:ext cx="8580428" cy="57843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如血液动力学不稳定，推荐在心脏团队决定下对</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机械并发症进行紧急手术或经导管修复</a:t>
            </a:r>
            <a:endParaRPr lang="en-US" altLang="zh-CN" dirty="0">
              <a:latin typeface="Microsoft YaHei UI" panose="020B0503020204020204" pitchFamily="34" charset="-122"/>
              <a:ea typeface="Microsoft YaHei UI" panose="020B0503020204020204" pitchFamily="34" charset="-122"/>
            </a:endParaRPr>
          </a:p>
        </p:txBody>
      </p:sp>
      <p:sp>
        <p:nvSpPr>
          <p:cNvPr id="25" name="矩形 24"/>
          <p:cNvSpPr/>
          <p:nvPr/>
        </p:nvSpPr>
        <p:spPr>
          <a:xfrm>
            <a:off x="702138" y="3102380"/>
            <a:ext cx="8580428" cy="37421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推荐行急诊超声心动图以立即评估左室和瓣膜功能，并排除机械并发症</a:t>
            </a:r>
            <a:endParaRPr lang="en-US" altLang="zh-CN" dirty="0">
              <a:latin typeface="Microsoft YaHei UI" panose="020B0503020204020204" pitchFamily="34" charset="-122"/>
              <a:ea typeface="Microsoft YaHei UI" panose="020B0503020204020204" pitchFamily="34" charset="-122"/>
            </a:endParaRPr>
          </a:p>
        </p:txBody>
      </p:sp>
      <p:sp>
        <p:nvSpPr>
          <p:cNvPr id="49" name="矩形 48"/>
          <p:cNvSpPr/>
          <p:nvPr/>
        </p:nvSpPr>
        <p:spPr>
          <a:xfrm>
            <a:off x="1022954" y="6352134"/>
            <a:ext cx="2259639" cy="3788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IABP</a:t>
            </a:r>
            <a:r>
              <a:rPr lang="zh-CN" altLang="en-US" sz="1400" dirty="0">
                <a:solidFill>
                  <a:schemeClr val="tx1"/>
                </a:solidFill>
                <a:latin typeface="Microsoft YaHei UI" panose="020B0503020204020204" pitchFamily="34" charset="-122"/>
                <a:ea typeface="Microsoft YaHei UI" panose="020B0503020204020204" pitchFamily="34" charset="-122"/>
              </a:rPr>
              <a:t>：主动脉内球囊反搏</a:t>
            </a:r>
            <a:endParaRPr lang="zh-CN" altLang="en-US" sz="1400" baseline="30000" dirty="0">
              <a:solidFill>
                <a:schemeClr val="tx1"/>
              </a:solidFill>
              <a:latin typeface="Microsoft YaHei UI" panose="020B0503020204020204" pitchFamily="34" charset="-122"/>
              <a:ea typeface="Microsoft YaHei UI" panose="020B0503020204020204" pitchFamily="34" charset="-122"/>
            </a:endParaRPr>
          </a:p>
        </p:txBody>
      </p:sp>
      <p:sp>
        <p:nvSpPr>
          <p:cNvPr id="5" name="矩形 4"/>
          <p:cNvSpPr/>
          <p:nvPr/>
        </p:nvSpPr>
        <p:spPr>
          <a:xfrm>
            <a:off x="702138" y="2691241"/>
            <a:ext cx="8580428" cy="37421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推荐对冠脉解剖不适合</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治疗的心源性休克患者行急诊</a:t>
            </a:r>
            <a:r>
              <a:rPr lang="en-US" altLang="zh-CN" dirty="0">
                <a:latin typeface="Microsoft YaHei UI" panose="020B0503020204020204" pitchFamily="34" charset="-122"/>
                <a:ea typeface="Microsoft YaHei UI" panose="020B0503020204020204" pitchFamily="34" charset="-122"/>
              </a:rPr>
              <a:t>CABG</a:t>
            </a:r>
            <a:r>
              <a:rPr lang="zh-CN" altLang="en-US" dirty="0">
                <a:latin typeface="Microsoft YaHei UI" panose="020B0503020204020204" pitchFamily="34" charset="-122"/>
                <a:ea typeface="Microsoft YaHei UI" panose="020B0503020204020204" pitchFamily="34" charset="-122"/>
              </a:rPr>
              <a:t>治疗</a:t>
            </a:r>
            <a:endParaRPr lang="en-US" altLang="zh-CN" dirty="0">
              <a:latin typeface="Microsoft YaHei UI" panose="020B0503020204020204" pitchFamily="34" charset="-122"/>
              <a:ea typeface="Microsoft YaHei UI" panose="020B0503020204020204" pitchFamily="34" charset="-122"/>
            </a:endParaRPr>
          </a:p>
        </p:txBody>
      </p:sp>
      <p:sp>
        <p:nvSpPr>
          <p:cNvPr id="7" name="矩形 6"/>
          <p:cNvSpPr/>
          <p:nvPr/>
        </p:nvSpPr>
        <p:spPr>
          <a:xfrm>
            <a:off x="702138" y="4117443"/>
            <a:ext cx="8580428" cy="30460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相关的机械并发症，考虑应用</a:t>
            </a:r>
            <a:r>
              <a:rPr lang="en-US" altLang="zh-CN" dirty="0">
                <a:latin typeface="Microsoft YaHei UI" panose="020B0503020204020204" pitchFamily="34" charset="-122"/>
                <a:ea typeface="Microsoft YaHei UI" panose="020B0503020204020204" pitchFamily="34" charset="-122"/>
              </a:rPr>
              <a:t>IABP</a:t>
            </a:r>
            <a:r>
              <a:rPr lang="zh-CN" altLang="en-US" dirty="0">
                <a:latin typeface="Microsoft YaHei UI" panose="020B0503020204020204" pitchFamily="34" charset="-122"/>
                <a:ea typeface="Microsoft YaHei UI" panose="020B0503020204020204" pitchFamily="34" charset="-122"/>
              </a:rPr>
              <a:t>支持</a:t>
            </a:r>
            <a:endParaRPr lang="en-US" altLang="zh-CN" dirty="0">
              <a:latin typeface="Microsoft YaHei UI" panose="020B0503020204020204" pitchFamily="34" charset="-122"/>
              <a:ea typeface="Microsoft YaHei UI" panose="020B0503020204020204" pitchFamily="34" charset="-122"/>
            </a:endParaRPr>
          </a:p>
        </p:txBody>
      </p:sp>
      <p:sp>
        <p:nvSpPr>
          <p:cNvPr id="10" name="矩形 9"/>
          <p:cNvSpPr/>
          <p:nvPr/>
        </p:nvSpPr>
        <p:spPr>
          <a:xfrm>
            <a:off x="702138" y="4470098"/>
            <a:ext cx="8580428" cy="59366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在依据患者年龄、合并症、神经系统功能及长期生存及生活质量评估的情况下，可考虑对一些出现心源性休克的</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患者行短期循环支持治疗</a:t>
            </a:r>
            <a:endParaRPr lang="en-US" altLang="zh-CN" dirty="0">
              <a:latin typeface="Microsoft YaHei UI" panose="020B0503020204020204" pitchFamily="34" charset="-122"/>
              <a:ea typeface="Microsoft YaHei UI" panose="020B0503020204020204" pitchFamily="34" charset="-122"/>
            </a:endParaRPr>
          </a:p>
        </p:txBody>
      </p:sp>
      <p:sp>
        <p:nvSpPr>
          <p:cNvPr id="11" name="矩形 10"/>
          <p:cNvSpPr/>
          <p:nvPr/>
        </p:nvSpPr>
        <p:spPr>
          <a:xfrm>
            <a:off x="702138" y="5100001"/>
            <a:ext cx="8580428" cy="31041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不推荐对无</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引起的机械并发症的心源性休克患者常规应用</a:t>
            </a:r>
            <a:r>
              <a:rPr lang="en-US" altLang="zh-CN" dirty="0">
                <a:latin typeface="Microsoft YaHei UI" panose="020B0503020204020204" pitchFamily="34" charset="-122"/>
                <a:ea typeface="Microsoft YaHei UI" panose="020B0503020204020204" pitchFamily="34" charset="-122"/>
              </a:rPr>
              <a:t>IABP</a:t>
            </a:r>
            <a:r>
              <a:rPr lang="zh-CN" altLang="en-US" dirty="0">
                <a:latin typeface="Microsoft YaHei UI" panose="020B0503020204020204" pitchFamily="34" charset="-122"/>
                <a:ea typeface="Microsoft YaHei UI" panose="020B0503020204020204" pitchFamily="34" charset="-122"/>
              </a:rPr>
              <a:t>治疗</a:t>
            </a:r>
            <a:endParaRPr lang="en-US" altLang="zh-CN" dirty="0">
              <a:latin typeface="Microsoft YaHei UI" panose="020B0503020204020204" pitchFamily="34" charset="-122"/>
              <a:ea typeface="Microsoft YaHei UI" panose="020B0503020204020204" pitchFamily="34" charset="-122"/>
            </a:endParaRPr>
          </a:p>
        </p:txBody>
      </p:sp>
      <p:sp>
        <p:nvSpPr>
          <p:cNvPr id="12" name="矩形 11"/>
          <p:cNvSpPr/>
          <p:nvPr/>
        </p:nvSpPr>
        <p:spPr>
          <a:xfrm>
            <a:off x="702138" y="5440518"/>
            <a:ext cx="8580428" cy="31041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不推荐对多支血管病变</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患者的非罪犯病变行常规急诊血运重建治疗</a:t>
            </a:r>
            <a:endParaRPr lang="en-US" altLang="zh-CN" dirty="0">
              <a:latin typeface="Microsoft YaHei UI" panose="020B0503020204020204" pitchFamily="34" charset="-122"/>
              <a:ea typeface="Microsoft YaHei UI" panose="020B0503020204020204" pitchFamily="34" charset="-122"/>
            </a:endParaRPr>
          </a:p>
        </p:txBody>
      </p:sp>
      <p:pic>
        <p:nvPicPr>
          <p:cNvPr id="14" name="图片 13"/>
          <p:cNvPicPr>
            <a:picLocks noChangeAspect="1"/>
          </p:cNvPicPr>
          <p:nvPr/>
        </p:nvPicPr>
        <p:blipFill rotWithShape="1">
          <a:blip r:embed="rId4">
            <a:extLst>
              <a:ext uri="{28A0092B-C50C-407E-A947-70E740481C1C}">
                <a14:useLocalDpi xmlns:a14="http://schemas.microsoft.com/office/drawing/2010/main" val="0"/>
              </a:ext>
            </a:extLst>
          </a:blip>
          <a:srcRect t="38697" b="37375"/>
          <a:stretch>
            <a:fillRect/>
          </a:stretch>
        </p:blipFill>
        <p:spPr>
          <a:xfrm>
            <a:off x="9294692" y="1988290"/>
            <a:ext cx="1686380" cy="669730"/>
          </a:xfrm>
          <a:prstGeom prst="rect">
            <a:avLst/>
          </a:prstGeom>
        </p:spPr>
      </p:pic>
      <p:pic>
        <p:nvPicPr>
          <p:cNvPr id="15" name="图片 14"/>
          <p:cNvPicPr>
            <a:picLocks noChangeAspect="1"/>
          </p:cNvPicPr>
          <p:nvPr/>
        </p:nvPicPr>
        <p:blipFill rotWithShape="1">
          <a:blip r:embed="rId4">
            <a:extLst>
              <a:ext uri="{28A0092B-C50C-407E-A947-70E740481C1C}">
                <a14:useLocalDpi xmlns:a14="http://schemas.microsoft.com/office/drawing/2010/main" val="0"/>
              </a:ext>
            </a:extLst>
          </a:blip>
          <a:srcRect t="42612" b="44018"/>
          <a:stretch>
            <a:fillRect/>
          </a:stretch>
        </p:blipFill>
        <p:spPr>
          <a:xfrm>
            <a:off x="9294692" y="2691241"/>
            <a:ext cx="1686380" cy="374212"/>
          </a:xfrm>
          <a:prstGeom prst="rect">
            <a:avLst/>
          </a:prstGeom>
        </p:spPr>
      </p:pic>
      <p:pic>
        <p:nvPicPr>
          <p:cNvPr id="16" name="图片 15"/>
          <p:cNvPicPr>
            <a:picLocks noChangeAspect="1"/>
          </p:cNvPicPr>
          <p:nvPr/>
        </p:nvPicPr>
        <p:blipFill rotWithShape="1">
          <a:blip r:embed="rId4">
            <a:extLst>
              <a:ext uri="{28A0092B-C50C-407E-A947-70E740481C1C}">
                <a14:useLocalDpi xmlns:a14="http://schemas.microsoft.com/office/drawing/2010/main" val="0"/>
              </a:ext>
            </a:extLst>
          </a:blip>
          <a:srcRect t="43892" b="45147"/>
          <a:stretch>
            <a:fillRect/>
          </a:stretch>
        </p:blipFill>
        <p:spPr>
          <a:xfrm>
            <a:off x="9294692" y="1648283"/>
            <a:ext cx="1686380" cy="306786"/>
          </a:xfrm>
          <a:prstGeom prst="rect">
            <a:avLst/>
          </a:prstGeom>
        </p:spPr>
      </p:pic>
      <p:pic>
        <p:nvPicPr>
          <p:cNvPr id="19" name="图片 18"/>
          <p:cNvPicPr>
            <a:picLocks noChangeAspect="1"/>
          </p:cNvPicPr>
          <p:nvPr/>
        </p:nvPicPr>
        <p:blipFill rotWithShape="1">
          <a:blip r:embed="rId5">
            <a:extLst>
              <a:ext uri="{28A0092B-C50C-407E-A947-70E740481C1C}">
                <a14:useLocalDpi xmlns:a14="http://schemas.microsoft.com/office/drawing/2010/main" val="0"/>
              </a:ext>
            </a:extLst>
          </a:blip>
          <a:srcRect t="23738" b="70581"/>
          <a:stretch>
            <a:fillRect/>
          </a:stretch>
        </p:blipFill>
        <p:spPr>
          <a:xfrm>
            <a:off x="9293799" y="3098674"/>
            <a:ext cx="1686380" cy="383229"/>
          </a:xfrm>
          <a:prstGeom prst="rect">
            <a:avLst/>
          </a:prstGeom>
        </p:spPr>
      </p:pic>
      <p:pic>
        <p:nvPicPr>
          <p:cNvPr id="35" name="图片 34"/>
          <p:cNvPicPr>
            <a:picLocks noChangeAspect="1"/>
          </p:cNvPicPr>
          <p:nvPr/>
        </p:nvPicPr>
        <p:blipFill rotWithShape="1">
          <a:blip r:embed="rId5">
            <a:extLst>
              <a:ext uri="{28A0092B-C50C-407E-A947-70E740481C1C}">
                <a14:useLocalDpi xmlns:a14="http://schemas.microsoft.com/office/drawing/2010/main" val="0"/>
              </a:ext>
            </a:extLst>
          </a:blip>
          <a:srcRect t="23083" b="68342"/>
          <a:stretch>
            <a:fillRect/>
          </a:stretch>
        </p:blipFill>
        <p:spPr>
          <a:xfrm>
            <a:off x="9294692" y="3500282"/>
            <a:ext cx="1686380" cy="578438"/>
          </a:xfrm>
          <a:prstGeom prst="rect">
            <a:avLst/>
          </a:prstGeom>
        </p:spPr>
      </p:pic>
      <p:pic>
        <p:nvPicPr>
          <p:cNvPr id="37" name="图片 36"/>
          <p:cNvPicPr>
            <a:picLocks noChangeAspect="1"/>
          </p:cNvPicPr>
          <p:nvPr/>
        </p:nvPicPr>
        <p:blipFill rotWithShape="1">
          <a:blip r:embed="rId6">
            <a:extLst>
              <a:ext uri="{28A0092B-C50C-407E-A947-70E740481C1C}">
                <a14:useLocalDpi xmlns:a14="http://schemas.microsoft.com/office/drawing/2010/main" val="0"/>
              </a:ext>
            </a:extLst>
          </a:blip>
          <a:srcRect l="-1" r="2238" b="51591"/>
          <a:stretch>
            <a:fillRect/>
          </a:stretch>
        </p:blipFill>
        <p:spPr>
          <a:xfrm>
            <a:off x="9312975" y="4100894"/>
            <a:ext cx="1649813" cy="336560"/>
          </a:xfrm>
          <a:prstGeom prst="rect">
            <a:avLst/>
          </a:prstGeom>
        </p:spPr>
      </p:pic>
      <p:pic>
        <p:nvPicPr>
          <p:cNvPr id="39" name="图片 38"/>
          <p:cNvPicPr>
            <a:picLocks noChangeAspect="1"/>
          </p:cNvPicPr>
          <p:nvPr/>
        </p:nvPicPr>
        <p:blipFill rotWithShape="1">
          <a:blip r:embed="rId7">
            <a:extLst>
              <a:ext uri="{28A0092B-C50C-407E-A947-70E740481C1C}">
                <a14:useLocalDpi xmlns:a14="http://schemas.microsoft.com/office/drawing/2010/main" val="0"/>
              </a:ext>
            </a:extLst>
          </a:blip>
          <a:srcRect t="81270"/>
          <a:stretch>
            <a:fillRect/>
          </a:stretch>
        </p:blipFill>
        <p:spPr>
          <a:xfrm>
            <a:off x="9290607" y="4433942"/>
            <a:ext cx="1707954" cy="660013"/>
          </a:xfrm>
          <a:prstGeom prst="rect">
            <a:avLst/>
          </a:prstGeom>
        </p:spPr>
      </p:pic>
      <p:pic>
        <p:nvPicPr>
          <p:cNvPr id="41" name="图片 40"/>
          <p:cNvPicPr>
            <a:picLocks noChangeAspect="1"/>
          </p:cNvPicPr>
          <p:nvPr/>
        </p:nvPicPr>
        <p:blipFill rotWithShape="1">
          <a:blip r:embed="rId8">
            <a:extLst>
              <a:ext uri="{28A0092B-C50C-407E-A947-70E740481C1C}">
                <a14:useLocalDpi xmlns:a14="http://schemas.microsoft.com/office/drawing/2010/main" val="0"/>
              </a:ext>
            </a:extLst>
          </a:blip>
          <a:srcRect t="91052"/>
          <a:stretch>
            <a:fillRect/>
          </a:stretch>
        </p:blipFill>
        <p:spPr>
          <a:xfrm>
            <a:off x="9304073" y="5082713"/>
            <a:ext cx="1673032" cy="347976"/>
          </a:xfrm>
          <a:prstGeom prst="rect">
            <a:avLst/>
          </a:prstGeom>
        </p:spPr>
      </p:pic>
      <p:pic>
        <p:nvPicPr>
          <p:cNvPr id="43" name="图片 42"/>
          <p:cNvPicPr>
            <a:picLocks noChangeAspect="1"/>
          </p:cNvPicPr>
          <p:nvPr/>
        </p:nvPicPr>
        <p:blipFill rotWithShape="1">
          <a:blip r:embed="rId8">
            <a:extLst>
              <a:ext uri="{28A0092B-C50C-407E-A947-70E740481C1C}">
                <a14:useLocalDpi xmlns:a14="http://schemas.microsoft.com/office/drawing/2010/main" val="0"/>
              </a:ext>
            </a:extLst>
          </a:blip>
          <a:srcRect t="91052"/>
          <a:stretch>
            <a:fillRect/>
          </a:stretch>
        </p:blipFill>
        <p:spPr>
          <a:xfrm>
            <a:off x="9308068" y="5421524"/>
            <a:ext cx="1673032" cy="34797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1534182"/>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1533900"/>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540027"/>
            <a:ext cx="810713" cy="658747"/>
          </a:xfrm>
          <a:prstGeom prst="rect">
            <a:avLst/>
          </a:prstGeom>
        </p:spPr>
      </p:pic>
      <p:sp>
        <p:nvSpPr>
          <p:cNvPr id="23" name="文本框 22"/>
          <p:cNvSpPr txBox="1"/>
          <p:nvPr/>
        </p:nvSpPr>
        <p:spPr>
          <a:xfrm>
            <a:off x="697585" y="1684380"/>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399388" y="1541343"/>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54659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02722" y="640468"/>
            <a:ext cx="753197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合并糖尿病的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患者指南推荐</a:t>
            </a:r>
            <a:endParaRPr lang="zh-CN" altLang="en-US" sz="2400" b="1" dirty="0">
              <a:solidFill>
                <a:srgbClr val="AE1022"/>
              </a:solidFill>
            </a:endParaRPr>
          </a:p>
        </p:txBody>
      </p:sp>
      <p:sp>
        <p:nvSpPr>
          <p:cNvPr id="13" name="矩形 12"/>
          <p:cNvSpPr/>
          <p:nvPr/>
        </p:nvSpPr>
        <p:spPr>
          <a:xfrm>
            <a:off x="691637" y="2197062"/>
            <a:ext cx="8580428" cy="66973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推荐对所有</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患者进行糖尿病筛查，并对已经诊断糖尿病或入院血糖增高的患者密切监测血糖水平</a:t>
            </a:r>
            <a:endParaRPr lang="en-US" altLang="zh-CN" dirty="0">
              <a:latin typeface="Microsoft YaHei UI" panose="020B0503020204020204" pitchFamily="34" charset="-122"/>
              <a:ea typeface="Microsoft YaHei UI" panose="020B0503020204020204" pitchFamily="34" charset="-122"/>
            </a:endParaRPr>
          </a:p>
        </p:txBody>
      </p:sp>
      <p:sp>
        <p:nvSpPr>
          <p:cNvPr id="17" name="矩形 16"/>
          <p:cNvSpPr/>
          <p:nvPr/>
        </p:nvSpPr>
        <p:spPr>
          <a:xfrm>
            <a:off x="691637" y="2918592"/>
            <a:ext cx="8580428" cy="35507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避免低血糖的发生</a:t>
            </a:r>
            <a:endParaRPr lang="en-US" altLang="zh-CN" dirty="0">
              <a:latin typeface="Microsoft YaHei UI" panose="020B0503020204020204" pitchFamily="34" charset="-122"/>
              <a:ea typeface="Microsoft YaHei UI" panose="020B0503020204020204" pitchFamily="34" charset="-122"/>
            </a:endParaRPr>
          </a:p>
        </p:txBody>
      </p:sp>
      <p:sp>
        <p:nvSpPr>
          <p:cNvPr id="4" name="矩形 3"/>
          <p:cNvSpPr/>
          <p:nvPr/>
        </p:nvSpPr>
        <p:spPr>
          <a:xfrm>
            <a:off x="691637" y="3331251"/>
            <a:ext cx="8580428" cy="69224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应考虑对血糖＞</a:t>
            </a:r>
            <a:r>
              <a:rPr lang="en-US" altLang="zh-CN" dirty="0">
                <a:latin typeface="Microsoft YaHei UI" panose="020B0503020204020204" pitchFamily="34" charset="-122"/>
                <a:ea typeface="Microsoft YaHei UI" panose="020B0503020204020204" pitchFamily="34" charset="-122"/>
              </a:rPr>
              <a:t>10mmol/L</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180mg/dL</a:t>
            </a:r>
            <a:r>
              <a:rPr lang="zh-CN" altLang="en-US" dirty="0">
                <a:latin typeface="Microsoft YaHei UI" panose="020B0503020204020204" pitchFamily="34" charset="-122"/>
                <a:ea typeface="Microsoft YaHei UI" panose="020B0503020204020204" pitchFamily="34" charset="-122"/>
              </a:rPr>
              <a:t>）的</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患者行降糖治疗，并根据合并症情况调节降糖目标，同时预防低血糖的发生</a:t>
            </a:r>
            <a:endParaRPr lang="en-US" altLang="zh-CN" dirty="0">
              <a:latin typeface="Microsoft YaHei UI" panose="020B0503020204020204" pitchFamily="34" charset="-122"/>
              <a:ea typeface="Microsoft YaHei UI" panose="020B0503020204020204" pitchFamily="34" charset="-122"/>
            </a:endParaRPr>
          </a:p>
        </p:txBody>
      </p:sp>
      <p:sp>
        <p:nvSpPr>
          <p:cNvPr id="7" name="矩形 6"/>
          <p:cNvSpPr/>
          <p:nvPr/>
        </p:nvSpPr>
        <p:spPr>
          <a:xfrm>
            <a:off x="691637" y="4083975"/>
            <a:ext cx="8580428" cy="34136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应考虑对合并糖尿病的心血管疾病患者进行多因素的糖尿病管理方式</a:t>
            </a:r>
            <a:endParaRPr lang="en-US" altLang="zh-CN" dirty="0">
              <a:latin typeface="Microsoft YaHei UI" panose="020B0503020204020204" pitchFamily="34" charset="-122"/>
              <a:ea typeface="Microsoft YaHei UI" panose="020B0503020204020204" pitchFamily="34" charset="-122"/>
            </a:endParaRPr>
          </a:p>
        </p:txBody>
      </p:sp>
      <p:sp>
        <p:nvSpPr>
          <p:cNvPr id="10" name="矩形 9"/>
          <p:cNvSpPr/>
          <p:nvPr/>
        </p:nvSpPr>
        <p:spPr>
          <a:xfrm>
            <a:off x="691637" y="4479793"/>
            <a:ext cx="8580428" cy="59366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对于心血管疾病进展较快、高龄、长期糖尿病史或较多合并症的患者，应考虑相对非严格的血糖控制</a:t>
            </a:r>
            <a:endParaRPr lang="en-US" altLang="zh-CN" dirty="0">
              <a:latin typeface="Microsoft YaHei UI" panose="020B0503020204020204" pitchFamily="34" charset="-122"/>
              <a:ea typeface="Microsoft YaHei UI" panose="020B0503020204020204" pitchFamily="34" charset="-122"/>
            </a:endParaRPr>
          </a:p>
        </p:txBody>
      </p:sp>
      <p:pic>
        <p:nvPicPr>
          <p:cNvPr id="3" name="图片 2"/>
          <p:cNvPicPr>
            <a:picLocks noChangeAspect="1"/>
          </p:cNvPicPr>
          <p:nvPr/>
        </p:nvPicPr>
        <p:blipFill rotWithShape="1">
          <a:blip r:embed="rId4">
            <a:extLst>
              <a:ext uri="{28A0092B-C50C-407E-A947-70E740481C1C}">
                <a14:useLocalDpi xmlns:a14="http://schemas.microsoft.com/office/drawing/2010/main" val="0"/>
              </a:ext>
            </a:extLst>
          </a:blip>
          <a:srcRect t="4762" b="83428"/>
          <a:stretch>
            <a:fillRect/>
          </a:stretch>
        </p:blipFill>
        <p:spPr>
          <a:xfrm>
            <a:off x="9287703" y="2197062"/>
            <a:ext cx="1705645" cy="669510"/>
          </a:xfrm>
          <a:prstGeom prst="rect">
            <a:avLst/>
          </a:prstGeom>
        </p:spPr>
      </p:pic>
      <p:pic>
        <p:nvPicPr>
          <p:cNvPr id="20" name="图片 19"/>
          <p:cNvPicPr>
            <a:picLocks noChangeAspect="1"/>
          </p:cNvPicPr>
          <p:nvPr/>
        </p:nvPicPr>
        <p:blipFill rotWithShape="1">
          <a:blip r:embed="rId5">
            <a:extLst>
              <a:ext uri="{28A0092B-C50C-407E-A947-70E740481C1C}">
                <a14:useLocalDpi xmlns:a14="http://schemas.microsoft.com/office/drawing/2010/main" val="0"/>
              </a:ext>
            </a:extLst>
          </a:blip>
          <a:srcRect t="42612" b="44018"/>
          <a:stretch>
            <a:fillRect/>
          </a:stretch>
        </p:blipFill>
        <p:spPr>
          <a:xfrm>
            <a:off x="9290607" y="2906669"/>
            <a:ext cx="1686380" cy="374212"/>
          </a:xfrm>
          <a:prstGeom prst="rect">
            <a:avLst/>
          </a:prstGeom>
        </p:spPr>
      </p:pic>
      <p:pic>
        <p:nvPicPr>
          <p:cNvPr id="29" name="图片 28"/>
          <p:cNvPicPr>
            <a:picLocks noChangeAspect="1"/>
          </p:cNvPicPr>
          <p:nvPr/>
        </p:nvPicPr>
        <p:blipFill rotWithShape="1">
          <a:blip r:embed="rId6">
            <a:extLst>
              <a:ext uri="{28A0092B-C50C-407E-A947-70E740481C1C}">
                <a14:useLocalDpi xmlns:a14="http://schemas.microsoft.com/office/drawing/2010/main" val="0"/>
              </a:ext>
            </a:extLst>
          </a:blip>
          <a:srcRect t="29237" b="26430"/>
          <a:stretch>
            <a:fillRect/>
          </a:stretch>
        </p:blipFill>
        <p:spPr>
          <a:xfrm>
            <a:off x="9300569" y="3331252"/>
            <a:ext cx="1681555" cy="692243"/>
          </a:xfrm>
          <a:prstGeom prst="rect">
            <a:avLst/>
          </a:prstGeom>
        </p:spPr>
      </p:pic>
      <p:pic>
        <p:nvPicPr>
          <p:cNvPr id="30" name="图片 29"/>
          <p:cNvPicPr>
            <a:picLocks noChangeAspect="1"/>
          </p:cNvPicPr>
          <p:nvPr/>
        </p:nvPicPr>
        <p:blipFill rotWithShape="1">
          <a:blip r:embed="rId6">
            <a:extLst>
              <a:ext uri="{28A0092B-C50C-407E-A947-70E740481C1C}">
                <a14:useLocalDpi xmlns:a14="http://schemas.microsoft.com/office/drawing/2010/main" val="0"/>
              </a:ext>
            </a:extLst>
          </a:blip>
          <a:srcRect l="617" t="39191" r="-617" b="38069"/>
          <a:stretch>
            <a:fillRect/>
          </a:stretch>
        </p:blipFill>
        <p:spPr>
          <a:xfrm>
            <a:off x="9310949" y="4075403"/>
            <a:ext cx="1681555" cy="357894"/>
          </a:xfrm>
          <a:prstGeom prst="rect">
            <a:avLst/>
          </a:prstGeom>
        </p:spPr>
      </p:pic>
      <p:pic>
        <p:nvPicPr>
          <p:cNvPr id="31" name="图片 30"/>
          <p:cNvPicPr>
            <a:picLocks noChangeAspect="1"/>
          </p:cNvPicPr>
          <p:nvPr/>
        </p:nvPicPr>
        <p:blipFill rotWithShape="1">
          <a:blip r:embed="rId7">
            <a:extLst>
              <a:ext uri="{28A0092B-C50C-407E-A947-70E740481C1C}">
                <a14:useLocalDpi xmlns:a14="http://schemas.microsoft.com/office/drawing/2010/main" val="0"/>
              </a:ext>
            </a:extLst>
          </a:blip>
          <a:srcRect t="45667" b="37486"/>
          <a:stretch>
            <a:fillRect/>
          </a:stretch>
        </p:blipFill>
        <p:spPr>
          <a:xfrm>
            <a:off x="9280021" y="4480068"/>
            <a:ext cx="1707954" cy="59366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1277332"/>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1277050"/>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283177"/>
            <a:ext cx="810713" cy="658747"/>
          </a:xfrm>
          <a:prstGeom prst="rect">
            <a:avLst/>
          </a:prstGeom>
        </p:spPr>
      </p:pic>
      <p:sp>
        <p:nvSpPr>
          <p:cNvPr id="23" name="文本框 22"/>
          <p:cNvSpPr txBox="1"/>
          <p:nvPr/>
        </p:nvSpPr>
        <p:spPr>
          <a:xfrm>
            <a:off x="697585" y="1427530"/>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399388" y="1284493"/>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28974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02722" y="640468"/>
            <a:ext cx="753197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合并慢性肾脏病的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患者指南推荐</a:t>
            </a:r>
            <a:endParaRPr lang="zh-CN" altLang="en-US" sz="2400" b="1" dirty="0">
              <a:solidFill>
                <a:srgbClr val="AE1022"/>
              </a:solidFill>
            </a:endParaRPr>
          </a:p>
        </p:txBody>
      </p:sp>
      <p:sp>
        <p:nvSpPr>
          <p:cNvPr id="13" name="矩形 12"/>
          <p:cNvSpPr/>
          <p:nvPr/>
        </p:nvSpPr>
        <p:spPr>
          <a:xfrm>
            <a:off x="702722" y="2325488"/>
            <a:ext cx="8580428" cy="66973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推荐对合并慢性肾脏病患者应用与肾功能正常患者相同的诊断和治疗策略（可按需要调整用药剂量）</a:t>
            </a:r>
            <a:endParaRPr lang="en-US" altLang="zh-CN" dirty="0">
              <a:latin typeface="Microsoft YaHei UI" panose="020B0503020204020204" pitchFamily="34" charset="-122"/>
              <a:ea typeface="Microsoft YaHei UI" panose="020B0503020204020204" pitchFamily="34" charset="-122"/>
            </a:endParaRPr>
          </a:p>
        </p:txBody>
      </p:sp>
      <p:sp>
        <p:nvSpPr>
          <p:cNvPr id="17" name="矩形 16"/>
          <p:cNvSpPr/>
          <p:nvPr/>
        </p:nvSpPr>
        <p:spPr>
          <a:xfrm>
            <a:off x="703097" y="3047018"/>
            <a:ext cx="8580428" cy="35507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推荐对所有患者应用</a:t>
            </a:r>
            <a:r>
              <a:rPr lang="en-US" altLang="zh-CN" dirty="0">
                <a:latin typeface="Microsoft YaHei UI" panose="020B0503020204020204" pitchFamily="34" charset="-122"/>
                <a:ea typeface="Microsoft YaHei UI" panose="020B0503020204020204" pitchFamily="34" charset="-122"/>
              </a:rPr>
              <a:t>eGFR</a:t>
            </a:r>
            <a:r>
              <a:rPr lang="zh-CN" altLang="en-US" dirty="0">
                <a:latin typeface="Microsoft YaHei UI" panose="020B0503020204020204" pitchFamily="34" charset="-122"/>
                <a:ea typeface="Microsoft YaHei UI" panose="020B0503020204020204" pitchFamily="34" charset="-122"/>
              </a:rPr>
              <a:t>评估肾功能</a:t>
            </a:r>
            <a:endParaRPr lang="en-US" altLang="zh-CN" dirty="0">
              <a:latin typeface="Microsoft YaHei UI" panose="020B0503020204020204" pitchFamily="34" charset="-122"/>
              <a:ea typeface="Microsoft YaHei UI" panose="020B0503020204020204" pitchFamily="34" charset="-122"/>
            </a:endParaRPr>
          </a:p>
        </p:txBody>
      </p:sp>
      <p:sp>
        <p:nvSpPr>
          <p:cNvPr id="4" name="矩形 3"/>
          <p:cNvSpPr/>
          <p:nvPr/>
        </p:nvSpPr>
        <p:spPr>
          <a:xfrm>
            <a:off x="696774" y="3828210"/>
            <a:ext cx="8580428" cy="38661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marL="0" marR="0" indent="0" algn="l" defTabSz="914400" rtl="0" eaLnBrk="1" fontAlgn="auto" latinLnBrk="0" hangingPunct="1">
              <a:lnSpc>
                <a:spcPct val="120000"/>
              </a:lnSpc>
              <a:spcBef>
                <a:spcPts val="0"/>
              </a:spcBef>
              <a:spcAft>
                <a:spcPts val="0"/>
              </a:spcAft>
              <a:buClrTx/>
              <a:buSzTx/>
              <a:buFontTx/>
              <a:buNone/>
              <a:defRPr/>
            </a:pPr>
            <a:r>
              <a:rPr lang="zh-CN" altLang="en-US" dirty="0">
                <a:latin typeface="Microsoft YaHei UI" panose="020B0503020204020204" pitchFamily="34" charset="-122"/>
                <a:ea typeface="Microsoft YaHei UI" panose="020B0503020204020204" pitchFamily="34" charset="-122"/>
              </a:rPr>
              <a:t>推荐在介入治疗时使用</a:t>
            </a:r>
            <a:r>
              <a:rPr lang="zh-CN" altLang="en-US" sz="1800" baseline="0" dirty="0">
                <a:latin typeface="Microsoft YaHei UI" panose="020B0503020204020204" pitchFamily="34" charset="-122"/>
                <a:ea typeface="Microsoft YaHei UI" panose="020B0503020204020204" pitchFamily="34" charset="-122"/>
              </a:rPr>
              <a:t>低渗或等渗造影剂</a:t>
            </a:r>
            <a:r>
              <a:rPr lang="zh-CN" altLang="en-US" dirty="0">
                <a:latin typeface="Microsoft YaHei UI" panose="020B0503020204020204" pitchFamily="34" charset="-122"/>
                <a:ea typeface="Microsoft YaHei UI" panose="020B0503020204020204" pitchFamily="34" charset="-122"/>
              </a:rPr>
              <a:t>（</a:t>
            </a:r>
            <a:r>
              <a:rPr lang="zh-CN" altLang="en-US" sz="1800" baseline="0" dirty="0">
                <a:latin typeface="Microsoft YaHei UI" panose="020B0503020204020204" pitchFamily="34" charset="-122"/>
                <a:ea typeface="Microsoft YaHei UI" panose="020B0503020204020204" pitchFamily="34" charset="-122"/>
              </a:rPr>
              <a:t>尽可能低剂量</a:t>
            </a:r>
            <a:r>
              <a:rPr lang="zh-CN" altLang="en-US" dirty="0">
                <a:latin typeface="Microsoft YaHei UI" panose="020B0503020204020204" pitchFamily="34" charset="-122"/>
                <a:ea typeface="Microsoft YaHei UI" panose="020B0503020204020204" pitchFamily="34" charset="-122"/>
              </a:rPr>
              <a:t>）</a:t>
            </a:r>
            <a:endParaRPr lang="en-US" altLang="zh-CN" sz="1800" baseline="0" dirty="0">
              <a:latin typeface="Microsoft YaHei UI" panose="020B0503020204020204" pitchFamily="34" charset="-122"/>
              <a:ea typeface="Microsoft YaHei UI" panose="020B0503020204020204" pitchFamily="34" charset="-122"/>
            </a:endParaRPr>
          </a:p>
        </p:txBody>
      </p:sp>
      <p:sp>
        <p:nvSpPr>
          <p:cNvPr id="7" name="矩形 6"/>
          <p:cNvSpPr/>
          <p:nvPr/>
        </p:nvSpPr>
        <p:spPr>
          <a:xfrm>
            <a:off x="698643" y="4258496"/>
            <a:ext cx="8580428" cy="59366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baseline="0" dirty="0">
                <a:latin typeface="Microsoft YaHei UI" panose="020B0503020204020204" pitchFamily="34" charset="-122"/>
                <a:ea typeface="Microsoft YaHei UI" panose="020B0503020204020204" pitchFamily="34" charset="-122"/>
              </a:rPr>
              <a:t>介入治疗中如果预期的造影剂剂量＞</a:t>
            </a:r>
            <a:r>
              <a:rPr lang="en-US" altLang="zh-CN" sz="1800" baseline="0" dirty="0">
                <a:latin typeface="Microsoft YaHei UI" panose="020B0503020204020204" pitchFamily="34" charset="-122"/>
                <a:ea typeface="Microsoft YaHei UI" panose="020B0503020204020204" pitchFamily="34" charset="-122"/>
              </a:rPr>
              <a:t>100ml</a:t>
            </a:r>
            <a:r>
              <a:rPr lang="zh-CN" altLang="en-US" sz="1800" baseline="0" dirty="0">
                <a:latin typeface="Microsoft YaHei UI" panose="020B0503020204020204" pitchFamily="34" charset="-122"/>
                <a:ea typeface="Microsoft YaHei UI" panose="020B0503020204020204" pitchFamily="34" charset="-122"/>
              </a:rPr>
              <a:t>，应考虑在术前及术后使用等渗盐水进行水化</a:t>
            </a:r>
            <a:endParaRPr lang="en-US" altLang="zh-CN" sz="1800" baseline="0" dirty="0">
              <a:latin typeface="Microsoft YaHei UI" panose="020B0503020204020204" pitchFamily="34" charset="-122"/>
              <a:ea typeface="Microsoft YaHei UI" panose="020B0503020204020204" pitchFamily="34" charset="-122"/>
            </a:endParaRPr>
          </a:p>
        </p:txBody>
      </p:sp>
      <p:sp>
        <p:nvSpPr>
          <p:cNvPr id="10" name="矩形 9"/>
          <p:cNvSpPr/>
          <p:nvPr/>
        </p:nvSpPr>
        <p:spPr>
          <a:xfrm>
            <a:off x="691637" y="4912809"/>
            <a:ext cx="8580428" cy="28591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marL="0" marR="0" indent="0" algn="l" defTabSz="914400" rtl="0" eaLnBrk="1" fontAlgn="auto" latinLnBrk="0" hangingPunct="1">
              <a:lnSpc>
                <a:spcPct val="120000"/>
              </a:lnSpc>
              <a:spcBef>
                <a:spcPts val="0"/>
              </a:spcBef>
              <a:spcAft>
                <a:spcPts val="0"/>
              </a:spcAft>
              <a:buClrTx/>
              <a:buSzTx/>
              <a:buFontTx/>
              <a:buNone/>
              <a:defRPr/>
            </a:pPr>
            <a:r>
              <a:rPr lang="zh-CN" altLang="en-US" dirty="0">
                <a:latin typeface="Microsoft YaHei UI" panose="020B0503020204020204" pitchFamily="34" charset="-122"/>
                <a:ea typeface="Microsoft YaHei UI" panose="020B0503020204020204" pitchFamily="34" charset="-122"/>
              </a:rPr>
              <a:t>可考虑应用个体化的水化方案作为术前和术后水化的替代方案</a:t>
            </a:r>
            <a:endParaRPr lang="en-US" altLang="zh-CN" dirty="0">
              <a:latin typeface="Microsoft YaHei UI" panose="020B0503020204020204" pitchFamily="34" charset="-122"/>
              <a:ea typeface="Microsoft YaHei UI" panose="020B0503020204020204" pitchFamily="34" charset="-122"/>
            </a:endParaRPr>
          </a:p>
        </p:txBody>
      </p:sp>
      <p:pic>
        <p:nvPicPr>
          <p:cNvPr id="3" name="图片 2"/>
          <p:cNvPicPr>
            <a:picLocks noChangeAspect="1"/>
          </p:cNvPicPr>
          <p:nvPr/>
        </p:nvPicPr>
        <p:blipFill rotWithShape="1">
          <a:blip r:embed="rId4">
            <a:extLst>
              <a:ext uri="{28A0092B-C50C-407E-A947-70E740481C1C}">
                <a14:useLocalDpi xmlns:a14="http://schemas.microsoft.com/office/drawing/2010/main" val="0"/>
              </a:ext>
            </a:extLst>
          </a:blip>
          <a:srcRect t="4762" b="83428"/>
          <a:stretch>
            <a:fillRect/>
          </a:stretch>
        </p:blipFill>
        <p:spPr>
          <a:xfrm>
            <a:off x="9287703" y="2325488"/>
            <a:ext cx="1705645" cy="669510"/>
          </a:xfrm>
          <a:prstGeom prst="rect">
            <a:avLst/>
          </a:prstGeom>
        </p:spPr>
      </p:pic>
      <p:pic>
        <p:nvPicPr>
          <p:cNvPr id="31" name="图片 30"/>
          <p:cNvPicPr>
            <a:picLocks noChangeAspect="1"/>
          </p:cNvPicPr>
          <p:nvPr/>
        </p:nvPicPr>
        <p:blipFill rotWithShape="1">
          <a:blip r:embed="rId5">
            <a:extLst>
              <a:ext uri="{28A0092B-C50C-407E-A947-70E740481C1C}">
                <a14:useLocalDpi xmlns:a14="http://schemas.microsoft.com/office/drawing/2010/main" val="0"/>
              </a:ext>
            </a:extLst>
          </a:blip>
          <a:srcRect t="45667" b="37486"/>
          <a:stretch>
            <a:fillRect/>
          </a:stretch>
        </p:blipFill>
        <p:spPr>
          <a:xfrm>
            <a:off x="9282339" y="4263992"/>
            <a:ext cx="1707954" cy="593668"/>
          </a:xfrm>
          <a:prstGeom prst="rect">
            <a:avLst/>
          </a:prstGeom>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990" y="1933186"/>
            <a:ext cx="10248169" cy="375008"/>
          </a:xfrm>
          <a:prstGeom prst="rect">
            <a:avLst/>
          </a:prstGeom>
        </p:spPr>
      </p:pic>
      <p:sp>
        <p:nvSpPr>
          <p:cNvPr id="5" name="文本框 4"/>
          <p:cNvSpPr txBox="1"/>
          <p:nvPr/>
        </p:nvSpPr>
        <p:spPr>
          <a:xfrm>
            <a:off x="682223" y="1932216"/>
            <a:ext cx="2749345"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慢性肾脏病危险分层</a:t>
            </a:r>
          </a:p>
        </p:txBody>
      </p:sp>
      <p:pic>
        <p:nvPicPr>
          <p:cNvPr id="11" name="图片 10"/>
          <p:cNvPicPr>
            <a:picLocks noChangeAspect="1"/>
          </p:cNvPicPr>
          <p:nvPr/>
        </p:nvPicPr>
        <p:blipFill rotWithShape="1">
          <a:blip r:embed="rId4">
            <a:extLst>
              <a:ext uri="{28A0092B-C50C-407E-A947-70E740481C1C}">
                <a14:useLocalDpi xmlns:a14="http://schemas.microsoft.com/office/drawing/2010/main" val="0"/>
              </a:ext>
            </a:extLst>
          </a:blip>
          <a:srcRect t="7152" b="86392"/>
          <a:stretch>
            <a:fillRect/>
          </a:stretch>
        </p:blipFill>
        <p:spPr>
          <a:xfrm>
            <a:off x="9286859" y="3046905"/>
            <a:ext cx="1705645" cy="366001"/>
          </a:xfrm>
          <a:prstGeom prst="rect">
            <a:avLst/>
          </a:prstGeom>
        </p:spPr>
      </p:pic>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643" y="3435623"/>
            <a:ext cx="10260226" cy="375008"/>
          </a:xfrm>
          <a:prstGeom prst="rect">
            <a:avLst/>
          </a:prstGeom>
        </p:spPr>
      </p:pic>
      <p:sp>
        <p:nvSpPr>
          <p:cNvPr id="14" name="文本框 13"/>
          <p:cNvSpPr txBox="1"/>
          <p:nvPr/>
        </p:nvSpPr>
        <p:spPr>
          <a:xfrm>
            <a:off x="667820" y="3434653"/>
            <a:ext cx="39709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合并慢性肾脏病患者的心肌血运重建</a:t>
            </a:r>
          </a:p>
        </p:txBody>
      </p:sp>
      <p:pic>
        <p:nvPicPr>
          <p:cNvPr id="15" name="图片 14"/>
          <p:cNvPicPr>
            <a:picLocks noChangeAspect="1"/>
          </p:cNvPicPr>
          <p:nvPr/>
        </p:nvPicPr>
        <p:blipFill rotWithShape="1">
          <a:blip r:embed="rId6">
            <a:extLst>
              <a:ext uri="{28A0092B-C50C-407E-A947-70E740481C1C}">
                <a14:useLocalDpi xmlns:a14="http://schemas.microsoft.com/office/drawing/2010/main" val="0"/>
              </a:ext>
            </a:extLst>
          </a:blip>
          <a:srcRect t="74536" b="20283"/>
          <a:stretch>
            <a:fillRect/>
          </a:stretch>
        </p:blipFill>
        <p:spPr>
          <a:xfrm>
            <a:off x="9272065" y="3837799"/>
            <a:ext cx="1704066" cy="378941"/>
          </a:xfrm>
          <a:prstGeom prst="rect">
            <a:avLst/>
          </a:prstGeom>
        </p:spPr>
      </p:pic>
      <p:pic>
        <p:nvPicPr>
          <p:cNvPr id="16" name="图片 15"/>
          <p:cNvPicPr>
            <a:picLocks noChangeAspect="1"/>
          </p:cNvPicPr>
          <p:nvPr/>
        </p:nvPicPr>
        <p:blipFill rotWithShape="1">
          <a:blip r:embed="rId7">
            <a:extLst>
              <a:ext uri="{28A0092B-C50C-407E-A947-70E740481C1C}">
                <a14:useLocalDpi xmlns:a14="http://schemas.microsoft.com/office/drawing/2010/main" val="0"/>
              </a:ext>
            </a:extLst>
          </a:blip>
          <a:srcRect t="32553" b="36458"/>
          <a:stretch>
            <a:fillRect/>
          </a:stretch>
        </p:blipFill>
        <p:spPr>
          <a:xfrm>
            <a:off x="9285707" y="4909378"/>
            <a:ext cx="1704189" cy="294485"/>
          </a:xfrm>
          <a:prstGeom prst="rect">
            <a:avLst/>
          </a:prstGeom>
        </p:spPr>
      </p:pic>
      <p:sp>
        <p:nvSpPr>
          <p:cNvPr id="18" name="矩形 17"/>
          <p:cNvSpPr/>
          <p:nvPr/>
        </p:nvSpPr>
        <p:spPr>
          <a:xfrm>
            <a:off x="692497" y="5254138"/>
            <a:ext cx="8580428" cy="69657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a:lnSpc>
                <a:spcPct val="120000"/>
              </a:lnSpc>
              <a:defRPr/>
            </a:pPr>
            <a:r>
              <a:rPr lang="zh-CN" altLang="en-US" sz="1800" baseline="0" dirty="0">
                <a:latin typeface="Microsoft YaHei UI" panose="020B0503020204020204" pitchFamily="34" charset="-122"/>
                <a:ea typeface="Microsoft YaHei UI" panose="020B0503020204020204" pitchFamily="34" charset="-122"/>
              </a:rPr>
              <a:t>应考虑对可接受外科手术风险，预期寿命＞</a:t>
            </a:r>
            <a:r>
              <a:rPr lang="en-US" altLang="zh-CN" sz="1800" baseline="0" dirty="0">
                <a:latin typeface="Microsoft YaHei UI" panose="020B0503020204020204" pitchFamily="34" charset="-122"/>
                <a:ea typeface="Microsoft YaHei UI" panose="020B0503020204020204" pitchFamily="34" charset="-122"/>
              </a:rPr>
              <a:t>1</a:t>
            </a:r>
            <a:r>
              <a:rPr lang="zh-CN" altLang="en-US" sz="1800" baseline="0" dirty="0">
                <a:latin typeface="Microsoft YaHei UI" panose="020B0503020204020204" pitchFamily="34" charset="-122"/>
                <a:ea typeface="Microsoft YaHei UI" panose="020B0503020204020204" pitchFamily="34" charset="-122"/>
              </a:rPr>
              <a:t>年的多血管病变</a:t>
            </a:r>
            <a:r>
              <a:rPr lang="en-US" altLang="zh-CN" sz="1800" baseline="0" dirty="0">
                <a:latin typeface="Microsoft YaHei UI" panose="020B0503020204020204" pitchFamily="34" charset="-122"/>
                <a:ea typeface="Microsoft YaHei UI" panose="020B0503020204020204" pitchFamily="34" charset="-122"/>
              </a:rPr>
              <a:t>CAD</a:t>
            </a:r>
            <a:r>
              <a:rPr lang="zh-CN" altLang="en-US" sz="1800" baseline="0" dirty="0">
                <a:latin typeface="Microsoft YaHei UI" panose="020B0503020204020204" pitchFamily="34" charset="-122"/>
                <a:ea typeface="Microsoft YaHei UI" panose="020B0503020204020204" pitchFamily="34" charset="-122"/>
              </a:rPr>
              <a:t>患者行</a:t>
            </a:r>
            <a:r>
              <a:rPr lang="en-US" altLang="zh-CN" sz="1800" baseline="0" dirty="0">
                <a:latin typeface="Microsoft YaHei UI" panose="020B0503020204020204" pitchFamily="34" charset="-122"/>
                <a:ea typeface="Microsoft YaHei UI" panose="020B0503020204020204" pitchFamily="34" charset="-122"/>
              </a:rPr>
              <a:t>CABG</a:t>
            </a:r>
            <a:r>
              <a:rPr lang="zh-CN" altLang="en-US" dirty="0">
                <a:latin typeface="Microsoft YaHei UI" panose="020B0503020204020204" pitchFamily="34" charset="-122"/>
                <a:ea typeface="Microsoft YaHei UI" panose="020B0503020204020204" pitchFamily="34" charset="-122"/>
              </a:rPr>
              <a:t>治疗，优先于</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a:t>
            </a:r>
            <a:endParaRPr lang="en-US" altLang="zh-CN" sz="1800" baseline="0" dirty="0">
              <a:latin typeface="Microsoft YaHei UI" panose="020B0503020204020204" pitchFamily="34" charset="-122"/>
              <a:ea typeface="Microsoft YaHei UI" panose="020B0503020204020204" pitchFamily="34" charset="-122"/>
            </a:endParaRPr>
          </a:p>
        </p:txBody>
      </p:sp>
      <p:pic>
        <p:nvPicPr>
          <p:cNvPr id="19" name="图片 18"/>
          <p:cNvPicPr>
            <a:picLocks noChangeAspect="1"/>
          </p:cNvPicPr>
          <p:nvPr/>
        </p:nvPicPr>
        <p:blipFill rotWithShape="1">
          <a:blip r:embed="rId8">
            <a:extLst>
              <a:ext uri="{28A0092B-C50C-407E-A947-70E740481C1C}">
                <a14:useLocalDpi xmlns:a14="http://schemas.microsoft.com/office/drawing/2010/main" val="0"/>
              </a:ext>
            </a:extLst>
          </a:blip>
          <a:srcRect t="29237" b="26430"/>
          <a:stretch>
            <a:fillRect/>
          </a:stretch>
        </p:blipFill>
        <p:spPr>
          <a:xfrm>
            <a:off x="9303204" y="5255773"/>
            <a:ext cx="1681555" cy="69224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1534182"/>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1533900"/>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540027"/>
            <a:ext cx="810713" cy="658747"/>
          </a:xfrm>
          <a:prstGeom prst="rect">
            <a:avLst/>
          </a:prstGeom>
        </p:spPr>
      </p:pic>
      <p:sp>
        <p:nvSpPr>
          <p:cNvPr id="23" name="文本框 22"/>
          <p:cNvSpPr txBox="1"/>
          <p:nvPr/>
        </p:nvSpPr>
        <p:spPr>
          <a:xfrm>
            <a:off x="697585" y="1684380"/>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399388" y="1541343"/>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54659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02722" y="640468"/>
            <a:ext cx="753197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高龄</a:t>
            </a:r>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患者指南推荐</a:t>
            </a:r>
            <a:endParaRPr lang="zh-CN" altLang="en-US" sz="2400" b="1" dirty="0">
              <a:solidFill>
                <a:srgbClr val="AE1022"/>
              </a:solidFill>
            </a:endParaRPr>
          </a:p>
        </p:txBody>
      </p:sp>
      <p:sp>
        <p:nvSpPr>
          <p:cNvPr id="17" name="矩形 16"/>
          <p:cNvSpPr/>
          <p:nvPr/>
        </p:nvSpPr>
        <p:spPr>
          <a:xfrm>
            <a:off x="703097" y="2615509"/>
            <a:ext cx="8580428" cy="35507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推荐对高龄患者应用</a:t>
            </a:r>
            <a:r>
              <a:rPr lang="zh-CN" altLang="en-US" b="1" dirty="0">
                <a:latin typeface="Microsoft YaHei UI" panose="020B0503020204020204" pitchFamily="34" charset="-122"/>
                <a:ea typeface="Microsoft YaHei UI" panose="020B0503020204020204" pitchFamily="34" charset="-122"/>
              </a:rPr>
              <a:t>与相对低龄患者相同的诊断策略</a:t>
            </a:r>
            <a:endParaRPr lang="en-US" altLang="zh-CN" dirty="0">
              <a:latin typeface="Microsoft YaHei UI" panose="020B0503020204020204" pitchFamily="34" charset="-122"/>
              <a:ea typeface="Microsoft YaHei UI" panose="020B0503020204020204" pitchFamily="34" charset="-122"/>
            </a:endParaRPr>
          </a:p>
        </p:txBody>
      </p:sp>
      <p:sp>
        <p:nvSpPr>
          <p:cNvPr id="4" name="矩形 3"/>
          <p:cNvSpPr/>
          <p:nvPr/>
        </p:nvSpPr>
        <p:spPr>
          <a:xfrm>
            <a:off x="705042" y="3028169"/>
            <a:ext cx="8580428" cy="65238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对于高龄患者的抗血栓药物选择及剂量和二级预防策略，应考虑肾功能和特定的禁忌证情况</a:t>
            </a:r>
            <a:endParaRPr lang="en-US" altLang="zh-CN" dirty="0">
              <a:latin typeface="Microsoft YaHei UI" panose="020B0503020204020204" pitchFamily="34" charset="-122"/>
              <a:ea typeface="Microsoft YaHei UI" panose="020B0503020204020204" pitchFamily="34" charset="-122"/>
            </a:endParaRPr>
          </a:p>
        </p:txBody>
      </p:sp>
      <p:pic>
        <p:nvPicPr>
          <p:cNvPr id="20" name="图片 19"/>
          <p:cNvPicPr>
            <a:picLocks noChangeAspect="1"/>
          </p:cNvPicPr>
          <p:nvPr/>
        </p:nvPicPr>
        <p:blipFill rotWithShape="1">
          <a:blip r:embed="rId4">
            <a:extLst>
              <a:ext uri="{28A0092B-C50C-407E-A947-70E740481C1C}">
                <a14:useLocalDpi xmlns:a14="http://schemas.microsoft.com/office/drawing/2010/main" val="0"/>
              </a:ext>
            </a:extLst>
          </a:blip>
          <a:srcRect t="42612" b="44018"/>
          <a:stretch>
            <a:fillRect/>
          </a:stretch>
        </p:blipFill>
        <p:spPr>
          <a:xfrm>
            <a:off x="9290607" y="2603586"/>
            <a:ext cx="1686380" cy="374212"/>
          </a:xfrm>
          <a:prstGeom prst="rect">
            <a:avLst/>
          </a:prstGeom>
        </p:spPr>
      </p:pic>
      <p:sp>
        <p:nvSpPr>
          <p:cNvPr id="2" name="矩形 1"/>
          <p:cNvSpPr/>
          <p:nvPr/>
        </p:nvSpPr>
        <p:spPr>
          <a:xfrm>
            <a:off x="702430" y="2202506"/>
            <a:ext cx="8580428" cy="35507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推荐对高龄患者应用</a:t>
            </a:r>
            <a:r>
              <a:rPr lang="zh-CN" altLang="en-US" b="1" dirty="0">
                <a:latin typeface="Microsoft YaHei UI" panose="020B0503020204020204" pitchFamily="34" charset="-122"/>
                <a:ea typeface="Microsoft YaHei UI" panose="020B0503020204020204" pitchFamily="34" charset="-122"/>
              </a:rPr>
              <a:t>与相对低龄患者相同的介入治疗策略</a:t>
            </a:r>
            <a:endParaRPr lang="en-US" altLang="zh-CN" dirty="0">
              <a:latin typeface="Microsoft YaHei UI" panose="020B0503020204020204" pitchFamily="34" charset="-122"/>
              <a:ea typeface="Microsoft YaHei UI" panose="020B0503020204020204" pitchFamily="34" charset="-122"/>
            </a:endParaRPr>
          </a:p>
        </p:txBody>
      </p:sp>
      <p:pic>
        <p:nvPicPr>
          <p:cNvPr id="5" name="图片 4"/>
          <p:cNvPicPr>
            <a:picLocks noChangeAspect="1"/>
          </p:cNvPicPr>
          <p:nvPr/>
        </p:nvPicPr>
        <p:blipFill rotWithShape="1">
          <a:blip r:embed="rId4">
            <a:extLst>
              <a:ext uri="{28A0092B-C50C-407E-A947-70E740481C1C}">
                <a14:useLocalDpi xmlns:a14="http://schemas.microsoft.com/office/drawing/2010/main" val="0"/>
              </a:ext>
            </a:extLst>
          </a:blip>
          <a:srcRect t="42612" b="44018"/>
          <a:stretch>
            <a:fillRect/>
          </a:stretch>
        </p:blipFill>
        <p:spPr>
          <a:xfrm>
            <a:off x="9295061" y="2193639"/>
            <a:ext cx="1686380" cy="374212"/>
          </a:xfrm>
          <a:prstGeom prst="rect">
            <a:avLst/>
          </a:prstGeom>
        </p:spPr>
      </p:pic>
      <p:pic>
        <p:nvPicPr>
          <p:cNvPr id="11" name="图片 10"/>
          <p:cNvPicPr>
            <a:picLocks noChangeAspect="1"/>
          </p:cNvPicPr>
          <p:nvPr/>
        </p:nvPicPr>
        <p:blipFill rotWithShape="1">
          <a:blip r:embed="rId4">
            <a:extLst>
              <a:ext uri="{28A0092B-C50C-407E-A947-70E740481C1C}">
                <a14:useLocalDpi xmlns:a14="http://schemas.microsoft.com/office/drawing/2010/main" val="0"/>
              </a:ext>
            </a:extLst>
          </a:blip>
          <a:srcRect t="38697" b="37375"/>
          <a:stretch>
            <a:fillRect/>
          </a:stretch>
        </p:blipFill>
        <p:spPr>
          <a:xfrm>
            <a:off x="9295061" y="3022371"/>
            <a:ext cx="1686380" cy="669730"/>
          </a:xfrm>
          <a:prstGeom prst="rect">
            <a:avLst/>
          </a:prstGeom>
        </p:spPr>
      </p:pic>
      <p:sp>
        <p:nvSpPr>
          <p:cNvPr id="12" name="文本框 11"/>
          <p:cNvSpPr txBox="1"/>
          <p:nvPr/>
        </p:nvSpPr>
        <p:spPr>
          <a:xfrm>
            <a:off x="697585" y="4381209"/>
            <a:ext cx="10279402" cy="830997"/>
          </a:xfrm>
          <a:prstGeom prst="rect">
            <a:avLst/>
          </a:prstGeom>
          <a:noFill/>
        </p:spPr>
        <p:txBody>
          <a:bodyPr wrap="square" rtlCol="0">
            <a:spAutoFit/>
          </a:bodyPr>
          <a:lstStyle/>
          <a:p>
            <a:pPr defTabSz="685800">
              <a:defRPr/>
            </a:pPr>
            <a:r>
              <a:rPr lang="zh-CN" altLang="en-US" sz="2400" b="1" dirty="0">
                <a:latin typeface="Microsoft YaHei UI" panose="020B0503020204020204" pitchFamily="34" charset="-122"/>
                <a:ea typeface="Microsoft YaHei UI" panose="020B0503020204020204" pitchFamily="34" charset="-122"/>
              </a:rPr>
              <a:t>相比于</a:t>
            </a:r>
            <a:r>
              <a:rPr lang="en-US" altLang="zh-CN" sz="2400" b="1" dirty="0">
                <a:latin typeface="Microsoft YaHei UI" panose="020B0503020204020204" pitchFamily="34" charset="-122"/>
                <a:ea typeface="Microsoft YaHei UI" panose="020B0503020204020204" pitchFamily="34" charset="-122"/>
              </a:rPr>
              <a:t>2015</a:t>
            </a:r>
            <a:r>
              <a:rPr lang="zh-CN" altLang="en-US" sz="2400" b="1" dirty="0">
                <a:latin typeface="Microsoft YaHei UI" panose="020B0503020204020204" pitchFamily="34" charset="-122"/>
                <a:ea typeface="Microsoft YaHei UI" panose="020B0503020204020204" pitchFamily="34" charset="-122"/>
              </a:rPr>
              <a:t>年</a:t>
            </a:r>
            <a:r>
              <a:rPr lang="en-US" altLang="zh-CN" sz="2400" b="1" dirty="0">
                <a:latin typeface="Microsoft YaHei UI" panose="020B0503020204020204" pitchFamily="34" charset="-122"/>
                <a:ea typeface="Microsoft YaHei UI" panose="020B0503020204020204" pitchFamily="34" charset="-122"/>
              </a:rPr>
              <a:t>NSTE-ACS</a:t>
            </a:r>
            <a:r>
              <a:rPr lang="zh-CN" altLang="en-US" sz="2400" b="1" dirty="0">
                <a:latin typeface="Microsoft YaHei UI" panose="020B0503020204020204" pitchFamily="34" charset="-122"/>
                <a:ea typeface="Microsoft YaHei UI" panose="020B0503020204020204" pitchFamily="34" charset="-122"/>
              </a:rPr>
              <a:t>指南，</a:t>
            </a:r>
            <a:r>
              <a:rPr lang="en-US" altLang="zh-CN" sz="2400" b="1" dirty="0">
                <a:latin typeface="Microsoft YaHei UI" panose="020B0503020204020204" pitchFamily="34" charset="-122"/>
                <a:ea typeface="Microsoft YaHei UI" panose="020B0503020204020204" pitchFamily="34" charset="-122"/>
              </a:rPr>
              <a:t>2020</a:t>
            </a:r>
            <a:r>
              <a:rPr lang="zh-CN" altLang="en-US" sz="2400" b="1" dirty="0">
                <a:latin typeface="Microsoft YaHei UI" panose="020B0503020204020204" pitchFamily="34" charset="-122"/>
                <a:ea typeface="Microsoft YaHei UI" panose="020B0503020204020204" pitchFamily="34" charset="-122"/>
              </a:rPr>
              <a:t>年新版指南推荐</a:t>
            </a:r>
            <a:r>
              <a:rPr lang="zh-CN" altLang="en-US" sz="2400" b="1" dirty="0">
                <a:solidFill>
                  <a:srgbClr val="C00000"/>
                </a:solidFill>
                <a:latin typeface="Microsoft YaHei UI" panose="020B0503020204020204" pitchFamily="34" charset="-122"/>
                <a:ea typeface="Microsoft YaHei UI" panose="020B0503020204020204" pitchFamily="34" charset="-122"/>
              </a:rPr>
              <a:t>对高龄患者采用更加积极的诊断及治疗策略</a:t>
            </a:r>
            <a:endParaRPr lang="en-US" altLang="zh-CN" sz="2400" b="1" dirty="0">
              <a:solidFill>
                <a:srgbClr val="C00000"/>
              </a:solidFill>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1277332"/>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1277050"/>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283177"/>
            <a:ext cx="810713" cy="658747"/>
          </a:xfrm>
          <a:prstGeom prst="rect">
            <a:avLst/>
          </a:prstGeom>
        </p:spPr>
      </p:pic>
      <p:sp>
        <p:nvSpPr>
          <p:cNvPr id="23" name="文本框 22"/>
          <p:cNvSpPr txBox="1"/>
          <p:nvPr/>
        </p:nvSpPr>
        <p:spPr>
          <a:xfrm>
            <a:off x="697585" y="1427530"/>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nvSpPr>
        <p:spPr>
          <a:xfrm>
            <a:off x="9399388" y="1284493"/>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28974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02722" y="640468"/>
            <a:ext cx="8975534"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患者长期药物管理（不含抗血栓治疗）指南推荐（</a:t>
            </a:r>
            <a:r>
              <a:rPr lang="en-US" altLang="zh-CN" sz="2400" b="1" dirty="0">
                <a:solidFill>
                  <a:srgbClr val="AE1022"/>
                </a:solidFill>
                <a:latin typeface="Microsoft YaHei UI" panose="020B0503020204020204" pitchFamily="34" charset="-122"/>
                <a:ea typeface="Microsoft YaHei UI" panose="020B0503020204020204" pitchFamily="34" charset="-122"/>
              </a:rPr>
              <a:t>1</a:t>
            </a:r>
            <a:r>
              <a:rPr lang="zh-CN" altLang="en-US" sz="2400" b="1" dirty="0">
                <a:solidFill>
                  <a:srgbClr val="AE1022"/>
                </a:solidFill>
                <a:latin typeface="Microsoft YaHei UI" panose="020B0503020204020204" pitchFamily="34" charset="-122"/>
                <a:ea typeface="Microsoft YaHei UI" panose="020B0503020204020204" pitchFamily="34" charset="-122"/>
              </a:rPr>
              <a:t>）</a:t>
            </a:r>
            <a:endParaRPr lang="zh-CN" altLang="en-US" sz="2400" b="1" dirty="0">
              <a:solidFill>
                <a:srgbClr val="AE1022"/>
              </a:solidFill>
            </a:endParaRPr>
          </a:p>
        </p:txBody>
      </p:sp>
      <p:sp>
        <p:nvSpPr>
          <p:cNvPr id="13" name="矩形 12"/>
          <p:cNvSpPr/>
          <p:nvPr/>
        </p:nvSpPr>
        <p:spPr>
          <a:xfrm>
            <a:off x="702722" y="2325488"/>
            <a:ext cx="8580428" cy="62142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推荐对所有</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患者使用他汀类药物，降脂目标为使</a:t>
            </a:r>
            <a:r>
              <a:rPr lang="en-US" altLang="zh-CN" dirty="0">
                <a:latin typeface="Microsoft YaHei UI" panose="020B0503020204020204" pitchFamily="34" charset="-122"/>
                <a:ea typeface="Microsoft YaHei UI" panose="020B0503020204020204" pitchFamily="34" charset="-122"/>
              </a:rPr>
              <a:t>LDL-C</a:t>
            </a:r>
            <a:r>
              <a:rPr lang="zh-CN" altLang="en-US" dirty="0">
                <a:latin typeface="Microsoft YaHei UI" panose="020B0503020204020204" pitchFamily="34" charset="-122"/>
                <a:ea typeface="Microsoft YaHei UI" panose="020B0503020204020204" pitchFamily="34" charset="-122"/>
              </a:rPr>
              <a:t>降低超过基线值的</a:t>
            </a:r>
            <a:r>
              <a:rPr lang="en-US" altLang="zh-CN" dirty="0">
                <a:latin typeface="Microsoft YaHei UI" panose="020B0503020204020204" pitchFamily="34" charset="-122"/>
                <a:ea typeface="Microsoft YaHei UI" panose="020B0503020204020204" pitchFamily="34" charset="-122"/>
              </a:rPr>
              <a:t>50%</a:t>
            </a:r>
            <a:r>
              <a:rPr lang="zh-CN" altLang="en-US" dirty="0">
                <a:latin typeface="Microsoft YaHei UI" panose="020B0503020204020204" pitchFamily="34" charset="-122"/>
                <a:ea typeface="Microsoft YaHei UI" panose="020B0503020204020204" pitchFamily="34" charset="-122"/>
              </a:rPr>
              <a:t>和</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或达到</a:t>
            </a:r>
            <a:r>
              <a:rPr lang="en-US" altLang="zh-CN" dirty="0">
                <a:latin typeface="Microsoft YaHei UI" panose="020B0503020204020204" pitchFamily="34" charset="-122"/>
                <a:ea typeface="Microsoft YaHei UI" panose="020B0503020204020204" pitchFamily="34" charset="-122"/>
              </a:rPr>
              <a:t>LDL-C</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1.4mmpl/L</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55mg/</a:t>
            </a:r>
            <a:r>
              <a:rPr lang="en-US" altLang="zh-CN" dirty="0" err="1">
                <a:latin typeface="Microsoft YaHei UI" panose="020B0503020204020204" pitchFamily="34" charset="-122"/>
                <a:ea typeface="Microsoft YaHei UI" panose="020B0503020204020204" pitchFamily="34" charset="-122"/>
              </a:rPr>
              <a:t>dL</a:t>
            </a:r>
            <a:r>
              <a:rPr lang="zh-CN" altLang="en-US" dirty="0">
                <a:latin typeface="Microsoft YaHei UI" panose="020B0503020204020204" pitchFamily="34" charset="-122"/>
                <a:ea typeface="Microsoft YaHei UI" panose="020B0503020204020204" pitchFamily="34" charset="-122"/>
              </a:rPr>
              <a:t>）</a:t>
            </a:r>
            <a:endParaRPr lang="en-US" altLang="zh-CN" dirty="0">
              <a:latin typeface="Microsoft YaHei UI" panose="020B0503020204020204" pitchFamily="34" charset="-122"/>
              <a:ea typeface="Microsoft YaHei UI" panose="020B0503020204020204" pitchFamily="34" charset="-122"/>
            </a:endParaRPr>
          </a:p>
        </p:txBody>
      </p:sp>
      <p:sp>
        <p:nvSpPr>
          <p:cNvPr id="17" name="矩形 16"/>
          <p:cNvSpPr/>
          <p:nvPr/>
        </p:nvSpPr>
        <p:spPr>
          <a:xfrm>
            <a:off x="703097" y="3011059"/>
            <a:ext cx="8580428" cy="35507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如应用最大耐受剂量的他汀类药物</a:t>
            </a:r>
            <a:r>
              <a:rPr lang="en-US" altLang="zh-CN" dirty="0">
                <a:latin typeface="Microsoft YaHei UI" panose="020B0503020204020204" pitchFamily="34" charset="-122"/>
                <a:ea typeface="Microsoft YaHei UI" panose="020B0503020204020204" pitchFamily="34" charset="-122"/>
              </a:rPr>
              <a:t>4-6</a:t>
            </a:r>
            <a:r>
              <a:rPr lang="zh-CN" altLang="en-US" dirty="0">
                <a:latin typeface="Microsoft YaHei UI" panose="020B0503020204020204" pitchFamily="34" charset="-122"/>
                <a:ea typeface="Microsoft YaHei UI" panose="020B0503020204020204" pitchFamily="34" charset="-122"/>
              </a:rPr>
              <a:t>周后</a:t>
            </a:r>
            <a:r>
              <a:rPr lang="en-US" altLang="zh-CN" dirty="0">
                <a:latin typeface="Microsoft YaHei UI" panose="020B0503020204020204" pitchFamily="34" charset="-122"/>
                <a:ea typeface="Microsoft YaHei UI" panose="020B0503020204020204" pitchFamily="34" charset="-122"/>
              </a:rPr>
              <a:t>LDL-C</a:t>
            </a:r>
            <a:r>
              <a:rPr lang="zh-CN" altLang="en-US" dirty="0">
                <a:latin typeface="Microsoft YaHei UI" panose="020B0503020204020204" pitchFamily="34" charset="-122"/>
                <a:ea typeface="Microsoft YaHei UI" panose="020B0503020204020204" pitchFamily="34" charset="-122"/>
              </a:rPr>
              <a:t>仍未达标，推荐联合应用依折麦布</a:t>
            </a:r>
            <a:endParaRPr lang="en-US" altLang="zh-CN" dirty="0">
              <a:latin typeface="Microsoft YaHei UI" panose="020B0503020204020204" pitchFamily="34" charset="-122"/>
              <a:ea typeface="Microsoft YaHei UI" panose="020B0503020204020204" pitchFamily="34" charset="-122"/>
            </a:endParaRPr>
          </a:p>
        </p:txBody>
      </p:sp>
      <p:sp>
        <p:nvSpPr>
          <p:cNvPr id="7" name="矩形 6"/>
          <p:cNvSpPr/>
          <p:nvPr/>
        </p:nvSpPr>
        <p:spPr>
          <a:xfrm>
            <a:off x="692497" y="4946001"/>
            <a:ext cx="8580428" cy="93554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baseline="0" dirty="0">
                <a:latin typeface="Microsoft YaHei UI" panose="020B0503020204020204" pitchFamily="34" charset="-122"/>
                <a:ea typeface="Microsoft YaHei UI" panose="020B0503020204020204" pitchFamily="34" charset="-122"/>
              </a:rPr>
              <a:t>为减少全因死亡、心血管疾病死亡率及发病率，对于</a:t>
            </a:r>
            <a:r>
              <a:rPr lang="en-US" altLang="zh-CN" sz="1800" baseline="0" dirty="0">
                <a:latin typeface="Microsoft YaHei UI" panose="020B0503020204020204" pitchFamily="34" charset="-122"/>
                <a:ea typeface="Microsoft YaHei UI" panose="020B0503020204020204" pitchFamily="34" charset="-122"/>
              </a:rPr>
              <a:t>LVEF</a:t>
            </a:r>
            <a:r>
              <a:rPr lang="zh-CN" altLang="en-US" sz="1800" baseline="0" dirty="0">
                <a:latin typeface="Microsoft YaHei UI" panose="020B0503020204020204" pitchFamily="34" charset="-122"/>
                <a:ea typeface="Microsoft YaHei UI" panose="020B0503020204020204" pitchFamily="34" charset="-122"/>
              </a:rPr>
              <a:t>＜</a:t>
            </a:r>
            <a:r>
              <a:rPr lang="en-US" altLang="zh-CN" sz="1800" baseline="0" dirty="0">
                <a:latin typeface="Microsoft YaHei UI" panose="020B0503020204020204" pitchFamily="34" charset="-122"/>
                <a:ea typeface="Microsoft YaHei UI" panose="020B0503020204020204" pitchFamily="34" charset="-122"/>
              </a:rPr>
              <a:t>40%</a:t>
            </a:r>
            <a:r>
              <a:rPr lang="zh-CN" altLang="en-US" sz="1800" baseline="0" dirty="0">
                <a:latin typeface="Microsoft YaHei UI" panose="020B0503020204020204" pitchFamily="34" charset="-122"/>
                <a:ea typeface="Microsoft YaHei UI" panose="020B0503020204020204" pitchFamily="34" charset="-122"/>
              </a:rPr>
              <a:t>，合并糖尿病或慢性肾脏病的心衰患者，除存在禁忌证（如严重肾功能损害，高钾血症等）外，推荐使用</a:t>
            </a:r>
            <a:r>
              <a:rPr lang="en-US" altLang="zh-CN" sz="1800" baseline="0" dirty="0">
                <a:latin typeface="Microsoft YaHei UI" panose="020B0503020204020204" pitchFamily="34" charset="-122"/>
                <a:ea typeface="Microsoft YaHei UI" panose="020B0503020204020204" pitchFamily="34" charset="-122"/>
              </a:rPr>
              <a:t>ACEI</a:t>
            </a:r>
            <a:r>
              <a:rPr lang="zh-CN" altLang="en-US" sz="1800" baseline="0"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如对</a:t>
            </a:r>
            <a:r>
              <a:rPr lang="en-US" altLang="zh-CN" dirty="0">
                <a:latin typeface="Microsoft YaHei UI" panose="020B0503020204020204" pitchFamily="34" charset="-122"/>
                <a:ea typeface="Microsoft YaHei UI" panose="020B0503020204020204" pitchFamily="34" charset="-122"/>
              </a:rPr>
              <a:t>ACEI</a:t>
            </a:r>
            <a:r>
              <a:rPr lang="zh-CN" altLang="en-US" dirty="0">
                <a:latin typeface="Microsoft YaHei UI" panose="020B0503020204020204" pitchFamily="34" charset="-122"/>
                <a:ea typeface="Microsoft YaHei UI" panose="020B0503020204020204" pitchFamily="34" charset="-122"/>
              </a:rPr>
              <a:t>不能耐受则使用</a:t>
            </a:r>
            <a:r>
              <a:rPr lang="en-US" altLang="zh-CN" dirty="0">
                <a:latin typeface="Microsoft YaHei UI" panose="020B0503020204020204" pitchFamily="34" charset="-122"/>
                <a:ea typeface="Microsoft YaHei UI" panose="020B0503020204020204" pitchFamily="34" charset="-122"/>
              </a:rPr>
              <a:t>ARB</a:t>
            </a:r>
            <a:r>
              <a:rPr lang="zh-CN" altLang="en-US" sz="1800" baseline="0" dirty="0">
                <a:latin typeface="Microsoft YaHei UI" panose="020B0503020204020204" pitchFamily="34" charset="-122"/>
                <a:ea typeface="Microsoft YaHei UI" panose="020B0503020204020204" pitchFamily="34" charset="-122"/>
              </a:rPr>
              <a:t>）</a:t>
            </a:r>
            <a:endParaRPr lang="en-US" altLang="zh-CN" sz="1800" baseline="0" dirty="0">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990" y="1933186"/>
            <a:ext cx="10248169" cy="375008"/>
          </a:xfrm>
          <a:prstGeom prst="rect">
            <a:avLst/>
          </a:prstGeom>
        </p:spPr>
      </p:pic>
      <p:sp>
        <p:nvSpPr>
          <p:cNvPr id="5" name="文本框 4"/>
          <p:cNvSpPr txBox="1"/>
          <p:nvPr/>
        </p:nvSpPr>
        <p:spPr>
          <a:xfrm>
            <a:off x="682223" y="1932216"/>
            <a:ext cx="2749345"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降脂治疗</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369" y="4540100"/>
            <a:ext cx="10260226" cy="375008"/>
          </a:xfrm>
          <a:prstGeom prst="rect">
            <a:avLst/>
          </a:prstGeom>
        </p:spPr>
      </p:pic>
      <p:sp>
        <p:nvSpPr>
          <p:cNvPr id="14" name="文本框 13"/>
          <p:cNvSpPr txBox="1"/>
          <p:nvPr/>
        </p:nvSpPr>
        <p:spPr>
          <a:xfrm>
            <a:off x="657546" y="4539130"/>
            <a:ext cx="3970962"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ACEI</a:t>
            </a:r>
            <a:r>
              <a:rPr lang="zh-CN" altLang="en-US" b="1" dirty="0">
                <a:latin typeface="Microsoft YaHei UI" panose="020B0503020204020204" pitchFamily="34" charset="-122"/>
                <a:ea typeface="Microsoft YaHei UI" panose="020B0503020204020204" pitchFamily="34" charset="-122"/>
              </a:rPr>
              <a:t>或</a:t>
            </a:r>
            <a:r>
              <a:rPr lang="en-US" altLang="zh-CN" b="1" dirty="0">
                <a:latin typeface="Microsoft YaHei UI" panose="020B0503020204020204" pitchFamily="34" charset="-122"/>
                <a:ea typeface="Microsoft YaHei UI" panose="020B0503020204020204" pitchFamily="34" charset="-122"/>
              </a:rPr>
              <a:t>ARB</a:t>
            </a:r>
            <a:endParaRPr lang="zh-CN" altLang="en-US" b="1" dirty="0">
              <a:latin typeface="Microsoft YaHei UI" panose="020B0503020204020204" pitchFamily="34" charset="-122"/>
              <a:ea typeface="Microsoft YaHei UI" panose="020B0503020204020204" pitchFamily="34" charset="-122"/>
            </a:endParaRPr>
          </a:p>
        </p:txBody>
      </p:sp>
      <p:sp>
        <p:nvSpPr>
          <p:cNvPr id="9" name="矩形 8"/>
          <p:cNvSpPr/>
          <p:nvPr/>
        </p:nvSpPr>
        <p:spPr>
          <a:xfrm>
            <a:off x="698643" y="3420775"/>
            <a:ext cx="8580428" cy="36731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如最大耐受剂量他汀类药物联合依折麦布</a:t>
            </a:r>
            <a:r>
              <a:rPr lang="en-US" altLang="zh-CN" dirty="0">
                <a:latin typeface="Microsoft YaHei UI" panose="020B0503020204020204" pitchFamily="34" charset="-122"/>
                <a:ea typeface="Microsoft YaHei UI" panose="020B0503020204020204" pitchFamily="34" charset="-122"/>
              </a:rPr>
              <a:t>4-6</a:t>
            </a:r>
            <a:r>
              <a:rPr lang="zh-CN" altLang="en-US" dirty="0">
                <a:latin typeface="Microsoft YaHei UI" panose="020B0503020204020204" pitchFamily="34" charset="-122"/>
                <a:ea typeface="Microsoft YaHei UI" panose="020B0503020204020204" pitchFamily="34" charset="-122"/>
              </a:rPr>
              <a:t>周后仍未达标，推荐加用</a:t>
            </a:r>
            <a:r>
              <a:rPr lang="en-US" altLang="zh-CN" dirty="0">
                <a:latin typeface="Microsoft YaHei UI" panose="020B0503020204020204" pitchFamily="34" charset="-122"/>
                <a:ea typeface="Microsoft YaHei UI" panose="020B0503020204020204" pitchFamily="34" charset="-122"/>
              </a:rPr>
              <a:t>PCSK9</a:t>
            </a:r>
            <a:r>
              <a:rPr lang="zh-CN" altLang="en-US" dirty="0">
                <a:latin typeface="Microsoft YaHei UI" panose="020B0503020204020204" pitchFamily="34" charset="-122"/>
                <a:ea typeface="Microsoft YaHei UI" panose="020B0503020204020204" pitchFamily="34" charset="-122"/>
              </a:rPr>
              <a:t>抑制剂</a:t>
            </a:r>
            <a:endParaRPr lang="en-US" altLang="zh-CN" dirty="0">
              <a:latin typeface="Microsoft YaHei UI" panose="020B0503020204020204" pitchFamily="34" charset="-122"/>
              <a:ea typeface="Microsoft YaHei UI" panose="020B0503020204020204" pitchFamily="34" charset="-122"/>
            </a:endParaRPr>
          </a:p>
        </p:txBody>
      </p:sp>
      <p:sp>
        <p:nvSpPr>
          <p:cNvPr id="20" name="矩形 19"/>
          <p:cNvSpPr/>
          <p:nvPr/>
        </p:nvSpPr>
        <p:spPr>
          <a:xfrm>
            <a:off x="697585" y="3844483"/>
            <a:ext cx="8580428" cy="65958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对于首次</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发作后不到</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年内复发</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，且同时接受了最大耐受剂量他汀类药物治疗的患者，可考虑将</a:t>
            </a:r>
            <a:r>
              <a:rPr lang="en-US" altLang="zh-CN" dirty="0">
                <a:latin typeface="Microsoft YaHei UI" panose="020B0503020204020204" pitchFamily="34" charset="-122"/>
                <a:ea typeface="Microsoft YaHei UI" panose="020B0503020204020204" pitchFamily="34" charset="-122"/>
              </a:rPr>
              <a:t>LDL-C</a:t>
            </a:r>
            <a:r>
              <a:rPr lang="zh-CN" altLang="en-US" dirty="0">
                <a:latin typeface="Microsoft YaHei UI" panose="020B0503020204020204" pitchFamily="34" charset="-122"/>
                <a:ea typeface="Microsoft YaHei UI" panose="020B0503020204020204" pitchFamily="34" charset="-122"/>
              </a:rPr>
              <a:t>目标设定为＜</a:t>
            </a:r>
            <a:r>
              <a:rPr lang="en-US" altLang="zh-CN" dirty="0">
                <a:latin typeface="Microsoft YaHei UI" panose="020B0503020204020204" pitchFamily="34" charset="-122"/>
                <a:ea typeface="Microsoft YaHei UI" panose="020B0503020204020204" pitchFamily="34" charset="-122"/>
              </a:rPr>
              <a:t>1.0mmol/L</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40mg/</a:t>
            </a:r>
            <a:r>
              <a:rPr lang="en-US" altLang="zh-CN" dirty="0" err="1">
                <a:latin typeface="Microsoft YaHei UI" panose="020B0503020204020204" pitchFamily="34" charset="-122"/>
                <a:ea typeface="Microsoft YaHei UI" panose="020B0503020204020204" pitchFamily="34" charset="-122"/>
              </a:rPr>
              <a:t>dL</a:t>
            </a:r>
            <a:r>
              <a:rPr lang="zh-CN" altLang="en-US" dirty="0">
                <a:latin typeface="Microsoft YaHei UI" panose="020B0503020204020204" pitchFamily="34" charset="-122"/>
                <a:ea typeface="Microsoft YaHei UI" panose="020B0503020204020204" pitchFamily="34" charset="-122"/>
              </a:rPr>
              <a:t>）</a:t>
            </a:r>
            <a:endParaRPr lang="en-US" altLang="zh-CN" dirty="0">
              <a:latin typeface="Microsoft YaHei UI" panose="020B0503020204020204" pitchFamily="34" charset="-122"/>
              <a:ea typeface="Microsoft YaHei UI" panose="020B0503020204020204" pitchFamily="34" charset="-122"/>
            </a:endParaRPr>
          </a:p>
        </p:txBody>
      </p:sp>
      <p:pic>
        <p:nvPicPr>
          <p:cNvPr id="25" name="图片 24"/>
          <p:cNvPicPr>
            <a:picLocks noChangeAspect="1"/>
          </p:cNvPicPr>
          <p:nvPr/>
        </p:nvPicPr>
        <p:blipFill rotWithShape="1">
          <a:blip r:embed="rId4">
            <a:extLst>
              <a:ext uri="{28A0092B-C50C-407E-A947-70E740481C1C}">
                <a14:useLocalDpi xmlns:a14="http://schemas.microsoft.com/office/drawing/2010/main" val="0"/>
              </a:ext>
            </a:extLst>
          </a:blip>
          <a:srcRect t="42612" b="44018"/>
          <a:stretch>
            <a:fillRect/>
          </a:stretch>
        </p:blipFill>
        <p:spPr>
          <a:xfrm>
            <a:off x="9283150" y="2993356"/>
            <a:ext cx="1686380" cy="374212"/>
          </a:xfrm>
          <a:prstGeom prst="rect">
            <a:avLst/>
          </a:prstGeom>
        </p:spPr>
      </p:pic>
      <p:pic>
        <p:nvPicPr>
          <p:cNvPr id="33" name="图片 32"/>
          <p:cNvPicPr>
            <a:picLocks noChangeAspect="1"/>
          </p:cNvPicPr>
          <p:nvPr/>
        </p:nvPicPr>
        <p:blipFill rotWithShape="1">
          <a:blip r:embed="rId5">
            <a:extLst>
              <a:ext uri="{28A0092B-C50C-407E-A947-70E740481C1C}">
                <a14:useLocalDpi xmlns:a14="http://schemas.microsoft.com/office/drawing/2010/main" val="0"/>
              </a:ext>
            </a:extLst>
          </a:blip>
          <a:srcRect t="72521" b="18406"/>
          <a:stretch>
            <a:fillRect/>
          </a:stretch>
        </p:blipFill>
        <p:spPr>
          <a:xfrm>
            <a:off x="9283150" y="2322495"/>
            <a:ext cx="1686380" cy="627459"/>
          </a:xfrm>
          <a:prstGeom prst="rect">
            <a:avLst/>
          </a:prstGeom>
        </p:spPr>
      </p:pic>
      <p:pic>
        <p:nvPicPr>
          <p:cNvPr id="35" name="图片 34"/>
          <p:cNvPicPr>
            <a:picLocks noChangeAspect="1"/>
          </p:cNvPicPr>
          <p:nvPr/>
        </p:nvPicPr>
        <p:blipFill rotWithShape="1">
          <a:blip r:embed="rId4">
            <a:extLst>
              <a:ext uri="{28A0092B-C50C-407E-A947-70E740481C1C}">
                <a14:useLocalDpi xmlns:a14="http://schemas.microsoft.com/office/drawing/2010/main" val="0"/>
              </a:ext>
            </a:extLst>
          </a:blip>
          <a:srcRect t="42612" b="44018"/>
          <a:stretch>
            <a:fillRect/>
          </a:stretch>
        </p:blipFill>
        <p:spPr>
          <a:xfrm>
            <a:off x="9283150" y="3416440"/>
            <a:ext cx="1686380" cy="374212"/>
          </a:xfrm>
          <a:prstGeom prst="rect">
            <a:avLst/>
          </a:prstGeom>
        </p:spPr>
      </p:pic>
      <p:pic>
        <p:nvPicPr>
          <p:cNvPr id="37" name="图片 36"/>
          <p:cNvPicPr>
            <a:picLocks noChangeAspect="1"/>
          </p:cNvPicPr>
          <p:nvPr/>
        </p:nvPicPr>
        <p:blipFill rotWithShape="1">
          <a:blip r:embed="rId6">
            <a:extLst>
              <a:ext uri="{28A0092B-C50C-407E-A947-70E740481C1C}">
                <a14:useLocalDpi xmlns:a14="http://schemas.microsoft.com/office/drawing/2010/main" val="0"/>
              </a:ext>
            </a:extLst>
          </a:blip>
          <a:srcRect t="24782" b="27927"/>
          <a:stretch>
            <a:fillRect/>
          </a:stretch>
        </p:blipFill>
        <p:spPr>
          <a:xfrm>
            <a:off x="9297083" y="3844483"/>
            <a:ext cx="1668788" cy="659587"/>
          </a:xfrm>
          <a:prstGeom prst="rect">
            <a:avLst/>
          </a:prstGeom>
        </p:spPr>
      </p:pic>
      <p:pic>
        <p:nvPicPr>
          <p:cNvPr id="39" name="图片 38"/>
          <p:cNvPicPr>
            <a:picLocks noChangeAspect="1"/>
          </p:cNvPicPr>
          <p:nvPr/>
        </p:nvPicPr>
        <p:blipFill rotWithShape="1">
          <a:blip r:embed="rId7">
            <a:extLst>
              <a:ext uri="{28A0092B-C50C-407E-A947-70E740481C1C}">
                <a14:useLocalDpi xmlns:a14="http://schemas.microsoft.com/office/drawing/2010/main" val="0"/>
              </a:ext>
            </a:extLst>
          </a:blip>
          <a:srcRect t="29530" b="27162"/>
          <a:stretch>
            <a:fillRect/>
          </a:stretch>
        </p:blipFill>
        <p:spPr>
          <a:xfrm>
            <a:off x="9295380" y="4942636"/>
            <a:ext cx="1668627" cy="938914"/>
          </a:xfrm>
          <a:prstGeom prst="rect">
            <a:avLst/>
          </a:prstGeom>
        </p:spPr>
      </p:pic>
      <p:sp>
        <p:nvSpPr>
          <p:cNvPr id="41" name="矩形 40"/>
          <p:cNvSpPr/>
          <p:nvPr/>
        </p:nvSpPr>
        <p:spPr>
          <a:xfrm>
            <a:off x="1022954" y="6352134"/>
            <a:ext cx="2968556" cy="3788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ACEI</a:t>
            </a:r>
            <a:r>
              <a:rPr lang="zh-CN" altLang="en-US" sz="1400" dirty="0">
                <a:solidFill>
                  <a:schemeClr val="tx1"/>
                </a:solidFill>
                <a:latin typeface="Microsoft YaHei UI" panose="020B0503020204020204" pitchFamily="34" charset="-122"/>
                <a:ea typeface="Microsoft YaHei UI" panose="020B0503020204020204" pitchFamily="34" charset="-122"/>
              </a:rPr>
              <a:t>：血管紧张素转换酶抑制剂</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r>
              <a:rPr lang="en-US" altLang="zh-CN" sz="1400" dirty="0">
                <a:solidFill>
                  <a:schemeClr val="tx1"/>
                </a:solidFill>
                <a:latin typeface="Microsoft YaHei UI" panose="020B0503020204020204" pitchFamily="34" charset="-122"/>
                <a:ea typeface="Microsoft YaHei UI" panose="020B0503020204020204" pitchFamily="34" charset="-122"/>
              </a:rPr>
              <a:t>ARB</a:t>
            </a:r>
            <a:r>
              <a:rPr lang="zh-CN" altLang="en-US" sz="1400" dirty="0">
                <a:solidFill>
                  <a:schemeClr val="tx1"/>
                </a:solidFill>
                <a:latin typeface="Microsoft YaHei UI" panose="020B0503020204020204" pitchFamily="34" charset="-122"/>
                <a:ea typeface="Microsoft YaHei UI" panose="020B0503020204020204" pitchFamily="34" charset="-122"/>
              </a:rPr>
              <a:t>：血管紧张素受体拮抗剂</a:t>
            </a:r>
            <a:endParaRPr lang="en-US" altLang="zh-CN" sz="1400" dirty="0">
              <a:solidFill>
                <a:schemeClr val="tx1"/>
              </a:solidFill>
              <a:latin typeface="Microsoft YaHei UI" panose="020B0503020204020204" pitchFamily="34" charset="-122"/>
              <a:ea typeface="Microsoft YaHei UI" panose="020B0503020204020204" pitchFamily="34" charset="-122"/>
            </a:endParaRPr>
          </a:p>
          <a:p>
            <a:r>
              <a:rPr lang="en-US" altLang="zh-CN" sz="1400" dirty="0">
                <a:solidFill>
                  <a:schemeClr val="tx1"/>
                </a:solidFill>
                <a:latin typeface="Microsoft YaHei UI" panose="020B0503020204020204" pitchFamily="34" charset="-122"/>
                <a:ea typeface="Microsoft YaHei UI" panose="020B0503020204020204" pitchFamily="34" charset="-122"/>
              </a:rPr>
              <a:t>LVEF</a:t>
            </a:r>
            <a:r>
              <a:rPr lang="zh-CN" altLang="en-US" sz="1400" dirty="0">
                <a:solidFill>
                  <a:schemeClr val="tx1"/>
                </a:solidFill>
                <a:latin typeface="Microsoft YaHei UI" panose="020B0503020204020204" pitchFamily="34" charset="-122"/>
                <a:ea typeface="Microsoft YaHei UI" panose="020B0503020204020204" pitchFamily="34" charset="-122"/>
              </a:rPr>
              <a:t>：左心室射血分数</a:t>
            </a:r>
            <a:endParaRPr lang="zh-CN" altLang="en-US" sz="1400" baseline="30000" dirty="0">
              <a:solidFill>
                <a:schemeClr val="tx1"/>
              </a:solidFill>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585" y="1282469"/>
            <a:ext cx="8590118" cy="669729"/>
          </a:xfrm>
          <a:prstGeom prst="rect">
            <a:avLst/>
          </a:prstGeom>
        </p:spPr>
      </p:pic>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19484" y="1282187"/>
            <a:ext cx="788182" cy="664874"/>
          </a:xfrm>
          <a:prstGeom prst="rect">
            <a:avLst/>
          </a:prstGeom>
        </p:spPr>
      </p:pic>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8156" y="1288314"/>
            <a:ext cx="810713" cy="658747"/>
          </a:xfrm>
          <a:prstGeom prst="rect">
            <a:avLst/>
          </a:prstGeom>
        </p:spPr>
      </p:pic>
      <p:sp>
        <p:nvSpPr>
          <p:cNvPr id="23" name="文本框 22"/>
          <p:cNvSpPr txBox="1"/>
          <p:nvPr/>
        </p:nvSpPr>
        <p:spPr>
          <a:xfrm>
            <a:off x="697585" y="1432667"/>
            <a:ext cx="239152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a:t>
            </a:r>
          </a:p>
        </p:txBody>
      </p:sp>
      <p:sp>
        <p:nvSpPr>
          <p:cNvPr id="8" name="文本框 7"/>
          <p:cNvSpPr txBox="1"/>
          <p:nvPr>
            <p:custDataLst>
              <p:tags r:id="rId1"/>
            </p:custDataLst>
          </p:nvPr>
        </p:nvSpPr>
        <p:spPr>
          <a:xfrm>
            <a:off x="9399388" y="1294880"/>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294880"/>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02722" y="640468"/>
            <a:ext cx="8975534"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患者长期药物管理（不含抗血栓治疗）指南推荐（</a:t>
            </a:r>
            <a:r>
              <a:rPr lang="en-US" altLang="zh-CN" sz="2400" b="1" dirty="0">
                <a:solidFill>
                  <a:srgbClr val="AE1022"/>
                </a:solidFill>
                <a:latin typeface="Microsoft YaHei UI" panose="020B0503020204020204" pitchFamily="34" charset="-122"/>
                <a:ea typeface="Microsoft YaHei UI" panose="020B0503020204020204" pitchFamily="34" charset="-122"/>
              </a:rPr>
              <a:t>2</a:t>
            </a:r>
            <a:r>
              <a:rPr lang="zh-CN" altLang="en-US" sz="2400" b="1" dirty="0">
                <a:solidFill>
                  <a:srgbClr val="AE1022"/>
                </a:solidFill>
                <a:latin typeface="Microsoft YaHei UI" panose="020B0503020204020204" pitchFamily="34" charset="-122"/>
                <a:ea typeface="Microsoft YaHei UI" panose="020B0503020204020204" pitchFamily="34" charset="-122"/>
              </a:rPr>
              <a:t>）</a:t>
            </a:r>
            <a:endParaRPr lang="zh-CN" altLang="en-US" sz="2400" b="1" dirty="0">
              <a:solidFill>
                <a:srgbClr val="AE1022"/>
              </a:solidFill>
            </a:endParaRPr>
          </a:p>
        </p:txBody>
      </p:sp>
      <p:sp>
        <p:nvSpPr>
          <p:cNvPr id="17" name="矩形 16"/>
          <p:cNvSpPr/>
          <p:nvPr/>
        </p:nvSpPr>
        <p:spPr>
          <a:xfrm>
            <a:off x="702722" y="2338036"/>
            <a:ext cx="8580428" cy="37342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推荐对左心室功能不全或心衰伴</a:t>
            </a:r>
            <a:r>
              <a:rPr lang="en-US" altLang="zh-CN" dirty="0">
                <a:latin typeface="Microsoft YaHei UI" panose="020B0503020204020204" pitchFamily="34" charset="-122"/>
                <a:ea typeface="Microsoft YaHei UI" panose="020B0503020204020204" pitchFamily="34" charset="-122"/>
              </a:rPr>
              <a:t>LVEF</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40%</a:t>
            </a:r>
            <a:r>
              <a:rPr lang="zh-CN" altLang="en-US" dirty="0">
                <a:latin typeface="Microsoft YaHei UI" panose="020B0503020204020204" pitchFamily="34" charset="-122"/>
                <a:ea typeface="Microsoft YaHei UI" panose="020B0503020204020204" pitchFamily="34" charset="-122"/>
              </a:rPr>
              <a:t>的患者使用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a:t>
            </a:r>
            <a:endParaRPr lang="en-US" altLang="zh-CN" dirty="0">
              <a:latin typeface="Microsoft YaHei UI" panose="020B0503020204020204" pitchFamily="34" charset="-122"/>
              <a:ea typeface="Microsoft YaHei UI" panose="020B0503020204020204" pitchFamily="34" charset="-122"/>
            </a:endParaRPr>
          </a:p>
        </p:txBody>
      </p:sp>
      <p:sp>
        <p:nvSpPr>
          <p:cNvPr id="7" name="矩形 6"/>
          <p:cNvSpPr/>
          <p:nvPr/>
        </p:nvSpPr>
        <p:spPr>
          <a:xfrm>
            <a:off x="692497" y="4899768"/>
            <a:ext cx="8580428" cy="62607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baseline="0" dirty="0">
                <a:latin typeface="Microsoft YaHei UI" panose="020B0503020204020204" pitchFamily="34" charset="-122"/>
                <a:ea typeface="Microsoft YaHei UI" panose="020B0503020204020204" pitchFamily="34" charset="-122"/>
              </a:rPr>
              <a:t>为减少胃出血的风险，推荐对接受阿司匹林单药治疗，</a:t>
            </a:r>
            <a:r>
              <a:rPr lang="en-US" altLang="zh-CN" sz="1800" baseline="0" dirty="0">
                <a:latin typeface="Microsoft YaHei UI" panose="020B0503020204020204" pitchFamily="34" charset="-122"/>
                <a:ea typeface="Microsoft YaHei UI" panose="020B0503020204020204" pitchFamily="34" charset="-122"/>
              </a:rPr>
              <a:t>DAPT</a:t>
            </a:r>
            <a:r>
              <a:rPr lang="zh-CN" altLang="en-US" sz="1800" baseline="0" dirty="0">
                <a:latin typeface="Microsoft YaHei UI" panose="020B0503020204020204" pitchFamily="34" charset="-122"/>
                <a:ea typeface="Microsoft YaHei UI" panose="020B0503020204020204" pitchFamily="34" charset="-122"/>
              </a:rPr>
              <a:t>，</a:t>
            </a:r>
            <a:r>
              <a:rPr lang="en-US" altLang="zh-CN" sz="1800" baseline="0" dirty="0">
                <a:latin typeface="Microsoft YaHei UI" panose="020B0503020204020204" pitchFamily="34" charset="-122"/>
                <a:ea typeface="Microsoft YaHei UI" panose="020B0503020204020204" pitchFamily="34" charset="-122"/>
              </a:rPr>
              <a:t>DAT</a:t>
            </a:r>
            <a:r>
              <a:rPr lang="zh-CN" altLang="en-US" sz="1800" baseline="0" dirty="0">
                <a:latin typeface="Microsoft YaHei UI" panose="020B0503020204020204" pitchFamily="34" charset="-122"/>
                <a:ea typeface="Microsoft YaHei UI" panose="020B0503020204020204" pitchFamily="34" charset="-122"/>
              </a:rPr>
              <a:t>，</a:t>
            </a:r>
            <a:r>
              <a:rPr lang="en-US" altLang="zh-CN" sz="1800" baseline="0" dirty="0">
                <a:latin typeface="Microsoft YaHei UI" panose="020B0503020204020204" pitchFamily="34" charset="-122"/>
                <a:ea typeface="Microsoft YaHei UI" panose="020B0503020204020204" pitchFamily="34" charset="-122"/>
              </a:rPr>
              <a:t>TAT</a:t>
            </a:r>
            <a:r>
              <a:rPr lang="zh-CN" altLang="en-US" sz="1800" baseline="0" dirty="0">
                <a:latin typeface="Microsoft YaHei UI" panose="020B0503020204020204" pitchFamily="34" charset="-122"/>
                <a:ea typeface="Microsoft YaHei UI" panose="020B0503020204020204" pitchFamily="34" charset="-122"/>
              </a:rPr>
              <a:t>或口服抗凝药单药治疗的高胃肠道出血风险患者同时应用</a:t>
            </a:r>
            <a:r>
              <a:rPr lang="zh-CN" altLang="en-US" dirty="0">
                <a:latin typeface="Microsoft YaHei UI" panose="020B0503020204020204" pitchFamily="34" charset="-122"/>
                <a:ea typeface="Microsoft YaHei UI" panose="020B0503020204020204" pitchFamily="34" charset="-122"/>
              </a:rPr>
              <a:t>一种</a:t>
            </a:r>
            <a:r>
              <a:rPr lang="en-US" altLang="zh-CN" dirty="0">
                <a:latin typeface="Microsoft YaHei UI" panose="020B0503020204020204" pitchFamily="34" charset="-122"/>
                <a:ea typeface="Microsoft YaHei UI" panose="020B0503020204020204" pitchFamily="34" charset="-122"/>
              </a:rPr>
              <a:t>PPI</a:t>
            </a:r>
            <a:r>
              <a:rPr lang="zh-CN" altLang="en-US" dirty="0">
                <a:latin typeface="Microsoft YaHei UI" panose="020B0503020204020204" pitchFamily="34" charset="-122"/>
                <a:ea typeface="Microsoft YaHei UI" panose="020B0503020204020204" pitchFamily="34" charset="-122"/>
              </a:rPr>
              <a:t>治疗</a:t>
            </a:r>
            <a:endParaRPr lang="en-US" altLang="zh-CN" sz="1800" baseline="0" dirty="0">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853" y="1938323"/>
            <a:ext cx="10260016" cy="375008"/>
          </a:xfrm>
          <a:prstGeom prst="rect">
            <a:avLst/>
          </a:prstGeom>
        </p:spPr>
      </p:pic>
      <p:sp>
        <p:nvSpPr>
          <p:cNvPr id="5" name="文本框 4"/>
          <p:cNvSpPr txBox="1"/>
          <p:nvPr/>
        </p:nvSpPr>
        <p:spPr>
          <a:xfrm>
            <a:off x="682223" y="1937353"/>
            <a:ext cx="2749345"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β</a:t>
            </a:r>
            <a:r>
              <a:rPr lang="zh-CN" altLang="en-US" b="1" dirty="0">
                <a:latin typeface="Microsoft YaHei UI" panose="020B0503020204020204" pitchFamily="34" charset="-122"/>
                <a:ea typeface="Microsoft YaHei UI" panose="020B0503020204020204" pitchFamily="34" charset="-122"/>
              </a:rPr>
              <a:t>受体阻滞剂</a:t>
            </a:r>
          </a:p>
        </p:txBody>
      </p:sp>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369" y="3466460"/>
            <a:ext cx="10260226" cy="375008"/>
          </a:xfrm>
          <a:prstGeom prst="rect">
            <a:avLst/>
          </a:prstGeom>
        </p:spPr>
      </p:pic>
      <p:sp>
        <p:nvSpPr>
          <p:cNvPr id="14" name="文本框 13"/>
          <p:cNvSpPr txBox="1"/>
          <p:nvPr/>
        </p:nvSpPr>
        <p:spPr>
          <a:xfrm>
            <a:off x="657546" y="3465490"/>
            <a:ext cx="39709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醛固酮受体拮抗剂（</a:t>
            </a:r>
            <a:r>
              <a:rPr lang="en-US" altLang="zh-CN" b="1" dirty="0">
                <a:latin typeface="Microsoft YaHei UI" panose="020B0503020204020204" pitchFamily="34" charset="-122"/>
                <a:ea typeface="Microsoft YaHei UI" panose="020B0503020204020204" pitchFamily="34" charset="-122"/>
              </a:rPr>
              <a:t>MRAs</a:t>
            </a:r>
            <a:r>
              <a:rPr lang="zh-CN" altLang="en-US" b="1" dirty="0">
                <a:latin typeface="Microsoft YaHei UI" panose="020B0503020204020204" pitchFamily="34" charset="-122"/>
                <a:ea typeface="Microsoft YaHei UI" panose="020B0503020204020204" pitchFamily="34" charset="-122"/>
              </a:rPr>
              <a:t>）</a:t>
            </a:r>
          </a:p>
        </p:txBody>
      </p:sp>
      <p:sp>
        <p:nvSpPr>
          <p:cNvPr id="20" name="矩形 19"/>
          <p:cNvSpPr/>
          <p:nvPr/>
        </p:nvSpPr>
        <p:spPr>
          <a:xfrm>
            <a:off x="702430" y="2758912"/>
            <a:ext cx="8570154" cy="66751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baseline="0" dirty="0">
                <a:latin typeface="Microsoft YaHei UI" panose="020B0503020204020204" pitchFamily="34" charset="-122"/>
                <a:ea typeface="Microsoft YaHei UI" panose="020B0503020204020204" pitchFamily="34" charset="-122"/>
              </a:rPr>
              <a:t>为减少全因死亡、心血管疾病死亡率及发病率，对存在心肌梗死既往史的患者，应考虑长期口服</a:t>
            </a:r>
            <a:r>
              <a:rPr lang="en-US" altLang="zh-CN" sz="1800" baseline="0" dirty="0">
                <a:latin typeface="Microsoft YaHei UI" panose="020B0503020204020204" pitchFamily="34" charset="-122"/>
                <a:ea typeface="Microsoft YaHei UI" panose="020B0503020204020204" pitchFamily="34" charset="-122"/>
              </a:rPr>
              <a:t>β</a:t>
            </a:r>
            <a:r>
              <a:rPr lang="zh-CN" altLang="en-US" sz="1800" baseline="0" dirty="0">
                <a:latin typeface="Microsoft YaHei UI" panose="020B0503020204020204" pitchFamily="34" charset="-122"/>
                <a:ea typeface="Microsoft YaHei UI" panose="020B0503020204020204" pitchFamily="34" charset="-122"/>
              </a:rPr>
              <a:t>受体阻滞剂</a:t>
            </a:r>
            <a:endParaRPr lang="en-US" altLang="zh-CN" sz="1800" baseline="0" dirty="0">
              <a:latin typeface="Microsoft YaHei UI" panose="020B0503020204020204" pitchFamily="34" charset="-122"/>
              <a:ea typeface="Microsoft YaHei UI" panose="020B0503020204020204" pitchFamily="34" charset="-122"/>
            </a:endParaRPr>
          </a:p>
        </p:txBody>
      </p:sp>
      <p:sp>
        <p:nvSpPr>
          <p:cNvPr id="3" name="矩形 2"/>
          <p:cNvSpPr/>
          <p:nvPr/>
        </p:nvSpPr>
        <p:spPr>
          <a:xfrm>
            <a:off x="692497" y="3855620"/>
            <a:ext cx="8580428" cy="62042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baseline="0" dirty="0">
                <a:latin typeface="Microsoft YaHei UI" panose="020B0503020204020204" pitchFamily="34" charset="-122"/>
                <a:ea typeface="Microsoft YaHei UI" panose="020B0503020204020204" pitchFamily="34" charset="-122"/>
              </a:rPr>
              <a:t>为减少全因死亡、心血管疾病死亡率及发病率，推荐对</a:t>
            </a:r>
            <a:r>
              <a:rPr lang="en-US" altLang="zh-CN" sz="1800" baseline="0" dirty="0">
                <a:latin typeface="Microsoft YaHei UI" panose="020B0503020204020204" pitchFamily="34" charset="-122"/>
                <a:ea typeface="Microsoft YaHei UI" panose="020B0503020204020204" pitchFamily="34" charset="-122"/>
              </a:rPr>
              <a:t>LVEF</a:t>
            </a:r>
            <a:r>
              <a:rPr lang="zh-CN" altLang="en-US" sz="1800" baseline="0" dirty="0">
                <a:latin typeface="Microsoft YaHei UI" panose="020B0503020204020204" pitchFamily="34" charset="-122"/>
                <a:ea typeface="Microsoft YaHei UI" panose="020B0503020204020204" pitchFamily="34" charset="-122"/>
              </a:rPr>
              <a:t>＜</a:t>
            </a:r>
            <a:r>
              <a:rPr lang="en-US" altLang="zh-CN" sz="1800" baseline="0" dirty="0">
                <a:latin typeface="Microsoft YaHei UI" panose="020B0503020204020204" pitchFamily="34" charset="-122"/>
                <a:ea typeface="Microsoft YaHei UI" panose="020B0503020204020204" pitchFamily="34" charset="-122"/>
              </a:rPr>
              <a:t>40%</a:t>
            </a:r>
            <a:r>
              <a:rPr lang="zh-CN" altLang="en-US" sz="1800" baseline="0" dirty="0">
                <a:latin typeface="Microsoft YaHei UI" panose="020B0503020204020204" pitchFamily="34" charset="-122"/>
                <a:ea typeface="Microsoft YaHei UI" panose="020B0503020204020204" pitchFamily="34" charset="-122"/>
              </a:rPr>
              <a:t>的心衰患者使用</a:t>
            </a:r>
            <a:r>
              <a:rPr lang="en-US" altLang="zh-CN" sz="1800" baseline="0" dirty="0">
                <a:latin typeface="Microsoft YaHei UI" panose="020B0503020204020204" pitchFamily="34" charset="-122"/>
                <a:ea typeface="Microsoft YaHei UI" panose="020B0503020204020204" pitchFamily="34" charset="-122"/>
              </a:rPr>
              <a:t>MRA</a:t>
            </a: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369" y="4507830"/>
            <a:ext cx="10260226" cy="375008"/>
          </a:xfrm>
          <a:prstGeom prst="rect">
            <a:avLst/>
          </a:prstGeom>
        </p:spPr>
      </p:pic>
      <p:sp>
        <p:nvSpPr>
          <p:cNvPr id="10" name="文本框 9"/>
          <p:cNvSpPr txBox="1"/>
          <p:nvPr/>
        </p:nvSpPr>
        <p:spPr>
          <a:xfrm>
            <a:off x="667820" y="4506860"/>
            <a:ext cx="39709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质子泵抑制剂（</a:t>
            </a:r>
            <a:r>
              <a:rPr lang="en-US" altLang="zh-CN" b="1" dirty="0">
                <a:latin typeface="Microsoft YaHei UI" panose="020B0503020204020204" pitchFamily="34" charset="-122"/>
                <a:ea typeface="Microsoft YaHei UI" panose="020B0503020204020204" pitchFamily="34" charset="-122"/>
              </a:rPr>
              <a:t>PPIs</a:t>
            </a:r>
            <a:r>
              <a:rPr lang="zh-CN" altLang="en-US" b="1" dirty="0">
                <a:latin typeface="Microsoft YaHei UI" panose="020B0503020204020204" pitchFamily="34" charset="-122"/>
                <a:ea typeface="Microsoft YaHei UI" panose="020B0503020204020204" pitchFamily="34" charset="-122"/>
              </a:rPr>
              <a:t>）</a:t>
            </a:r>
          </a:p>
        </p:txBody>
      </p:sp>
      <p:pic>
        <p:nvPicPr>
          <p:cNvPr id="11" name="图片 10"/>
          <p:cNvPicPr>
            <a:picLocks noChangeAspect="1"/>
          </p:cNvPicPr>
          <p:nvPr/>
        </p:nvPicPr>
        <p:blipFill rotWithShape="1">
          <a:blip r:embed="rId5">
            <a:extLst>
              <a:ext uri="{28A0092B-C50C-407E-A947-70E740481C1C}">
                <a14:useLocalDpi xmlns:a14="http://schemas.microsoft.com/office/drawing/2010/main" val="0"/>
              </a:ext>
            </a:extLst>
          </a:blip>
          <a:srcRect t="74536" b="20283"/>
          <a:stretch>
            <a:fillRect/>
          </a:stretch>
        </p:blipFill>
        <p:spPr>
          <a:xfrm>
            <a:off x="9272584" y="2332524"/>
            <a:ext cx="1704066" cy="378941"/>
          </a:xfrm>
          <a:prstGeom prst="rect">
            <a:avLst/>
          </a:prstGeom>
        </p:spPr>
      </p:pic>
      <p:pic>
        <p:nvPicPr>
          <p:cNvPr id="15" name="图片 14"/>
          <p:cNvPicPr>
            <a:picLocks noChangeAspect="1"/>
          </p:cNvPicPr>
          <p:nvPr/>
        </p:nvPicPr>
        <p:blipFill rotWithShape="1">
          <a:blip r:embed="rId6">
            <a:extLst>
              <a:ext uri="{28A0092B-C50C-407E-A947-70E740481C1C}">
                <a14:useLocalDpi xmlns:a14="http://schemas.microsoft.com/office/drawing/2010/main" val="0"/>
              </a:ext>
            </a:extLst>
          </a:blip>
          <a:srcRect t="29237" b="26430"/>
          <a:stretch>
            <a:fillRect/>
          </a:stretch>
        </p:blipFill>
        <p:spPr>
          <a:xfrm>
            <a:off x="9297104" y="2752857"/>
            <a:ext cx="1681555" cy="692243"/>
          </a:xfrm>
          <a:prstGeom prst="rect">
            <a:avLst/>
          </a:prstGeom>
        </p:spPr>
      </p:pic>
      <p:pic>
        <p:nvPicPr>
          <p:cNvPr id="16" name="图片 15"/>
          <p:cNvPicPr>
            <a:picLocks noChangeAspect="1"/>
          </p:cNvPicPr>
          <p:nvPr/>
        </p:nvPicPr>
        <p:blipFill rotWithShape="1">
          <a:blip r:embed="rId5">
            <a:extLst>
              <a:ext uri="{28A0092B-C50C-407E-A947-70E740481C1C}">
                <a14:useLocalDpi xmlns:a14="http://schemas.microsoft.com/office/drawing/2010/main" val="0"/>
              </a:ext>
            </a:extLst>
          </a:blip>
          <a:srcRect t="72521" b="18406"/>
          <a:stretch>
            <a:fillRect/>
          </a:stretch>
        </p:blipFill>
        <p:spPr>
          <a:xfrm>
            <a:off x="9279160" y="3858857"/>
            <a:ext cx="1686380" cy="627459"/>
          </a:xfrm>
          <a:prstGeom prst="rect">
            <a:avLst/>
          </a:prstGeom>
        </p:spPr>
      </p:pic>
      <p:pic>
        <p:nvPicPr>
          <p:cNvPr id="18" name="图片 17"/>
          <p:cNvPicPr>
            <a:picLocks noChangeAspect="1"/>
          </p:cNvPicPr>
          <p:nvPr/>
        </p:nvPicPr>
        <p:blipFill rotWithShape="1">
          <a:blip r:embed="rId5">
            <a:extLst>
              <a:ext uri="{28A0092B-C50C-407E-A947-70E740481C1C}">
                <a14:useLocalDpi xmlns:a14="http://schemas.microsoft.com/office/drawing/2010/main" val="0"/>
              </a:ext>
            </a:extLst>
          </a:blip>
          <a:srcRect t="72521" b="18406"/>
          <a:stretch>
            <a:fillRect/>
          </a:stretch>
        </p:blipFill>
        <p:spPr>
          <a:xfrm>
            <a:off x="9280658" y="4898388"/>
            <a:ext cx="1686380" cy="62745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1277332"/>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1277050"/>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283177"/>
            <a:ext cx="810713" cy="658747"/>
          </a:xfrm>
          <a:prstGeom prst="rect">
            <a:avLst/>
          </a:prstGeom>
        </p:spPr>
      </p:pic>
      <p:sp>
        <p:nvSpPr>
          <p:cNvPr id="23" name="文本框 22"/>
          <p:cNvSpPr txBox="1"/>
          <p:nvPr/>
        </p:nvSpPr>
        <p:spPr>
          <a:xfrm>
            <a:off x="697585" y="1427530"/>
            <a:ext cx="4490864"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ESC</a:t>
            </a:r>
            <a:r>
              <a:rPr lang="zh-CN" altLang="en-US" b="1" dirty="0">
                <a:latin typeface="Microsoft YaHei UI" panose="020B0503020204020204" pitchFamily="34" charset="-122"/>
                <a:ea typeface="Microsoft YaHei UI" panose="020B0503020204020204" pitchFamily="34" charset="-122"/>
              </a:rPr>
              <a:t>临床实践指南依从性指标的相应推荐</a:t>
            </a:r>
          </a:p>
        </p:txBody>
      </p:sp>
      <p:sp>
        <p:nvSpPr>
          <p:cNvPr id="8" name="文本框 7"/>
          <p:cNvSpPr txBox="1"/>
          <p:nvPr/>
        </p:nvSpPr>
        <p:spPr>
          <a:xfrm>
            <a:off x="9399388" y="1284493"/>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28974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02721" y="554743"/>
            <a:ext cx="9514120" cy="584775"/>
          </a:xfrm>
          <a:prstGeom prst="rect">
            <a:avLst/>
          </a:prstGeom>
          <a:noFill/>
        </p:spPr>
        <p:txBody>
          <a:bodyPr wrap="square" rtlCol="0">
            <a:spAutoFit/>
          </a:bodyPr>
          <a:lstStyle/>
          <a:p>
            <a:r>
              <a:rPr lang="zh-CN" altLang="en-US" sz="3200" b="1" dirty="0">
                <a:solidFill>
                  <a:srgbClr val="AE1022"/>
                </a:solidFill>
                <a:latin typeface="Microsoft YaHei UI" panose="020B0503020204020204" pitchFamily="34" charset="-122"/>
                <a:ea typeface="Microsoft YaHei UI" panose="020B0503020204020204" pitchFamily="34" charset="-122"/>
              </a:rPr>
              <a:t>新章节：</a:t>
            </a:r>
            <a:r>
              <a:rPr lang="en-US" altLang="zh-CN" sz="3200" b="1" dirty="0">
                <a:solidFill>
                  <a:srgbClr val="AE1022"/>
                </a:solidFill>
                <a:latin typeface="Microsoft YaHei UI" panose="020B0503020204020204" pitchFamily="34" charset="-122"/>
                <a:ea typeface="Microsoft YaHei UI" panose="020B0503020204020204" pitchFamily="34" charset="-122"/>
              </a:rPr>
              <a:t>NSTE-ACS</a:t>
            </a:r>
            <a:r>
              <a:rPr lang="zh-CN" altLang="en-US" sz="3200" b="1" dirty="0">
                <a:solidFill>
                  <a:srgbClr val="AE1022"/>
                </a:solidFill>
                <a:latin typeface="Microsoft YaHei UI" panose="020B0503020204020204" pitchFamily="34" charset="-122"/>
                <a:ea typeface="Microsoft YaHei UI" panose="020B0503020204020204" pitchFamily="34" charset="-122"/>
              </a:rPr>
              <a:t>的指南推荐依从性质量指标（</a:t>
            </a:r>
            <a:r>
              <a:rPr lang="en-US" altLang="zh-CN" sz="3200" b="1" dirty="0">
                <a:solidFill>
                  <a:srgbClr val="AE1022"/>
                </a:solidFill>
                <a:latin typeface="Microsoft YaHei UI" panose="020B0503020204020204" pitchFamily="34" charset="-122"/>
                <a:ea typeface="Microsoft YaHei UI" panose="020B0503020204020204" pitchFamily="34" charset="-122"/>
              </a:rPr>
              <a:t>1</a:t>
            </a:r>
            <a:r>
              <a:rPr lang="zh-CN" altLang="en-US" sz="3200" b="1" dirty="0">
                <a:solidFill>
                  <a:srgbClr val="AE1022"/>
                </a:solidFill>
                <a:latin typeface="Microsoft YaHei UI" panose="020B0503020204020204" pitchFamily="34" charset="-122"/>
                <a:ea typeface="Microsoft YaHei UI" panose="020B0503020204020204" pitchFamily="34" charset="-122"/>
              </a:rPr>
              <a:t>）</a:t>
            </a:r>
          </a:p>
        </p:txBody>
      </p:sp>
      <p:sp>
        <p:nvSpPr>
          <p:cNvPr id="13" name="矩形 12"/>
          <p:cNvSpPr/>
          <p:nvPr/>
        </p:nvSpPr>
        <p:spPr>
          <a:xfrm>
            <a:off x="702722" y="2325488"/>
            <a:ext cx="8580428" cy="66973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推荐对入院患者立即应用高敏检测方法测量心肌肌钙蛋白，并在抽血</a:t>
            </a:r>
            <a:r>
              <a:rPr lang="en-US" altLang="zh-CN" dirty="0">
                <a:latin typeface="Microsoft YaHei UI" panose="020B0503020204020204" pitchFamily="34" charset="-122"/>
                <a:ea typeface="Microsoft YaHei UI" panose="020B0503020204020204" pitchFamily="34" charset="-122"/>
              </a:rPr>
              <a:t>60</a:t>
            </a:r>
            <a:r>
              <a:rPr lang="zh-CN" altLang="en-US" dirty="0">
                <a:latin typeface="Microsoft YaHei UI" panose="020B0503020204020204" pitchFamily="34" charset="-122"/>
                <a:ea typeface="Microsoft YaHei UI" panose="020B0503020204020204" pitchFamily="34" charset="-122"/>
              </a:rPr>
              <a:t>分钟内获得结果</a:t>
            </a:r>
            <a:endParaRPr lang="en-US" altLang="zh-CN" dirty="0">
              <a:latin typeface="Microsoft YaHei UI" panose="020B0503020204020204" pitchFamily="34" charset="-122"/>
              <a:ea typeface="Microsoft YaHei UI" panose="020B0503020204020204" pitchFamily="34" charset="-122"/>
            </a:endParaRPr>
          </a:p>
        </p:txBody>
      </p:sp>
      <p:sp>
        <p:nvSpPr>
          <p:cNvPr id="7" name="矩形 6"/>
          <p:cNvSpPr/>
          <p:nvPr/>
        </p:nvSpPr>
        <p:spPr>
          <a:xfrm>
            <a:off x="698643" y="3410880"/>
            <a:ext cx="8580428" cy="62745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baseline="0" dirty="0">
                <a:latin typeface="Microsoft YaHei UI" panose="020B0503020204020204" pitchFamily="34" charset="-122"/>
                <a:ea typeface="Microsoft YaHei UI" panose="020B0503020204020204" pitchFamily="34" charset="-122"/>
              </a:rPr>
              <a:t>推荐对符合任何高风险标准的，包括按照诊断程序诊断为</a:t>
            </a:r>
            <a:r>
              <a:rPr lang="en-US" altLang="zh-CN" sz="1800" baseline="0" dirty="0">
                <a:latin typeface="Microsoft YaHei UI" panose="020B0503020204020204" pitchFamily="34" charset="-122"/>
                <a:ea typeface="Microsoft YaHei UI" panose="020B0503020204020204" pitchFamily="34" charset="-122"/>
              </a:rPr>
              <a:t>NSTEMI</a:t>
            </a:r>
            <a:r>
              <a:rPr lang="zh-CN" altLang="en-US" sz="1800" baseline="0" dirty="0">
                <a:latin typeface="Microsoft YaHei UI" panose="020B0503020204020204" pitchFamily="34" charset="-122"/>
                <a:ea typeface="Microsoft YaHei UI" panose="020B0503020204020204" pitchFamily="34" charset="-122"/>
              </a:rPr>
              <a:t>的患者行</a:t>
            </a:r>
            <a:r>
              <a:rPr lang="en-US" altLang="zh-CN" sz="1800" baseline="0" dirty="0">
                <a:latin typeface="Microsoft YaHei UI" panose="020B0503020204020204" pitchFamily="34" charset="-122"/>
                <a:ea typeface="Microsoft YaHei UI" panose="020B0503020204020204" pitchFamily="34" charset="-122"/>
              </a:rPr>
              <a:t>24</a:t>
            </a:r>
            <a:r>
              <a:rPr lang="zh-CN" altLang="en-US" sz="1800" baseline="0" dirty="0">
                <a:latin typeface="Microsoft YaHei UI" panose="020B0503020204020204" pitchFamily="34" charset="-122"/>
                <a:ea typeface="Microsoft YaHei UI" panose="020B0503020204020204" pitchFamily="34" charset="-122"/>
              </a:rPr>
              <a:t>小时内的早期侵入治疗</a:t>
            </a:r>
            <a:endParaRPr lang="en-US" altLang="zh-CN" sz="1800" baseline="0" dirty="0">
              <a:latin typeface="Microsoft YaHei UI" panose="020B0503020204020204" pitchFamily="34" charset="-122"/>
              <a:ea typeface="Microsoft YaHei UI" panose="020B0503020204020204" pitchFamily="34" charset="-122"/>
            </a:endParaRPr>
          </a:p>
        </p:txBody>
      </p:sp>
      <p:sp>
        <p:nvSpPr>
          <p:cNvPr id="10" name="矩形 9"/>
          <p:cNvSpPr/>
          <p:nvPr/>
        </p:nvSpPr>
        <p:spPr>
          <a:xfrm>
            <a:off x="696774" y="4085742"/>
            <a:ext cx="8580428" cy="36933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marL="0" marR="0" indent="0" algn="l" defTabSz="914400" rtl="0" eaLnBrk="1" fontAlgn="auto" latinLnBrk="0" hangingPunct="1">
              <a:lnSpc>
                <a:spcPct val="120000"/>
              </a:lnSpc>
              <a:spcBef>
                <a:spcPts val="0"/>
              </a:spcBef>
              <a:spcAft>
                <a:spcPts val="0"/>
              </a:spcAft>
              <a:buClrTx/>
              <a:buSzTx/>
              <a:buFontTx/>
              <a:buNone/>
              <a:defRPr/>
            </a:pPr>
            <a:r>
              <a:rPr lang="zh-CN" altLang="en-US" dirty="0">
                <a:latin typeface="Microsoft YaHei UI" panose="020B0503020204020204" pitchFamily="34" charset="-122"/>
                <a:ea typeface="Microsoft YaHei UI" panose="020B0503020204020204" pitchFamily="34" charset="-122"/>
              </a:rPr>
              <a:t>除合并其它操作考量外，推荐将桡动脉入路作为常规入路途径</a:t>
            </a:r>
            <a:endParaRPr lang="en-US" altLang="zh-CN" dirty="0">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990" y="1933186"/>
            <a:ext cx="10248169" cy="375008"/>
          </a:xfrm>
          <a:prstGeom prst="rect">
            <a:avLst/>
          </a:prstGeom>
        </p:spPr>
      </p:pic>
      <p:sp>
        <p:nvSpPr>
          <p:cNvPr id="5" name="文本框 4"/>
          <p:cNvSpPr txBox="1"/>
          <p:nvPr/>
        </p:nvSpPr>
        <p:spPr>
          <a:xfrm>
            <a:off x="682223" y="1932216"/>
            <a:ext cx="2749345"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医疗机构</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643" y="3024663"/>
            <a:ext cx="10260226" cy="375008"/>
          </a:xfrm>
          <a:prstGeom prst="rect">
            <a:avLst/>
          </a:prstGeom>
        </p:spPr>
      </p:pic>
      <p:sp>
        <p:nvSpPr>
          <p:cNvPr id="14" name="文本框 13"/>
          <p:cNvSpPr txBox="1"/>
          <p:nvPr/>
        </p:nvSpPr>
        <p:spPr>
          <a:xfrm>
            <a:off x="667820" y="3023693"/>
            <a:ext cx="39709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侵入治疗</a:t>
            </a:r>
          </a:p>
        </p:txBody>
      </p:sp>
      <p:pic>
        <p:nvPicPr>
          <p:cNvPr id="9" name="图片 8"/>
          <p:cNvPicPr>
            <a:picLocks noChangeAspect="1"/>
          </p:cNvPicPr>
          <p:nvPr/>
        </p:nvPicPr>
        <p:blipFill rotWithShape="1">
          <a:blip r:embed="rId4">
            <a:extLst>
              <a:ext uri="{28A0092B-C50C-407E-A947-70E740481C1C}">
                <a14:useLocalDpi xmlns:a14="http://schemas.microsoft.com/office/drawing/2010/main" val="0"/>
              </a:ext>
            </a:extLst>
          </a:blip>
          <a:srcRect t="38697" b="37375"/>
          <a:stretch>
            <a:fillRect/>
          </a:stretch>
        </p:blipFill>
        <p:spPr>
          <a:xfrm>
            <a:off x="9287546" y="2328440"/>
            <a:ext cx="1686380" cy="669730"/>
          </a:xfrm>
          <a:prstGeom prst="rect">
            <a:avLst/>
          </a:prstGeom>
        </p:spPr>
      </p:pic>
      <p:pic>
        <p:nvPicPr>
          <p:cNvPr id="20" name="图片 19"/>
          <p:cNvPicPr>
            <a:picLocks noChangeAspect="1"/>
          </p:cNvPicPr>
          <p:nvPr/>
        </p:nvPicPr>
        <p:blipFill rotWithShape="1">
          <a:blip r:embed="rId5">
            <a:extLst>
              <a:ext uri="{28A0092B-C50C-407E-A947-70E740481C1C}">
                <a14:useLocalDpi xmlns:a14="http://schemas.microsoft.com/office/drawing/2010/main" val="0"/>
              </a:ext>
            </a:extLst>
          </a:blip>
          <a:srcRect t="72521" b="18406"/>
          <a:stretch>
            <a:fillRect/>
          </a:stretch>
        </p:blipFill>
        <p:spPr>
          <a:xfrm>
            <a:off x="9284337" y="3414134"/>
            <a:ext cx="1686380" cy="627459"/>
          </a:xfrm>
          <a:prstGeom prst="rect">
            <a:avLst/>
          </a:prstGeom>
        </p:spPr>
      </p:pic>
      <p:pic>
        <p:nvPicPr>
          <p:cNvPr id="25" name="图片 24"/>
          <p:cNvPicPr>
            <a:picLocks noChangeAspect="1"/>
          </p:cNvPicPr>
          <p:nvPr/>
        </p:nvPicPr>
        <p:blipFill rotWithShape="1">
          <a:blip r:embed="rId5">
            <a:extLst>
              <a:ext uri="{28A0092B-C50C-407E-A947-70E740481C1C}">
                <a14:useLocalDpi xmlns:a14="http://schemas.microsoft.com/office/drawing/2010/main" val="0"/>
              </a:ext>
            </a:extLst>
          </a:blip>
          <a:srcRect t="74536" b="20283"/>
          <a:stretch>
            <a:fillRect/>
          </a:stretch>
        </p:blipFill>
        <p:spPr>
          <a:xfrm>
            <a:off x="9287199" y="4085637"/>
            <a:ext cx="1686380" cy="375008"/>
          </a:xfrm>
          <a:prstGeom prst="rect">
            <a:avLst/>
          </a:prstGeom>
        </p:spPr>
      </p:pic>
      <p:pic>
        <p:nvPicPr>
          <p:cNvPr id="33" name="图片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659" y="4492156"/>
            <a:ext cx="10260226" cy="375008"/>
          </a:xfrm>
          <a:prstGeom prst="rect">
            <a:avLst/>
          </a:prstGeom>
        </p:spPr>
      </p:pic>
      <p:sp>
        <p:nvSpPr>
          <p:cNvPr id="35" name="文本框 34"/>
          <p:cNvSpPr txBox="1"/>
          <p:nvPr/>
        </p:nvSpPr>
        <p:spPr>
          <a:xfrm>
            <a:off x="655836" y="4491186"/>
            <a:ext cx="39709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住院期间风险评估</a:t>
            </a:r>
          </a:p>
        </p:txBody>
      </p:sp>
      <p:sp>
        <p:nvSpPr>
          <p:cNvPr id="37" name="矩形 36"/>
          <p:cNvSpPr/>
          <p:nvPr/>
        </p:nvSpPr>
        <p:spPr>
          <a:xfrm>
            <a:off x="687360" y="4889606"/>
            <a:ext cx="8580428" cy="35282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pPr marL="0" marR="0" indent="0" algn="l" defTabSz="914400" rtl="0" eaLnBrk="1" fontAlgn="auto" latinLnBrk="0" hangingPunct="1">
              <a:lnSpc>
                <a:spcPct val="120000"/>
              </a:lnSpc>
              <a:spcBef>
                <a:spcPts val="0"/>
              </a:spcBef>
              <a:spcAft>
                <a:spcPts val="0"/>
              </a:spcAft>
              <a:buClrTx/>
              <a:buSzTx/>
              <a:buFontTx/>
              <a:buNone/>
              <a:defRPr/>
            </a:pPr>
            <a:r>
              <a:rPr lang="zh-CN" altLang="en-US" sz="1800" baseline="0" dirty="0">
                <a:latin typeface="Microsoft YaHei UI" panose="020B0503020204020204" pitchFamily="34" charset="-122"/>
                <a:ea typeface="Microsoft YaHei UI" panose="020B0503020204020204" pitchFamily="34" charset="-122"/>
              </a:rPr>
              <a:t>推荐应用心脏超声评估局部及整体的左室功能，并“纳入”或“排除”鉴别诊断</a:t>
            </a:r>
            <a:endParaRPr lang="en-US" altLang="zh-CN" dirty="0">
              <a:latin typeface="Microsoft YaHei UI" panose="020B0503020204020204" pitchFamily="34" charset="-122"/>
              <a:ea typeface="Microsoft YaHei UI" panose="020B0503020204020204" pitchFamily="34" charset="-122"/>
            </a:endParaRPr>
          </a:p>
        </p:txBody>
      </p:sp>
      <p:pic>
        <p:nvPicPr>
          <p:cNvPr id="39" name="图片 38"/>
          <p:cNvPicPr>
            <a:picLocks noChangeAspect="1"/>
          </p:cNvPicPr>
          <p:nvPr/>
        </p:nvPicPr>
        <p:blipFill rotWithShape="1">
          <a:blip r:embed="rId6">
            <a:extLst>
              <a:ext uri="{28A0092B-C50C-407E-A947-70E740481C1C}">
                <a14:useLocalDpi xmlns:a14="http://schemas.microsoft.com/office/drawing/2010/main" val="0"/>
              </a:ext>
            </a:extLst>
          </a:blip>
          <a:srcRect t="7152" b="86392"/>
          <a:stretch>
            <a:fillRect/>
          </a:stretch>
        </p:blipFill>
        <p:spPr>
          <a:xfrm>
            <a:off x="9270254" y="4884557"/>
            <a:ext cx="1705645" cy="366001"/>
          </a:xfrm>
          <a:prstGeom prst="rect">
            <a:avLst/>
          </a:prstGeom>
        </p:spPr>
      </p:pic>
      <p:sp>
        <p:nvSpPr>
          <p:cNvPr id="43" name="矩形 42"/>
          <p:cNvSpPr/>
          <p:nvPr/>
        </p:nvSpPr>
        <p:spPr>
          <a:xfrm>
            <a:off x="682223" y="5305000"/>
            <a:ext cx="8595790" cy="62142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推荐对所有</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患者使用他汀类药物，降脂目标为使</a:t>
            </a:r>
            <a:r>
              <a:rPr lang="en-US" altLang="zh-CN" b="1" dirty="0">
                <a:solidFill>
                  <a:srgbClr val="FF0000"/>
                </a:solidFill>
                <a:latin typeface="Microsoft YaHei UI" panose="020B0503020204020204" pitchFamily="34" charset="-122"/>
                <a:ea typeface="Microsoft YaHei UI" panose="020B0503020204020204" pitchFamily="34" charset="-122"/>
              </a:rPr>
              <a:t>LDL-C</a:t>
            </a:r>
            <a:r>
              <a:rPr lang="zh-CN" altLang="en-US" b="1" dirty="0">
                <a:solidFill>
                  <a:srgbClr val="FF0000"/>
                </a:solidFill>
                <a:latin typeface="Microsoft YaHei UI" panose="020B0503020204020204" pitchFamily="34" charset="-122"/>
                <a:ea typeface="Microsoft YaHei UI" panose="020B0503020204020204" pitchFamily="34" charset="-122"/>
              </a:rPr>
              <a:t>降低超过基线值的</a:t>
            </a:r>
            <a:r>
              <a:rPr lang="en-US" altLang="zh-CN" b="1" dirty="0">
                <a:solidFill>
                  <a:srgbClr val="FF0000"/>
                </a:solidFill>
                <a:latin typeface="Microsoft YaHei UI" panose="020B0503020204020204" pitchFamily="34" charset="-122"/>
                <a:ea typeface="Microsoft YaHei UI" panose="020B0503020204020204" pitchFamily="34" charset="-122"/>
              </a:rPr>
              <a:t>50%</a:t>
            </a:r>
            <a:r>
              <a:rPr lang="zh-CN" altLang="en-US" b="1" dirty="0">
                <a:solidFill>
                  <a:srgbClr val="FF0000"/>
                </a:solidFill>
                <a:latin typeface="Microsoft YaHei UI" panose="020B0503020204020204" pitchFamily="34" charset="-122"/>
                <a:ea typeface="Microsoft YaHei UI" panose="020B0503020204020204" pitchFamily="34" charset="-122"/>
              </a:rPr>
              <a:t>和</a:t>
            </a:r>
            <a:r>
              <a:rPr lang="en-US" altLang="zh-CN" b="1" dirty="0">
                <a:solidFill>
                  <a:srgbClr val="FF0000"/>
                </a:solidFill>
                <a:latin typeface="Microsoft YaHei UI" panose="020B0503020204020204" pitchFamily="34" charset="-122"/>
                <a:ea typeface="Microsoft YaHei UI" panose="020B0503020204020204" pitchFamily="34" charset="-122"/>
              </a:rPr>
              <a:t>/</a:t>
            </a:r>
            <a:r>
              <a:rPr lang="zh-CN" altLang="en-US" b="1" dirty="0">
                <a:solidFill>
                  <a:srgbClr val="FF0000"/>
                </a:solidFill>
                <a:latin typeface="Microsoft YaHei UI" panose="020B0503020204020204" pitchFamily="34" charset="-122"/>
                <a:ea typeface="Microsoft YaHei UI" panose="020B0503020204020204" pitchFamily="34" charset="-122"/>
              </a:rPr>
              <a:t>或达到</a:t>
            </a:r>
            <a:r>
              <a:rPr lang="en-US" altLang="zh-CN" b="1" dirty="0">
                <a:solidFill>
                  <a:srgbClr val="FF0000"/>
                </a:solidFill>
                <a:latin typeface="Microsoft YaHei UI" panose="020B0503020204020204" pitchFamily="34" charset="-122"/>
                <a:ea typeface="Microsoft YaHei UI" panose="020B0503020204020204" pitchFamily="34" charset="-122"/>
              </a:rPr>
              <a:t>LDL-C</a:t>
            </a:r>
            <a:r>
              <a:rPr lang="zh-CN" altLang="en-US" b="1" dirty="0">
                <a:solidFill>
                  <a:srgbClr val="FF0000"/>
                </a:solidFill>
                <a:latin typeface="Microsoft YaHei UI" panose="020B0503020204020204" pitchFamily="34" charset="-122"/>
                <a:ea typeface="Microsoft YaHei UI" panose="020B0503020204020204" pitchFamily="34" charset="-122"/>
              </a:rPr>
              <a:t>＜</a:t>
            </a:r>
            <a:r>
              <a:rPr lang="en-US" altLang="zh-CN" b="1" dirty="0">
                <a:solidFill>
                  <a:srgbClr val="FF0000"/>
                </a:solidFill>
                <a:latin typeface="Microsoft YaHei UI" panose="020B0503020204020204" pitchFamily="34" charset="-122"/>
                <a:ea typeface="Microsoft YaHei UI" panose="020B0503020204020204" pitchFamily="34" charset="-122"/>
              </a:rPr>
              <a:t>1.4mmpl/L</a:t>
            </a:r>
            <a:r>
              <a:rPr lang="zh-CN" altLang="en-US" b="1" dirty="0">
                <a:solidFill>
                  <a:srgbClr val="FF0000"/>
                </a:solidFill>
                <a:latin typeface="Microsoft YaHei UI" panose="020B0503020204020204" pitchFamily="34" charset="-122"/>
                <a:ea typeface="Microsoft YaHei UI" panose="020B0503020204020204" pitchFamily="34" charset="-122"/>
              </a:rPr>
              <a:t>（＜</a:t>
            </a:r>
            <a:r>
              <a:rPr lang="en-US" altLang="zh-CN" b="1" dirty="0">
                <a:solidFill>
                  <a:srgbClr val="FF0000"/>
                </a:solidFill>
                <a:latin typeface="Microsoft YaHei UI" panose="020B0503020204020204" pitchFamily="34" charset="-122"/>
                <a:ea typeface="Microsoft YaHei UI" panose="020B0503020204020204" pitchFamily="34" charset="-122"/>
              </a:rPr>
              <a:t>55mg/</a:t>
            </a:r>
            <a:r>
              <a:rPr lang="en-US" altLang="zh-CN" b="1" dirty="0" err="1">
                <a:solidFill>
                  <a:srgbClr val="FF0000"/>
                </a:solidFill>
                <a:latin typeface="Microsoft YaHei UI" panose="020B0503020204020204" pitchFamily="34" charset="-122"/>
                <a:ea typeface="Microsoft YaHei UI" panose="020B0503020204020204" pitchFamily="34" charset="-122"/>
              </a:rPr>
              <a:t>dL</a:t>
            </a:r>
            <a:r>
              <a:rPr lang="zh-CN" altLang="en-US" b="1" dirty="0">
                <a:solidFill>
                  <a:srgbClr val="FF0000"/>
                </a:solidFill>
                <a:latin typeface="Microsoft YaHei UI" panose="020B0503020204020204" pitchFamily="34" charset="-122"/>
                <a:ea typeface="Microsoft YaHei UI" panose="020B0503020204020204" pitchFamily="34" charset="-122"/>
              </a:rPr>
              <a:t>）</a:t>
            </a:r>
            <a:endParaRPr lang="en-US" altLang="zh-CN" b="1" dirty="0">
              <a:solidFill>
                <a:srgbClr val="FF0000"/>
              </a:solidFill>
              <a:latin typeface="Microsoft YaHei UI" panose="020B0503020204020204" pitchFamily="34" charset="-122"/>
              <a:ea typeface="Microsoft YaHei UI" panose="020B0503020204020204" pitchFamily="34" charset="-122"/>
            </a:endParaRPr>
          </a:p>
        </p:txBody>
      </p:sp>
      <p:pic>
        <p:nvPicPr>
          <p:cNvPr id="45" name="图片 44"/>
          <p:cNvPicPr>
            <a:picLocks noChangeAspect="1"/>
          </p:cNvPicPr>
          <p:nvPr/>
        </p:nvPicPr>
        <p:blipFill rotWithShape="1">
          <a:blip r:embed="rId5">
            <a:extLst>
              <a:ext uri="{28A0092B-C50C-407E-A947-70E740481C1C}">
                <a14:useLocalDpi xmlns:a14="http://schemas.microsoft.com/office/drawing/2010/main" val="0"/>
              </a:ext>
            </a:extLst>
          </a:blip>
          <a:srcRect t="72521" b="18406"/>
          <a:stretch>
            <a:fillRect/>
          </a:stretch>
        </p:blipFill>
        <p:spPr>
          <a:xfrm>
            <a:off x="9278013" y="5302007"/>
            <a:ext cx="1686380" cy="62745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5" y="1277332"/>
            <a:ext cx="8590118" cy="669729"/>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9484" y="1277050"/>
            <a:ext cx="788182" cy="664874"/>
          </a:xfrm>
          <a:prstGeom prst="rect">
            <a:avLst/>
          </a:prstGeom>
        </p:spPr>
      </p:pic>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8156" y="1283177"/>
            <a:ext cx="810713" cy="658747"/>
          </a:xfrm>
          <a:prstGeom prst="rect">
            <a:avLst/>
          </a:prstGeom>
        </p:spPr>
      </p:pic>
      <p:sp>
        <p:nvSpPr>
          <p:cNvPr id="23" name="文本框 22"/>
          <p:cNvSpPr txBox="1"/>
          <p:nvPr/>
        </p:nvSpPr>
        <p:spPr>
          <a:xfrm>
            <a:off x="697585" y="1427530"/>
            <a:ext cx="4490864"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ESC</a:t>
            </a:r>
            <a:r>
              <a:rPr lang="zh-CN" altLang="en-US" b="1" dirty="0">
                <a:latin typeface="Microsoft YaHei UI" panose="020B0503020204020204" pitchFamily="34" charset="-122"/>
                <a:ea typeface="Microsoft YaHei UI" panose="020B0503020204020204" pitchFamily="34" charset="-122"/>
              </a:rPr>
              <a:t>临床实践指南依从性指标的相应推荐</a:t>
            </a:r>
          </a:p>
        </p:txBody>
      </p:sp>
      <p:sp>
        <p:nvSpPr>
          <p:cNvPr id="8" name="文本框 7"/>
          <p:cNvSpPr txBox="1"/>
          <p:nvPr/>
        </p:nvSpPr>
        <p:spPr>
          <a:xfrm>
            <a:off x="9399388" y="1284493"/>
            <a:ext cx="765744"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推荐等级</a:t>
            </a:r>
          </a:p>
        </p:txBody>
      </p:sp>
      <p:sp>
        <p:nvSpPr>
          <p:cNvPr id="24" name="文本框 23"/>
          <p:cNvSpPr txBox="1"/>
          <p:nvPr/>
        </p:nvSpPr>
        <p:spPr>
          <a:xfrm>
            <a:off x="10216841" y="1289743"/>
            <a:ext cx="719907" cy="646331"/>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证据等级</a:t>
            </a:r>
          </a:p>
        </p:txBody>
      </p:sp>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8" name="文本框 27"/>
          <p:cNvSpPr txBox="1"/>
          <p:nvPr/>
        </p:nvSpPr>
        <p:spPr>
          <a:xfrm>
            <a:off x="702721" y="592843"/>
            <a:ext cx="9514119" cy="584775"/>
          </a:xfrm>
          <a:prstGeom prst="rect">
            <a:avLst/>
          </a:prstGeom>
          <a:noFill/>
        </p:spPr>
        <p:txBody>
          <a:bodyPr wrap="square" rtlCol="0">
            <a:spAutoFit/>
          </a:bodyPr>
          <a:lstStyle/>
          <a:p>
            <a:r>
              <a:rPr lang="zh-CN" altLang="en-US" sz="3200" b="1" dirty="0">
                <a:solidFill>
                  <a:srgbClr val="AE1022"/>
                </a:solidFill>
                <a:latin typeface="Microsoft YaHei UI" panose="020B0503020204020204" pitchFamily="34" charset="-122"/>
                <a:ea typeface="Microsoft YaHei UI" panose="020B0503020204020204" pitchFamily="34" charset="-122"/>
              </a:rPr>
              <a:t>新章节：</a:t>
            </a:r>
            <a:r>
              <a:rPr lang="en-US" altLang="zh-CN" sz="3200" b="1" dirty="0">
                <a:solidFill>
                  <a:srgbClr val="AE1022"/>
                </a:solidFill>
                <a:latin typeface="Microsoft YaHei UI" panose="020B0503020204020204" pitchFamily="34" charset="-122"/>
                <a:ea typeface="Microsoft YaHei UI" panose="020B0503020204020204" pitchFamily="34" charset="-122"/>
              </a:rPr>
              <a:t>NSTE-ACS</a:t>
            </a:r>
            <a:r>
              <a:rPr lang="zh-CN" altLang="en-US" sz="3200" b="1" dirty="0">
                <a:solidFill>
                  <a:srgbClr val="AE1022"/>
                </a:solidFill>
                <a:latin typeface="Microsoft YaHei UI" panose="020B0503020204020204" pitchFamily="34" charset="-122"/>
                <a:ea typeface="Microsoft YaHei UI" panose="020B0503020204020204" pitchFamily="34" charset="-122"/>
              </a:rPr>
              <a:t>的指南推荐依从性质量指标（</a:t>
            </a:r>
            <a:r>
              <a:rPr lang="en-US" altLang="zh-CN" sz="3200" b="1" dirty="0">
                <a:solidFill>
                  <a:srgbClr val="AE1022"/>
                </a:solidFill>
                <a:latin typeface="Microsoft YaHei UI" panose="020B0503020204020204" pitchFamily="34" charset="-122"/>
                <a:ea typeface="Microsoft YaHei UI" panose="020B0503020204020204" pitchFamily="34" charset="-122"/>
              </a:rPr>
              <a:t>2</a:t>
            </a:r>
            <a:r>
              <a:rPr lang="zh-CN" altLang="en-US" sz="3200" b="1" dirty="0">
                <a:solidFill>
                  <a:srgbClr val="AE1022"/>
                </a:solidFill>
                <a:latin typeface="Microsoft YaHei UI" panose="020B0503020204020204" pitchFamily="34" charset="-122"/>
                <a:ea typeface="Microsoft YaHei UI" panose="020B0503020204020204" pitchFamily="34" charset="-122"/>
              </a:rPr>
              <a:t>）</a:t>
            </a:r>
          </a:p>
        </p:txBody>
      </p:sp>
      <p:sp>
        <p:nvSpPr>
          <p:cNvPr id="13" name="矩形 12"/>
          <p:cNvSpPr/>
          <p:nvPr/>
        </p:nvSpPr>
        <p:spPr>
          <a:xfrm>
            <a:off x="702722" y="2325488"/>
            <a:ext cx="8580428" cy="61950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除存在禁忌证或额外的出血风险外，推荐在阿司匹林基础上联用一种</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抑制剂治疗</a:t>
            </a:r>
            <a:r>
              <a:rPr lang="zh-CN" altLang="en-US" b="1" dirty="0">
                <a:solidFill>
                  <a:srgbClr val="FF0000"/>
                </a:solidFill>
                <a:latin typeface="Microsoft YaHei UI" panose="020B0503020204020204" pitchFamily="34" charset="-122"/>
                <a:ea typeface="Microsoft YaHei UI" panose="020B0503020204020204" pitchFamily="34" charset="-122"/>
              </a:rPr>
              <a:t>超过</a:t>
            </a:r>
            <a:r>
              <a:rPr lang="en-US" altLang="zh-CN" b="1" dirty="0">
                <a:solidFill>
                  <a:srgbClr val="FF0000"/>
                </a:solidFill>
                <a:latin typeface="Microsoft YaHei UI" panose="020B0503020204020204" pitchFamily="34" charset="-122"/>
                <a:ea typeface="Microsoft YaHei UI" panose="020B0503020204020204" pitchFamily="34" charset="-122"/>
              </a:rPr>
              <a:t>12</a:t>
            </a:r>
            <a:r>
              <a:rPr lang="zh-CN" altLang="en-US" b="1" dirty="0">
                <a:solidFill>
                  <a:srgbClr val="FF0000"/>
                </a:solidFill>
                <a:latin typeface="Microsoft YaHei UI" panose="020B0503020204020204" pitchFamily="34" charset="-122"/>
                <a:ea typeface="Microsoft YaHei UI" panose="020B0503020204020204" pitchFamily="34" charset="-122"/>
              </a:rPr>
              <a:t>个月</a:t>
            </a:r>
            <a:endParaRPr lang="en-US" altLang="zh-CN" b="1" dirty="0">
              <a:solidFill>
                <a:srgbClr val="FF0000"/>
              </a:solidFill>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990" y="1933186"/>
            <a:ext cx="10248169" cy="375008"/>
          </a:xfrm>
          <a:prstGeom prst="rect">
            <a:avLst/>
          </a:prstGeom>
        </p:spPr>
      </p:pic>
      <p:sp>
        <p:nvSpPr>
          <p:cNvPr id="5" name="文本框 4"/>
          <p:cNvSpPr txBox="1"/>
          <p:nvPr/>
        </p:nvSpPr>
        <p:spPr>
          <a:xfrm>
            <a:off x="682223" y="1932216"/>
            <a:ext cx="2749345"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住院期间抗血栓治疗</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643" y="2978430"/>
            <a:ext cx="10260226" cy="375008"/>
          </a:xfrm>
          <a:prstGeom prst="rect">
            <a:avLst/>
          </a:prstGeom>
        </p:spPr>
      </p:pic>
      <p:sp>
        <p:nvSpPr>
          <p:cNvPr id="14" name="文本框 13"/>
          <p:cNvSpPr txBox="1"/>
          <p:nvPr/>
        </p:nvSpPr>
        <p:spPr>
          <a:xfrm>
            <a:off x="667820" y="2977460"/>
            <a:ext cx="3970962"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出院后的二级预防</a:t>
            </a:r>
          </a:p>
        </p:txBody>
      </p:sp>
      <p:pic>
        <p:nvPicPr>
          <p:cNvPr id="3" name="图片 2"/>
          <p:cNvPicPr>
            <a:picLocks noChangeAspect="1"/>
          </p:cNvPicPr>
          <p:nvPr/>
        </p:nvPicPr>
        <p:blipFill rotWithShape="1">
          <a:blip r:embed="rId4">
            <a:extLst>
              <a:ext uri="{28A0092B-C50C-407E-A947-70E740481C1C}">
                <a14:useLocalDpi xmlns:a14="http://schemas.microsoft.com/office/drawing/2010/main" val="0"/>
              </a:ext>
            </a:extLst>
          </a:blip>
          <a:srcRect t="72521" b="18406"/>
          <a:stretch>
            <a:fillRect/>
          </a:stretch>
        </p:blipFill>
        <p:spPr>
          <a:xfrm>
            <a:off x="9287199" y="2328659"/>
            <a:ext cx="1686380" cy="627459"/>
          </a:xfrm>
          <a:prstGeom prst="rect">
            <a:avLst/>
          </a:prstGeom>
        </p:spPr>
      </p:pic>
      <p:sp>
        <p:nvSpPr>
          <p:cNvPr id="4" name="矩形 3"/>
          <p:cNvSpPr/>
          <p:nvPr/>
        </p:nvSpPr>
        <p:spPr>
          <a:xfrm>
            <a:off x="701061" y="3376883"/>
            <a:ext cx="8595790" cy="62142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推荐对所有</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患者使用他汀类药物，降脂目标为使</a:t>
            </a:r>
            <a:r>
              <a:rPr lang="en-US" altLang="zh-CN" dirty="0">
                <a:latin typeface="Microsoft YaHei UI" panose="020B0503020204020204" pitchFamily="34" charset="-122"/>
                <a:ea typeface="Microsoft YaHei UI" panose="020B0503020204020204" pitchFamily="34" charset="-122"/>
              </a:rPr>
              <a:t>LDL-C</a:t>
            </a:r>
            <a:r>
              <a:rPr lang="zh-CN" altLang="en-US" dirty="0">
                <a:latin typeface="Microsoft YaHei UI" panose="020B0503020204020204" pitchFamily="34" charset="-122"/>
                <a:ea typeface="Microsoft YaHei UI" panose="020B0503020204020204" pitchFamily="34" charset="-122"/>
              </a:rPr>
              <a:t>降低超过基线值的</a:t>
            </a:r>
            <a:r>
              <a:rPr lang="en-US" altLang="zh-CN" dirty="0">
                <a:latin typeface="Microsoft YaHei UI" panose="020B0503020204020204" pitchFamily="34" charset="-122"/>
                <a:ea typeface="Microsoft YaHei UI" panose="020B0503020204020204" pitchFamily="34" charset="-122"/>
              </a:rPr>
              <a:t>50%</a:t>
            </a:r>
            <a:r>
              <a:rPr lang="zh-CN" altLang="en-US" dirty="0">
                <a:latin typeface="Microsoft YaHei UI" panose="020B0503020204020204" pitchFamily="34" charset="-122"/>
                <a:ea typeface="Microsoft YaHei UI" panose="020B0503020204020204" pitchFamily="34" charset="-122"/>
              </a:rPr>
              <a:t>和</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或达到</a:t>
            </a:r>
            <a:r>
              <a:rPr lang="en-US" altLang="zh-CN" dirty="0">
                <a:latin typeface="Microsoft YaHei UI" panose="020B0503020204020204" pitchFamily="34" charset="-122"/>
                <a:ea typeface="Microsoft YaHei UI" panose="020B0503020204020204" pitchFamily="34" charset="-122"/>
              </a:rPr>
              <a:t>LDL-C</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1.4mmpl/L</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55mg/</a:t>
            </a:r>
            <a:r>
              <a:rPr lang="en-US" altLang="zh-CN" dirty="0" err="1">
                <a:latin typeface="Microsoft YaHei UI" panose="020B0503020204020204" pitchFamily="34" charset="-122"/>
                <a:ea typeface="Microsoft YaHei UI" panose="020B0503020204020204" pitchFamily="34" charset="-122"/>
              </a:rPr>
              <a:t>dL</a:t>
            </a:r>
            <a:r>
              <a:rPr lang="zh-CN" altLang="en-US" dirty="0">
                <a:latin typeface="Microsoft YaHei UI" panose="020B0503020204020204" pitchFamily="34" charset="-122"/>
                <a:ea typeface="Microsoft YaHei UI" panose="020B0503020204020204" pitchFamily="34" charset="-122"/>
              </a:rPr>
              <a:t>）</a:t>
            </a:r>
            <a:endParaRPr lang="en-US" altLang="zh-CN" dirty="0">
              <a:latin typeface="Microsoft YaHei UI" panose="020B0503020204020204" pitchFamily="34" charset="-122"/>
              <a:ea typeface="Microsoft YaHei UI" panose="020B0503020204020204" pitchFamily="34" charset="-122"/>
            </a:endParaRPr>
          </a:p>
        </p:txBody>
      </p:sp>
      <p:pic>
        <p:nvPicPr>
          <p:cNvPr id="11" name="图片 10"/>
          <p:cNvPicPr>
            <a:picLocks noChangeAspect="1"/>
          </p:cNvPicPr>
          <p:nvPr/>
        </p:nvPicPr>
        <p:blipFill rotWithShape="1">
          <a:blip r:embed="rId4">
            <a:extLst>
              <a:ext uri="{28A0092B-C50C-407E-A947-70E740481C1C}">
                <a14:useLocalDpi xmlns:a14="http://schemas.microsoft.com/office/drawing/2010/main" val="0"/>
              </a:ext>
            </a:extLst>
          </a:blip>
          <a:srcRect t="72521" b="18406"/>
          <a:stretch>
            <a:fillRect/>
          </a:stretch>
        </p:blipFill>
        <p:spPr>
          <a:xfrm>
            <a:off x="9296851" y="3373890"/>
            <a:ext cx="1686380" cy="627459"/>
          </a:xfrm>
          <a:prstGeom prst="rect">
            <a:avLst/>
          </a:prstGeom>
        </p:spPr>
      </p:pic>
      <p:sp>
        <p:nvSpPr>
          <p:cNvPr id="15" name="矩形 14"/>
          <p:cNvSpPr/>
          <p:nvPr/>
        </p:nvSpPr>
        <p:spPr>
          <a:xfrm>
            <a:off x="692448" y="4048686"/>
            <a:ext cx="8580428" cy="37342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solidFill>
                  <a:srgbClr val="FF0000"/>
                </a:solidFill>
                <a:latin typeface="Microsoft YaHei UI" panose="020B0503020204020204" pitchFamily="34" charset="-122"/>
                <a:ea typeface="Microsoft YaHei UI" panose="020B0503020204020204" pitchFamily="34" charset="-122"/>
              </a:rPr>
              <a:t>推荐对左心室功能不全或心衰伴</a:t>
            </a:r>
            <a:r>
              <a:rPr lang="en-US" altLang="zh-CN" b="1" dirty="0">
                <a:solidFill>
                  <a:srgbClr val="FF0000"/>
                </a:solidFill>
                <a:latin typeface="Microsoft YaHei UI" panose="020B0503020204020204" pitchFamily="34" charset="-122"/>
                <a:ea typeface="Microsoft YaHei UI" panose="020B0503020204020204" pitchFamily="34" charset="-122"/>
              </a:rPr>
              <a:t>LVEF</a:t>
            </a:r>
            <a:r>
              <a:rPr lang="zh-CN" altLang="en-US" b="1" dirty="0">
                <a:solidFill>
                  <a:srgbClr val="FF0000"/>
                </a:solidFill>
                <a:latin typeface="Microsoft YaHei UI" panose="020B0503020204020204" pitchFamily="34" charset="-122"/>
                <a:ea typeface="Microsoft YaHei UI" panose="020B0503020204020204" pitchFamily="34" charset="-122"/>
              </a:rPr>
              <a:t>＜</a:t>
            </a:r>
            <a:r>
              <a:rPr lang="en-US" altLang="zh-CN" b="1" dirty="0">
                <a:solidFill>
                  <a:srgbClr val="FF0000"/>
                </a:solidFill>
                <a:latin typeface="Microsoft YaHei UI" panose="020B0503020204020204" pitchFamily="34" charset="-122"/>
                <a:ea typeface="Microsoft YaHei UI" panose="020B0503020204020204" pitchFamily="34" charset="-122"/>
              </a:rPr>
              <a:t>40%</a:t>
            </a:r>
            <a:r>
              <a:rPr lang="zh-CN" altLang="en-US" b="1" dirty="0">
                <a:solidFill>
                  <a:srgbClr val="FF0000"/>
                </a:solidFill>
                <a:latin typeface="Microsoft YaHei UI" panose="020B0503020204020204" pitchFamily="34" charset="-122"/>
                <a:ea typeface="Microsoft YaHei UI" panose="020B0503020204020204" pitchFamily="34" charset="-122"/>
              </a:rPr>
              <a:t>的患者使用</a:t>
            </a:r>
            <a:r>
              <a:rPr lang="en-US" altLang="zh-CN" b="1" dirty="0">
                <a:solidFill>
                  <a:srgbClr val="FF0000"/>
                </a:solidFill>
                <a:latin typeface="Microsoft YaHei UI" panose="020B0503020204020204" pitchFamily="34" charset="-122"/>
                <a:ea typeface="Microsoft YaHei UI" panose="020B0503020204020204" pitchFamily="34" charset="-122"/>
              </a:rPr>
              <a:t>β</a:t>
            </a:r>
            <a:r>
              <a:rPr lang="zh-CN" altLang="en-US" b="1" dirty="0">
                <a:solidFill>
                  <a:srgbClr val="FF0000"/>
                </a:solidFill>
                <a:latin typeface="Microsoft YaHei UI" panose="020B0503020204020204" pitchFamily="34" charset="-122"/>
                <a:ea typeface="Microsoft YaHei UI" panose="020B0503020204020204" pitchFamily="34" charset="-122"/>
              </a:rPr>
              <a:t>受体阻滞剂</a:t>
            </a:r>
            <a:endParaRPr lang="en-US" altLang="zh-CN" b="1" dirty="0">
              <a:solidFill>
                <a:srgbClr val="FF0000"/>
              </a:solidFill>
              <a:latin typeface="Microsoft YaHei UI" panose="020B0503020204020204" pitchFamily="34" charset="-122"/>
              <a:ea typeface="Microsoft YaHei UI" panose="020B0503020204020204" pitchFamily="34" charset="-122"/>
            </a:endParaRPr>
          </a:p>
        </p:txBody>
      </p:sp>
      <p:pic>
        <p:nvPicPr>
          <p:cNvPr id="16" name="图片 15"/>
          <p:cNvPicPr>
            <a:picLocks noChangeAspect="1"/>
          </p:cNvPicPr>
          <p:nvPr/>
        </p:nvPicPr>
        <p:blipFill rotWithShape="1">
          <a:blip r:embed="rId4">
            <a:extLst>
              <a:ext uri="{28A0092B-C50C-407E-A947-70E740481C1C}">
                <a14:useLocalDpi xmlns:a14="http://schemas.microsoft.com/office/drawing/2010/main" val="0"/>
              </a:ext>
            </a:extLst>
          </a:blip>
          <a:srcRect t="74536" b="20283"/>
          <a:stretch>
            <a:fillRect/>
          </a:stretch>
        </p:blipFill>
        <p:spPr>
          <a:xfrm>
            <a:off x="9302507" y="4048686"/>
            <a:ext cx="1679279" cy="37342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7" name="图片 6">
            <a:extLst>
              <a:ext uri="{FF2B5EF4-FFF2-40B4-BE49-F238E27FC236}">
                <a16:creationId xmlns:a16="http://schemas.microsoft.com/office/drawing/2014/main" id="{9E8A3BB9-FFF3-48C1-AC4B-BD6320E9E57E}"/>
              </a:ext>
            </a:extLst>
          </p:cNvPr>
          <p:cNvPicPr>
            <a:picLocks noChangeAspect="1"/>
          </p:cNvPicPr>
          <p:nvPr/>
        </p:nvPicPr>
        <p:blipFill rotWithShape="1">
          <a:blip r:embed="rId3">
            <a:extLst>
              <a:ext uri="{28A0092B-C50C-407E-A947-70E740481C1C}">
                <a14:useLocalDpi xmlns:a14="http://schemas.microsoft.com/office/drawing/2010/main" val="0"/>
              </a:ext>
            </a:extLst>
          </a:blip>
          <a:srcRect b="47233"/>
          <a:stretch/>
        </p:blipFill>
        <p:spPr>
          <a:xfrm>
            <a:off x="1439592" y="82192"/>
            <a:ext cx="8444147" cy="5992874"/>
          </a:xfrm>
          <a:prstGeom prst="rect">
            <a:avLst/>
          </a:prstGeom>
        </p:spPr>
      </p:pic>
      <p:sp>
        <p:nvSpPr>
          <p:cNvPr id="9" name="矩形 8">
            <a:extLst>
              <a:ext uri="{FF2B5EF4-FFF2-40B4-BE49-F238E27FC236}">
                <a16:creationId xmlns:a16="http://schemas.microsoft.com/office/drawing/2014/main" id="{F468E270-2CE5-4BEB-A162-1B7E073D0E77}"/>
              </a:ext>
            </a:extLst>
          </p:cNvPr>
          <p:cNvSpPr/>
          <p:nvPr/>
        </p:nvSpPr>
        <p:spPr>
          <a:xfrm>
            <a:off x="3744922" y="215757"/>
            <a:ext cx="4330565" cy="220894"/>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icrosoft YaHei UI" panose="020B0503020204020204" pitchFamily="34" charset="-122"/>
                <a:ea typeface="Microsoft YaHei UI" panose="020B0503020204020204" pitchFamily="34" charset="-122"/>
              </a:rPr>
              <a:t>NSTE-ACS</a:t>
            </a:r>
            <a:r>
              <a:rPr lang="zh-CN" altLang="en-US" b="1" dirty="0">
                <a:solidFill>
                  <a:schemeClr val="bg1"/>
                </a:solidFill>
                <a:latin typeface="Microsoft YaHei UI" panose="020B0503020204020204" pitchFamily="34" charset="-122"/>
                <a:ea typeface="Microsoft YaHei UI" panose="020B0503020204020204" pitchFamily="34" charset="-122"/>
              </a:rPr>
              <a:t>治疗策略流程图</a:t>
            </a:r>
            <a:endParaRPr lang="en-US" altLang="zh-CN" b="1" dirty="0">
              <a:solidFill>
                <a:schemeClr val="bg1"/>
              </a:solidFill>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ED3ADC06-7372-466D-9F7E-BE4B4691D817}"/>
              </a:ext>
            </a:extLst>
          </p:cNvPr>
          <p:cNvSpPr/>
          <p:nvPr/>
        </p:nvSpPr>
        <p:spPr>
          <a:xfrm>
            <a:off x="2119893" y="924675"/>
            <a:ext cx="1203798" cy="508570"/>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icrosoft YaHei UI" panose="020B0503020204020204" pitchFamily="34" charset="-122"/>
                <a:ea typeface="Microsoft YaHei UI" panose="020B0503020204020204" pitchFamily="34" charset="-122"/>
              </a:rPr>
              <a:t>初始评估及临床路径（入院，监护及出院）</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17" name="矩形 16">
            <a:extLst>
              <a:ext uri="{FF2B5EF4-FFF2-40B4-BE49-F238E27FC236}">
                <a16:creationId xmlns:a16="http://schemas.microsoft.com/office/drawing/2014/main" id="{EB2CCD3A-40C3-47FA-8202-42257D6DC97E}"/>
              </a:ext>
            </a:extLst>
          </p:cNvPr>
          <p:cNvSpPr/>
          <p:nvPr/>
        </p:nvSpPr>
        <p:spPr>
          <a:xfrm>
            <a:off x="2202085" y="2278297"/>
            <a:ext cx="1040015" cy="508570"/>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icrosoft YaHei UI" panose="020B0503020204020204" pitchFamily="34" charset="-122"/>
                <a:ea typeface="Microsoft YaHei UI" panose="020B0503020204020204" pitchFamily="34" charset="-122"/>
              </a:rPr>
              <a:t>确诊及风险评估</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18" name="矩形 17">
            <a:extLst>
              <a:ext uri="{FF2B5EF4-FFF2-40B4-BE49-F238E27FC236}">
                <a16:creationId xmlns:a16="http://schemas.microsoft.com/office/drawing/2014/main" id="{FC70B51F-AAE6-43EC-A2CD-20E66EBDAC4B}"/>
              </a:ext>
            </a:extLst>
          </p:cNvPr>
          <p:cNvSpPr/>
          <p:nvPr/>
        </p:nvSpPr>
        <p:spPr>
          <a:xfrm>
            <a:off x="2140442" y="3966684"/>
            <a:ext cx="1111329" cy="508570"/>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icrosoft YaHei UI" panose="020B0503020204020204" pitchFamily="34" charset="-122"/>
                <a:ea typeface="Microsoft YaHei UI" panose="020B0503020204020204" pitchFamily="34" charset="-122"/>
              </a:rPr>
              <a:t>抗血栓治疗的选择</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19" name="矩形 18">
            <a:extLst>
              <a:ext uri="{FF2B5EF4-FFF2-40B4-BE49-F238E27FC236}">
                <a16:creationId xmlns:a16="http://schemas.microsoft.com/office/drawing/2014/main" id="{89528354-C731-4D80-862E-C4B31F1E92F0}"/>
              </a:ext>
            </a:extLst>
          </p:cNvPr>
          <p:cNvSpPr/>
          <p:nvPr/>
        </p:nvSpPr>
        <p:spPr>
          <a:xfrm>
            <a:off x="3744922" y="924675"/>
            <a:ext cx="1203798" cy="508570"/>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评估症状，生命体征，心电图，</a:t>
            </a:r>
            <a:r>
              <a:rPr lang="en-US" altLang="zh-CN" sz="1200" b="1" dirty="0" err="1">
                <a:solidFill>
                  <a:schemeClr val="tx1"/>
                </a:solidFill>
                <a:latin typeface="Microsoft YaHei UI" panose="020B0503020204020204" pitchFamily="34" charset="-122"/>
                <a:ea typeface="Microsoft YaHei UI" panose="020B0503020204020204" pitchFamily="34" charset="-122"/>
              </a:rPr>
              <a:t>hs-cTn</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33" name="矩形 32">
            <a:extLst>
              <a:ext uri="{FF2B5EF4-FFF2-40B4-BE49-F238E27FC236}">
                <a16:creationId xmlns:a16="http://schemas.microsoft.com/office/drawing/2014/main" id="{B7D910D3-1D1A-4EC4-BC78-BD256820F927}"/>
              </a:ext>
            </a:extLst>
          </p:cNvPr>
          <p:cNvSpPr/>
          <p:nvPr/>
        </p:nvSpPr>
        <p:spPr>
          <a:xfrm>
            <a:off x="5369951" y="887004"/>
            <a:ext cx="664403" cy="587338"/>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非侵入性影像学检查</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35" name="矩形 34">
            <a:extLst>
              <a:ext uri="{FF2B5EF4-FFF2-40B4-BE49-F238E27FC236}">
                <a16:creationId xmlns:a16="http://schemas.microsoft.com/office/drawing/2014/main" id="{03FEEB1C-52DA-4B8E-9046-D91F4549B7D7}"/>
              </a:ext>
            </a:extLst>
          </p:cNvPr>
          <p:cNvSpPr/>
          <p:nvPr/>
        </p:nvSpPr>
        <p:spPr>
          <a:xfrm>
            <a:off x="6328882" y="924675"/>
            <a:ext cx="785970" cy="508570"/>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Microsoft YaHei UI" panose="020B0503020204020204" pitchFamily="34" charset="-122"/>
                <a:ea typeface="Microsoft YaHei UI" panose="020B0503020204020204" pitchFamily="34" charset="-122"/>
              </a:rPr>
              <a:t>1</a:t>
            </a:r>
            <a:r>
              <a:rPr lang="zh-CN" altLang="en-US" sz="1200" b="1" dirty="0">
                <a:solidFill>
                  <a:schemeClr val="tx1"/>
                </a:solidFill>
                <a:latin typeface="Microsoft YaHei UI" panose="020B0503020204020204" pitchFamily="34" charset="-122"/>
                <a:ea typeface="Microsoft YaHei UI" panose="020B0503020204020204" pitchFamily="34" charset="-122"/>
              </a:rPr>
              <a:t>小时内</a:t>
            </a:r>
            <a:r>
              <a:rPr lang="en-US" altLang="zh-CN" sz="1200" b="1" dirty="0" err="1">
                <a:solidFill>
                  <a:schemeClr val="tx1"/>
                </a:solidFill>
                <a:latin typeface="Microsoft YaHei UI" panose="020B0503020204020204" pitchFamily="34" charset="-122"/>
                <a:ea typeface="Microsoft YaHei UI" panose="020B0503020204020204" pitchFamily="34" charset="-122"/>
              </a:rPr>
              <a:t>hs-cTn</a:t>
            </a:r>
            <a:r>
              <a:rPr lang="zh-CN" altLang="en-US" sz="1200" b="1" dirty="0">
                <a:solidFill>
                  <a:schemeClr val="tx1"/>
                </a:solidFill>
                <a:latin typeface="Microsoft YaHei UI" panose="020B0503020204020204" pitchFamily="34" charset="-122"/>
                <a:ea typeface="Microsoft YaHei UI" panose="020B0503020204020204" pitchFamily="34" charset="-122"/>
              </a:rPr>
              <a:t>变化</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37" name="矩形 36">
            <a:extLst>
              <a:ext uri="{FF2B5EF4-FFF2-40B4-BE49-F238E27FC236}">
                <a16:creationId xmlns:a16="http://schemas.microsoft.com/office/drawing/2014/main" id="{3990BEFD-BF62-4E5A-BBA4-3E6A9A21A114}"/>
              </a:ext>
            </a:extLst>
          </p:cNvPr>
          <p:cNvSpPr/>
          <p:nvPr/>
        </p:nvSpPr>
        <p:spPr>
          <a:xfrm>
            <a:off x="3667874" y="1989568"/>
            <a:ext cx="1340778" cy="108906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病史，症状，生命体征，</a:t>
            </a:r>
            <a:r>
              <a:rPr lang="en-US" altLang="zh-CN" sz="1200" b="1" dirty="0">
                <a:solidFill>
                  <a:schemeClr val="tx1"/>
                </a:solidFill>
                <a:latin typeface="Microsoft YaHei UI" panose="020B0503020204020204" pitchFamily="34" charset="-122"/>
                <a:ea typeface="Microsoft YaHei UI" panose="020B0503020204020204" pitchFamily="34" charset="-122"/>
              </a:rPr>
              <a:t>10</a:t>
            </a:r>
            <a:r>
              <a:rPr lang="zh-CN" altLang="en-US" sz="1200" b="1" dirty="0">
                <a:solidFill>
                  <a:schemeClr val="tx1"/>
                </a:solidFill>
                <a:latin typeface="Microsoft YaHei UI" panose="020B0503020204020204" pitchFamily="34" charset="-122"/>
                <a:ea typeface="Microsoft YaHei UI" panose="020B0503020204020204" pitchFamily="34" charset="-122"/>
              </a:rPr>
              <a:t>分钟内心电图，体格检查，实验室检查，</a:t>
            </a:r>
            <a:r>
              <a:rPr lang="en-US" altLang="zh-CN" sz="1200" b="1" dirty="0">
                <a:solidFill>
                  <a:schemeClr val="tx1"/>
                </a:solidFill>
                <a:latin typeface="Microsoft YaHei UI" panose="020B0503020204020204" pitchFamily="34" charset="-122"/>
                <a:ea typeface="Microsoft YaHei UI" panose="020B0503020204020204" pitchFamily="34" charset="-122"/>
              </a:rPr>
              <a:t>1</a:t>
            </a:r>
            <a:r>
              <a:rPr lang="zh-CN" altLang="en-US" sz="1200" b="1" dirty="0">
                <a:solidFill>
                  <a:schemeClr val="tx1"/>
                </a:solidFill>
                <a:latin typeface="Microsoft YaHei UI" panose="020B0503020204020204" pitchFamily="34" charset="-122"/>
                <a:ea typeface="Microsoft YaHei UI" panose="020B0503020204020204" pitchFamily="34" charset="-122"/>
              </a:rPr>
              <a:t>小时内</a:t>
            </a:r>
            <a:r>
              <a:rPr lang="en-US" altLang="zh-CN" sz="1200" b="1" dirty="0" err="1">
                <a:solidFill>
                  <a:schemeClr val="tx1"/>
                </a:solidFill>
                <a:latin typeface="Microsoft YaHei UI" panose="020B0503020204020204" pitchFamily="34" charset="-122"/>
                <a:ea typeface="Microsoft YaHei UI" panose="020B0503020204020204" pitchFamily="34" charset="-122"/>
              </a:rPr>
              <a:t>hs-cTn</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39" name="矩形 38">
            <a:extLst>
              <a:ext uri="{FF2B5EF4-FFF2-40B4-BE49-F238E27FC236}">
                <a16:creationId xmlns:a16="http://schemas.microsoft.com/office/drawing/2014/main" id="{8FB940CF-F3F7-4C84-B47C-6CEEAA6B8A11}"/>
              </a:ext>
            </a:extLst>
          </p:cNvPr>
          <p:cNvSpPr/>
          <p:nvPr/>
        </p:nvSpPr>
        <p:spPr>
          <a:xfrm>
            <a:off x="4070279" y="3549720"/>
            <a:ext cx="1746607" cy="354459"/>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根据情况使用阿司匹林</a:t>
            </a:r>
            <a:r>
              <a:rPr lang="en-US" altLang="zh-CN" sz="1200" b="1" dirty="0">
                <a:solidFill>
                  <a:schemeClr val="tx1"/>
                </a:solidFill>
                <a:latin typeface="Microsoft YaHei UI" panose="020B0503020204020204" pitchFamily="34" charset="-122"/>
                <a:ea typeface="Microsoft YaHei UI" panose="020B0503020204020204" pitchFamily="34" charset="-122"/>
              </a:rPr>
              <a:t>150-300mg IA</a:t>
            </a:r>
          </a:p>
        </p:txBody>
      </p:sp>
      <p:sp>
        <p:nvSpPr>
          <p:cNvPr id="41" name="矩形 40">
            <a:extLst>
              <a:ext uri="{FF2B5EF4-FFF2-40B4-BE49-F238E27FC236}">
                <a16:creationId xmlns:a16="http://schemas.microsoft.com/office/drawing/2014/main" id="{8856FE2A-4178-4338-9C1E-DB0793CE50B2}"/>
              </a:ext>
            </a:extLst>
          </p:cNvPr>
          <p:cNvSpPr/>
          <p:nvPr/>
        </p:nvSpPr>
        <p:spPr>
          <a:xfrm>
            <a:off x="4455552" y="4033076"/>
            <a:ext cx="919536" cy="29748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普通肝素  </a:t>
            </a:r>
            <a:r>
              <a:rPr lang="en-US" altLang="zh-CN" sz="1200" b="1" dirty="0">
                <a:solidFill>
                  <a:schemeClr val="tx1"/>
                </a:solidFill>
                <a:latin typeface="Microsoft YaHei UI" panose="020B0503020204020204" pitchFamily="34" charset="-122"/>
                <a:ea typeface="Microsoft YaHei UI" panose="020B0503020204020204" pitchFamily="34" charset="-122"/>
              </a:rPr>
              <a:t>IA</a:t>
            </a:r>
          </a:p>
        </p:txBody>
      </p:sp>
      <p:sp>
        <p:nvSpPr>
          <p:cNvPr id="43" name="矩形 42">
            <a:extLst>
              <a:ext uri="{FF2B5EF4-FFF2-40B4-BE49-F238E27FC236}">
                <a16:creationId xmlns:a16="http://schemas.microsoft.com/office/drawing/2014/main" id="{1852FF49-D97E-4829-B00E-AE48BA88EC1B}"/>
              </a:ext>
            </a:extLst>
          </p:cNvPr>
          <p:cNvSpPr/>
          <p:nvPr/>
        </p:nvSpPr>
        <p:spPr>
          <a:xfrm>
            <a:off x="4369942" y="4450586"/>
            <a:ext cx="1085635" cy="29748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磺达肝癸钠  </a:t>
            </a:r>
            <a:r>
              <a:rPr lang="en-US" altLang="zh-CN" sz="1200" b="1" dirty="0">
                <a:solidFill>
                  <a:schemeClr val="tx1"/>
                </a:solidFill>
                <a:latin typeface="Microsoft YaHei UI" panose="020B0503020204020204" pitchFamily="34" charset="-122"/>
                <a:ea typeface="Microsoft YaHei UI" panose="020B0503020204020204" pitchFamily="34" charset="-122"/>
              </a:rPr>
              <a:t>IB</a:t>
            </a:r>
          </a:p>
        </p:txBody>
      </p:sp>
      <p:sp>
        <p:nvSpPr>
          <p:cNvPr id="45" name="矩形 44">
            <a:extLst>
              <a:ext uri="{FF2B5EF4-FFF2-40B4-BE49-F238E27FC236}">
                <a16:creationId xmlns:a16="http://schemas.microsoft.com/office/drawing/2014/main" id="{03F1579D-16A2-4CF9-84BF-C55256A07412}"/>
              </a:ext>
            </a:extLst>
          </p:cNvPr>
          <p:cNvSpPr/>
          <p:nvPr/>
        </p:nvSpPr>
        <p:spPr>
          <a:xfrm>
            <a:off x="6133673" y="3549720"/>
            <a:ext cx="1085635" cy="734602"/>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Microsoft YaHei UI" panose="020B0503020204020204" pitchFamily="34" charset="-122"/>
                <a:ea typeface="Microsoft YaHei UI" panose="020B0503020204020204" pitchFamily="34" charset="-122"/>
              </a:rPr>
              <a:t>P2Y12</a:t>
            </a:r>
            <a:r>
              <a:rPr lang="zh-CN" altLang="en-US" sz="1200" b="1" dirty="0">
                <a:solidFill>
                  <a:schemeClr val="tx1"/>
                </a:solidFill>
                <a:latin typeface="Microsoft YaHei UI" panose="020B0503020204020204" pitchFamily="34" charset="-122"/>
                <a:ea typeface="Microsoft YaHei UI" panose="020B0503020204020204" pitchFamily="34" charset="-122"/>
              </a:rPr>
              <a:t>受体抑制剂联用阿司匹林</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200" b="1" dirty="0">
                <a:solidFill>
                  <a:schemeClr val="tx1"/>
                </a:solidFill>
                <a:latin typeface="Microsoft YaHei UI" panose="020B0503020204020204" pitchFamily="34" charset="-122"/>
                <a:ea typeface="Microsoft YaHei UI" panose="020B0503020204020204" pitchFamily="34" charset="-122"/>
              </a:rPr>
              <a:t>IA</a:t>
            </a:r>
          </a:p>
        </p:txBody>
      </p:sp>
      <p:sp>
        <p:nvSpPr>
          <p:cNvPr id="47" name="矩形 46">
            <a:extLst>
              <a:ext uri="{FF2B5EF4-FFF2-40B4-BE49-F238E27FC236}">
                <a16:creationId xmlns:a16="http://schemas.microsoft.com/office/drawing/2014/main" id="{D86417FA-8AAA-40DC-881C-6F0B53119988}"/>
              </a:ext>
            </a:extLst>
          </p:cNvPr>
          <p:cNvSpPr/>
          <p:nvPr/>
        </p:nvSpPr>
        <p:spPr>
          <a:xfrm>
            <a:off x="7804935" y="3604129"/>
            <a:ext cx="1431532" cy="29748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普拉格雷</a:t>
            </a:r>
            <a:r>
              <a:rPr lang="en-US" altLang="zh-CN" sz="1200" b="1" dirty="0">
                <a:solidFill>
                  <a:schemeClr val="tx1"/>
                </a:solidFill>
                <a:latin typeface="Microsoft YaHei UI" panose="020B0503020204020204" pitchFamily="34" charset="-122"/>
                <a:ea typeface="Microsoft YaHei UI" panose="020B0503020204020204" pitchFamily="34" charset="-122"/>
              </a:rPr>
              <a:t>60mg</a:t>
            </a:r>
            <a:r>
              <a:rPr lang="zh-CN" altLang="en-US" sz="1200" b="1" dirty="0">
                <a:solidFill>
                  <a:schemeClr val="tx1"/>
                </a:solidFill>
                <a:latin typeface="Microsoft YaHei UI" panose="020B0503020204020204" pitchFamily="34" charset="-122"/>
                <a:ea typeface="Microsoft YaHei UI" panose="020B0503020204020204" pitchFamily="34" charset="-122"/>
              </a:rPr>
              <a:t>  </a:t>
            </a:r>
            <a:r>
              <a:rPr lang="en-US" altLang="zh-CN" sz="1200" b="1" dirty="0">
                <a:solidFill>
                  <a:schemeClr val="tx1"/>
                </a:solidFill>
                <a:latin typeface="Microsoft YaHei UI" panose="020B0503020204020204" pitchFamily="34" charset="-122"/>
                <a:ea typeface="Microsoft YaHei UI" panose="020B0503020204020204" pitchFamily="34" charset="-122"/>
              </a:rPr>
              <a:t>IB</a:t>
            </a:r>
          </a:p>
        </p:txBody>
      </p:sp>
      <p:sp>
        <p:nvSpPr>
          <p:cNvPr id="49" name="矩形 48">
            <a:extLst>
              <a:ext uri="{FF2B5EF4-FFF2-40B4-BE49-F238E27FC236}">
                <a16:creationId xmlns:a16="http://schemas.microsoft.com/office/drawing/2014/main" id="{1DAFAC3E-56E5-4738-9FC8-05F41D3441E0}"/>
              </a:ext>
            </a:extLst>
          </p:cNvPr>
          <p:cNvSpPr/>
          <p:nvPr/>
        </p:nvSpPr>
        <p:spPr>
          <a:xfrm>
            <a:off x="7804935" y="4027939"/>
            <a:ext cx="1431532" cy="29748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替格瑞洛</a:t>
            </a:r>
            <a:r>
              <a:rPr lang="en-US" altLang="zh-CN" sz="1200" b="1" dirty="0">
                <a:solidFill>
                  <a:schemeClr val="tx1"/>
                </a:solidFill>
                <a:latin typeface="Microsoft YaHei UI" panose="020B0503020204020204" pitchFamily="34" charset="-122"/>
                <a:ea typeface="Microsoft YaHei UI" panose="020B0503020204020204" pitchFamily="34" charset="-122"/>
              </a:rPr>
              <a:t>180mg</a:t>
            </a:r>
            <a:r>
              <a:rPr lang="zh-CN" altLang="en-US" sz="1200" b="1" dirty="0">
                <a:solidFill>
                  <a:schemeClr val="tx1"/>
                </a:solidFill>
                <a:latin typeface="Microsoft YaHei UI" panose="020B0503020204020204" pitchFamily="34" charset="-122"/>
                <a:ea typeface="Microsoft YaHei UI" panose="020B0503020204020204" pitchFamily="34" charset="-122"/>
              </a:rPr>
              <a:t>  </a:t>
            </a:r>
            <a:r>
              <a:rPr lang="en-US" altLang="zh-CN" sz="1200" b="1" dirty="0">
                <a:solidFill>
                  <a:schemeClr val="tx1"/>
                </a:solidFill>
                <a:latin typeface="Microsoft YaHei UI" panose="020B0503020204020204" pitchFamily="34" charset="-122"/>
                <a:ea typeface="Microsoft YaHei UI" panose="020B0503020204020204" pitchFamily="34" charset="-122"/>
              </a:rPr>
              <a:t>IB</a:t>
            </a:r>
          </a:p>
        </p:txBody>
      </p:sp>
      <p:sp>
        <p:nvSpPr>
          <p:cNvPr id="51" name="矩形 50">
            <a:extLst>
              <a:ext uri="{FF2B5EF4-FFF2-40B4-BE49-F238E27FC236}">
                <a16:creationId xmlns:a16="http://schemas.microsoft.com/office/drawing/2014/main" id="{EF8EB698-F03D-4039-9A01-CEDE84311A4E}"/>
              </a:ext>
            </a:extLst>
          </p:cNvPr>
          <p:cNvSpPr/>
          <p:nvPr/>
        </p:nvSpPr>
        <p:spPr>
          <a:xfrm>
            <a:off x="7804935" y="4451556"/>
            <a:ext cx="1431532" cy="297481"/>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氯吡格雷</a:t>
            </a:r>
            <a:r>
              <a:rPr lang="en-US" altLang="zh-CN" sz="1200" b="1" dirty="0">
                <a:solidFill>
                  <a:schemeClr val="tx1"/>
                </a:solidFill>
                <a:latin typeface="Microsoft YaHei UI" panose="020B0503020204020204" pitchFamily="34" charset="-122"/>
                <a:ea typeface="Microsoft YaHei UI" panose="020B0503020204020204" pitchFamily="34" charset="-122"/>
              </a:rPr>
              <a:t>600mg</a:t>
            </a:r>
            <a:r>
              <a:rPr lang="zh-CN" altLang="en-US" sz="1200" b="1" dirty="0">
                <a:solidFill>
                  <a:schemeClr val="tx1"/>
                </a:solidFill>
                <a:latin typeface="Microsoft YaHei UI" panose="020B0503020204020204" pitchFamily="34" charset="-122"/>
                <a:ea typeface="Microsoft YaHei UI" panose="020B0503020204020204" pitchFamily="34" charset="-122"/>
              </a:rPr>
              <a:t>  </a:t>
            </a:r>
            <a:r>
              <a:rPr lang="en-US" altLang="zh-CN" sz="1200" b="1" dirty="0">
                <a:solidFill>
                  <a:schemeClr val="tx1"/>
                </a:solidFill>
                <a:latin typeface="Microsoft YaHei UI" panose="020B0503020204020204" pitchFamily="34" charset="-122"/>
                <a:ea typeface="Microsoft YaHei UI" panose="020B0503020204020204" pitchFamily="34" charset="-122"/>
              </a:rPr>
              <a:t>IB</a:t>
            </a:r>
          </a:p>
        </p:txBody>
      </p:sp>
      <p:sp>
        <p:nvSpPr>
          <p:cNvPr id="53" name="矩形 52">
            <a:extLst>
              <a:ext uri="{FF2B5EF4-FFF2-40B4-BE49-F238E27FC236}">
                <a16:creationId xmlns:a16="http://schemas.microsoft.com/office/drawing/2014/main" id="{A8374B53-BAA9-40E0-89E2-7BDE037DC3D9}"/>
              </a:ext>
            </a:extLst>
          </p:cNvPr>
          <p:cNvSpPr/>
          <p:nvPr/>
        </p:nvSpPr>
        <p:spPr>
          <a:xfrm>
            <a:off x="8520701" y="647272"/>
            <a:ext cx="965771" cy="244869"/>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心脏监护室</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55" name="矩形 54">
            <a:extLst>
              <a:ext uri="{FF2B5EF4-FFF2-40B4-BE49-F238E27FC236}">
                <a16:creationId xmlns:a16="http://schemas.microsoft.com/office/drawing/2014/main" id="{1BF17644-EEB2-4ED9-8B04-CDE2A74AD36D}"/>
              </a:ext>
            </a:extLst>
          </p:cNvPr>
          <p:cNvSpPr/>
          <p:nvPr/>
        </p:nvSpPr>
        <p:spPr>
          <a:xfrm>
            <a:off x="8525837" y="915917"/>
            <a:ext cx="965771" cy="244869"/>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普通病房</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57" name="矩形 56">
            <a:extLst>
              <a:ext uri="{FF2B5EF4-FFF2-40B4-BE49-F238E27FC236}">
                <a16:creationId xmlns:a16="http://schemas.microsoft.com/office/drawing/2014/main" id="{F191A911-54B0-4F75-9BE3-8011B6DA1A92}"/>
              </a:ext>
            </a:extLst>
          </p:cNvPr>
          <p:cNvSpPr/>
          <p:nvPr/>
        </p:nvSpPr>
        <p:spPr>
          <a:xfrm>
            <a:off x="8525838" y="1174288"/>
            <a:ext cx="965771" cy="244869"/>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留观</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59" name="矩形 58">
            <a:extLst>
              <a:ext uri="{FF2B5EF4-FFF2-40B4-BE49-F238E27FC236}">
                <a16:creationId xmlns:a16="http://schemas.microsoft.com/office/drawing/2014/main" id="{ABE550BE-1DA2-4716-980E-220C80CB2B4C}"/>
              </a:ext>
            </a:extLst>
          </p:cNvPr>
          <p:cNvSpPr/>
          <p:nvPr/>
        </p:nvSpPr>
        <p:spPr>
          <a:xfrm>
            <a:off x="8525838" y="1436673"/>
            <a:ext cx="965771" cy="244869"/>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出院</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61" name="矩形 60">
            <a:extLst>
              <a:ext uri="{FF2B5EF4-FFF2-40B4-BE49-F238E27FC236}">
                <a16:creationId xmlns:a16="http://schemas.microsoft.com/office/drawing/2014/main" id="{14A6E789-792E-4A34-A8F0-7F071FFC9873}"/>
              </a:ext>
            </a:extLst>
          </p:cNvPr>
          <p:cNvSpPr/>
          <p:nvPr/>
        </p:nvSpPr>
        <p:spPr>
          <a:xfrm>
            <a:off x="8610850" y="2283237"/>
            <a:ext cx="764923" cy="494212"/>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Microsoft YaHei UI" panose="020B0503020204020204" pitchFamily="34" charset="-122"/>
                <a:ea typeface="Microsoft YaHei UI" panose="020B0503020204020204" pitchFamily="34" charset="-122"/>
              </a:rPr>
              <a:t>1</a:t>
            </a:r>
            <a:r>
              <a:rPr lang="zh-CN" altLang="en-US" sz="1200" b="1" dirty="0">
                <a:solidFill>
                  <a:schemeClr val="tx1"/>
                </a:solidFill>
                <a:latin typeface="Microsoft YaHei UI" panose="020B0503020204020204" pitchFamily="34" charset="-122"/>
                <a:ea typeface="Microsoft YaHei UI" panose="020B0503020204020204" pitchFamily="34" charset="-122"/>
              </a:rPr>
              <a:t>小时</a:t>
            </a:r>
            <a:r>
              <a:rPr lang="en-US" altLang="zh-CN" sz="1200" b="1" dirty="0" err="1">
                <a:solidFill>
                  <a:schemeClr val="tx1"/>
                </a:solidFill>
                <a:latin typeface="Microsoft YaHei UI" panose="020B0503020204020204" pitchFamily="34" charset="-122"/>
                <a:ea typeface="Microsoft YaHei UI" panose="020B0503020204020204" pitchFamily="34" charset="-122"/>
              </a:rPr>
              <a:t>hs-cTn</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63" name="矩形 62">
            <a:extLst>
              <a:ext uri="{FF2B5EF4-FFF2-40B4-BE49-F238E27FC236}">
                <a16:creationId xmlns:a16="http://schemas.microsoft.com/office/drawing/2014/main" id="{8C8669B8-5E71-4B18-AC03-3D129F7663BD}"/>
              </a:ext>
            </a:extLst>
          </p:cNvPr>
          <p:cNvSpPr/>
          <p:nvPr/>
        </p:nvSpPr>
        <p:spPr>
          <a:xfrm>
            <a:off x="4437579" y="1734542"/>
            <a:ext cx="3193550" cy="169794"/>
          </a:xfrm>
          <a:prstGeom prst="rect">
            <a:avLst/>
          </a:prstGeom>
          <a:solidFill>
            <a:srgbClr val="F25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结合</a:t>
            </a:r>
            <a:r>
              <a:rPr lang="en-US" altLang="zh-CN" sz="1200" b="1" dirty="0">
                <a:solidFill>
                  <a:schemeClr val="tx1"/>
                </a:solidFill>
                <a:latin typeface="Microsoft YaHei UI" panose="020B0503020204020204" pitchFamily="34" charset="-122"/>
                <a:ea typeface="Microsoft YaHei UI" panose="020B0503020204020204" pitchFamily="34" charset="-122"/>
              </a:rPr>
              <a:t>BNP/NT-</a:t>
            </a:r>
            <a:r>
              <a:rPr lang="en-US" altLang="zh-CN" sz="1200" b="1" dirty="0" err="1">
                <a:solidFill>
                  <a:schemeClr val="tx1"/>
                </a:solidFill>
                <a:latin typeface="Microsoft YaHei UI" panose="020B0503020204020204" pitchFamily="34" charset="-122"/>
                <a:ea typeface="Microsoft YaHei UI" panose="020B0503020204020204" pitchFamily="34" charset="-122"/>
              </a:rPr>
              <a:t>proBNP</a:t>
            </a:r>
            <a:r>
              <a:rPr lang="zh-CN" altLang="en-US" sz="1200" b="1" dirty="0">
                <a:solidFill>
                  <a:schemeClr val="tx1"/>
                </a:solidFill>
                <a:latin typeface="Microsoft YaHei UI" panose="020B0503020204020204" pitchFamily="34" charset="-122"/>
                <a:ea typeface="Microsoft YaHei UI" panose="020B0503020204020204" pitchFamily="34" charset="-122"/>
              </a:rPr>
              <a:t>，</a:t>
            </a:r>
            <a:r>
              <a:rPr lang="en-US" altLang="zh-CN" sz="1200" b="1" dirty="0">
                <a:solidFill>
                  <a:schemeClr val="tx1"/>
                </a:solidFill>
                <a:latin typeface="Microsoft YaHei UI" panose="020B0503020204020204" pitchFamily="34" charset="-122"/>
                <a:ea typeface="Microsoft YaHei UI" panose="020B0503020204020204" pitchFamily="34" charset="-122"/>
              </a:rPr>
              <a:t>GRACE</a:t>
            </a:r>
            <a:r>
              <a:rPr lang="zh-CN" altLang="en-US" sz="1200" b="1" dirty="0">
                <a:solidFill>
                  <a:schemeClr val="tx1"/>
                </a:solidFill>
                <a:latin typeface="Microsoft YaHei UI" panose="020B0503020204020204" pitchFamily="34" charset="-122"/>
                <a:ea typeface="Microsoft YaHei UI" panose="020B0503020204020204" pitchFamily="34" charset="-122"/>
              </a:rPr>
              <a:t>风险评分</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65" name="矩形 64">
            <a:extLst>
              <a:ext uri="{FF2B5EF4-FFF2-40B4-BE49-F238E27FC236}">
                <a16:creationId xmlns:a16="http://schemas.microsoft.com/office/drawing/2014/main" id="{E38BF7B7-C473-4A5C-9D73-85D0A39AF83A}"/>
              </a:ext>
            </a:extLst>
          </p:cNvPr>
          <p:cNvSpPr/>
          <p:nvPr/>
        </p:nvSpPr>
        <p:spPr>
          <a:xfrm>
            <a:off x="4421306" y="3123785"/>
            <a:ext cx="3193550" cy="169794"/>
          </a:xfrm>
          <a:prstGeom prst="rect">
            <a:avLst/>
          </a:prstGeom>
          <a:solidFill>
            <a:srgbClr val="F2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持续心律监测</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67" name="矩形 66">
            <a:extLst>
              <a:ext uri="{FF2B5EF4-FFF2-40B4-BE49-F238E27FC236}">
                <a16:creationId xmlns:a16="http://schemas.microsoft.com/office/drawing/2014/main" id="{2C787DBF-87A6-4F5A-A223-3A342285E739}"/>
              </a:ext>
            </a:extLst>
          </p:cNvPr>
          <p:cNvSpPr/>
          <p:nvPr/>
        </p:nvSpPr>
        <p:spPr>
          <a:xfrm>
            <a:off x="3998853" y="5806225"/>
            <a:ext cx="2159286" cy="147648"/>
          </a:xfrm>
          <a:prstGeom prst="rect">
            <a:avLst/>
          </a:prstGeom>
          <a:solidFill>
            <a:srgbClr val="F149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血压控制，糖尿病控制</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69" name="矩形 68">
            <a:extLst>
              <a:ext uri="{FF2B5EF4-FFF2-40B4-BE49-F238E27FC236}">
                <a16:creationId xmlns:a16="http://schemas.microsoft.com/office/drawing/2014/main" id="{BDA6403E-9276-4F49-ADC8-A2EBD73F0EB5}"/>
              </a:ext>
            </a:extLst>
          </p:cNvPr>
          <p:cNvSpPr/>
          <p:nvPr/>
        </p:nvSpPr>
        <p:spPr>
          <a:xfrm>
            <a:off x="5792055" y="2072326"/>
            <a:ext cx="1828800" cy="371777"/>
          </a:xfrm>
          <a:prstGeom prst="rect">
            <a:avLst/>
          </a:prstGeom>
          <a:solidFill>
            <a:srgbClr val="FDE0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当症状反复或诊断不确定时加做心电图</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71" name="矩形 70">
            <a:extLst>
              <a:ext uri="{FF2B5EF4-FFF2-40B4-BE49-F238E27FC236}">
                <a16:creationId xmlns:a16="http://schemas.microsoft.com/office/drawing/2014/main" id="{B45E6552-E9FA-4E35-8169-ED0E75B9A60C}"/>
              </a:ext>
            </a:extLst>
          </p:cNvPr>
          <p:cNvSpPr/>
          <p:nvPr/>
        </p:nvSpPr>
        <p:spPr>
          <a:xfrm>
            <a:off x="5702157" y="2472972"/>
            <a:ext cx="2008598" cy="560802"/>
          </a:xfrm>
          <a:prstGeom prst="rect">
            <a:avLst/>
          </a:prstGeom>
          <a:solidFill>
            <a:srgbClr val="FDE0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当标准导联不能确定有否持续缺血时，加做</a:t>
            </a:r>
            <a:r>
              <a:rPr lang="en-US" altLang="zh-CN" sz="1200" b="1" dirty="0">
                <a:solidFill>
                  <a:schemeClr val="tx1"/>
                </a:solidFill>
                <a:latin typeface="Microsoft YaHei UI" panose="020B0503020204020204" pitchFamily="34" charset="-122"/>
                <a:ea typeface="Microsoft YaHei UI" panose="020B0503020204020204" pitchFamily="34" charset="-122"/>
              </a:rPr>
              <a:t>V3R</a:t>
            </a:r>
            <a:r>
              <a:rPr lang="zh-CN" altLang="en-US" sz="1200" b="1" dirty="0">
                <a:solidFill>
                  <a:schemeClr val="tx1"/>
                </a:solidFill>
                <a:latin typeface="Microsoft YaHei UI" panose="020B0503020204020204" pitchFamily="34" charset="-122"/>
                <a:ea typeface="Microsoft YaHei UI" panose="020B0503020204020204" pitchFamily="34" charset="-122"/>
              </a:rPr>
              <a:t>，</a:t>
            </a:r>
            <a:r>
              <a:rPr lang="en-US" altLang="zh-CN" sz="1200" b="1" dirty="0">
                <a:solidFill>
                  <a:schemeClr val="tx1"/>
                </a:solidFill>
                <a:latin typeface="Microsoft YaHei UI" panose="020B0503020204020204" pitchFamily="34" charset="-122"/>
                <a:ea typeface="Microsoft YaHei UI" panose="020B0503020204020204" pitchFamily="34" charset="-122"/>
              </a:rPr>
              <a:t>V4R</a:t>
            </a:r>
            <a:r>
              <a:rPr lang="zh-CN" altLang="en-US" sz="1200" b="1" dirty="0">
                <a:solidFill>
                  <a:schemeClr val="tx1"/>
                </a:solidFill>
                <a:latin typeface="Microsoft YaHei UI" panose="020B0503020204020204" pitchFamily="34" charset="-122"/>
                <a:ea typeface="Microsoft YaHei UI" panose="020B0503020204020204" pitchFamily="34" charset="-122"/>
              </a:rPr>
              <a:t>，</a:t>
            </a:r>
            <a:r>
              <a:rPr lang="en-US" altLang="zh-CN" sz="1200" b="1" dirty="0">
                <a:solidFill>
                  <a:schemeClr val="tx1"/>
                </a:solidFill>
                <a:latin typeface="Microsoft YaHei UI" panose="020B0503020204020204" pitchFamily="34" charset="-122"/>
                <a:ea typeface="Microsoft YaHei UI" panose="020B0503020204020204" pitchFamily="34" charset="-122"/>
              </a:rPr>
              <a:t>V7-V9</a:t>
            </a:r>
            <a:r>
              <a:rPr lang="zh-CN" altLang="en-US" sz="1200" b="1" dirty="0">
                <a:solidFill>
                  <a:schemeClr val="tx1"/>
                </a:solidFill>
                <a:latin typeface="Microsoft YaHei UI" panose="020B0503020204020204" pitchFamily="34" charset="-122"/>
                <a:ea typeface="Microsoft YaHei UI" panose="020B0503020204020204" pitchFamily="34" charset="-122"/>
              </a:rPr>
              <a:t>导联心电图</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73" name="矩形 72">
            <a:extLst>
              <a:ext uri="{FF2B5EF4-FFF2-40B4-BE49-F238E27FC236}">
                <a16:creationId xmlns:a16="http://schemas.microsoft.com/office/drawing/2014/main" id="{C77475C2-0E77-4430-973D-9C5C94FE5F08}"/>
              </a:ext>
            </a:extLst>
          </p:cNvPr>
          <p:cNvSpPr/>
          <p:nvPr/>
        </p:nvSpPr>
        <p:spPr>
          <a:xfrm>
            <a:off x="4369942" y="4841472"/>
            <a:ext cx="1085635" cy="354153"/>
          </a:xfrm>
          <a:prstGeom prst="rect">
            <a:avLst/>
          </a:prstGeom>
          <a:solidFill>
            <a:srgbClr val="FBCB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依诺肝素</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200" b="1" dirty="0" err="1">
                <a:solidFill>
                  <a:schemeClr val="tx1"/>
                </a:solidFill>
                <a:latin typeface="Microsoft YaHei UI" panose="020B0503020204020204" pitchFamily="34" charset="-122"/>
                <a:ea typeface="Microsoft YaHei UI" panose="020B0503020204020204" pitchFamily="34" charset="-122"/>
              </a:rPr>
              <a:t>IIa</a:t>
            </a:r>
            <a:r>
              <a:rPr lang="en-US" altLang="zh-CN" sz="1200" b="1" dirty="0">
                <a:solidFill>
                  <a:schemeClr val="tx1"/>
                </a:solidFill>
                <a:latin typeface="Microsoft YaHei UI" panose="020B0503020204020204" pitchFamily="34" charset="-122"/>
                <a:ea typeface="Microsoft YaHei UI" panose="020B0503020204020204" pitchFamily="34" charset="-122"/>
              </a:rPr>
              <a:t> B</a:t>
            </a:r>
          </a:p>
        </p:txBody>
      </p:sp>
      <p:sp>
        <p:nvSpPr>
          <p:cNvPr id="75" name="矩形 74">
            <a:extLst>
              <a:ext uri="{FF2B5EF4-FFF2-40B4-BE49-F238E27FC236}">
                <a16:creationId xmlns:a16="http://schemas.microsoft.com/office/drawing/2014/main" id="{CD56235F-262C-4F0C-BF63-4440F1420B30}"/>
              </a:ext>
            </a:extLst>
          </p:cNvPr>
          <p:cNvSpPr/>
          <p:nvPr/>
        </p:nvSpPr>
        <p:spPr>
          <a:xfrm>
            <a:off x="4154189" y="5293590"/>
            <a:ext cx="1527415" cy="297481"/>
          </a:xfrm>
          <a:prstGeom prst="rect">
            <a:avLst/>
          </a:prstGeom>
          <a:solidFill>
            <a:srgbClr val="F586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Microsoft YaHei UI" panose="020B0503020204020204" pitchFamily="34" charset="-122"/>
                <a:ea typeface="Microsoft YaHei UI" panose="020B0503020204020204" pitchFamily="34" charset="-122"/>
              </a:rPr>
              <a:t>PCI</a:t>
            </a:r>
            <a:r>
              <a:rPr lang="zh-CN" altLang="en-US" sz="1200" b="1" dirty="0">
                <a:solidFill>
                  <a:schemeClr val="tx1"/>
                </a:solidFill>
                <a:latin typeface="Microsoft YaHei UI" panose="020B0503020204020204" pitchFamily="34" charset="-122"/>
                <a:ea typeface="Microsoft YaHei UI" panose="020B0503020204020204" pitchFamily="34" charset="-122"/>
              </a:rPr>
              <a:t>时应用比伐芦定</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en-US" altLang="zh-CN" sz="1200" b="1" dirty="0">
                <a:solidFill>
                  <a:schemeClr val="tx1"/>
                </a:solidFill>
                <a:latin typeface="Microsoft YaHei UI" panose="020B0503020204020204" pitchFamily="34" charset="-122"/>
                <a:ea typeface="Microsoft YaHei UI" panose="020B0503020204020204" pitchFamily="34" charset="-122"/>
              </a:rPr>
              <a:t>IIb A</a:t>
            </a:r>
          </a:p>
        </p:txBody>
      </p:sp>
      <p:sp>
        <p:nvSpPr>
          <p:cNvPr id="77" name="矩形 76">
            <a:extLst>
              <a:ext uri="{FF2B5EF4-FFF2-40B4-BE49-F238E27FC236}">
                <a16:creationId xmlns:a16="http://schemas.microsoft.com/office/drawing/2014/main" id="{B45F1029-5E2C-4932-A869-8F378992AAD1}"/>
              </a:ext>
            </a:extLst>
          </p:cNvPr>
          <p:cNvSpPr/>
          <p:nvPr/>
        </p:nvSpPr>
        <p:spPr>
          <a:xfrm>
            <a:off x="7631129" y="4799968"/>
            <a:ext cx="1750027" cy="560802"/>
          </a:xfrm>
          <a:prstGeom prst="rect">
            <a:avLst/>
          </a:prstGeom>
          <a:solidFill>
            <a:srgbClr val="F586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对</a:t>
            </a:r>
            <a:r>
              <a:rPr lang="en-US" altLang="zh-CN" sz="1200" b="1" dirty="0">
                <a:solidFill>
                  <a:schemeClr val="tx1"/>
                </a:solidFill>
                <a:latin typeface="Microsoft YaHei UI" panose="020B0503020204020204" pitchFamily="34" charset="-122"/>
                <a:ea typeface="Microsoft YaHei UI" panose="020B0503020204020204" pitchFamily="34" charset="-122"/>
              </a:rPr>
              <a:t>PCI</a:t>
            </a:r>
            <a:r>
              <a:rPr lang="zh-CN" altLang="en-US" sz="1200" b="1" dirty="0">
                <a:solidFill>
                  <a:schemeClr val="tx1"/>
                </a:solidFill>
                <a:latin typeface="Microsoft YaHei UI" panose="020B0503020204020204" pitchFamily="34" charset="-122"/>
                <a:ea typeface="Microsoft YaHei UI" panose="020B0503020204020204" pitchFamily="34" charset="-122"/>
              </a:rPr>
              <a:t>时初次使用</a:t>
            </a:r>
            <a:r>
              <a:rPr lang="en-US" altLang="zh-CN" sz="1200" b="1" dirty="0">
                <a:solidFill>
                  <a:schemeClr val="tx1"/>
                </a:solidFill>
                <a:latin typeface="Microsoft YaHei UI" panose="020B0503020204020204" pitchFamily="34" charset="-122"/>
                <a:ea typeface="Microsoft YaHei UI" panose="020B0503020204020204" pitchFamily="34" charset="-122"/>
              </a:rPr>
              <a:t>P2Y12</a:t>
            </a:r>
            <a:r>
              <a:rPr lang="zh-CN" altLang="en-US" sz="1200" b="1" dirty="0">
                <a:solidFill>
                  <a:schemeClr val="tx1"/>
                </a:solidFill>
                <a:latin typeface="Microsoft YaHei UI" panose="020B0503020204020204" pitchFamily="34" charset="-122"/>
                <a:ea typeface="Microsoft YaHei UI" panose="020B0503020204020204" pitchFamily="34" charset="-122"/>
              </a:rPr>
              <a:t>受体抑制剂的患者，使用坎格瑞洛</a:t>
            </a:r>
            <a:r>
              <a:rPr lang="en-US" altLang="zh-CN" sz="1200" b="1" dirty="0">
                <a:solidFill>
                  <a:schemeClr val="tx1"/>
                </a:solidFill>
                <a:latin typeface="Microsoft YaHei UI" panose="020B0503020204020204" pitchFamily="34" charset="-122"/>
                <a:ea typeface="Microsoft YaHei UI" panose="020B0503020204020204" pitchFamily="34" charset="-122"/>
              </a:rPr>
              <a:t>  IIb </a:t>
            </a:r>
          </a:p>
        </p:txBody>
      </p:sp>
      <p:sp>
        <p:nvSpPr>
          <p:cNvPr id="79" name="矩形 78">
            <a:extLst>
              <a:ext uri="{FF2B5EF4-FFF2-40B4-BE49-F238E27FC236}">
                <a16:creationId xmlns:a16="http://schemas.microsoft.com/office/drawing/2014/main" id="{0DA276AC-4568-409E-9B84-769519075085}"/>
              </a:ext>
            </a:extLst>
          </p:cNvPr>
          <p:cNvSpPr/>
          <p:nvPr/>
        </p:nvSpPr>
        <p:spPr>
          <a:xfrm>
            <a:off x="7633698" y="5388415"/>
            <a:ext cx="1742075" cy="720701"/>
          </a:xfrm>
          <a:prstGeom prst="rect">
            <a:avLst/>
          </a:prstGeom>
          <a:solidFill>
            <a:srgbClr val="F586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对</a:t>
            </a:r>
            <a:r>
              <a:rPr lang="en-US" altLang="zh-CN" sz="1200" b="1" dirty="0">
                <a:solidFill>
                  <a:schemeClr val="tx1"/>
                </a:solidFill>
                <a:latin typeface="Microsoft YaHei UI" panose="020B0503020204020204" pitchFamily="34" charset="-122"/>
                <a:ea typeface="Microsoft YaHei UI" panose="020B0503020204020204" pitchFamily="34" charset="-122"/>
              </a:rPr>
              <a:t>PCI</a:t>
            </a:r>
            <a:r>
              <a:rPr lang="zh-CN" altLang="en-US" sz="1200" b="1" dirty="0">
                <a:solidFill>
                  <a:schemeClr val="tx1"/>
                </a:solidFill>
                <a:latin typeface="Microsoft YaHei UI" panose="020B0503020204020204" pitchFamily="34" charset="-122"/>
                <a:ea typeface="Microsoft YaHei UI" panose="020B0503020204020204" pitchFamily="34" charset="-122"/>
              </a:rPr>
              <a:t>时初次使用</a:t>
            </a:r>
            <a:r>
              <a:rPr lang="en-US" altLang="zh-CN" sz="1200" b="1" dirty="0">
                <a:solidFill>
                  <a:schemeClr val="tx1"/>
                </a:solidFill>
                <a:latin typeface="Microsoft YaHei UI" panose="020B0503020204020204" pitchFamily="34" charset="-122"/>
                <a:ea typeface="Microsoft YaHei UI" panose="020B0503020204020204" pitchFamily="34" charset="-122"/>
              </a:rPr>
              <a:t>P2Y12</a:t>
            </a:r>
            <a:r>
              <a:rPr lang="zh-CN" altLang="en-US" sz="1200" b="1" dirty="0">
                <a:solidFill>
                  <a:schemeClr val="tx1"/>
                </a:solidFill>
                <a:latin typeface="Microsoft YaHei UI" panose="020B0503020204020204" pitchFamily="34" charset="-122"/>
                <a:ea typeface="Microsoft YaHei UI" panose="020B0503020204020204" pitchFamily="34" charset="-122"/>
              </a:rPr>
              <a:t>受体抑制剂的患者，应用</a:t>
            </a:r>
            <a:r>
              <a:rPr lang="en-US" altLang="zh-CN" sz="1200" b="1" dirty="0" err="1">
                <a:solidFill>
                  <a:schemeClr val="tx1"/>
                </a:solidFill>
                <a:latin typeface="Microsoft YaHei UI" panose="020B0503020204020204" pitchFamily="34" charset="-122"/>
                <a:ea typeface="Microsoft YaHei UI" panose="020B0503020204020204" pitchFamily="34" charset="-122"/>
              </a:rPr>
              <a:t>GPIIb</a:t>
            </a:r>
            <a:r>
              <a:rPr lang="en-US" altLang="zh-CN" sz="1200" b="1" dirty="0">
                <a:solidFill>
                  <a:schemeClr val="tx1"/>
                </a:solidFill>
                <a:latin typeface="Microsoft YaHei UI" panose="020B0503020204020204" pitchFamily="34" charset="-122"/>
                <a:ea typeface="Microsoft YaHei UI" panose="020B0503020204020204" pitchFamily="34" charset="-122"/>
              </a:rPr>
              <a:t>/IIIa</a:t>
            </a:r>
            <a:r>
              <a:rPr lang="zh-CN" altLang="en-US" sz="1200" b="1" dirty="0">
                <a:solidFill>
                  <a:schemeClr val="tx1"/>
                </a:solidFill>
                <a:latin typeface="Microsoft YaHei UI" panose="020B0503020204020204" pitchFamily="34" charset="-122"/>
                <a:ea typeface="Microsoft YaHei UI" panose="020B0503020204020204" pitchFamily="34" charset="-122"/>
              </a:rPr>
              <a:t>抑制剂</a:t>
            </a:r>
            <a:r>
              <a:rPr lang="en-US" altLang="zh-CN" sz="1200" b="1" dirty="0">
                <a:solidFill>
                  <a:schemeClr val="tx1"/>
                </a:solidFill>
                <a:latin typeface="Microsoft YaHei UI" panose="020B0503020204020204" pitchFamily="34" charset="-122"/>
                <a:ea typeface="Microsoft YaHei UI" panose="020B0503020204020204" pitchFamily="34" charset="-122"/>
              </a:rPr>
              <a:t>  IIb A</a:t>
            </a:r>
          </a:p>
        </p:txBody>
      </p:sp>
    </p:spTree>
    <p:extLst>
      <p:ext uri="{BB962C8B-B14F-4D97-AF65-F5344CB8AC3E}">
        <p14:creationId xmlns:p14="http://schemas.microsoft.com/office/powerpoint/2010/main" val="3329800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2" name="图片 1">
            <a:extLst>
              <a:ext uri="{FF2B5EF4-FFF2-40B4-BE49-F238E27FC236}">
                <a16:creationId xmlns:a16="http://schemas.microsoft.com/office/drawing/2014/main" id="{6C338939-5962-487D-A95E-A08C5FF9C7B9}"/>
              </a:ext>
            </a:extLst>
          </p:cNvPr>
          <p:cNvPicPr>
            <a:picLocks noChangeAspect="1"/>
          </p:cNvPicPr>
          <p:nvPr/>
        </p:nvPicPr>
        <p:blipFill rotWithShape="1">
          <a:blip r:embed="rId3">
            <a:extLst>
              <a:ext uri="{28A0092B-C50C-407E-A947-70E740481C1C}">
                <a14:useLocalDpi xmlns:a14="http://schemas.microsoft.com/office/drawing/2010/main" val="0"/>
              </a:ext>
            </a:extLst>
          </a:blip>
          <a:srcRect t="52833"/>
          <a:stretch/>
        </p:blipFill>
        <p:spPr>
          <a:xfrm>
            <a:off x="909264" y="242669"/>
            <a:ext cx="9038536" cy="5742028"/>
          </a:xfrm>
          <a:prstGeom prst="rect">
            <a:avLst/>
          </a:prstGeom>
        </p:spPr>
      </p:pic>
      <p:sp>
        <p:nvSpPr>
          <p:cNvPr id="3" name="矩形 2">
            <a:extLst>
              <a:ext uri="{FF2B5EF4-FFF2-40B4-BE49-F238E27FC236}">
                <a16:creationId xmlns:a16="http://schemas.microsoft.com/office/drawing/2014/main" id="{65A155E8-2D26-4CA2-BB5A-B87F9B01EF8A}"/>
              </a:ext>
            </a:extLst>
          </p:cNvPr>
          <p:cNvSpPr/>
          <p:nvPr/>
        </p:nvSpPr>
        <p:spPr>
          <a:xfrm>
            <a:off x="1684963" y="2070244"/>
            <a:ext cx="1130614" cy="554804"/>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icrosoft YaHei UI" panose="020B0503020204020204" pitchFamily="34" charset="-122"/>
                <a:ea typeface="Microsoft YaHei UI" panose="020B0503020204020204" pitchFamily="34" charset="-122"/>
              </a:rPr>
              <a:t>侵入性或择期侵入性治疗及时机</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4" name="矩形 3">
            <a:extLst>
              <a:ext uri="{FF2B5EF4-FFF2-40B4-BE49-F238E27FC236}">
                <a16:creationId xmlns:a16="http://schemas.microsoft.com/office/drawing/2014/main" id="{F648EBFC-A2FE-40C1-99DE-1415BFE87BAC}"/>
              </a:ext>
            </a:extLst>
          </p:cNvPr>
          <p:cNvSpPr/>
          <p:nvPr/>
        </p:nvSpPr>
        <p:spPr>
          <a:xfrm>
            <a:off x="1724192" y="3678149"/>
            <a:ext cx="1040015" cy="554804"/>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icrosoft YaHei UI" panose="020B0503020204020204" pitchFamily="34" charset="-122"/>
                <a:ea typeface="Microsoft YaHei UI" panose="020B0503020204020204" pitchFamily="34" charset="-122"/>
              </a:rPr>
              <a:t>血运重建的方式</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5" name="矩形 4">
            <a:extLst>
              <a:ext uri="{FF2B5EF4-FFF2-40B4-BE49-F238E27FC236}">
                <a16:creationId xmlns:a16="http://schemas.microsoft.com/office/drawing/2014/main" id="{AC376108-8F54-44A9-AA3C-4FF0049CE023}"/>
              </a:ext>
            </a:extLst>
          </p:cNvPr>
          <p:cNvSpPr/>
          <p:nvPr/>
        </p:nvSpPr>
        <p:spPr>
          <a:xfrm>
            <a:off x="1684962" y="5018926"/>
            <a:ext cx="1130615" cy="554804"/>
          </a:xfrm>
          <a:prstGeom prst="rect">
            <a:avLst/>
          </a:prstGeom>
          <a:solidFill>
            <a:srgbClr val="2449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icrosoft YaHei UI" panose="020B0503020204020204" pitchFamily="34" charset="-122"/>
                <a:ea typeface="Microsoft YaHei UI" panose="020B0503020204020204" pitchFamily="34" charset="-122"/>
              </a:rPr>
              <a:t>出院及出院后管理</a:t>
            </a:r>
            <a:endParaRPr lang="en-US" altLang="zh-CN" sz="1200" b="1" dirty="0">
              <a:solidFill>
                <a:schemeClr val="bg1"/>
              </a:solidFill>
              <a:latin typeface="Microsoft YaHei UI" panose="020B0503020204020204" pitchFamily="34" charset="-122"/>
              <a:ea typeface="Microsoft YaHei UI" panose="020B0503020204020204" pitchFamily="34" charset="-122"/>
            </a:endParaRPr>
          </a:p>
        </p:txBody>
      </p:sp>
      <p:sp>
        <p:nvSpPr>
          <p:cNvPr id="6" name="矩形 5">
            <a:extLst>
              <a:ext uri="{FF2B5EF4-FFF2-40B4-BE49-F238E27FC236}">
                <a16:creationId xmlns:a16="http://schemas.microsoft.com/office/drawing/2014/main" id="{C10C2881-7135-461B-AFF7-6C6AB037CF4B}"/>
              </a:ext>
            </a:extLst>
          </p:cNvPr>
          <p:cNvSpPr/>
          <p:nvPr/>
        </p:nvSpPr>
        <p:spPr>
          <a:xfrm>
            <a:off x="6298057" y="242669"/>
            <a:ext cx="3385336" cy="1530849"/>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Microsoft YaHei UI" panose="020B0503020204020204" pitchFamily="34" charset="-122"/>
                <a:ea typeface="Microsoft YaHei UI" panose="020B0503020204020204" pitchFamily="34" charset="-122"/>
              </a:rPr>
              <a:t>急诊侵入治疗（＜</a:t>
            </a:r>
            <a:r>
              <a:rPr lang="en-US" altLang="zh-CN" sz="1200" b="1" dirty="0">
                <a:solidFill>
                  <a:schemeClr val="tx1"/>
                </a:solidFill>
                <a:latin typeface="Microsoft YaHei UI" panose="020B0503020204020204" pitchFamily="34" charset="-122"/>
                <a:ea typeface="Microsoft YaHei UI" panose="020B0503020204020204" pitchFamily="34" charset="-122"/>
              </a:rPr>
              <a:t>2</a:t>
            </a:r>
            <a:r>
              <a:rPr lang="zh-CN" altLang="en-US" sz="1200" b="1" dirty="0">
                <a:solidFill>
                  <a:schemeClr val="tx1"/>
                </a:solidFill>
                <a:latin typeface="Microsoft YaHei UI" panose="020B0503020204020204" pitchFamily="34" charset="-122"/>
                <a:ea typeface="Microsoft YaHei UI" panose="020B0503020204020204" pitchFamily="34" charset="-122"/>
              </a:rPr>
              <a:t>小时）  </a:t>
            </a:r>
            <a:r>
              <a:rPr lang="en-US" altLang="zh-CN" sz="1200" b="1" dirty="0">
                <a:solidFill>
                  <a:schemeClr val="tx1"/>
                </a:solidFill>
                <a:latin typeface="Microsoft YaHei UI" panose="020B0503020204020204" pitchFamily="34" charset="-122"/>
                <a:ea typeface="Microsoft YaHei UI" panose="020B0503020204020204" pitchFamily="34" charset="-122"/>
              </a:rPr>
              <a:t>IC</a:t>
            </a: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血流动力学不稳定或心源性休克</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药物治疗不能缓解的再发性</a:t>
            </a:r>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难治性胸痛</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危及生命的心律失常</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--MI</a:t>
            </a:r>
            <a:r>
              <a:rPr lang="zh-CN" altLang="en-US" sz="1200" dirty="0">
                <a:solidFill>
                  <a:schemeClr val="tx1"/>
                </a:solidFill>
                <a:latin typeface="Microsoft YaHei UI" panose="020B0503020204020204" pitchFamily="34" charset="-122"/>
                <a:ea typeface="Microsoft YaHei UI" panose="020B0503020204020204" pitchFamily="34" charset="-122"/>
              </a:rPr>
              <a:t>机械并发症</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明确与</a:t>
            </a:r>
            <a:r>
              <a:rPr lang="en-US" altLang="zh-CN" sz="1200" dirty="0">
                <a:solidFill>
                  <a:schemeClr val="tx1"/>
                </a:solidFill>
                <a:latin typeface="Microsoft YaHei UI" panose="020B0503020204020204" pitchFamily="34" charset="-122"/>
                <a:ea typeface="Microsoft YaHei UI" panose="020B0503020204020204" pitchFamily="34" charset="-122"/>
              </a:rPr>
              <a:t>NSTE-ACS</a:t>
            </a:r>
            <a:r>
              <a:rPr lang="zh-CN" altLang="en-US" sz="1200" dirty="0">
                <a:solidFill>
                  <a:schemeClr val="tx1"/>
                </a:solidFill>
                <a:latin typeface="Microsoft YaHei UI" panose="020B0503020204020204" pitchFamily="34" charset="-122"/>
                <a:ea typeface="Microsoft YaHei UI" panose="020B0503020204020204" pitchFamily="34" charset="-122"/>
              </a:rPr>
              <a:t>相关的急性心衰</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--6</a:t>
            </a:r>
            <a:r>
              <a:rPr lang="zh-CN" altLang="en-US" sz="1200" dirty="0">
                <a:solidFill>
                  <a:schemeClr val="tx1"/>
                </a:solidFill>
                <a:latin typeface="Microsoft YaHei UI" panose="020B0503020204020204" pitchFamily="34" charset="-122"/>
                <a:ea typeface="Microsoft YaHei UI" panose="020B0503020204020204" pitchFamily="34" charset="-122"/>
              </a:rPr>
              <a:t>个导联</a:t>
            </a:r>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段压低＞</a:t>
            </a:r>
            <a:r>
              <a:rPr lang="en-US" altLang="zh-CN" sz="1200" dirty="0">
                <a:solidFill>
                  <a:schemeClr val="tx1"/>
                </a:solidFill>
                <a:latin typeface="Microsoft YaHei UI" panose="020B0503020204020204" pitchFamily="34" charset="-122"/>
                <a:ea typeface="Microsoft YaHei UI" panose="020B0503020204020204" pitchFamily="34" charset="-122"/>
              </a:rPr>
              <a:t>1mm</a:t>
            </a:r>
            <a:r>
              <a:rPr lang="zh-CN" altLang="en-US" sz="1200" dirty="0">
                <a:solidFill>
                  <a:schemeClr val="tx1"/>
                </a:solidFill>
                <a:latin typeface="Microsoft YaHei UI" panose="020B0503020204020204" pitchFamily="34" charset="-122"/>
                <a:ea typeface="Microsoft YaHei UI" panose="020B0503020204020204" pitchFamily="34" charset="-122"/>
              </a:rPr>
              <a:t>合并</a:t>
            </a:r>
            <a:r>
              <a:rPr lang="en-US" altLang="zh-CN" sz="1200" dirty="0" err="1">
                <a:solidFill>
                  <a:schemeClr val="tx1"/>
                </a:solidFill>
                <a:latin typeface="Microsoft YaHei UI" panose="020B0503020204020204" pitchFamily="34" charset="-122"/>
                <a:ea typeface="Microsoft YaHei UI" panose="020B0503020204020204" pitchFamily="34" charset="-122"/>
              </a:rPr>
              <a:t>aVR</a:t>
            </a:r>
            <a:r>
              <a:rPr lang="zh-CN" altLang="en-US" sz="1200" dirty="0">
                <a:solidFill>
                  <a:schemeClr val="tx1"/>
                </a:solidFill>
                <a:latin typeface="Microsoft YaHei UI" panose="020B0503020204020204" pitchFamily="34" charset="-122"/>
                <a:ea typeface="Microsoft YaHei UI" panose="020B0503020204020204" pitchFamily="34" charset="-122"/>
              </a:rPr>
              <a:t>或</a:t>
            </a:r>
            <a:r>
              <a:rPr lang="en-US" altLang="zh-CN" sz="1200" dirty="0">
                <a:solidFill>
                  <a:schemeClr val="tx1"/>
                </a:solidFill>
                <a:latin typeface="Microsoft YaHei UI" panose="020B0503020204020204" pitchFamily="34" charset="-122"/>
                <a:ea typeface="Microsoft YaHei UI" panose="020B0503020204020204" pitchFamily="34" charset="-122"/>
              </a:rPr>
              <a:t>V1</a:t>
            </a:r>
            <a:r>
              <a:rPr lang="zh-CN" altLang="en-US" sz="1200" dirty="0">
                <a:solidFill>
                  <a:schemeClr val="tx1"/>
                </a:solidFill>
                <a:latin typeface="Microsoft YaHei UI" panose="020B0503020204020204" pitchFamily="34" charset="-122"/>
                <a:ea typeface="Microsoft YaHei UI" panose="020B0503020204020204" pitchFamily="34" charset="-122"/>
              </a:rPr>
              <a:t>导联</a:t>
            </a:r>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段抬高</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8" name="矩形 7">
            <a:extLst>
              <a:ext uri="{FF2B5EF4-FFF2-40B4-BE49-F238E27FC236}">
                <a16:creationId xmlns:a16="http://schemas.microsoft.com/office/drawing/2014/main" id="{91CE3E6C-342A-4485-833A-00E21CD4C468}"/>
              </a:ext>
            </a:extLst>
          </p:cNvPr>
          <p:cNvSpPr/>
          <p:nvPr/>
        </p:nvSpPr>
        <p:spPr>
          <a:xfrm>
            <a:off x="6298057" y="1780000"/>
            <a:ext cx="3385336" cy="1148136"/>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Microsoft YaHei UI" panose="020B0503020204020204" pitchFamily="34" charset="-122"/>
                <a:ea typeface="Microsoft YaHei UI" panose="020B0503020204020204" pitchFamily="34" charset="-122"/>
              </a:rPr>
              <a:t>早期侵入性治疗（＜</a:t>
            </a:r>
            <a:r>
              <a:rPr lang="en-US" altLang="zh-CN" sz="1200" b="1" dirty="0">
                <a:solidFill>
                  <a:schemeClr val="tx1"/>
                </a:solidFill>
                <a:latin typeface="Microsoft YaHei UI" panose="020B0503020204020204" pitchFamily="34" charset="-122"/>
                <a:ea typeface="Microsoft YaHei UI" panose="020B0503020204020204" pitchFamily="34" charset="-122"/>
              </a:rPr>
              <a:t>24</a:t>
            </a:r>
            <a:r>
              <a:rPr lang="zh-CN" altLang="en-US" sz="1200" b="1" dirty="0">
                <a:solidFill>
                  <a:schemeClr val="tx1"/>
                </a:solidFill>
                <a:latin typeface="Microsoft YaHei UI" panose="020B0503020204020204" pitchFamily="34" charset="-122"/>
                <a:ea typeface="Microsoft YaHei UI" panose="020B0503020204020204" pitchFamily="34" charset="-122"/>
              </a:rPr>
              <a:t>小时）  </a:t>
            </a:r>
            <a:r>
              <a:rPr lang="en-US" altLang="zh-CN" sz="1200" b="1" dirty="0">
                <a:solidFill>
                  <a:schemeClr val="tx1"/>
                </a:solidFill>
                <a:latin typeface="Microsoft YaHei UI" panose="020B0503020204020204" pitchFamily="34" charset="-122"/>
                <a:ea typeface="Microsoft YaHei UI" panose="020B0503020204020204" pitchFamily="34" charset="-122"/>
              </a:rPr>
              <a:t>IA</a:t>
            </a: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已明确的</a:t>
            </a:r>
            <a:r>
              <a:rPr lang="en-US" altLang="zh-CN" sz="1200" dirty="0">
                <a:solidFill>
                  <a:schemeClr val="tx1"/>
                </a:solidFill>
                <a:latin typeface="Microsoft YaHei UI" panose="020B0503020204020204" pitchFamily="34" charset="-122"/>
                <a:ea typeface="Microsoft YaHei UI" panose="020B0503020204020204" pitchFamily="34" charset="-122"/>
              </a:rPr>
              <a:t>NSTEMI</a:t>
            </a:r>
            <a:r>
              <a:rPr lang="zh-CN" altLang="en-US" sz="1200" dirty="0">
                <a:solidFill>
                  <a:schemeClr val="tx1"/>
                </a:solidFill>
                <a:latin typeface="Microsoft YaHei UI" panose="020B0503020204020204" pitchFamily="34" charset="-122"/>
                <a:ea typeface="Microsoft YaHei UI" panose="020B0503020204020204" pitchFamily="34" charset="-122"/>
              </a:rPr>
              <a:t>诊断</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新发动态或可能新发连续的</a:t>
            </a:r>
            <a:r>
              <a:rPr lang="en-US" altLang="zh-CN" sz="1200" dirty="0">
                <a:solidFill>
                  <a:schemeClr val="tx1"/>
                </a:solidFill>
                <a:latin typeface="Microsoft YaHei UI" panose="020B0503020204020204" pitchFamily="34" charset="-122"/>
                <a:ea typeface="Microsoft YaHei UI" panose="020B0503020204020204" pitchFamily="34" charset="-122"/>
              </a:rPr>
              <a:t>ST/T</a:t>
            </a:r>
            <a:r>
              <a:rPr lang="zh-CN" altLang="en-US" sz="1200" dirty="0">
                <a:solidFill>
                  <a:schemeClr val="tx1"/>
                </a:solidFill>
                <a:latin typeface="Microsoft YaHei UI" panose="020B0503020204020204" pitchFamily="34" charset="-122"/>
                <a:ea typeface="Microsoft YaHei UI" panose="020B0503020204020204" pitchFamily="34" charset="-122"/>
              </a:rPr>
              <a:t>段改变（有或无症状）</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无</a:t>
            </a:r>
            <a:r>
              <a:rPr lang="en-US" altLang="zh-CN" sz="1200" dirty="0">
                <a:solidFill>
                  <a:schemeClr val="tx1"/>
                </a:solidFill>
                <a:latin typeface="Microsoft YaHei UI" panose="020B0503020204020204" pitchFamily="34" charset="-122"/>
                <a:ea typeface="Microsoft YaHei UI" panose="020B0503020204020204" pitchFamily="34" charset="-122"/>
              </a:rPr>
              <a:t>ST</a:t>
            </a:r>
            <a:r>
              <a:rPr lang="zh-CN" altLang="en-US" sz="1200" dirty="0">
                <a:solidFill>
                  <a:schemeClr val="tx1"/>
                </a:solidFill>
                <a:latin typeface="Microsoft YaHei UI" panose="020B0503020204020204" pitchFamily="34" charset="-122"/>
                <a:ea typeface="Microsoft YaHei UI" panose="020B0503020204020204" pitchFamily="34" charset="-122"/>
              </a:rPr>
              <a:t>段抬高或心源性休克的已复苏心脏骤停</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en-US" altLang="zh-CN" sz="1200" dirty="0">
                <a:solidFill>
                  <a:schemeClr val="tx1"/>
                </a:solidFill>
                <a:latin typeface="Microsoft YaHei UI" panose="020B0503020204020204" pitchFamily="34" charset="-122"/>
                <a:ea typeface="Microsoft YaHei UI" panose="020B0503020204020204" pitchFamily="34" charset="-122"/>
              </a:rPr>
              <a:t>--GRACE</a:t>
            </a:r>
            <a:r>
              <a:rPr lang="zh-CN" altLang="en-US" sz="1200" dirty="0">
                <a:solidFill>
                  <a:schemeClr val="tx1"/>
                </a:solidFill>
                <a:latin typeface="Microsoft YaHei UI" panose="020B0503020204020204" pitchFamily="34" charset="-122"/>
                <a:ea typeface="Microsoft YaHei UI" panose="020B0503020204020204" pitchFamily="34" charset="-122"/>
              </a:rPr>
              <a:t>风险评分＞</a:t>
            </a:r>
            <a:r>
              <a:rPr lang="en-US" altLang="zh-CN" sz="1200" dirty="0">
                <a:solidFill>
                  <a:schemeClr val="tx1"/>
                </a:solidFill>
                <a:latin typeface="Microsoft YaHei UI" panose="020B0503020204020204" pitchFamily="34" charset="-122"/>
                <a:ea typeface="Microsoft YaHei UI" panose="020B0503020204020204" pitchFamily="34" charset="-122"/>
              </a:rPr>
              <a:t>140</a:t>
            </a:r>
            <a:r>
              <a:rPr lang="zh-CN" altLang="en-US" sz="1200" dirty="0">
                <a:solidFill>
                  <a:schemeClr val="tx1"/>
                </a:solidFill>
                <a:latin typeface="Microsoft YaHei UI" panose="020B0503020204020204" pitchFamily="34" charset="-122"/>
                <a:ea typeface="Microsoft YaHei UI" panose="020B0503020204020204" pitchFamily="34" charset="-122"/>
              </a:rPr>
              <a:t>分</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11" name="矩形 10">
            <a:extLst>
              <a:ext uri="{FF2B5EF4-FFF2-40B4-BE49-F238E27FC236}">
                <a16:creationId xmlns:a16="http://schemas.microsoft.com/office/drawing/2014/main" id="{38317CC7-01C3-4818-93ED-A7A33A24DBB5}"/>
              </a:ext>
            </a:extLst>
          </p:cNvPr>
          <p:cNvSpPr/>
          <p:nvPr/>
        </p:nvSpPr>
        <p:spPr>
          <a:xfrm>
            <a:off x="6318608" y="2955166"/>
            <a:ext cx="3113067" cy="391642"/>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Microsoft YaHei UI" panose="020B0503020204020204" pitchFamily="34" charset="-122"/>
                <a:ea typeface="Microsoft YaHei UI" panose="020B0503020204020204" pitchFamily="34" charset="-122"/>
              </a:rPr>
              <a:t>针对所有其他患者择期侵入治疗</a:t>
            </a:r>
            <a:r>
              <a:rPr lang="en-US" altLang="zh-CN" sz="1200" b="1" dirty="0">
                <a:solidFill>
                  <a:schemeClr val="tx1"/>
                </a:solidFill>
                <a:latin typeface="Microsoft YaHei UI" panose="020B0503020204020204" pitchFamily="34" charset="-122"/>
                <a:ea typeface="Microsoft YaHei UI" panose="020B0503020204020204" pitchFamily="34" charset="-122"/>
              </a:rPr>
              <a:t>/</a:t>
            </a:r>
            <a:r>
              <a:rPr lang="zh-CN" altLang="en-US" sz="1200" b="1" dirty="0">
                <a:solidFill>
                  <a:schemeClr val="tx1"/>
                </a:solidFill>
                <a:latin typeface="Microsoft YaHei UI" panose="020B0503020204020204" pitchFamily="34" charset="-122"/>
                <a:ea typeface="Microsoft YaHei UI" panose="020B0503020204020204" pitchFamily="34" charset="-122"/>
              </a:rPr>
              <a:t>非侵入性影像学检查</a:t>
            </a:r>
            <a:r>
              <a:rPr lang="en-US" altLang="zh-CN" sz="1200" b="1" dirty="0">
                <a:solidFill>
                  <a:schemeClr val="tx1"/>
                </a:solidFill>
                <a:latin typeface="Microsoft YaHei UI" panose="020B0503020204020204" pitchFamily="34" charset="-122"/>
                <a:ea typeface="Microsoft YaHei UI" panose="020B0503020204020204" pitchFamily="34" charset="-122"/>
              </a:rPr>
              <a:t>   IA</a:t>
            </a:r>
          </a:p>
        </p:txBody>
      </p:sp>
      <p:sp>
        <p:nvSpPr>
          <p:cNvPr id="12" name="矩形 11">
            <a:extLst>
              <a:ext uri="{FF2B5EF4-FFF2-40B4-BE49-F238E27FC236}">
                <a16:creationId xmlns:a16="http://schemas.microsoft.com/office/drawing/2014/main" id="{BA22DAA4-C674-4EAD-98AD-98F1CF655FBD}"/>
              </a:ext>
            </a:extLst>
          </p:cNvPr>
          <p:cNvSpPr/>
          <p:nvPr/>
        </p:nvSpPr>
        <p:spPr>
          <a:xfrm>
            <a:off x="3707613" y="3362528"/>
            <a:ext cx="2169205" cy="598160"/>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Microsoft YaHei UI" panose="020B0503020204020204" pitchFamily="34" charset="-122"/>
                <a:ea typeface="Microsoft YaHei UI" panose="020B0503020204020204" pitchFamily="34" charset="-122"/>
              </a:rPr>
              <a:t>倾向</a:t>
            </a:r>
            <a:r>
              <a:rPr lang="en-US" altLang="zh-CN" sz="1200" b="1" dirty="0">
                <a:solidFill>
                  <a:schemeClr val="tx1"/>
                </a:solidFill>
                <a:latin typeface="Microsoft YaHei UI" panose="020B0503020204020204" pitchFamily="34" charset="-122"/>
                <a:ea typeface="Microsoft YaHei UI" panose="020B0503020204020204" pitchFamily="34" charset="-122"/>
              </a:rPr>
              <a:t>PCI</a:t>
            </a:r>
            <a:r>
              <a:rPr lang="zh-CN" altLang="en-US" sz="1200" b="1" dirty="0">
                <a:solidFill>
                  <a:schemeClr val="tx1"/>
                </a:solidFill>
                <a:latin typeface="Microsoft YaHei UI" panose="020B0503020204020204" pitchFamily="34" charset="-122"/>
                <a:ea typeface="Microsoft YaHei UI" panose="020B0503020204020204" pitchFamily="34" charset="-122"/>
              </a:rPr>
              <a:t>治疗</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r>
              <a:rPr lang="zh-CN" altLang="en-US" sz="1200" dirty="0">
                <a:solidFill>
                  <a:schemeClr val="tx1"/>
                </a:solidFill>
                <a:latin typeface="Microsoft YaHei UI" panose="020B0503020204020204" pitchFamily="34" charset="-122"/>
                <a:ea typeface="Microsoft YaHei UI" panose="020B0503020204020204" pitchFamily="34" charset="-122"/>
              </a:rPr>
              <a:t>单支病变</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zh-CN" altLang="en-US" sz="1200" dirty="0">
                <a:solidFill>
                  <a:schemeClr val="tx1"/>
                </a:solidFill>
                <a:latin typeface="Microsoft YaHei UI" panose="020B0503020204020204" pitchFamily="34" charset="-122"/>
                <a:ea typeface="Microsoft YaHei UI" panose="020B0503020204020204" pitchFamily="34" charset="-122"/>
              </a:rPr>
              <a:t>患者临床状况不平稳</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13" name="矩形 12">
            <a:extLst>
              <a:ext uri="{FF2B5EF4-FFF2-40B4-BE49-F238E27FC236}">
                <a16:creationId xmlns:a16="http://schemas.microsoft.com/office/drawing/2014/main" id="{2F7C45AF-7D1B-4175-81C7-05F4A1DE5A50}"/>
              </a:ext>
            </a:extLst>
          </p:cNvPr>
          <p:cNvSpPr/>
          <p:nvPr/>
        </p:nvSpPr>
        <p:spPr>
          <a:xfrm>
            <a:off x="3707612" y="3980621"/>
            <a:ext cx="2169205" cy="598160"/>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Microsoft YaHei UI" panose="020B0503020204020204" pitchFamily="34" charset="-122"/>
                <a:ea typeface="Microsoft YaHei UI" panose="020B0503020204020204" pitchFamily="34" charset="-122"/>
              </a:rPr>
              <a:t>倾向</a:t>
            </a:r>
            <a:r>
              <a:rPr lang="en-US" altLang="zh-CN" sz="1200" b="1" dirty="0">
                <a:solidFill>
                  <a:schemeClr val="tx1"/>
                </a:solidFill>
                <a:latin typeface="Microsoft YaHei UI" panose="020B0503020204020204" pitchFamily="34" charset="-122"/>
                <a:ea typeface="Microsoft YaHei UI" panose="020B0503020204020204" pitchFamily="34" charset="-122"/>
              </a:rPr>
              <a:t>CABG</a:t>
            </a:r>
          </a:p>
          <a:p>
            <a:r>
              <a:rPr lang="zh-CN" altLang="en-US" sz="1200" dirty="0">
                <a:solidFill>
                  <a:schemeClr val="tx1"/>
                </a:solidFill>
                <a:latin typeface="Microsoft YaHei UI" panose="020B0503020204020204" pitchFamily="34" charset="-122"/>
                <a:ea typeface="Microsoft YaHei UI" panose="020B0503020204020204" pitchFamily="34" charset="-122"/>
              </a:rPr>
              <a:t>糖尿病合并复杂多支病变</a:t>
            </a:r>
            <a:endParaRPr lang="en-US" altLang="zh-CN" sz="1200" dirty="0">
              <a:solidFill>
                <a:schemeClr val="tx1"/>
              </a:solidFill>
              <a:latin typeface="Microsoft YaHei UI" panose="020B0503020204020204" pitchFamily="34" charset="-122"/>
              <a:ea typeface="Microsoft YaHei UI" panose="020B0503020204020204" pitchFamily="34" charset="-122"/>
            </a:endParaRPr>
          </a:p>
          <a:p>
            <a:r>
              <a:rPr lang="zh-CN" altLang="en-US" sz="1200" dirty="0">
                <a:solidFill>
                  <a:schemeClr val="tx1"/>
                </a:solidFill>
                <a:latin typeface="Microsoft YaHei UI" panose="020B0503020204020204" pitchFamily="34" charset="-122"/>
                <a:ea typeface="Microsoft YaHei UI" panose="020B0503020204020204" pitchFamily="34" charset="-122"/>
              </a:rPr>
              <a:t>左室功能不全的多血管病变</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14" name="矩形 13">
            <a:extLst>
              <a:ext uri="{FF2B5EF4-FFF2-40B4-BE49-F238E27FC236}">
                <a16:creationId xmlns:a16="http://schemas.microsoft.com/office/drawing/2014/main" id="{21C41F34-1F6F-4096-8627-05FD24F32E8D}"/>
              </a:ext>
            </a:extLst>
          </p:cNvPr>
          <p:cNvSpPr/>
          <p:nvPr/>
        </p:nvSpPr>
        <p:spPr>
          <a:xfrm>
            <a:off x="3258975" y="4955022"/>
            <a:ext cx="2489417" cy="675216"/>
          </a:xfrm>
          <a:prstGeom prst="rect">
            <a:avLst/>
          </a:prstGeom>
          <a:solidFill>
            <a:srgbClr val="5BC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Microsoft YaHei UI" panose="020B0503020204020204" pitchFamily="34" charset="-122"/>
                <a:ea typeface="Microsoft YaHei UI" panose="020B0503020204020204" pitchFamily="34" charset="-122"/>
              </a:rPr>
              <a:t>如无出血应用</a:t>
            </a:r>
            <a:r>
              <a:rPr lang="en-US" altLang="zh-CN" sz="1200" b="1" dirty="0">
                <a:solidFill>
                  <a:schemeClr val="tx1"/>
                </a:solidFill>
                <a:latin typeface="Microsoft YaHei UI" panose="020B0503020204020204" pitchFamily="34" charset="-122"/>
                <a:ea typeface="Microsoft YaHei UI" panose="020B0503020204020204" pitchFamily="34" charset="-122"/>
              </a:rPr>
              <a:t>12</a:t>
            </a:r>
            <a:r>
              <a:rPr lang="zh-CN" altLang="en-US" sz="1200" b="1" dirty="0">
                <a:solidFill>
                  <a:schemeClr val="tx1"/>
                </a:solidFill>
                <a:latin typeface="Microsoft YaHei UI" panose="020B0503020204020204" pitchFamily="34" charset="-122"/>
                <a:ea typeface="Microsoft YaHei UI" panose="020B0503020204020204" pitchFamily="34" charset="-122"/>
              </a:rPr>
              <a:t>个月</a:t>
            </a:r>
            <a:r>
              <a:rPr lang="en-US" altLang="zh-CN" sz="1200" b="1" dirty="0">
                <a:solidFill>
                  <a:schemeClr val="tx1"/>
                </a:solidFill>
                <a:latin typeface="Microsoft YaHei UI" panose="020B0503020204020204" pitchFamily="34" charset="-122"/>
                <a:ea typeface="Microsoft YaHei UI" panose="020B0503020204020204" pitchFamily="34" charset="-122"/>
              </a:rPr>
              <a:t>DAPT</a:t>
            </a:r>
          </a:p>
          <a:p>
            <a:r>
              <a:rPr lang="zh-CN" altLang="en-US" sz="1200" dirty="0">
                <a:solidFill>
                  <a:schemeClr val="tx1"/>
                </a:solidFill>
                <a:latin typeface="Microsoft YaHei UI" panose="020B0503020204020204" pitchFamily="34" charset="-122"/>
                <a:ea typeface="Microsoft YaHei UI" panose="020B0503020204020204" pitchFamily="34" charset="-122"/>
              </a:rPr>
              <a:t>对高风险患者考虑行延长</a:t>
            </a:r>
            <a:r>
              <a:rPr lang="en-US" altLang="zh-CN" sz="1200" dirty="0">
                <a:solidFill>
                  <a:schemeClr val="tx1"/>
                </a:solidFill>
                <a:latin typeface="Microsoft YaHei UI" panose="020B0503020204020204" pitchFamily="34" charset="-122"/>
                <a:ea typeface="Microsoft YaHei UI" panose="020B0503020204020204" pitchFamily="34" charset="-122"/>
              </a:rPr>
              <a:t>DAPT</a:t>
            </a:r>
            <a:r>
              <a:rPr lang="zh-CN" altLang="en-US" sz="1200" dirty="0">
                <a:solidFill>
                  <a:schemeClr val="tx1"/>
                </a:solidFill>
                <a:latin typeface="Microsoft YaHei UI" panose="020B0503020204020204" pitchFamily="34" charset="-122"/>
                <a:ea typeface="Microsoft YaHei UI" panose="020B0503020204020204" pitchFamily="34" charset="-122"/>
              </a:rPr>
              <a:t>或阿司匹林</a:t>
            </a:r>
            <a:r>
              <a:rPr lang="en-US" altLang="zh-CN" sz="1200" dirty="0">
                <a:solidFill>
                  <a:schemeClr val="tx1"/>
                </a:solidFill>
                <a:latin typeface="Microsoft YaHei UI" panose="020B0503020204020204" pitchFamily="34" charset="-122"/>
                <a:ea typeface="Microsoft YaHei UI" panose="020B0503020204020204" pitchFamily="34" charset="-122"/>
              </a:rPr>
              <a:t>/</a:t>
            </a:r>
            <a:r>
              <a:rPr lang="zh-CN" altLang="en-US" sz="1200" dirty="0">
                <a:solidFill>
                  <a:schemeClr val="tx1"/>
                </a:solidFill>
                <a:latin typeface="Microsoft YaHei UI" panose="020B0503020204020204" pitchFamily="34" charset="-122"/>
                <a:ea typeface="Microsoft YaHei UI" panose="020B0503020204020204" pitchFamily="34" charset="-122"/>
              </a:rPr>
              <a:t>低剂量利伐沙班治疗</a:t>
            </a:r>
            <a:endParaRPr lang="en-US" altLang="zh-CN" sz="1200" dirty="0">
              <a:solidFill>
                <a:schemeClr val="tx1"/>
              </a:solidFill>
              <a:latin typeface="Microsoft YaHei UI" panose="020B0503020204020204" pitchFamily="34" charset="-122"/>
              <a:ea typeface="Microsoft YaHei UI" panose="020B0503020204020204" pitchFamily="34" charset="-122"/>
            </a:endParaRPr>
          </a:p>
        </p:txBody>
      </p:sp>
      <p:sp>
        <p:nvSpPr>
          <p:cNvPr id="15" name="矩形 14">
            <a:extLst>
              <a:ext uri="{FF2B5EF4-FFF2-40B4-BE49-F238E27FC236}">
                <a16:creationId xmlns:a16="http://schemas.microsoft.com/office/drawing/2014/main" id="{143E0F1E-C70B-46C6-91B8-0D6FE7CB3EEA}"/>
              </a:ext>
            </a:extLst>
          </p:cNvPr>
          <p:cNvSpPr/>
          <p:nvPr/>
        </p:nvSpPr>
        <p:spPr>
          <a:xfrm>
            <a:off x="6315184" y="3488076"/>
            <a:ext cx="1097620" cy="391642"/>
          </a:xfrm>
          <a:prstGeom prst="rect">
            <a:avLst/>
          </a:prstGeom>
          <a:solidFill>
            <a:srgbClr val="FDE0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药物洗脱支架植入</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16" name="矩形 15">
            <a:extLst>
              <a:ext uri="{FF2B5EF4-FFF2-40B4-BE49-F238E27FC236}">
                <a16:creationId xmlns:a16="http://schemas.microsoft.com/office/drawing/2014/main" id="{7D98F022-A621-47D1-A9B7-04CA536C7A12}"/>
              </a:ext>
            </a:extLst>
          </p:cNvPr>
          <p:cNvSpPr/>
          <p:nvPr/>
        </p:nvSpPr>
        <p:spPr>
          <a:xfrm>
            <a:off x="6056617" y="4969821"/>
            <a:ext cx="1068004" cy="645617"/>
          </a:xfrm>
          <a:prstGeom prst="rect">
            <a:avLst/>
          </a:prstGeom>
          <a:solidFill>
            <a:srgbClr val="FDE0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参考心脏康复治疗策略</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0" name="矩形 19">
            <a:extLst>
              <a:ext uri="{FF2B5EF4-FFF2-40B4-BE49-F238E27FC236}">
                <a16:creationId xmlns:a16="http://schemas.microsoft.com/office/drawing/2014/main" id="{E5D670E9-D31D-4D7F-AFB8-55650EF64442}"/>
              </a:ext>
            </a:extLst>
          </p:cNvPr>
          <p:cNvSpPr/>
          <p:nvPr/>
        </p:nvSpPr>
        <p:spPr>
          <a:xfrm>
            <a:off x="8039527" y="3739795"/>
            <a:ext cx="1263721" cy="155334"/>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完全血运重建</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1" name="矩形 20">
            <a:extLst>
              <a:ext uri="{FF2B5EF4-FFF2-40B4-BE49-F238E27FC236}">
                <a16:creationId xmlns:a16="http://schemas.microsoft.com/office/drawing/2014/main" id="{86B0F949-C407-47AF-89FB-4A4125109AFC}"/>
              </a:ext>
            </a:extLst>
          </p:cNvPr>
          <p:cNvSpPr/>
          <p:nvPr/>
        </p:nvSpPr>
        <p:spPr>
          <a:xfrm>
            <a:off x="8032876" y="3419818"/>
            <a:ext cx="1263721" cy="155334"/>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优先罪犯病变</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2" name="矩形 21">
            <a:extLst>
              <a:ext uri="{FF2B5EF4-FFF2-40B4-BE49-F238E27FC236}">
                <a16:creationId xmlns:a16="http://schemas.microsoft.com/office/drawing/2014/main" id="{9278A62A-D8C6-4EB3-8F71-8CDE4A3CDD20}"/>
              </a:ext>
            </a:extLst>
          </p:cNvPr>
          <p:cNvSpPr/>
          <p:nvPr/>
        </p:nvSpPr>
        <p:spPr>
          <a:xfrm>
            <a:off x="7491769" y="4699816"/>
            <a:ext cx="2088883" cy="391643"/>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他汀类药物和</a:t>
            </a:r>
            <a:r>
              <a:rPr lang="en-US" altLang="zh-CN" sz="1200" b="1" dirty="0">
                <a:solidFill>
                  <a:schemeClr val="tx1"/>
                </a:solidFill>
                <a:latin typeface="Microsoft YaHei UI" panose="020B0503020204020204" pitchFamily="34" charset="-122"/>
                <a:ea typeface="Microsoft YaHei UI" panose="020B0503020204020204" pitchFamily="34" charset="-122"/>
              </a:rPr>
              <a:t>/</a:t>
            </a:r>
            <a:r>
              <a:rPr lang="zh-CN" altLang="en-US" sz="1200" b="1" dirty="0">
                <a:solidFill>
                  <a:schemeClr val="tx1"/>
                </a:solidFill>
                <a:latin typeface="Microsoft YaHei UI" panose="020B0503020204020204" pitchFamily="34" charset="-122"/>
                <a:ea typeface="Microsoft YaHei UI" panose="020B0503020204020204" pitchFamily="34" charset="-122"/>
              </a:rPr>
              <a:t>或依折麦布和</a:t>
            </a:r>
            <a:r>
              <a:rPr lang="en-US" altLang="zh-CN" sz="1200" b="1" dirty="0">
                <a:solidFill>
                  <a:schemeClr val="tx1"/>
                </a:solidFill>
                <a:latin typeface="Microsoft YaHei UI" panose="020B0503020204020204" pitchFamily="34" charset="-122"/>
                <a:ea typeface="Microsoft YaHei UI" panose="020B0503020204020204" pitchFamily="34" charset="-122"/>
              </a:rPr>
              <a:t>/</a:t>
            </a:r>
            <a:r>
              <a:rPr lang="zh-CN" altLang="en-US" sz="1200" b="1" dirty="0">
                <a:solidFill>
                  <a:schemeClr val="tx1"/>
                </a:solidFill>
                <a:latin typeface="Microsoft YaHei UI" panose="020B0503020204020204" pitchFamily="34" charset="-122"/>
                <a:ea typeface="Microsoft YaHei UI" panose="020B0503020204020204" pitchFamily="34" charset="-122"/>
              </a:rPr>
              <a:t>或</a:t>
            </a:r>
            <a:r>
              <a:rPr lang="en-US" altLang="zh-CN" sz="1200" b="1" dirty="0">
                <a:solidFill>
                  <a:schemeClr val="tx1"/>
                </a:solidFill>
                <a:latin typeface="Microsoft YaHei UI" panose="020B0503020204020204" pitchFamily="34" charset="-122"/>
                <a:ea typeface="Microsoft YaHei UI" panose="020B0503020204020204" pitchFamily="34" charset="-122"/>
              </a:rPr>
              <a:t>PCSK9</a:t>
            </a:r>
            <a:r>
              <a:rPr lang="zh-CN" altLang="en-US" sz="1200" b="1" dirty="0">
                <a:solidFill>
                  <a:schemeClr val="tx1"/>
                </a:solidFill>
                <a:latin typeface="Microsoft YaHei UI" panose="020B0503020204020204" pitchFamily="34" charset="-122"/>
                <a:ea typeface="Microsoft YaHei UI" panose="020B0503020204020204" pitchFamily="34" charset="-122"/>
              </a:rPr>
              <a:t>抑制剂控制血脂</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3" name="矩形 22">
            <a:extLst>
              <a:ext uri="{FF2B5EF4-FFF2-40B4-BE49-F238E27FC236}">
                <a16:creationId xmlns:a16="http://schemas.microsoft.com/office/drawing/2014/main" id="{492138F0-DD6B-47B5-AB4B-4116F36FDB78}"/>
              </a:ext>
            </a:extLst>
          </p:cNvPr>
          <p:cNvSpPr/>
          <p:nvPr/>
        </p:nvSpPr>
        <p:spPr>
          <a:xfrm>
            <a:off x="7491769" y="5108214"/>
            <a:ext cx="2088883" cy="392987"/>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血压控制</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糖尿病控制</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4" name="矩形 23">
            <a:extLst>
              <a:ext uri="{FF2B5EF4-FFF2-40B4-BE49-F238E27FC236}">
                <a16:creationId xmlns:a16="http://schemas.microsoft.com/office/drawing/2014/main" id="{F9054576-990F-42E0-B8D5-D8CB2723C5A4}"/>
              </a:ext>
            </a:extLst>
          </p:cNvPr>
          <p:cNvSpPr/>
          <p:nvPr/>
        </p:nvSpPr>
        <p:spPr>
          <a:xfrm>
            <a:off x="7486885" y="5520770"/>
            <a:ext cx="2088883" cy="392987"/>
          </a:xfrm>
          <a:prstGeom prst="rect">
            <a:avLst/>
          </a:prstGeom>
          <a:solidFill>
            <a:srgbClr val="F79A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戒烟，植物性饮食，</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a:p>
            <a:pPr algn="ctr"/>
            <a:r>
              <a:rPr lang="zh-CN" altLang="en-US" sz="1200" b="1" dirty="0">
                <a:solidFill>
                  <a:schemeClr val="tx1"/>
                </a:solidFill>
                <a:latin typeface="Microsoft YaHei UI" panose="020B0503020204020204" pitchFamily="34" charset="-122"/>
                <a:ea typeface="Microsoft YaHei UI" panose="020B0503020204020204" pitchFamily="34" charset="-122"/>
              </a:rPr>
              <a:t>运动，理想体重</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25" name="矩形 24">
            <a:extLst>
              <a:ext uri="{FF2B5EF4-FFF2-40B4-BE49-F238E27FC236}">
                <a16:creationId xmlns:a16="http://schemas.microsoft.com/office/drawing/2014/main" id="{B603C02A-B283-4B6A-86AD-285D5F25469F}"/>
              </a:ext>
            </a:extLst>
          </p:cNvPr>
          <p:cNvSpPr/>
          <p:nvPr/>
        </p:nvSpPr>
        <p:spPr>
          <a:xfrm>
            <a:off x="3133617" y="1849172"/>
            <a:ext cx="2778701" cy="442144"/>
          </a:xfrm>
          <a:prstGeom prst="rect">
            <a:avLst/>
          </a:prstGeom>
          <a:solidFill>
            <a:srgbClr val="F2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Microsoft YaHei UI" panose="020B0503020204020204" pitchFamily="34" charset="-122"/>
                <a:ea typeface="Microsoft YaHei UI" panose="020B0503020204020204" pitchFamily="34" charset="-122"/>
              </a:rPr>
              <a:t>心电图，生命体征，</a:t>
            </a:r>
            <a:r>
              <a:rPr lang="en-US" altLang="zh-CN" sz="1200" b="1" dirty="0" err="1">
                <a:solidFill>
                  <a:schemeClr val="tx1"/>
                </a:solidFill>
                <a:latin typeface="Microsoft YaHei UI" panose="020B0503020204020204" pitchFamily="34" charset="-122"/>
                <a:ea typeface="Microsoft YaHei UI" panose="020B0503020204020204" pitchFamily="34" charset="-122"/>
              </a:rPr>
              <a:t>hs-cTn</a:t>
            </a:r>
            <a:r>
              <a:rPr lang="zh-CN" altLang="en-US" sz="1200" b="1" dirty="0">
                <a:solidFill>
                  <a:schemeClr val="tx1"/>
                </a:solidFill>
                <a:latin typeface="Microsoft YaHei UI" panose="020B0503020204020204" pitchFamily="34" charset="-122"/>
                <a:ea typeface="Microsoft YaHei UI" panose="020B0503020204020204" pitchFamily="34" charset="-122"/>
              </a:rPr>
              <a:t>，</a:t>
            </a:r>
            <a:r>
              <a:rPr lang="en-US" altLang="zh-CN" sz="1200" b="1" dirty="0">
                <a:solidFill>
                  <a:schemeClr val="tx1"/>
                </a:solidFill>
                <a:latin typeface="Microsoft YaHei UI" panose="020B0503020204020204" pitchFamily="34" charset="-122"/>
                <a:ea typeface="Microsoft YaHei UI" panose="020B0503020204020204" pitchFamily="34" charset="-122"/>
              </a:rPr>
              <a:t>GRACE</a:t>
            </a:r>
            <a:r>
              <a:rPr lang="zh-CN" altLang="en-US" sz="1200" b="1" dirty="0">
                <a:solidFill>
                  <a:schemeClr val="tx1"/>
                </a:solidFill>
                <a:latin typeface="Microsoft YaHei UI" panose="020B0503020204020204" pitchFamily="34" charset="-122"/>
                <a:ea typeface="Microsoft YaHei UI" panose="020B0503020204020204" pitchFamily="34" charset="-122"/>
              </a:rPr>
              <a:t>风险评分，可能的新发心脏杂音</a:t>
            </a:r>
            <a:endParaRPr lang="en-US" altLang="zh-CN" sz="1200" b="1" dirty="0">
              <a:solidFill>
                <a:schemeClr val="tx1"/>
              </a:solidFill>
              <a:latin typeface="Microsoft YaHei UI" panose="020B0503020204020204" pitchFamily="34" charset="-122"/>
              <a:ea typeface="Microsoft YaHei UI" panose="020B0503020204020204" pitchFamily="34" charset="-122"/>
            </a:endParaRPr>
          </a:p>
        </p:txBody>
      </p:sp>
      <p:sp>
        <p:nvSpPr>
          <p:cNvPr id="7" name="文本框 6">
            <a:extLst>
              <a:ext uri="{FF2B5EF4-FFF2-40B4-BE49-F238E27FC236}">
                <a16:creationId xmlns:a16="http://schemas.microsoft.com/office/drawing/2014/main" id="{17ABC1C0-2033-4C9A-A7EC-B4EB12A56A05}"/>
              </a:ext>
            </a:extLst>
          </p:cNvPr>
          <p:cNvSpPr txBox="1"/>
          <p:nvPr/>
        </p:nvSpPr>
        <p:spPr>
          <a:xfrm>
            <a:off x="1276350" y="504825"/>
            <a:ext cx="1232257" cy="369332"/>
          </a:xfrm>
          <a:prstGeom prst="rect">
            <a:avLst/>
          </a:prstGeom>
          <a:noFill/>
        </p:spPr>
        <p:txBody>
          <a:bodyPr wrap="square" rtlCol="0">
            <a:spAutoFit/>
          </a:bodyPr>
          <a:lstStyle/>
          <a:p>
            <a:r>
              <a:rPr lang="zh-CN" altLang="en-US" b="1" dirty="0"/>
              <a:t>（续前）</a:t>
            </a:r>
          </a:p>
        </p:txBody>
      </p:sp>
    </p:spTree>
    <p:extLst>
      <p:ext uri="{BB962C8B-B14F-4D97-AF65-F5344CB8AC3E}">
        <p14:creationId xmlns:p14="http://schemas.microsoft.com/office/powerpoint/2010/main" val="5194372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7" name="图片 6">
            <a:extLst>
              <a:ext uri="{FF2B5EF4-FFF2-40B4-BE49-F238E27FC236}">
                <a16:creationId xmlns:a16="http://schemas.microsoft.com/office/drawing/2014/main" id="{5ABB705D-BE96-41B6-B365-0D666408E6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905" y="602295"/>
            <a:ext cx="9701576" cy="369333"/>
          </a:xfrm>
          <a:prstGeom prst="rect">
            <a:avLst/>
          </a:prstGeom>
        </p:spPr>
      </p:pic>
      <p:sp>
        <p:nvSpPr>
          <p:cNvPr id="9" name="文本框 8">
            <a:extLst>
              <a:ext uri="{FF2B5EF4-FFF2-40B4-BE49-F238E27FC236}">
                <a16:creationId xmlns:a16="http://schemas.microsoft.com/office/drawing/2014/main" id="{2AA16DFC-6B10-4F24-9D01-8F46901CBA55}"/>
              </a:ext>
            </a:extLst>
          </p:cNvPr>
          <p:cNvSpPr txBox="1"/>
          <p:nvPr/>
        </p:nvSpPr>
        <p:spPr>
          <a:xfrm>
            <a:off x="969856" y="597450"/>
            <a:ext cx="3021653"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NSTE-ACS</a:t>
            </a:r>
            <a:r>
              <a:rPr lang="zh-CN" altLang="en-US" b="1" dirty="0">
                <a:latin typeface="Microsoft YaHei UI" panose="020B0503020204020204" pitchFamily="34" charset="-122"/>
                <a:ea typeface="Microsoft YaHei UI" panose="020B0503020204020204" pitchFamily="34" charset="-122"/>
              </a:rPr>
              <a:t>管理的证据缺陷</a:t>
            </a:r>
          </a:p>
        </p:txBody>
      </p:sp>
      <p:sp>
        <p:nvSpPr>
          <p:cNvPr id="10" name="矩形 9">
            <a:extLst>
              <a:ext uri="{FF2B5EF4-FFF2-40B4-BE49-F238E27FC236}">
                <a16:creationId xmlns:a16="http://schemas.microsoft.com/office/drawing/2014/main" id="{DDF1FFE3-F3A3-4B60-B536-8DD928855A58}"/>
              </a:ext>
            </a:extLst>
          </p:cNvPr>
          <p:cNvSpPr/>
          <p:nvPr/>
        </p:nvSpPr>
        <p:spPr>
          <a:xfrm>
            <a:off x="974632" y="1358052"/>
            <a:ext cx="4558002" cy="66455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患者根据多因素风险预测模型进行的风险分层能否改善预后仍然不清楚</a:t>
            </a:r>
          </a:p>
        </p:txBody>
      </p:sp>
      <p:sp>
        <p:nvSpPr>
          <p:cNvPr id="17" name="矩形 16">
            <a:extLst>
              <a:ext uri="{FF2B5EF4-FFF2-40B4-BE49-F238E27FC236}">
                <a16:creationId xmlns:a16="http://schemas.microsoft.com/office/drawing/2014/main" id="{81B122CE-4A09-4285-B875-0746C2FA2BAC}"/>
              </a:ext>
            </a:extLst>
          </p:cNvPr>
          <p:cNvSpPr/>
          <p:nvPr/>
        </p:nvSpPr>
        <p:spPr>
          <a:xfrm>
            <a:off x="976688" y="2064121"/>
            <a:ext cx="4566219" cy="11306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缺乏精心设计的关于依据风险预测模型（如</a:t>
            </a:r>
            <a:r>
              <a:rPr lang="en-US" altLang="zh-CN" dirty="0">
                <a:latin typeface="Microsoft YaHei UI" panose="020B0503020204020204" pitchFamily="34" charset="-122"/>
                <a:ea typeface="Microsoft YaHei UI" panose="020B0503020204020204" pitchFamily="34" charset="-122"/>
              </a:rPr>
              <a:t>PRECISE-DAPT</a:t>
            </a:r>
            <a:r>
              <a:rPr lang="zh-CN" altLang="en-US" dirty="0">
                <a:latin typeface="Microsoft YaHei UI" panose="020B0503020204020204" pitchFamily="34" charset="-122"/>
                <a:ea typeface="Microsoft YaHei UI" panose="020B0503020204020204" pitchFamily="34" charset="-122"/>
              </a:rPr>
              <a:t>评分，</a:t>
            </a:r>
            <a:r>
              <a:rPr lang="en-US" altLang="zh-CN" dirty="0">
                <a:latin typeface="Microsoft YaHei UI" panose="020B0503020204020204" pitchFamily="34" charset="-122"/>
                <a:ea typeface="Microsoft YaHei UI" panose="020B0503020204020204" pitchFamily="34" charset="-122"/>
              </a:rPr>
              <a:t>ARC-HBR</a:t>
            </a:r>
            <a:r>
              <a:rPr lang="zh-CN" altLang="en-US" dirty="0">
                <a:latin typeface="Microsoft YaHei UI" panose="020B0503020204020204" pitchFamily="34" charset="-122"/>
                <a:ea typeface="Microsoft YaHei UI" panose="020B0503020204020204" pitchFamily="34" charset="-122"/>
              </a:rPr>
              <a:t>标准）评估</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治疗后不同</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时程疗效的随机对照研究</a:t>
            </a:r>
            <a:endParaRPr lang="zh-CN" altLang="en-US" sz="1800" dirty="0">
              <a:latin typeface="Microsoft YaHei UI" panose="020B0503020204020204" pitchFamily="34" charset="-122"/>
              <a:ea typeface="Microsoft YaHei UI" panose="020B0503020204020204" pitchFamily="34" charset="-122"/>
            </a:endParaRPr>
          </a:p>
        </p:txBody>
      </p:sp>
      <p:sp>
        <p:nvSpPr>
          <p:cNvPr id="18" name="矩形 17">
            <a:extLst>
              <a:ext uri="{FF2B5EF4-FFF2-40B4-BE49-F238E27FC236}">
                <a16:creationId xmlns:a16="http://schemas.microsoft.com/office/drawing/2014/main" id="{D243796B-B7A2-4470-A8F1-0496BEE71CBA}"/>
              </a:ext>
            </a:extLst>
          </p:cNvPr>
          <p:cNvSpPr/>
          <p:nvPr/>
        </p:nvSpPr>
        <p:spPr>
          <a:xfrm>
            <a:off x="976359" y="3593216"/>
            <a:ext cx="4564855" cy="85541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在侵入性冠脉造影前对</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患者行</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受体抑制剂预治疗的有效性及安全性仍然未知</a:t>
            </a:r>
          </a:p>
        </p:txBody>
      </p:sp>
      <p:sp>
        <p:nvSpPr>
          <p:cNvPr id="19" name="矩形 18">
            <a:extLst>
              <a:ext uri="{FF2B5EF4-FFF2-40B4-BE49-F238E27FC236}">
                <a16:creationId xmlns:a16="http://schemas.microsoft.com/office/drawing/2014/main" id="{A7345F58-812C-4E32-85A4-8C63EF0F0EB6}"/>
              </a:ext>
            </a:extLst>
          </p:cNvPr>
          <p:cNvSpPr/>
          <p:nvPr/>
        </p:nvSpPr>
        <p:spPr>
          <a:xfrm>
            <a:off x="5584003" y="1349018"/>
            <a:ext cx="5090845" cy="67359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随机比较基于</a:t>
            </a:r>
            <a:r>
              <a:rPr lang="zh-CN" altLang="en-US" sz="1800" dirty="0">
                <a:latin typeface="Microsoft YaHei UI" panose="020B0503020204020204" pitchFamily="34" charset="-122"/>
                <a:ea typeface="Microsoft YaHei UI" panose="020B0503020204020204" pitchFamily="34" charset="-122"/>
              </a:rPr>
              <a:t>床旁计算评分</a:t>
            </a:r>
            <a:r>
              <a:rPr lang="zh-CN" altLang="en-US" dirty="0">
                <a:latin typeface="Microsoft YaHei UI" panose="020B0503020204020204" pitchFamily="34" charset="-122"/>
                <a:ea typeface="Microsoft YaHei UI" panose="020B0503020204020204" pitchFamily="34" charset="-122"/>
              </a:rPr>
              <a:t>指导的</a:t>
            </a:r>
            <a:r>
              <a:rPr lang="zh-CN" altLang="en-US" sz="1800" dirty="0">
                <a:latin typeface="Microsoft YaHei UI" panose="020B0503020204020204" pitchFamily="34" charset="-122"/>
                <a:ea typeface="Microsoft YaHei UI" panose="020B0503020204020204" pitchFamily="34" charset="-122"/>
              </a:rPr>
              <a:t>治疗流程与常规治疗之间的差异</a:t>
            </a:r>
          </a:p>
        </p:txBody>
      </p:sp>
      <p:sp>
        <p:nvSpPr>
          <p:cNvPr id="34" name="矩形 33">
            <a:extLst>
              <a:ext uri="{FF2B5EF4-FFF2-40B4-BE49-F238E27FC236}">
                <a16:creationId xmlns:a16="http://schemas.microsoft.com/office/drawing/2014/main" id="{75288C9A-5FD0-46D1-8EC8-4CCCCC5DFC2B}"/>
              </a:ext>
            </a:extLst>
          </p:cNvPr>
          <p:cNvSpPr/>
          <p:nvPr/>
        </p:nvSpPr>
        <p:spPr>
          <a:xfrm>
            <a:off x="5584004" y="2067431"/>
            <a:ext cx="5090844" cy="112730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随机比较根据风险评分制定</a:t>
            </a:r>
            <a:r>
              <a:rPr lang="en-US" altLang="zh-CN" dirty="0">
                <a:latin typeface="Microsoft YaHei UI" panose="020B0503020204020204" pitchFamily="34" charset="-122"/>
                <a:ea typeface="Microsoft YaHei UI" panose="020B0503020204020204" pitchFamily="34" charset="-122"/>
              </a:rPr>
              <a:t>DAPT</a:t>
            </a:r>
            <a:r>
              <a:rPr lang="zh-CN" altLang="en-US" dirty="0">
                <a:latin typeface="Microsoft YaHei UI" panose="020B0503020204020204" pitchFamily="34" charset="-122"/>
                <a:ea typeface="Microsoft YaHei UI" panose="020B0503020204020204" pitchFamily="34" charset="-122"/>
              </a:rPr>
              <a:t>时程的策略与常规治疗之间的差异</a:t>
            </a:r>
            <a:endParaRPr lang="zh-CN" altLang="en-US" sz="1800" dirty="0">
              <a:latin typeface="Microsoft YaHei UI" panose="020B0503020204020204" pitchFamily="34" charset="-122"/>
              <a:ea typeface="Microsoft YaHei UI" panose="020B0503020204020204" pitchFamily="34" charset="-122"/>
            </a:endParaRPr>
          </a:p>
        </p:txBody>
      </p:sp>
      <p:sp>
        <p:nvSpPr>
          <p:cNvPr id="36" name="文本框 35">
            <a:extLst>
              <a:ext uri="{FF2B5EF4-FFF2-40B4-BE49-F238E27FC236}">
                <a16:creationId xmlns:a16="http://schemas.microsoft.com/office/drawing/2014/main" id="{AB7389E5-B593-434A-8218-08BCFE86C741}"/>
              </a:ext>
            </a:extLst>
          </p:cNvPr>
          <p:cNvSpPr txBox="1"/>
          <p:nvPr/>
        </p:nvSpPr>
        <p:spPr>
          <a:xfrm>
            <a:off x="974631" y="103556"/>
            <a:ext cx="7225862"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管理的证据缺陷及期待的临床研究（</a:t>
            </a:r>
            <a:r>
              <a:rPr lang="en-US" altLang="zh-CN" sz="2400" b="1" dirty="0">
                <a:solidFill>
                  <a:srgbClr val="AE1022"/>
                </a:solidFill>
                <a:latin typeface="Microsoft YaHei UI" panose="020B0503020204020204" pitchFamily="34" charset="-122"/>
                <a:ea typeface="Microsoft YaHei UI" panose="020B0503020204020204" pitchFamily="34" charset="-122"/>
              </a:rPr>
              <a:t>1</a:t>
            </a:r>
            <a:r>
              <a:rPr lang="zh-CN" altLang="en-US" sz="2400" b="1" dirty="0">
                <a:solidFill>
                  <a:srgbClr val="AE1022"/>
                </a:solidFill>
                <a:latin typeface="Microsoft YaHei UI" panose="020B0503020204020204" pitchFamily="34" charset="-122"/>
                <a:ea typeface="Microsoft YaHei UI" panose="020B0503020204020204" pitchFamily="34" charset="-122"/>
              </a:rPr>
              <a:t>）</a:t>
            </a:r>
          </a:p>
        </p:txBody>
      </p:sp>
      <p:sp>
        <p:nvSpPr>
          <p:cNvPr id="38" name="文本框 37">
            <a:extLst>
              <a:ext uri="{FF2B5EF4-FFF2-40B4-BE49-F238E27FC236}">
                <a16:creationId xmlns:a16="http://schemas.microsoft.com/office/drawing/2014/main" id="{C43CD983-B840-493F-82CF-0121E6159C4C}"/>
              </a:ext>
            </a:extLst>
          </p:cNvPr>
          <p:cNvSpPr txBox="1"/>
          <p:nvPr/>
        </p:nvSpPr>
        <p:spPr>
          <a:xfrm>
            <a:off x="5586014" y="614459"/>
            <a:ext cx="277715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所需要的随机对照研究</a:t>
            </a:r>
          </a:p>
        </p:txBody>
      </p:sp>
      <p:pic>
        <p:nvPicPr>
          <p:cNvPr id="40" name="图片 39">
            <a:extLst>
              <a:ext uri="{FF2B5EF4-FFF2-40B4-BE49-F238E27FC236}">
                <a16:creationId xmlns:a16="http://schemas.microsoft.com/office/drawing/2014/main" id="{326AB4B1-0B3D-4DA1-B068-CCF00D0C6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905" y="960054"/>
            <a:ext cx="9701576" cy="369333"/>
          </a:xfrm>
          <a:prstGeom prst="rect">
            <a:avLst/>
          </a:prstGeom>
        </p:spPr>
      </p:pic>
      <p:sp>
        <p:nvSpPr>
          <p:cNvPr id="42" name="文本框 41">
            <a:extLst>
              <a:ext uri="{FF2B5EF4-FFF2-40B4-BE49-F238E27FC236}">
                <a16:creationId xmlns:a16="http://schemas.microsoft.com/office/drawing/2014/main" id="{6F27A385-FE69-4CB4-B007-A04D51B01CA6}"/>
              </a:ext>
            </a:extLst>
          </p:cNvPr>
          <p:cNvSpPr txBox="1"/>
          <p:nvPr/>
        </p:nvSpPr>
        <p:spPr>
          <a:xfrm>
            <a:off x="969856" y="960884"/>
            <a:ext cx="231309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风险预测模型</a:t>
            </a:r>
          </a:p>
        </p:txBody>
      </p:sp>
      <p:sp>
        <p:nvSpPr>
          <p:cNvPr id="44" name="矩形 43">
            <a:extLst>
              <a:ext uri="{FF2B5EF4-FFF2-40B4-BE49-F238E27FC236}">
                <a16:creationId xmlns:a16="http://schemas.microsoft.com/office/drawing/2014/main" id="{40F1AF78-CE4D-4944-8334-1E37A693FDEA}"/>
              </a:ext>
            </a:extLst>
          </p:cNvPr>
          <p:cNvSpPr/>
          <p:nvPr/>
        </p:nvSpPr>
        <p:spPr>
          <a:xfrm>
            <a:off x="5591150" y="3588117"/>
            <a:ext cx="5083693" cy="85541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患者的替格瑞洛（或氯吡格雷）预处理，与应用安慰剂并在侵入性冠脉造影后行负荷剂量治疗之间的差异。</a:t>
            </a:r>
            <a:endParaRPr lang="zh-CN" altLang="en-US" sz="1800" dirty="0">
              <a:latin typeface="Microsoft YaHei UI" panose="020B0503020204020204" pitchFamily="34" charset="-122"/>
              <a:ea typeface="Microsoft YaHei UI" panose="020B0503020204020204" pitchFamily="34" charset="-122"/>
            </a:endParaRPr>
          </a:p>
        </p:txBody>
      </p:sp>
      <p:pic>
        <p:nvPicPr>
          <p:cNvPr id="46" name="图片 45">
            <a:extLst>
              <a:ext uri="{FF2B5EF4-FFF2-40B4-BE49-F238E27FC236}">
                <a16:creationId xmlns:a16="http://schemas.microsoft.com/office/drawing/2014/main" id="{74A071B1-2579-4799-953F-3E67B87704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855" y="3212392"/>
            <a:ext cx="9716625" cy="369333"/>
          </a:xfrm>
          <a:prstGeom prst="rect">
            <a:avLst/>
          </a:prstGeom>
        </p:spPr>
      </p:pic>
      <p:sp>
        <p:nvSpPr>
          <p:cNvPr id="48" name="文本框 47">
            <a:extLst>
              <a:ext uri="{FF2B5EF4-FFF2-40B4-BE49-F238E27FC236}">
                <a16:creationId xmlns:a16="http://schemas.microsoft.com/office/drawing/2014/main" id="{C7AB2220-0248-4CA4-902D-D73F8B806845}"/>
              </a:ext>
            </a:extLst>
          </p:cNvPr>
          <p:cNvSpPr txBox="1"/>
          <p:nvPr/>
        </p:nvSpPr>
        <p:spPr>
          <a:xfrm>
            <a:off x="954807" y="3213222"/>
            <a:ext cx="231309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药物治疗策略</a:t>
            </a:r>
          </a:p>
        </p:txBody>
      </p:sp>
      <p:sp>
        <p:nvSpPr>
          <p:cNvPr id="50" name="矩形 49">
            <a:extLst>
              <a:ext uri="{FF2B5EF4-FFF2-40B4-BE49-F238E27FC236}">
                <a16:creationId xmlns:a16="http://schemas.microsoft.com/office/drawing/2014/main" id="{5E8E370A-0078-4897-A2B7-DBA151AE3409}"/>
              </a:ext>
            </a:extLst>
          </p:cNvPr>
          <p:cNvSpPr/>
          <p:nvPr/>
        </p:nvSpPr>
        <p:spPr>
          <a:xfrm>
            <a:off x="976359" y="4488978"/>
            <a:ext cx="4564855" cy="84591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患者在侵入性治疗前早期静脉应用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受体阻滞剂的有效性和安全性仍然未知</a:t>
            </a:r>
          </a:p>
        </p:txBody>
      </p:sp>
      <p:sp>
        <p:nvSpPr>
          <p:cNvPr id="52" name="矩形 51">
            <a:extLst>
              <a:ext uri="{FF2B5EF4-FFF2-40B4-BE49-F238E27FC236}">
                <a16:creationId xmlns:a16="http://schemas.microsoft.com/office/drawing/2014/main" id="{89721BF3-CE43-4BA7-8CA0-01EECDF886A3}"/>
              </a:ext>
            </a:extLst>
          </p:cNvPr>
          <p:cNvSpPr/>
          <p:nvPr/>
        </p:nvSpPr>
        <p:spPr>
          <a:xfrm>
            <a:off x="5591150" y="4488978"/>
            <a:ext cx="5080282" cy="85541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随机比较侵入性冠脉造影前静脉应用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受体阻滞剂与常规治疗之间的差异</a:t>
            </a:r>
          </a:p>
        </p:txBody>
      </p:sp>
      <p:sp>
        <p:nvSpPr>
          <p:cNvPr id="54" name="矩形 53">
            <a:extLst>
              <a:ext uri="{FF2B5EF4-FFF2-40B4-BE49-F238E27FC236}">
                <a16:creationId xmlns:a16="http://schemas.microsoft.com/office/drawing/2014/main" id="{3E9D0CEF-FC85-47CF-BE9C-B4E2C9190004}"/>
              </a:ext>
            </a:extLst>
          </p:cNvPr>
          <p:cNvSpPr/>
          <p:nvPr/>
        </p:nvSpPr>
        <p:spPr>
          <a:xfrm>
            <a:off x="988905" y="5374466"/>
            <a:ext cx="4558002" cy="66455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a:t>
            </a:r>
            <a:r>
              <a:rPr lang="en-US" altLang="zh-CN" dirty="0">
                <a:latin typeface="Microsoft YaHei UI" panose="020B0503020204020204" pitchFamily="34" charset="-122"/>
                <a:ea typeface="Microsoft YaHei UI" panose="020B0503020204020204" pitchFamily="34" charset="-122"/>
              </a:rPr>
              <a:t>LVEF</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40%</a:t>
            </a:r>
            <a:r>
              <a:rPr lang="zh-CN" altLang="en-US" dirty="0">
                <a:latin typeface="Microsoft YaHei UI" panose="020B0503020204020204" pitchFamily="34" charset="-122"/>
                <a:ea typeface="Microsoft YaHei UI" panose="020B0503020204020204" pitchFamily="34" charset="-122"/>
              </a:rPr>
              <a:t>的患者，</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受体阻滞剂的长期治疗价值仍需探讨</a:t>
            </a:r>
          </a:p>
        </p:txBody>
      </p:sp>
      <p:sp>
        <p:nvSpPr>
          <p:cNvPr id="56" name="矩形 55">
            <a:extLst>
              <a:ext uri="{FF2B5EF4-FFF2-40B4-BE49-F238E27FC236}">
                <a16:creationId xmlns:a16="http://schemas.microsoft.com/office/drawing/2014/main" id="{A3A263BA-9C62-4997-A3B5-3E1879C89F40}"/>
              </a:ext>
            </a:extLst>
          </p:cNvPr>
          <p:cNvSpPr/>
          <p:nvPr/>
        </p:nvSpPr>
        <p:spPr>
          <a:xfrm>
            <a:off x="5580587" y="5369949"/>
            <a:ext cx="5090845" cy="67359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随机比较已应用</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年</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受体阻滞剂的</a:t>
            </a:r>
            <a:r>
              <a:rPr lang="en-US" altLang="zh-CN" dirty="0">
                <a:latin typeface="Microsoft YaHei UI" panose="020B0503020204020204" pitchFamily="34" charset="-122"/>
                <a:ea typeface="Microsoft YaHei UI" panose="020B0503020204020204" pitchFamily="34" charset="-122"/>
              </a:rPr>
              <a:t>LVEF</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40%</a:t>
            </a:r>
            <a:r>
              <a:rPr lang="zh-CN" altLang="en-US" dirty="0">
                <a:latin typeface="Microsoft YaHei UI" panose="020B0503020204020204" pitchFamily="34" charset="-122"/>
                <a:ea typeface="Microsoft YaHei UI" panose="020B0503020204020204" pitchFamily="34" charset="-122"/>
              </a:rPr>
              <a:t>患者，长期应用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受体阻滞剂与不应用之间的差异</a:t>
            </a:r>
            <a:endParaRPr lang="zh-CN" altLang="en-US" sz="18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08059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2" name="图片 1">
            <a:extLst>
              <a:ext uri="{FF2B5EF4-FFF2-40B4-BE49-F238E27FC236}">
                <a16:creationId xmlns:a16="http://schemas.microsoft.com/office/drawing/2014/main" id="{F280936A-F728-4008-A17C-87A03A7A96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905" y="602295"/>
            <a:ext cx="9701576" cy="369333"/>
          </a:xfrm>
          <a:prstGeom prst="rect">
            <a:avLst/>
          </a:prstGeom>
        </p:spPr>
      </p:pic>
      <p:sp>
        <p:nvSpPr>
          <p:cNvPr id="3" name="文本框 2">
            <a:extLst>
              <a:ext uri="{FF2B5EF4-FFF2-40B4-BE49-F238E27FC236}">
                <a16:creationId xmlns:a16="http://schemas.microsoft.com/office/drawing/2014/main" id="{F4DDDB2F-FCB2-4860-B1E1-0DC44EACBB67}"/>
              </a:ext>
            </a:extLst>
          </p:cNvPr>
          <p:cNvSpPr txBox="1"/>
          <p:nvPr/>
        </p:nvSpPr>
        <p:spPr>
          <a:xfrm>
            <a:off x="969856" y="597450"/>
            <a:ext cx="3021653"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NSTE-ACS</a:t>
            </a:r>
            <a:r>
              <a:rPr lang="zh-CN" altLang="en-US" b="1" dirty="0">
                <a:latin typeface="Microsoft YaHei UI" panose="020B0503020204020204" pitchFamily="34" charset="-122"/>
                <a:ea typeface="Microsoft YaHei UI" panose="020B0503020204020204" pitchFamily="34" charset="-122"/>
              </a:rPr>
              <a:t>管理的证据缺陷</a:t>
            </a:r>
          </a:p>
        </p:txBody>
      </p:sp>
      <p:sp>
        <p:nvSpPr>
          <p:cNvPr id="4" name="矩形 3">
            <a:extLst>
              <a:ext uri="{FF2B5EF4-FFF2-40B4-BE49-F238E27FC236}">
                <a16:creationId xmlns:a16="http://schemas.microsoft.com/office/drawing/2014/main" id="{9D91AB9D-377A-44A2-926B-B79E38FF9516}"/>
              </a:ext>
            </a:extLst>
          </p:cNvPr>
          <p:cNvSpPr/>
          <p:nvPr/>
        </p:nvSpPr>
        <p:spPr>
          <a:xfrm>
            <a:off x="974632" y="1358052"/>
            <a:ext cx="4558002" cy="89717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治疗后的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患者，在</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个月后应用血小板功能检测或基因检测指导</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受体抑制剂降阶治疗的作用仍然未知</a:t>
            </a:r>
          </a:p>
        </p:txBody>
      </p:sp>
      <p:sp>
        <p:nvSpPr>
          <p:cNvPr id="5" name="矩形 4">
            <a:extLst>
              <a:ext uri="{FF2B5EF4-FFF2-40B4-BE49-F238E27FC236}">
                <a16:creationId xmlns:a16="http://schemas.microsoft.com/office/drawing/2014/main" id="{EB638E5B-4570-4ECC-9A5A-9B908C6DDC99}"/>
              </a:ext>
            </a:extLst>
          </p:cNvPr>
          <p:cNvSpPr/>
          <p:nvPr/>
        </p:nvSpPr>
        <p:spPr>
          <a:xfrm>
            <a:off x="976359" y="2304065"/>
            <a:ext cx="4564855" cy="67544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与常规方法相比，除</a:t>
            </a:r>
            <a:r>
              <a:rPr lang="en-US" altLang="zh-CN" dirty="0" err="1">
                <a:latin typeface="Microsoft YaHei UI" panose="020B0503020204020204" pitchFamily="34" charset="-122"/>
                <a:ea typeface="Microsoft YaHei UI" panose="020B0503020204020204" pitchFamily="34" charset="-122"/>
              </a:rPr>
              <a:t>hs-cTn</a:t>
            </a:r>
            <a:r>
              <a:rPr lang="zh-CN" altLang="en-US" dirty="0">
                <a:latin typeface="Microsoft YaHei UI" panose="020B0503020204020204" pitchFamily="34" charset="-122"/>
                <a:ea typeface="Microsoft YaHei UI" panose="020B0503020204020204" pitchFamily="34" charset="-122"/>
              </a:rPr>
              <a:t>外有否其它生物标志物能够用于</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的快速排除诊断？</a:t>
            </a:r>
          </a:p>
        </p:txBody>
      </p:sp>
      <p:sp>
        <p:nvSpPr>
          <p:cNvPr id="6" name="矩形 5">
            <a:extLst>
              <a:ext uri="{FF2B5EF4-FFF2-40B4-BE49-F238E27FC236}">
                <a16:creationId xmlns:a16="http://schemas.microsoft.com/office/drawing/2014/main" id="{12283E9C-083A-419A-A45A-968D0CF6B9CC}"/>
              </a:ext>
            </a:extLst>
          </p:cNvPr>
          <p:cNvSpPr/>
          <p:nvPr/>
        </p:nvSpPr>
        <p:spPr>
          <a:xfrm>
            <a:off x="5584003" y="1349018"/>
            <a:ext cx="5090845" cy="90620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需要效能充足的随机对照研究比较血小板功能检测或基因检测指导的降阶治疗与常规治疗之间的差异</a:t>
            </a:r>
            <a:endParaRPr lang="zh-CN" altLang="en-US" sz="1800" dirty="0">
              <a:latin typeface="Microsoft YaHei UI" panose="020B0503020204020204" pitchFamily="34" charset="-122"/>
              <a:ea typeface="Microsoft YaHei UI" panose="020B0503020204020204" pitchFamily="34" charset="-122"/>
            </a:endParaRPr>
          </a:p>
        </p:txBody>
      </p:sp>
      <p:sp>
        <p:nvSpPr>
          <p:cNvPr id="8" name="文本框 7">
            <a:extLst>
              <a:ext uri="{FF2B5EF4-FFF2-40B4-BE49-F238E27FC236}">
                <a16:creationId xmlns:a16="http://schemas.microsoft.com/office/drawing/2014/main" id="{89E26078-FD2F-4016-AA1F-1E68C5F58F43}"/>
              </a:ext>
            </a:extLst>
          </p:cNvPr>
          <p:cNvSpPr txBox="1"/>
          <p:nvPr/>
        </p:nvSpPr>
        <p:spPr>
          <a:xfrm>
            <a:off x="974631" y="103556"/>
            <a:ext cx="7302594"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管理的证据缺陷及期待的临床研究（</a:t>
            </a:r>
            <a:r>
              <a:rPr lang="en-US" altLang="zh-CN" sz="2400" b="1" dirty="0">
                <a:solidFill>
                  <a:srgbClr val="AE1022"/>
                </a:solidFill>
                <a:latin typeface="Microsoft YaHei UI" panose="020B0503020204020204" pitchFamily="34" charset="-122"/>
                <a:ea typeface="Microsoft YaHei UI" panose="020B0503020204020204" pitchFamily="34" charset="-122"/>
              </a:rPr>
              <a:t>2</a:t>
            </a:r>
            <a:r>
              <a:rPr lang="zh-CN" altLang="en-US" sz="2400" b="1" dirty="0">
                <a:solidFill>
                  <a:srgbClr val="AE1022"/>
                </a:solidFill>
                <a:latin typeface="Microsoft YaHei UI" panose="020B0503020204020204" pitchFamily="34" charset="-122"/>
                <a:ea typeface="Microsoft YaHei UI" panose="020B0503020204020204" pitchFamily="34" charset="-122"/>
              </a:rPr>
              <a:t>）</a:t>
            </a:r>
          </a:p>
        </p:txBody>
      </p:sp>
      <p:sp>
        <p:nvSpPr>
          <p:cNvPr id="11" name="文本框 10">
            <a:extLst>
              <a:ext uri="{FF2B5EF4-FFF2-40B4-BE49-F238E27FC236}">
                <a16:creationId xmlns:a16="http://schemas.microsoft.com/office/drawing/2014/main" id="{742FE3D3-BC5B-408D-AF5D-5E493BF3CA58}"/>
              </a:ext>
            </a:extLst>
          </p:cNvPr>
          <p:cNvSpPr txBox="1"/>
          <p:nvPr/>
        </p:nvSpPr>
        <p:spPr>
          <a:xfrm>
            <a:off x="5586014" y="614459"/>
            <a:ext cx="277715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所需要的随机对照研究</a:t>
            </a:r>
          </a:p>
        </p:txBody>
      </p:sp>
      <p:pic>
        <p:nvPicPr>
          <p:cNvPr id="12" name="图片 11">
            <a:extLst>
              <a:ext uri="{FF2B5EF4-FFF2-40B4-BE49-F238E27FC236}">
                <a16:creationId xmlns:a16="http://schemas.microsoft.com/office/drawing/2014/main" id="{14E08D96-DBA4-403D-B949-5BB7E12671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905" y="960054"/>
            <a:ext cx="9701576" cy="369333"/>
          </a:xfrm>
          <a:prstGeom prst="rect">
            <a:avLst/>
          </a:prstGeom>
        </p:spPr>
      </p:pic>
      <p:sp>
        <p:nvSpPr>
          <p:cNvPr id="13" name="文本框 12">
            <a:extLst>
              <a:ext uri="{FF2B5EF4-FFF2-40B4-BE49-F238E27FC236}">
                <a16:creationId xmlns:a16="http://schemas.microsoft.com/office/drawing/2014/main" id="{9DBD3A26-4B56-47A4-9791-08A843F87073}"/>
              </a:ext>
            </a:extLst>
          </p:cNvPr>
          <p:cNvSpPr txBox="1"/>
          <p:nvPr/>
        </p:nvSpPr>
        <p:spPr>
          <a:xfrm>
            <a:off x="969856" y="960884"/>
            <a:ext cx="2313099"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生物标记物</a:t>
            </a:r>
          </a:p>
        </p:txBody>
      </p:sp>
      <p:sp>
        <p:nvSpPr>
          <p:cNvPr id="14" name="矩形 13">
            <a:extLst>
              <a:ext uri="{FF2B5EF4-FFF2-40B4-BE49-F238E27FC236}">
                <a16:creationId xmlns:a16="http://schemas.microsoft.com/office/drawing/2014/main" id="{0DDCE125-8616-4994-8296-4B7CA85FA676}"/>
              </a:ext>
            </a:extLst>
          </p:cNvPr>
          <p:cNvSpPr/>
          <p:nvPr/>
        </p:nvSpPr>
        <p:spPr>
          <a:xfrm>
            <a:off x="5580587" y="3386027"/>
            <a:ext cx="5083693" cy="56815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随机比较症状出现</a:t>
            </a:r>
            <a:r>
              <a:rPr lang="en-US" altLang="zh-CN" dirty="0">
                <a:latin typeface="Microsoft YaHei UI" panose="020B0503020204020204" pitchFamily="34" charset="-122"/>
                <a:ea typeface="Microsoft YaHei UI" panose="020B0503020204020204" pitchFamily="34" charset="-122"/>
              </a:rPr>
              <a:t>72</a:t>
            </a:r>
            <a:r>
              <a:rPr lang="zh-CN" altLang="en-US" dirty="0">
                <a:latin typeface="Microsoft YaHei UI" panose="020B0503020204020204" pitchFamily="34" charset="-122"/>
                <a:ea typeface="Microsoft YaHei UI" panose="020B0503020204020204" pitchFamily="34" charset="-122"/>
              </a:rPr>
              <a:t>小时内造影之前的不同时间间隔之间的差异</a:t>
            </a:r>
            <a:endParaRPr lang="zh-CN" altLang="en-US" sz="1800" dirty="0">
              <a:latin typeface="Microsoft YaHei UI" panose="020B0503020204020204" pitchFamily="34" charset="-122"/>
              <a:ea typeface="Microsoft YaHei UI" panose="020B0503020204020204" pitchFamily="34" charset="-122"/>
            </a:endParaRPr>
          </a:p>
        </p:txBody>
      </p:sp>
      <p:pic>
        <p:nvPicPr>
          <p:cNvPr id="15" name="图片 14">
            <a:extLst>
              <a:ext uri="{FF2B5EF4-FFF2-40B4-BE49-F238E27FC236}">
                <a16:creationId xmlns:a16="http://schemas.microsoft.com/office/drawing/2014/main" id="{D3A4DFF8-DC75-4788-8909-286DCDBFE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855" y="3001775"/>
            <a:ext cx="9716625" cy="369333"/>
          </a:xfrm>
          <a:prstGeom prst="rect">
            <a:avLst/>
          </a:prstGeom>
        </p:spPr>
      </p:pic>
      <p:sp>
        <p:nvSpPr>
          <p:cNvPr id="16" name="文本框 15">
            <a:extLst>
              <a:ext uri="{FF2B5EF4-FFF2-40B4-BE49-F238E27FC236}">
                <a16:creationId xmlns:a16="http://schemas.microsoft.com/office/drawing/2014/main" id="{84887025-D8C3-4A58-93F1-222B21DEAE51}"/>
              </a:ext>
            </a:extLst>
          </p:cNvPr>
          <p:cNvSpPr txBox="1"/>
          <p:nvPr/>
        </p:nvSpPr>
        <p:spPr>
          <a:xfrm>
            <a:off x="954807" y="3002605"/>
            <a:ext cx="3401436"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冠脉造影时机及</a:t>
            </a:r>
            <a:r>
              <a:rPr lang="en-US" altLang="zh-CN" b="1" dirty="0">
                <a:latin typeface="Microsoft YaHei UI" panose="020B0503020204020204" pitchFamily="34" charset="-122"/>
                <a:ea typeface="Microsoft YaHei UI" panose="020B0503020204020204" pitchFamily="34" charset="-122"/>
              </a:rPr>
              <a:t>PCI</a:t>
            </a:r>
            <a:r>
              <a:rPr lang="zh-CN" altLang="en-US" b="1" dirty="0">
                <a:latin typeface="Microsoft YaHei UI" panose="020B0503020204020204" pitchFamily="34" charset="-122"/>
                <a:ea typeface="Microsoft YaHei UI" panose="020B0503020204020204" pitchFamily="34" charset="-122"/>
              </a:rPr>
              <a:t>治疗策略</a:t>
            </a:r>
          </a:p>
        </p:txBody>
      </p:sp>
      <p:sp>
        <p:nvSpPr>
          <p:cNvPr id="20" name="矩形 19">
            <a:extLst>
              <a:ext uri="{FF2B5EF4-FFF2-40B4-BE49-F238E27FC236}">
                <a16:creationId xmlns:a16="http://schemas.microsoft.com/office/drawing/2014/main" id="{4445AD5B-7782-498F-905F-3EB3CF12E520}"/>
              </a:ext>
            </a:extLst>
          </p:cNvPr>
          <p:cNvSpPr/>
          <p:nvPr/>
        </p:nvSpPr>
        <p:spPr>
          <a:xfrm>
            <a:off x="966085" y="4607146"/>
            <a:ext cx="4564855" cy="58293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女性患者最佳的侵入治疗策略仍然未知</a:t>
            </a:r>
          </a:p>
        </p:txBody>
      </p:sp>
      <p:sp>
        <p:nvSpPr>
          <p:cNvPr id="22" name="矩形 21">
            <a:extLst>
              <a:ext uri="{FF2B5EF4-FFF2-40B4-BE49-F238E27FC236}">
                <a16:creationId xmlns:a16="http://schemas.microsoft.com/office/drawing/2014/main" id="{BA241508-7E18-4339-B290-2D9F430CF9D7}"/>
              </a:ext>
            </a:extLst>
          </p:cNvPr>
          <p:cNvSpPr/>
          <p:nvPr/>
        </p:nvSpPr>
        <p:spPr>
          <a:xfrm>
            <a:off x="5585724" y="4003671"/>
            <a:ext cx="5080282" cy="56815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随机比较经合理风险分层后的患者常规侵入性治疗与择期侵入治疗之间的差异</a:t>
            </a:r>
          </a:p>
        </p:txBody>
      </p:sp>
      <p:sp>
        <p:nvSpPr>
          <p:cNvPr id="24" name="矩形 23">
            <a:extLst>
              <a:ext uri="{FF2B5EF4-FFF2-40B4-BE49-F238E27FC236}">
                <a16:creationId xmlns:a16="http://schemas.microsoft.com/office/drawing/2014/main" id="{283ADFC3-D199-4240-A892-BBF37F950D5E}"/>
              </a:ext>
            </a:extLst>
          </p:cNvPr>
          <p:cNvSpPr/>
          <p:nvPr/>
        </p:nvSpPr>
        <p:spPr>
          <a:xfrm>
            <a:off x="965081" y="5239082"/>
            <a:ext cx="4572690" cy="86401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对于低风险</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患者以及不确定是否诊断为</a:t>
            </a:r>
            <a:r>
              <a:rPr lang="en-US" altLang="zh-CN" dirty="0">
                <a:latin typeface="Microsoft YaHei UI" panose="020B0503020204020204" pitchFamily="34" charset="-122"/>
                <a:ea typeface="Microsoft YaHei UI" panose="020B0503020204020204" pitchFamily="34" charset="-122"/>
              </a:rPr>
              <a:t>NSTEMI</a:t>
            </a:r>
            <a:r>
              <a:rPr lang="zh-CN" altLang="en-US" dirty="0">
                <a:latin typeface="Microsoft YaHei UI" panose="020B0503020204020204" pitchFamily="34" charset="-122"/>
                <a:ea typeface="Microsoft YaHei UI" panose="020B0503020204020204" pitchFamily="34" charset="-122"/>
              </a:rPr>
              <a:t>的患者，冠脉</a:t>
            </a:r>
            <a:r>
              <a:rPr lang="en-US" altLang="zh-CN" dirty="0">
                <a:latin typeface="Microsoft YaHei UI" panose="020B0503020204020204" pitchFamily="34" charset="-122"/>
                <a:ea typeface="Microsoft YaHei UI" panose="020B0503020204020204" pitchFamily="34" charset="-122"/>
              </a:rPr>
              <a:t>CT</a:t>
            </a:r>
            <a:r>
              <a:rPr lang="zh-CN" altLang="en-US" dirty="0">
                <a:latin typeface="Microsoft YaHei UI" panose="020B0503020204020204" pitchFamily="34" charset="-122"/>
                <a:ea typeface="Microsoft YaHei UI" panose="020B0503020204020204" pitchFamily="34" charset="-122"/>
              </a:rPr>
              <a:t>造影以及其它基于影像学的压力测试的作用仍然未知</a:t>
            </a:r>
          </a:p>
        </p:txBody>
      </p:sp>
      <p:sp>
        <p:nvSpPr>
          <p:cNvPr id="26" name="矩形 25">
            <a:extLst>
              <a:ext uri="{FF2B5EF4-FFF2-40B4-BE49-F238E27FC236}">
                <a16:creationId xmlns:a16="http://schemas.microsoft.com/office/drawing/2014/main" id="{2514938D-EAEA-4C37-9EDF-DCD907724888}"/>
              </a:ext>
            </a:extLst>
          </p:cNvPr>
          <p:cNvSpPr/>
          <p:nvPr/>
        </p:nvSpPr>
        <p:spPr>
          <a:xfrm>
            <a:off x="5590861" y="2308478"/>
            <a:ext cx="5080571" cy="67544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随机比较</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患者生物标记物联合常规方法诊断与常规方法诊断之间的差异</a:t>
            </a:r>
          </a:p>
        </p:txBody>
      </p:sp>
      <p:sp>
        <p:nvSpPr>
          <p:cNvPr id="30" name="矩形 29">
            <a:extLst>
              <a:ext uri="{FF2B5EF4-FFF2-40B4-BE49-F238E27FC236}">
                <a16:creationId xmlns:a16="http://schemas.microsoft.com/office/drawing/2014/main" id="{35EA83EE-6CD9-4378-A5E3-3627DA35F1C6}"/>
              </a:ext>
            </a:extLst>
          </p:cNvPr>
          <p:cNvSpPr/>
          <p:nvPr/>
        </p:nvSpPr>
        <p:spPr>
          <a:xfrm>
            <a:off x="969855" y="3383277"/>
            <a:ext cx="4558002" cy="57090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高风险</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患者的最佳侵入性冠脉造影的时间是何时？</a:t>
            </a:r>
          </a:p>
        </p:txBody>
      </p:sp>
      <p:sp>
        <p:nvSpPr>
          <p:cNvPr id="32" name="矩形 31">
            <a:extLst>
              <a:ext uri="{FF2B5EF4-FFF2-40B4-BE49-F238E27FC236}">
                <a16:creationId xmlns:a16="http://schemas.microsoft.com/office/drawing/2014/main" id="{4BA1178C-3AFA-4908-AFF4-A37EA89E75F8}"/>
              </a:ext>
            </a:extLst>
          </p:cNvPr>
          <p:cNvSpPr/>
          <p:nvPr/>
        </p:nvSpPr>
        <p:spPr>
          <a:xfrm>
            <a:off x="971222" y="4003671"/>
            <a:ext cx="4558002" cy="57090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低风险</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患者应常规接受还是择期接受侵入性评估？</a:t>
            </a:r>
          </a:p>
        </p:txBody>
      </p:sp>
      <p:sp>
        <p:nvSpPr>
          <p:cNvPr id="58" name="矩形 57">
            <a:extLst>
              <a:ext uri="{FF2B5EF4-FFF2-40B4-BE49-F238E27FC236}">
                <a16:creationId xmlns:a16="http://schemas.microsoft.com/office/drawing/2014/main" id="{C4BF35D8-77B4-49C0-B4C9-D81F9FA58FDF}"/>
              </a:ext>
            </a:extLst>
          </p:cNvPr>
          <p:cNvSpPr/>
          <p:nvPr/>
        </p:nvSpPr>
        <p:spPr>
          <a:xfrm>
            <a:off x="5575450" y="4612551"/>
            <a:ext cx="5090845" cy="58293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需要效能充足的随机对照研究探索</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患者的治疗策略在性别上的差异</a:t>
            </a:r>
            <a:endParaRPr lang="zh-CN" altLang="en-US" sz="1800" dirty="0">
              <a:latin typeface="Microsoft YaHei UI" panose="020B0503020204020204" pitchFamily="34" charset="-122"/>
              <a:ea typeface="Microsoft YaHei UI" panose="020B0503020204020204" pitchFamily="34" charset="-122"/>
            </a:endParaRPr>
          </a:p>
        </p:txBody>
      </p:sp>
      <p:sp>
        <p:nvSpPr>
          <p:cNvPr id="60" name="矩形 59">
            <a:extLst>
              <a:ext uri="{FF2B5EF4-FFF2-40B4-BE49-F238E27FC236}">
                <a16:creationId xmlns:a16="http://schemas.microsoft.com/office/drawing/2014/main" id="{9503ADF6-D979-4960-B51D-5CF4CA4428D5}"/>
              </a:ext>
            </a:extLst>
          </p:cNvPr>
          <p:cNvSpPr/>
          <p:nvPr/>
        </p:nvSpPr>
        <p:spPr>
          <a:xfrm>
            <a:off x="5577169" y="5244180"/>
            <a:ext cx="5087111"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进行对比侵入性冠脉造影前非侵入性解剖评价和功能性成像评价对临床终点影响的效能充足的常规诊断性</a:t>
            </a:r>
            <a:r>
              <a:rPr lang="en-US" altLang="zh-CN" dirty="0">
                <a:latin typeface="Microsoft YaHei UI" panose="020B0503020204020204" pitchFamily="34" charset="-122"/>
                <a:ea typeface="Microsoft YaHei UI" panose="020B0503020204020204" pitchFamily="34" charset="-122"/>
              </a:rPr>
              <a:t>RCT</a:t>
            </a:r>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843748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7" name="图片 6">
            <a:extLst>
              <a:ext uri="{FF2B5EF4-FFF2-40B4-BE49-F238E27FC236}">
                <a16:creationId xmlns:a16="http://schemas.microsoft.com/office/drawing/2014/main" id="{FAE91FE6-B7E8-4E31-AED1-0DFBF90C9E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905" y="602295"/>
            <a:ext cx="9701576" cy="369333"/>
          </a:xfrm>
          <a:prstGeom prst="rect">
            <a:avLst/>
          </a:prstGeom>
        </p:spPr>
      </p:pic>
      <p:sp>
        <p:nvSpPr>
          <p:cNvPr id="9" name="文本框 8">
            <a:extLst>
              <a:ext uri="{FF2B5EF4-FFF2-40B4-BE49-F238E27FC236}">
                <a16:creationId xmlns:a16="http://schemas.microsoft.com/office/drawing/2014/main" id="{D937C338-0747-43FF-8989-B44452751845}"/>
              </a:ext>
            </a:extLst>
          </p:cNvPr>
          <p:cNvSpPr txBox="1"/>
          <p:nvPr/>
        </p:nvSpPr>
        <p:spPr>
          <a:xfrm>
            <a:off x="969856" y="597450"/>
            <a:ext cx="3021653"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NSTE-ACS</a:t>
            </a:r>
            <a:r>
              <a:rPr lang="zh-CN" altLang="en-US" b="1" dirty="0">
                <a:latin typeface="Microsoft YaHei UI" panose="020B0503020204020204" pitchFamily="34" charset="-122"/>
                <a:ea typeface="Microsoft YaHei UI" panose="020B0503020204020204" pitchFamily="34" charset="-122"/>
              </a:rPr>
              <a:t>管理的证据缺陷</a:t>
            </a:r>
          </a:p>
        </p:txBody>
      </p:sp>
      <p:sp>
        <p:nvSpPr>
          <p:cNvPr id="10" name="文本框 9">
            <a:extLst>
              <a:ext uri="{FF2B5EF4-FFF2-40B4-BE49-F238E27FC236}">
                <a16:creationId xmlns:a16="http://schemas.microsoft.com/office/drawing/2014/main" id="{984F1081-74B9-4173-8682-4D0111E13E7D}"/>
              </a:ext>
            </a:extLst>
          </p:cNvPr>
          <p:cNvSpPr txBox="1"/>
          <p:nvPr/>
        </p:nvSpPr>
        <p:spPr>
          <a:xfrm>
            <a:off x="974630" y="103556"/>
            <a:ext cx="7597869"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管理的证据缺陷及期待的临床研究（</a:t>
            </a:r>
            <a:r>
              <a:rPr lang="en-US" altLang="zh-CN" sz="2400" b="1" dirty="0">
                <a:solidFill>
                  <a:srgbClr val="AE1022"/>
                </a:solidFill>
                <a:latin typeface="Microsoft YaHei UI" panose="020B0503020204020204" pitchFamily="34" charset="-122"/>
                <a:ea typeface="Microsoft YaHei UI" panose="020B0503020204020204" pitchFamily="34" charset="-122"/>
              </a:rPr>
              <a:t>3</a:t>
            </a:r>
            <a:r>
              <a:rPr lang="zh-CN" altLang="en-US" sz="2400" b="1" dirty="0">
                <a:solidFill>
                  <a:srgbClr val="AE1022"/>
                </a:solidFill>
                <a:latin typeface="Microsoft YaHei UI" panose="020B0503020204020204" pitchFamily="34" charset="-122"/>
                <a:ea typeface="Microsoft YaHei UI" panose="020B0503020204020204" pitchFamily="34" charset="-122"/>
              </a:rPr>
              <a:t>）</a:t>
            </a:r>
          </a:p>
        </p:txBody>
      </p:sp>
      <p:sp>
        <p:nvSpPr>
          <p:cNvPr id="17" name="文本框 16">
            <a:extLst>
              <a:ext uri="{FF2B5EF4-FFF2-40B4-BE49-F238E27FC236}">
                <a16:creationId xmlns:a16="http://schemas.microsoft.com/office/drawing/2014/main" id="{3F54F669-7D6F-499B-A927-881E69A376BA}"/>
              </a:ext>
            </a:extLst>
          </p:cNvPr>
          <p:cNvSpPr txBox="1"/>
          <p:nvPr/>
        </p:nvSpPr>
        <p:spPr>
          <a:xfrm>
            <a:off x="5586014" y="614459"/>
            <a:ext cx="277715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所需要的随机对照研究</a:t>
            </a:r>
          </a:p>
        </p:txBody>
      </p:sp>
      <p:sp>
        <p:nvSpPr>
          <p:cNvPr id="18" name="矩形 17">
            <a:extLst>
              <a:ext uri="{FF2B5EF4-FFF2-40B4-BE49-F238E27FC236}">
                <a16:creationId xmlns:a16="http://schemas.microsoft.com/office/drawing/2014/main" id="{D37EAC06-F5D3-4443-B2DB-8EE5AD2D93F4}"/>
              </a:ext>
            </a:extLst>
          </p:cNvPr>
          <p:cNvSpPr/>
          <p:nvPr/>
        </p:nvSpPr>
        <p:spPr>
          <a:xfrm>
            <a:off x="5580587" y="1351746"/>
            <a:ext cx="5083693" cy="88801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比较</a:t>
            </a:r>
            <a:r>
              <a:rPr lang="en-US" altLang="zh-CN" dirty="0">
                <a:latin typeface="Microsoft YaHei UI" panose="020B0503020204020204" pitchFamily="34" charset="-122"/>
                <a:ea typeface="Microsoft YaHei UI" panose="020B0503020204020204" pitchFamily="34" charset="-122"/>
              </a:rPr>
              <a:t>FFR-CT</a:t>
            </a:r>
            <a:r>
              <a:rPr lang="zh-CN" altLang="en-US" dirty="0">
                <a:latin typeface="Microsoft YaHei UI" panose="020B0503020204020204" pitchFamily="34" charset="-122"/>
                <a:ea typeface="Microsoft YaHei UI" panose="020B0503020204020204" pitchFamily="34" charset="-122"/>
              </a:rPr>
              <a:t>在</a:t>
            </a:r>
            <a:r>
              <a:rPr lang="en-US" altLang="zh-CN" dirty="0">
                <a:latin typeface="Microsoft YaHei UI" panose="020B0503020204020204" pitchFamily="34" charset="-122"/>
                <a:ea typeface="Microsoft YaHei UI" panose="020B0503020204020204" pitchFamily="34" charset="-122"/>
              </a:rPr>
              <a:t>CCTA</a:t>
            </a:r>
            <a:r>
              <a:rPr lang="zh-CN" altLang="en-US" dirty="0">
                <a:latin typeface="Microsoft YaHei UI" panose="020B0503020204020204" pitchFamily="34" charset="-122"/>
                <a:ea typeface="Microsoft YaHei UI" panose="020B0503020204020204" pitchFamily="34" charset="-122"/>
              </a:rPr>
              <a:t>基础上的附加诊断价值</a:t>
            </a:r>
            <a:endParaRPr lang="zh-CN" altLang="en-US" sz="1800" dirty="0">
              <a:latin typeface="Microsoft YaHei UI" panose="020B0503020204020204" pitchFamily="34" charset="-122"/>
              <a:ea typeface="Microsoft YaHei UI" panose="020B0503020204020204" pitchFamily="34" charset="-122"/>
            </a:endParaRPr>
          </a:p>
        </p:txBody>
      </p:sp>
      <p:pic>
        <p:nvPicPr>
          <p:cNvPr id="19" name="图片 18">
            <a:extLst>
              <a:ext uri="{FF2B5EF4-FFF2-40B4-BE49-F238E27FC236}">
                <a16:creationId xmlns:a16="http://schemas.microsoft.com/office/drawing/2014/main" id="{B0525DC1-48BC-46CD-AE03-ACABCBC9B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855" y="967495"/>
            <a:ext cx="9716625" cy="369333"/>
          </a:xfrm>
          <a:prstGeom prst="rect">
            <a:avLst/>
          </a:prstGeom>
        </p:spPr>
      </p:pic>
      <p:sp>
        <p:nvSpPr>
          <p:cNvPr id="21" name="文本框 20">
            <a:extLst>
              <a:ext uri="{FF2B5EF4-FFF2-40B4-BE49-F238E27FC236}">
                <a16:creationId xmlns:a16="http://schemas.microsoft.com/office/drawing/2014/main" id="{0C4E92A4-C234-4868-B2FD-62B3076C7D3E}"/>
              </a:ext>
            </a:extLst>
          </p:cNvPr>
          <p:cNvSpPr txBox="1"/>
          <p:nvPr/>
        </p:nvSpPr>
        <p:spPr>
          <a:xfrm>
            <a:off x="954807" y="968325"/>
            <a:ext cx="3401436"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冠脉造影时机及</a:t>
            </a:r>
            <a:r>
              <a:rPr lang="en-US" altLang="zh-CN" b="1" dirty="0">
                <a:latin typeface="Microsoft YaHei UI" panose="020B0503020204020204" pitchFamily="34" charset="-122"/>
                <a:ea typeface="Microsoft YaHei UI" panose="020B0503020204020204" pitchFamily="34" charset="-122"/>
              </a:rPr>
              <a:t>PCI</a:t>
            </a:r>
            <a:r>
              <a:rPr lang="zh-CN" altLang="en-US" b="1" dirty="0">
                <a:latin typeface="Microsoft YaHei UI" panose="020B0503020204020204" pitchFamily="34" charset="-122"/>
                <a:ea typeface="Microsoft YaHei UI" panose="020B0503020204020204" pitchFamily="34" charset="-122"/>
              </a:rPr>
              <a:t>治疗策略</a:t>
            </a:r>
          </a:p>
        </p:txBody>
      </p:sp>
      <p:sp>
        <p:nvSpPr>
          <p:cNvPr id="34" name="矩形 33">
            <a:extLst>
              <a:ext uri="{FF2B5EF4-FFF2-40B4-BE49-F238E27FC236}">
                <a16:creationId xmlns:a16="http://schemas.microsoft.com/office/drawing/2014/main" id="{DEEE4582-DD32-45EC-B225-C09415851454}"/>
              </a:ext>
            </a:extLst>
          </p:cNvPr>
          <p:cNvSpPr/>
          <p:nvPr/>
        </p:nvSpPr>
        <p:spPr>
          <a:xfrm>
            <a:off x="966085" y="2881090"/>
            <a:ext cx="4564855" cy="58293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由于入选困难，关于</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老年人群进行侵入性治疗的临床试验较少</a:t>
            </a:r>
          </a:p>
        </p:txBody>
      </p:sp>
      <p:sp>
        <p:nvSpPr>
          <p:cNvPr id="36" name="矩形 35">
            <a:extLst>
              <a:ext uri="{FF2B5EF4-FFF2-40B4-BE49-F238E27FC236}">
                <a16:creationId xmlns:a16="http://schemas.microsoft.com/office/drawing/2014/main" id="{C52A6E61-9377-47DF-9975-85A90D4F43DA}"/>
              </a:ext>
            </a:extLst>
          </p:cNvPr>
          <p:cNvSpPr/>
          <p:nvPr/>
        </p:nvSpPr>
        <p:spPr>
          <a:xfrm>
            <a:off x="5585724" y="2277615"/>
            <a:ext cx="5080282" cy="56815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将无持续性缺血或血流动力学不稳定的虚弱患者随机分配至常规或择期冠脉造影组</a:t>
            </a:r>
          </a:p>
        </p:txBody>
      </p:sp>
      <p:sp>
        <p:nvSpPr>
          <p:cNvPr id="38" name="矩形 37">
            <a:extLst>
              <a:ext uri="{FF2B5EF4-FFF2-40B4-BE49-F238E27FC236}">
                <a16:creationId xmlns:a16="http://schemas.microsoft.com/office/drawing/2014/main" id="{E8EA17FF-3006-430E-BEB2-A6E087F97BDB}"/>
              </a:ext>
            </a:extLst>
          </p:cNvPr>
          <p:cNvSpPr/>
          <p:nvPr/>
        </p:nvSpPr>
        <p:spPr>
          <a:xfrm>
            <a:off x="965081" y="3513026"/>
            <a:ext cx="4572690" cy="86401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除了目前所得出的急诊侵入性治疗标准外，不确定还有哪些</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患者需要进行急诊侵入性治疗</a:t>
            </a:r>
          </a:p>
        </p:txBody>
      </p:sp>
      <p:sp>
        <p:nvSpPr>
          <p:cNvPr id="40" name="矩形 39">
            <a:extLst>
              <a:ext uri="{FF2B5EF4-FFF2-40B4-BE49-F238E27FC236}">
                <a16:creationId xmlns:a16="http://schemas.microsoft.com/office/drawing/2014/main" id="{55A0741B-4BC4-48A7-9C43-A98DFE3880AB}"/>
              </a:ext>
            </a:extLst>
          </p:cNvPr>
          <p:cNvSpPr/>
          <p:nvPr/>
        </p:nvSpPr>
        <p:spPr>
          <a:xfrm>
            <a:off x="969855" y="1348997"/>
            <a:ext cx="4558002" cy="890769"/>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CCTA</a:t>
            </a:r>
            <a:r>
              <a:rPr lang="zh-CN" altLang="en-US" dirty="0">
                <a:latin typeface="Microsoft YaHei UI" panose="020B0503020204020204" pitchFamily="34" charset="-122"/>
                <a:ea typeface="Microsoft YaHei UI" panose="020B0503020204020204" pitchFamily="34" charset="-122"/>
              </a:rPr>
              <a:t>基础上应用</a:t>
            </a:r>
            <a:r>
              <a:rPr lang="en-US" altLang="zh-CN" dirty="0">
                <a:latin typeface="Microsoft YaHei UI" panose="020B0503020204020204" pitchFamily="34" charset="-122"/>
                <a:ea typeface="Microsoft YaHei UI" panose="020B0503020204020204" pitchFamily="34" charset="-122"/>
              </a:rPr>
              <a:t>FFR-CT</a:t>
            </a:r>
            <a:r>
              <a:rPr lang="zh-CN" altLang="en-US" dirty="0">
                <a:latin typeface="Microsoft YaHei UI" panose="020B0503020204020204" pitchFamily="34" charset="-122"/>
                <a:ea typeface="Microsoft YaHei UI" panose="020B0503020204020204" pitchFamily="34" charset="-122"/>
              </a:rPr>
              <a:t>在评价不良斑块特征和血流动力学从而明确</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诊断方面可以带来怎样的附加价值？</a:t>
            </a:r>
          </a:p>
        </p:txBody>
      </p:sp>
      <p:sp>
        <p:nvSpPr>
          <p:cNvPr id="42" name="矩形 41">
            <a:extLst>
              <a:ext uri="{FF2B5EF4-FFF2-40B4-BE49-F238E27FC236}">
                <a16:creationId xmlns:a16="http://schemas.microsoft.com/office/drawing/2014/main" id="{68BE7E19-060E-474C-BE52-D6A9C99DB6B2}"/>
              </a:ext>
            </a:extLst>
          </p:cNvPr>
          <p:cNvSpPr/>
          <p:nvPr/>
        </p:nvSpPr>
        <p:spPr>
          <a:xfrm>
            <a:off x="971222" y="2277615"/>
            <a:ext cx="4558002" cy="57090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常规或择期侵入性评估在虚弱患者中的有效性及安全性需要进一步探索。</a:t>
            </a:r>
          </a:p>
        </p:txBody>
      </p:sp>
      <p:sp>
        <p:nvSpPr>
          <p:cNvPr id="44" name="矩形 43">
            <a:extLst>
              <a:ext uri="{FF2B5EF4-FFF2-40B4-BE49-F238E27FC236}">
                <a16:creationId xmlns:a16="http://schemas.microsoft.com/office/drawing/2014/main" id="{3C555C29-4D11-4D99-AFC8-7680FDD0BFC7}"/>
              </a:ext>
            </a:extLst>
          </p:cNvPr>
          <p:cNvSpPr/>
          <p:nvPr/>
        </p:nvSpPr>
        <p:spPr>
          <a:xfrm>
            <a:off x="5575450" y="2886495"/>
            <a:ext cx="5090845" cy="582933"/>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通过开展多中心</a:t>
            </a:r>
            <a:r>
              <a:rPr lang="en-US" altLang="zh-CN" sz="1800" dirty="0">
                <a:latin typeface="Microsoft YaHei UI" panose="020B0503020204020204" pitchFamily="34" charset="-122"/>
                <a:ea typeface="Microsoft YaHei UI" panose="020B0503020204020204" pitchFamily="34" charset="-122"/>
              </a:rPr>
              <a:t>RCT</a:t>
            </a:r>
            <a:r>
              <a:rPr lang="zh-CN" altLang="en-US" sz="1800" dirty="0">
                <a:latin typeface="Microsoft YaHei UI" panose="020B0503020204020204" pitchFamily="34" charset="-122"/>
                <a:ea typeface="Microsoft YaHei UI" panose="020B0503020204020204" pitchFamily="34" charset="-122"/>
              </a:rPr>
              <a:t>入选足够数量的老年</a:t>
            </a:r>
            <a:r>
              <a:rPr lang="en-US" altLang="zh-CN" sz="1800" dirty="0">
                <a:latin typeface="Microsoft YaHei UI" panose="020B0503020204020204" pitchFamily="34" charset="-122"/>
                <a:ea typeface="Microsoft YaHei UI" panose="020B0503020204020204" pitchFamily="34" charset="-122"/>
              </a:rPr>
              <a:t>NSTE-ACS</a:t>
            </a:r>
            <a:r>
              <a:rPr lang="zh-CN" altLang="en-US" sz="1800" dirty="0">
                <a:latin typeface="Microsoft YaHei UI" panose="020B0503020204020204" pitchFamily="34" charset="-122"/>
                <a:ea typeface="Microsoft YaHei UI" panose="020B0503020204020204" pitchFamily="34" charset="-122"/>
              </a:rPr>
              <a:t>患者以评估不同治疗策略的有效性及安全性</a:t>
            </a:r>
          </a:p>
        </p:txBody>
      </p:sp>
      <p:sp>
        <p:nvSpPr>
          <p:cNvPr id="46" name="矩形 45">
            <a:extLst>
              <a:ext uri="{FF2B5EF4-FFF2-40B4-BE49-F238E27FC236}">
                <a16:creationId xmlns:a16="http://schemas.microsoft.com/office/drawing/2014/main" id="{E029F136-B2C3-471D-B5B9-0468FE567784}"/>
              </a:ext>
            </a:extLst>
          </p:cNvPr>
          <p:cNvSpPr/>
          <p:nvPr/>
        </p:nvSpPr>
        <p:spPr>
          <a:xfrm>
            <a:off x="5577169" y="3518124"/>
            <a:ext cx="5087111"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根据风险分层识别出能从早期侵入性治疗获益最大的人群</a:t>
            </a:r>
          </a:p>
        </p:txBody>
      </p:sp>
      <p:sp>
        <p:nvSpPr>
          <p:cNvPr id="48" name="矩形 47">
            <a:extLst>
              <a:ext uri="{FF2B5EF4-FFF2-40B4-BE49-F238E27FC236}">
                <a16:creationId xmlns:a16="http://schemas.microsoft.com/office/drawing/2014/main" id="{719EE48A-587E-42C2-A5B8-CCE5D2FF4D64}"/>
              </a:ext>
            </a:extLst>
          </p:cNvPr>
          <p:cNvSpPr/>
          <p:nvPr/>
        </p:nvSpPr>
        <p:spPr>
          <a:xfrm>
            <a:off x="965081" y="4415135"/>
            <a:ext cx="4572690"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患者，尚不明确应进行罪犯病变血运重建还是完全血运重建</a:t>
            </a:r>
          </a:p>
        </p:txBody>
      </p:sp>
      <p:sp>
        <p:nvSpPr>
          <p:cNvPr id="50" name="矩形 49">
            <a:extLst>
              <a:ext uri="{FF2B5EF4-FFF2-40B4-BE49-F238E27FC236}">
                <a16:creationId xmlns:a16="http://schemas.microsoft.com/office/drawing/2014/main" id="{C8B482DD-AE13-4071-8F63-DAA0EA79232F}"/>
              </a:ext>
            </a:extLst>
          </p:cNvPr>
          <p:cNvSpPr/>
          <p:nvPr/>
        </p:nvSpPr>
        <p:spPr>
          <a:xfrm>
            <a:off x="5585724" y="4415135"/>
            <a:ext cx="5087111"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基于非侵入性影像学检查和</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或冠脉造影进行的仅针对罪犯病变的</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，与完全血运重建</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（或</a:t>
            </a:r>
            <a:r>
              <a:rPr lang="en-US" altLang="zh-CN" dirty="0">
                <a:latin typeface="Microsoft YaHei UI" panose="020B0503020204020204" pitchFamily="34" charset="-122"/>
                <a:ea typeface="Microsoft YaHei UI" panose="020B0503020204020204" pitchFamily="34" charset="-122"/>
              </a:rPr>
              <a:t>CABG</a:t>
            </a:r>
            <a:r>
              <a:rPr lang="zh-CN" altLang="en-US" dirty="0">
                <a:latin typeface="Microsoft YaHei UI" panose="020B0503020204020204" pitchFamily="34" charset="-122"/>
                <a:ea typeface="Microsoft YaHei UI" panose="020B0503020204020204" pitchFamily="34" charset="-122"/>
              </a:rPr>
              <a:t>）比较的</a:t>
            </a:r>
            <a:r>
              <a:rPr lang="en-US" altLang="zh-CN" dirty="0">
                <a:latin typeface="Microsoft YaHei UI" panose="020B0503020204020204" pitchFamily="34" charset="-122"/>
                <a:ea typeface="Microsoft YaHei UI" panose="020B0503020204020204" pitchFamily="34" charset="-122"/>
              </a:rPr>
              <a:t>RCT</a:t>
            </a:r>
            <a:endParaRPr lang="zh-CN" altLang="en-US" dirty="0">
              <a:latin typeface="Microsoft YaHei UI" panose="020B0503020204020204" pitchFamily="34" charset="-122"/>
              <a:ea typeface="Microsoft YaHei UI" panose="020B0503020204020204" pitchFamily="34" charset="-122"/>
            </a:endParaRPr>
          </a:p>
        </p:txBody>
      </p:sp>
      <p:sp>
        <p:nvSpPr>
          <p:cNvPr id="52" name="矩形 51">
            <a:extLst>
              <a:ext uri="{FF2B5EF4-FFF2-40B4-BE49-F238E27FC236}">
                <a16:creationId xmlns:a16="http://schemas.microsoft.com/office/drawing/2014/main" id="{507B899D-5CFA-415C-AD62-9C0958873ACD}"/>
              </a:ext>
            </a:extLst>
          </p:cNvPr>
          <p:cNvSpPr/>
          <p:nvPr/>
        </p:nvSpPr>
        <p:spPr>
          <a:xfrm>
            <a:off x="959944" y="5312146"/>
            <a:ext cx="4572690" cy="82152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患者的非罪犯病变进行血流动力学评估并基于</a:t>
            </a:r>
            <a:r>
              <a:rPr lang="en-US" altLang="zh-CN" dirty="0">
                <a:latin typeface="Microsoft YaHei UI" panose="020B0503020204020204" pitchFamily="34" charset="-122"/>
                <a:ea typeface="Microsoft YaHei UI" panose="020B0503020204020204" pitchFamily="34" charset="-122"/>
              </a:rPr>
              <a:t>FFR</a:t>
            </a:r>
            <a:r>
              <a:rPr lang="zh-CN" altLang="en-US" dirty="0">
                <a:latin typeface="Microsoft YaHei UI" panose="020B0503020204020204" pitchFamily="34" charset="-122"/>
                <a:ea typeface="Microsoft YaHei UI" panose="020B0503020204020204" pitchFamily="34" charset="-122"/>
              </a:rPr>
              <a:t>进行完全血运重建的价值尚不清楚</a:t>
            </a:r>
          </a:p>
        </p:txBody>
      </p:sp>
      <p:sp>
        <p:nvSpPr>
          <p:cNvPr id="54" name="矩形 53">
            <a:extLst>
              <a:ext uri="{FF2B5EF4-FFF2-40B4-BE49-F238E27FC236}">
                <a16:creationId xmlns:a16="http://schemas.microsoft.com/office/drawing/2014/main" id="{D8C85A8E-1B07-482E-8156-275BBF9C31F8}"/>
              </a:ext>
            </a:extLst>
          </p:cNvPr>
          <p:cNvSpPr/>
          <p:nvPr/>
        </p:nvSpPr>
        <p:spPr>
          <a:xfrm>
            <a:off x="5585724" y="5312146"/>
            <a:ext cx="5087111" cy="82152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将多支病变的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患者随机分入非罪犯病变</a:t>
            </a:r>
            <a:r>
              <a:rPr lang="en-US" altLang="zh-CN" dirty="0">
                <a:latin typeface="Microsoft YaHei UI" panose="020B0503020204020204" pitchFamily="34" charset="-122"/>
                <a:ea typeface="Microsoft YaHei UI" panose="020B0503020204020204" pitchFamily="34" charset="-122"/>
              </a:rPr>
              <a:t>FFR</a:t>
            </a:r>
            <a:r>
              <a:rPr lang="zh-CN" altLang="en-US" dirty="0">
                <a:latin typeface="Microsoft YaHei UI" panose="020B0503020204020204" pitchFamily="34" charset="-122"/>
                <a:ea typeface="Microsoft YaHei UI" panose="020B0503020204020204" pitchFamily="34" charset="-122"/>
              </a:rPr>
              <a:t>指导组和非</a:t>
            </a:r>
            <a:r>
              <a:rPr lang="en-US" altLang="zh-CN" dirty="0">
                <a:latin typeface="Microsoft YaHei UI" panose="020B0503020204020204" pitchFamily="34" charset="-122"/>
                <a:ea typeface="Microsoft YaHei UI" panose="020B0503020204020204" pitchFamily="34" charset="-122"/>
              </a:rPr>
              <a:t>FFR</a:t>
            </a:r>
            <a:r>
              <a:rPr lang="zh-CN" altLang="en-US" dirty="0">
                <a:latin typeface="Microsoft YaHei UI" panose="020B0503020204020204" pitchFamily="34" charset="-122"/>
                <a:ea typeface="Microsoft YaHei UI" panose="020B0503020204020204" pitchFamily="34" charset="-122"/>
              </a:rPr>
              <a:t>指导组</a:t>
            </a:r>
          </a:p>
        </p:txBody>
      </p:sp>
    </p:spTree>
    <p:extLst>
      <p:ext uri="{BB962C8B-B14F-4D97-AF65-F5344CB8AC3E}">
        <p14:creationId xmlns:p14="http://schemas.microsoft.com/office/powerpoint/2010/main" val="34316749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7" name="图片 6">
            <a:extLst>
              <a:ext uri="{FF2B5EF4-FFF2-40B4-BE49-F238E27FC236}">
                <a16:creationId xmlns:a16="http://schemas.microsoft.com/office/drawing/2014/main" id="{FAE91FE6-B7E8-4E31-AED1-0DFBF90C9E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081" y="602295"/>
            <a:ext cx="9721400" cy="369333"/>
          </a:xfrm>
          <a:prstGeom prst="rect">
            <a:avLst/>
          </a:prstGeom>
        </p:spPr>
      </p:pic>
      <p:sp>
        <p:nvSpPr>
          <p:cNvPr id="9" name="文本框 8">
            <a:extLst>
              <a:ext uri="{FF2B5EF4-FFF2-40B4-BE49-F238E27FC236}">
                <a16:creationId xmlns:a16="http://schemas.microsoft.com/office/drawing/2014/main" id="{D937C338-0747-43FF-8989-B44452751845}"/>
              </a:ext>
            </a:extLst>
          </p:cNvPr>
          <p:cNvSpPr txBox="1"/>
          <p:nvPr/>
        </p:nvSpPr>
        <p:spPr>
          <a:xfrm>
            <a:off x="969856" y="597450"/>
            <a:ext cx="3021653"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NSTE-ACS</a:t>
            </a:r>
            <a:r>
              <a:rPr lang="zh-CN" altLang="en-US" b="1" dirty="0">
                <a:latin typeface="Microsoft YaHei UI" panose="020B0503020204020204" pitchFamily="34" charset="-122"/>
                <a:ea typeface="Microsoft YaHei UI" panose="020B0503020204020204" pitchFamily="34" charset="-122"/>
              </a:rPr>
              <a:t>管理的证据缺陷</a:t>
            </a:r>
          </a:p>
        </p:txBody>
      </p:sp>
      <p:sp>
        <p:nvSpPr>
          <p:cNvPr id="10" name="文本框 9">
            <a:extLst>
              <a:ext uri="{FF2B5EF4-FFF2-40B4-BE49-F238E27FC236}">
                <a16:creationId xmlns:a16="http://schemas.microsoft.com/office/drawing/2014/main" id="{984F1081-74B9-4173-8682-4D0111E13E7D}"/>
              </a:ext>
            </a:extLst>
          </p:cNvPr>
          <p:cNvSpPr txBox="1"/>
          <p:nvPr/>
        </p:nvSpPr>
        <p:spPr>
          <a:xfrm>
            <a:off x="974630" y="103556"/>
            <a:ext cx="7388533"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管理的证据缺陷及期待的临床研究（</a:t>
            </a:r>
            <a:r>
              <a:rPr lang="en-US" altLang="zh-CN" sz="2400" b="1" dirty="0">
                <a:solidFill>
                  <a:srgbClr val="AE1022"/>
                </a:solidFill>
                <a:latin typeface="Microsoft YaHei UI" panose="020B0503020204020204" pitchFamily="34" charset="-122"/>
                <a:ea typeface="Microsoft YaHei UI" panose="020B0503020204020204" pitchFamily="34" charset="-122"/>
              </a:rPr>
              <a:t>4</a:t>
            </a:r>
            <a:r>
              <a:rPr lang="zh-CN" altLang="en-US" sz="2400" b="1" dirty="0">
                <a:solidFill>
                  <a:srgbClr val="AE1022"/>
                </a:solidFill>
                <a:latin typeface="Microsoft YaHei UI" panose="020B0503020204020204" pitchFamily="34" charset="-122"/>
                <a:ea typeface="Microsoft YaHei UI" panose="020B0503020204020204" pitchFamily="34" charset="-122"/>
              </a:rPr>
              <a:t>）</a:t>
            </a:r>
          </a:p>
        </p:txBody>
      </p:sp>
      <p:sp>
        <p:nvSpPr>
          <p:cNvPr id="17" name="文本框 16">
            <a:extLst>
              <a:ext uri="{FF2B5EF4-FFF2-40B4-BE49-F238E27FC236}">
                <a16:creationId xmlns:a16="http://schemas.microsoft.com/office/drawing/2014/main" id="{3F54F669-7D6F-499B-A927-881E69A376BA}"/>
              </a:ext>
            </a:extLst>
          </p:cNvPr>
          <p:cNvSpPr txBox="1"/>
          <p:nvPr/>
        </p:nvSpPr>
        <p:spPr>
          <a:xfrm>
            <a:off x="5586014" y="614459"/>
            <a:ext cx="277715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所需要的随机对照研究</a:t>
            </a:r>
          </a:p>
        </p:txBody>
      </p:sp>
      <p:sp>
        <p:nvSpPr>
          <p:cNvPr id="18" name="矩形 17">
            <a:extLst>
              <a:ext uri="{FF2B5EF4-FFF2-40B4-BE49-F238E27FC236}">
                <a16:creationId xmlns:a16="http://schemas.microsoft.com/office/drawing/2014/main" id="{D37EAC06-F5D3-4443-B2DB-8EE5AD2D93F4}"/>
              </a:ext>
            </a:extLst>
          </p:cNvPr>
          <p:cNvSpPr/>
          <p:nvPr/>
        </p:nvSpPr>
        <p:spPr>
          <a:xfrm>
            <a:off x="5580587" y="1351747"/>
            <a:ext cx="5083693" cy="64958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进行侵入性和非侵入性评估后，将合并多支病变的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患者随机分入</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组和</a:t>
            </a:r>
            <a:r>
              <a:rPr lang="en-US" altLang="zh-CN" dirty="0">
                <a:latin typeface="Microsoft YaHei UI" panose="020B0503020204020204" pitchFamily="34" charset="-122"/>
                <a:ea typeface="Microsoft YaHei UI" panose="020B0503020204020204" pitchFamily="34" charset="-122"/>
              </a:rPr>
              <a:t>CABG</a:t>
            </a:r>
            <a:r>
              <a:rPr lang="zh-CN" altLang="en-US" dirty="0">
                <a:latin typeface="Microsoft YaHei UI" panose="020B0503020204020204" pitchFamily="34" charset="-122"/>
                <a:ea typeface="Microsoft YaHei UI" panose="020B0503020204020204" pitchFamily="34" charset="-122"/>
              </a:rPr>
              <a:t>组</a:t>
            </a:r>
            <a:endParaRPr lang="zh-CN" altLang="en-US" sz="1800" dirty="0">
              <a:latin typeface="Microsoft YaHei UI" panose="020B0503020204020204" pitchFamily="34" charset="-122"/>
              <a:ea typeface="Microsoft YaHei UI" panose="020B0503020204020204" pitchFamily="34" charset="-122"/>
            </a:endParaRPr>
          </a:p>
        </p:txBody>
      </p:sp>
      <p:pic>
        <p:nvPicPr>
          <p:cNvPr id="19" name="图片 18">
            <a:extLst>
              <a:ext uri="{FF2B5EF4-FFF2-40B4-BE49-F238E27FC236}">
                <a16:creationId xmlns:a16="http://schemas.microsoft.com/office/drawing/2014/main" id="{B0525DC1-48BC-46CD-AE03-ACABCBC9B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855" y="967495"/>
            <a:ext cx="9716625" cy="369333"/>
          </a:xfrm>
          <a:prstGeom prst="rect">
            <a:avLst/>
          </a:prstGeom>
        </p:spPr>
      </p:pic>
      <p:sp>
        <p:nvSpPr>
          <p:cNvPr id="21" name="文本框 20">
            <a:extLst>
              <a:ext uri="{FF2B5EF4-FFF2-40B4-BE49-F238E27FC236}">
                <a16:creationId xmlns:a16="http://schemas.microsoft.com/office/drawing/2014/main" id="{0C4E92A4-C234-4868-B2FD-62B3076C7D3E}"/>
              </a:ext>
            </a:extLst>
          </p:cNvPr>
          <p:cNvSpPr txBox="1"/>
          <p:nvPr/>
        </p:nvSpPr>
        <p:spPr>
          <a:xfrm>
            <a:off x="954807" y="968325"/>
            <a:ext cx="3401436"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冠脉造影时机及</a:t>
            </a:r>
            <a:r>
              <a:rPr lang="en-US" altLang="zh-CN" b="1" dirty="0">
                <a:latin typeface="Microsoft YaHei UI" panose="020B0503020204020204" pitchFamily="34" charset="-122"/>
                <a:ea typeface="Microsoft YaHei UI" panose="020B0503020204020204" pitchFamily="34" charset="-122"/>
              </a:rPr>
              <a:t>PCI</a:t>
            </a:r>
            <a:r>
              <a:rPr lang="zh-CN" altLang="en-US" b="1" dirty="0">
                <a:latin typeface="Microsoft YaHei UI" panose="020B0503020204020204" pitchFamily="34" charset="-122"/>
                <a:ea typeface="Microsoft YaHei UI" panose="020B0503020204020204" pitchFamily="34" charset="-122"/>
              </a:rPr>
              <a:t>治疗策略</a:t>
            </a:r>
          </a:p>
        </p:txBody>
      </p:sp>
      <p:sp>
        <p:nvSpPr>
          <p:cNvPr id="34" name="矩形 33">
            <a:extLst>
              <a:ext uri="{FF2B5EF4-FFF2-40B4-BE49-F238E27FC236}">
                <a16:creationId xmlns:a16="http://schemas.microsoft.com/office/drawing/2014/main" id="{DEEE4582-DD32-45EC-B225-C09415851454}"/>
              </a:ext>
            </a:extLst>
          </p:cNvPr>
          <p:cNvSpPr/>
          <p:nvPr/>
        </p:nvSpPr>
        <p:spPr>
          <a:xfrm>
            <a:off x="966085" y="2665336"/>
            <a:ext cx="4564855" cy="58293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经皮机械循环支持装置在合并心源性休克的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患者中的作用和适用类型仍未知</a:t>
            </a:r>
          </a:p>
        </p:txBody>
      </p:sp>
      <p:sp>
        <p:nvSpPr>
          <p:cNvPr id="36" name="矩形 35">
            <a:extLst>
              <a:ext uri="{FF2B5EF4-FFF2-40B4-BE49-F238E27FC236}">
                <a16:creationId xmlns:a16="http://schemas.microsoft.com/office/drawing/2014/main" id="{C52A6E61-9377-47DF-9975-85A90D4F43DA}"/>
              </a:ext>
            </a:extLst>
          </p:cNvPr>
          <p:cNvSpPr/>
          <p:nvPr/>
        </p:nvSpPr>
        <p:spPr>
          <a:xfrm>
            <a:off x="5585724" y="2046450"/>
            <a:ext cx="5080282" cy="56815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针对多支病变患者开展比较一次完全血运重建和分期血运重建的</a:t>
            </a:r>
            <a:r>
              <a:rPr lang="en-US" altLang="zh-CN" dirty="0">
                <a:latin typeface="Microsoft YaHei UI" panose="020B0503020204020204" pitchFamily="34" charset="-122"/>
                <a:ea typeface="Microsoft YaHei UI" panose="020B0503020204020204" pitchFamily="34" charset="-122"/>
              </a:rPr>
              <a:t>RCT</a:t>
            </a:r>
            <a:endParaRPr lang="zh-CN" altLang="en-US" dirty="0">
              <a:latin typeface="Microsoft YaHei UI" panose="020B0503020204020204" pitchFamily="34" charset="-122"/>
              <a:ea typeface="Microsoft YaHei UI" panose="020B0503020204020204" pitchFamily="34" charset="-122"/>
            </a:endParaRPr>
          </a:p>
        </p:txBody>
      </p:sp>
      <p:sp>
        <p:nvSpPr>
          <p:cNvPr id="38" name="矩形 37">
            <a:extLst>
              <a:ext uri="{FF2B5EF4-FFF2-40B4-BE49-F238E27FC236}">
                <a16:creationId xmlns:a16="http://schemas.microsoft.com/office/drawing/2014/main" id="{E8EA17FF-3006-430E-BEB2-A6E087F97BDB}"/>
              </a:ext>
            </a:extLst>
          </p:cNvPr>
          <p:cNvSpPr/>
          <p:nvPr/>
        </p:nvSpPr>
        <p:spPr>
          <a:xfrm>
            <a:off x="965081" y="3626040"/>
            <a:ext cx="4572690" cy="31923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应确定</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患者的最佳康复方式</a:t>
            </a:r>
          </a:p>
        </p:txBody>
      </p:sp>
      <p:sp>
        <p:nvSpPr>
          <p:cNvPr id="40" name="矩形 39">
            <a:extLst>
              <a:ext uri="{FF2B5EF4-FFF2-40B4-BE49-F238E27FC236}">
                <a16:creationId xmlns:a16="http://schemas.microsoft.com/office/drawing/2014/main" id="{55A0741B-4BC4-48A7-9C43-A98DFE3880AB}"/>
              </a:ext>
            </a:extLst>
          </p:cNvPr>
          <p:cNvSpPr/>
          <p:nvPr/>
        </p:nvSpPr>
        <p:spPr>
          <a:xfrm>
            <a:off x="969855" y="1348997"/>
            <a:ext cx="4558002" cy="652335"/>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和</a:t>
            </a:r>
            <a:r>
              <a:rPr lang="en-US" altLang="zh-CN" dirty="0">
                <a:latin typeface="Microsoft YaHei UI" panose="020B0503020204020204" pitchFamily="34" charset="-122"/>
                <a:ea typeface="Microsoft YaHei UI" panose="020B0503020204020204" pitchFamily="34" charset="-122"/>
              </a:rPr>
              <a:t>CABG</a:t>
            </a:r>
            <a:r>
              <a:rPr lang="zh-CN" altLang="en-US" dirty="0">
                <a:latin typeface="Microsoft YaHei UI" panose="020B0503020204020204" pitchFamily="34" charset="-122"/>
                <a:ea typeface="Microsoft YaHei UI" panose="020B0503020204020204" pitchFamily="34" charset="-122"/>
              </a:rPr>
              <a:t>哪一个是多支病变的首选方案？</a:t>
            </a:r>
          </a:p>
        </p:txBody>
      </p:sp>
      <p:sp>
        <p:nvSpPr>
          <p:cNvPr id="42" name="矩形 41">
            <a:extLst>
              <a:ext uri="{FF2B5EF4-FFF2-40B4-BE49-F238E27FC236}">
                <a16:creationId xmlns:a16="http://schemas.microsoft.com/office/drawing/2014/main" id="{68BE7E19-060E-474C-BE52-D6A9C99DB6B2}"/>
              </a:ext>
            </a:extLst>
          </p:cNvPr>
          <p:cNvSpPr/>
          <p:nvPr/>
        </p:nvSpPr>
        <p:spPr>
          <a:xfrm>
            <a:off x="971222" y="2046450"/>
            <a:ext cx="4558002" cy="570907"/>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是否应在首次</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期间进行完全血运重建，亦或分期血运重建？</a:t>
            </a:r>
          </a:p>
        </p:txBody>
      </p:sp>
      <p:sp>
        <p:nvSpPr>
          <p:cNvPr id="44" name="矩形 43">
            <a:extLst>
              <a:ext uri="{FF2B5EF4-FFF2-40B4-BE49-F238E27FC236}">
                <a16:creationId xmlns:a16="http://schemas.microsoft.com/office/drawing/2014/main" id="{3C555C29-4D11-4D99-AFC8-7680FDD0BFC7}"/>
              </a:ext>
            </a:extLst>
          </p:cNvPr>
          <p:cNvSpPr/>
          <p:nvPr/>
        </p:nvSpPr>
        <p:spPr>
          <a:xfrm>
            <a:off x="5573731" y="2661011"/>
            <a:ext cx="5087111" cy="582934"/>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sz="1800" dirty="0">
                <a:latin typeface="Microsoft YaHei UI" panose="020B0503020204020204" pitchFamily="34" charset="-122"/>
                <a:ea typeface="Microsoft YaHei UI" panose="020B0503020204020204" pitchFamily="34" charset="-122"/>
              </a:rPr>
              <a:t>比较心源性休克的</a:t>
            </a:r>
            <a:r>
              <a:rPr lang="en-US" altLang="zh-CN" sz="1800" dirty="0">
                <a:latin typeface="Microsoft YaHei UI" panose="020B0503020204020204" pitchFamily="34" charset="-122"/>
                <a:ea typeface="Microsoft YaHei UI" panose="020B0503020204020204" pitchFamily="34" charset="-122"/>
              </a:rPr>
              <a:t>NSTE-ACS</a:t>
            </a:r>
            <a:r>
              <a:rPr lang="zh-CN" altLang="en-US" sz="1800" dirty="0">
                <a:latin typeface="Microsoft YaHei UI" panose="020B0503020204020204" pitchFamily="34" charset="-122"/>
                <a:ea typeface="Microsoft YaHei UI" panose="020B0503020204020204" pitchFamily="34" charset="-122"/>
              </a:rPr>
              <a:t>患者采用经皮机械循环支持装置和标准治疗之间的差异</a:t>
            </a:r>
          </a:p>
        </p:txBody>
      </p:sp>
      <p:sp>
        <p:nvSpPr>
          <p:cNvPr id="46" name="矩形 45">
            <a:extLst>
              <a:ext uri="{FF2B5EF4-FFF2-40B4-BE49-F238E27FC236}">
                <a16:creationId xmlns:a16="http://schemas.microsoft.com/office/drawing/2014/main" id="{E029F136-B2C3-471D-B5B9-0468FE567784}"/>
              </a:ext>
            </a:extLst>
          </p:cNvPr>
          <p:cNvSpPr/>
          <p:nvPr/>
        </p:nvSpPr>
        <p:spPr>
          <a:xfrm>
            <a:off x="5577169" y="3631138"/>
            <a:ext cx="5087111" cy="314138"/>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将</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患者随机分入不同康复治疗组</a:t>
            </a:r>
          </a:p>
        </p:txBody>
      </p:sp>
      <p:sp>
        <p:nvSpPr>
          <p:cNvPr id="48" name="矩形 47">
            <a:extLst>
              <a:ext uri="{FF2B5EF4-FFF2-40B4-BE49-F238E27FC236}">
                <a16:creationId xmlns:a16="http://schemas.microsoft.com/office/drawing/2014/main" id="{719EE48A-587E-42C2-A5B8-CCE5D2FF4D64}"/>
              </a:ext>
            </a:extLst>
          </p:cNvPr>
          <p:cNvSpPr/>
          <p:nvPr/>
        </p:nvSpPr>
        <p:spPr>
          <a:xfrm>
            <a:off x="965081" y="3988758"/>
            <a:ext cx="4572690"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需明确脑啡肽酶抑制剂</a:t>
            </a:r>
            <a:r>
              <a:rPr lang="zh-CN" altLang="en-US" dirty="0">
                <a:solidFill>
                  <a:srgbClr val="FF0000"/>
                </a:solidFill>
                <a:latin typeface="Microsoft YaHei UI" panose="020B0503020204020204" pitchFamily="34" charset="-122"/>
                <a:ea typeface="Microsoft YaHei UI" panose="020B0503020204020204" pitchFamily="34" charset="-122"/>
              </a:rPr>
              <a:t>（</a:t>
            </a:r>
            <a:r>
              <a:rPr lang="en-US" altLang="zh-CN" b="0" i="0" dirty="0">
                <a:solidFill>
                  <a:srgbClr val="FF0000"/>
                </a:solidFill>
                <a:effectLst/>
                <a:latin typeface="arial" panose="020B0604020202020204" pitchFamily="34" charset="0"/>
              </a:rPr>
              <a:t> </a:t>
            </a:r>
            <a:r>
              <a:rPr lang="en-US" altLang="zh-CN" b="0" i="0" dirty="0" err="1">
                <a:solidFill>
                  <a:srgbClr val="FF0000"/>
                </a:solidFill>
                <a:effectLst/>
                <a:latin typeface="arial" panose="020B0604020202020204" pitchFamily="34" charset="0"/>
              </a:rPr>
              <a:t>ARNi</a:t>
            </a:r>
            <a:r>
              <a:rPr lang="en-US" altLang="zh-CN" b="0" i="0" dirty="0">
                <a:solidFill>
                  <a:srgbClr val="FF0000"/>
                </a:solidFill>
                <a:effectLst/>
                <a:latin typeface="arial" panose="020B0604020202020204" pitchFamily="34" charset="0"/>
              </a:rPr>
              <a:t> </a:t>
            </a:r>
            <a:r>
              <a:rPr lang="zh-CN" altLang="en-US" dirty="0">
                <a:solidFill>
                  <a:srgbClr val="FF0000"/>
                </a:solidFill>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在左室收缩功能障碍的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患者中是否改善了临床结局并减少住院</a:t>
            </a:r>
          </a:p>
        </p:txBody>
      </p:sp>
      <p:sp>
        <p:nvSpPr>
          <p:cNvPr id="50" name="矩形 49">
            <a:extLst>
              <a:ext uri="{FF2B5EF4-FFF2-40B4-BE49-F238E27FC236}">
                <a16:creationId xmlns:a16="http://schemas.microsoft.com/office/drawing/2014/main" id="{C8B482DD-AE13-4071-8F63-DAA0EA79232F}"/>
              </a:ext>
            </a:extLst>
          </p:cNvPr>
          <p:cNvSpPr/>
          <p:nvPr/>
        </p:nvSpPr>
        <p:spPr>
          <a:xfrm>
            <a:off x="5585724" y="3988758"/>
            <a:ext cx="5087111"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将合并左室收缩功能障碍的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患者随机分为脑啡肽酶抑制剂</a:t>
            </a:r>
            <a:r>
              <a:rPr lang="zh-CN" altLang="en-US" dirty="0">
                <a:solidFill>
                  <a:srgbClr val="FF0000"/>
                </a:solidFill>
                <a:latin typeface="Microsoft YaHei UI" panose="020B0503020204020204" pitchFamily="34" charset="-122"/>
                <a:ea typeface="Microsoft YaHei UI" panose="020B0503020204020204" pitchFamily="34" charset="-122"/>
              </a:rPr>
              <a:t>（</a:t>
            </a:r>
            <a:r>
              <a:rPr lang="en-US" altLang="zh-CN" b="0" i="0" dirty="0">
                <a:solidFill>
                  <a:srgbClr val="FF0000"/>
                </a:solidFill>
                <a:effectLst/>
                <a:latin typeface="arial" panose="020B0604020202020204" pitchFamily="34" charset="0"/>
              </a:rPr>
              <a:t> </a:t>
            </a:r>
            <a:r>
              <a:rPr lang="en-US" altLang="zh-CN" b="0" i="0" dirty="0" err="1">
                <a:solidFill>
                  <a:srgbClr val="FF0000"/>
                </a:solidFill>
                <a:effectLst/>
                <a:latin typeface="arial" panose="020B0604020202020204" pitchFamily="34" charset="0"/>
              </a:rPr>
              <a:t>ARNi</a:t>
            </a:r>
            <a:r>
              <a:rPr lang="en-US" altLang="zh-CN" b="0" i="0" dirty="0">
                <a:solidFill>
                  <a:srgbClr val="FF0000"/>
                </a:solidFill>
                <a:effectLst/>
                <a:latin typeface="arial" panose="020B0604020202020204" pitchFamily="34" charset="0"/>
              </a:rPr>
              <a:t> </a:t>
            </a:r>
            <a:r>
              <a:rPr lang="zh-CN" altLang="en-US" dirty="0">
                <a:solidFill>
                  <a:srgbClr val="FF0000"/>
                </a:solidFill>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组和标准治疗组</a:t>
            </a:r>
          </a:p>
        </p:txBody>
      </p:sp>
      <p:sp>
        <p:nvSpPr>
          <p:cNvPr id="52" name="矩形 51">
            <a:extLst>
              <a:ext uri="{FF2B5EF4-FFF2-40B4-BE49-F238E27FC236}">
                <a16:creationId xmlns:a16="http://schemas.microsoft.com/office/drawing/2014/main" id="{507B899D-5CFA-415C-AD62-9C0958873ACD}"/>
              </a:ext>
            </a:extLst>
          </p:cNvPr>
          <p:cNvSpPr/>
          <p:nvPr/>
        </p:nvSpPr>
        <p:spPr>
          <a:xfrm>
            <a:off x="959944" y="4890903"/>
            <a:ext cx="4572690" cy="82152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长期使用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受体阻滞剂和</a:t>
            </a:r>
            <a:r>
              <a:rPr lang="en-US" altLang="zh-CN" dirty="0">
                <a:latin typeface="Microsoft YaHei UI" panose="020B0503020204020204" pitchFamily="34" charset="-122"/>
                <a:ea typeface="Microsoft YaHei UI" panose="020B0503020204020204" pitchFamily="34" charset="-122"/>
              </a:rPr>
              <a:t>ACEI/ARB</a:t>
            </a:r>
            <a:r>
              <a:rPr lang="zh-CN" altLang="en-US" dirty="0">
                <a:latin typeface="Microsoft YaHei UI" panose="020B0503020204020204" pitchFamily="34" charset="-122"/>
                <a:ea typeface="Microsoft YaHei UI" panose="020B0503020204020204" pitchFamily="34" charset="-122"/>
              </a:rPr>
              <a:t>对左室功能正常且无其它适应证的患者有何价值</a:t>
            </a:r>
          </a:p>
        </p:txBody>
      </p:sp>
      <p:sp>
        <p:nvSpPr>
          <p:cNvPr id="54" name="矩形 53">
            <a:extLst>
              <a:ext uri="{FF2B5EF4-FFF2-40B4-BE49-F238E27FC236}">
                <a16:creationId xmlns:a16="http://schemas.microsoft.com/office/drawing/2014/main" id="{D8C85A8E-1B07-482E-8156-275BBF9C31F8}"/>
              </a:ext>
            </a:extLst>
          </p:cNvPr>
          <p:cNvSpPr/>
          <p:nvPr/>
        </p:nvSpPr>
        <p:spPr>
          <a:xfrm>
            <a:off x="5585724" y="4890903"/>
            <a:ext cx="5087111" cy="821526"/>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在无其它适应证情况下，在左室功能正常的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患者中对比长期应用</a:t>
            </a:r>
            <a:r>
              <a:rPr lang="en-US" altLang="zh-CN" dirty="0">
                <a:latin typeface="Microsoft YaHei UI" panose="020B0503020204020204" pitchFamily="34" charset="-122"/>
                <a:ea typeface="Microsoft YaHei UI" panose="020B0503020204020204" pitchFamily="34" charset="-122"/>
              </a:rPr>
              <a:t>β</a:t>
            </a:r>
            <a:r>
              <a:rPr lang="zh-CN" altLang="en-US" dirty="0">
                <a:latin typeface="Microsoft YaHei UI" panose="020B0503020204020204" pitchFamily="34" charset="-122"/>
                <a:ea typeface="Microsoft YaHei UI" panose="020B0503020204020204" pitchFamily="34" charset="-122"/>
              </a:rPr>
              <a:t>受体阻滞剂和</a:t>
            </a:r>
            <a:r>
              <a:rPr lang="en-US" altLang="zh-CN" dirty="0">
                <a:latin typeface="Microsoft YaHei UI" panose="020B0503020204020204" pitchFamily="34" charset="-122"/>
                <a:ea typeface="Microsoft YaHei UI" panose="020B0503020204020204" pitchFamily="34" charset="-122"/>
              </a:rPr>
              <a:t>ACEI/ARB</a:t>
            </a:r>
            <a:r>
              <a:rPr lang="zh-CN" altLang="en-US" dirty="0">
                <a:latin typeface="Microsoft YaHei UI" panose="020B0503020204020204" pitchFamily="34" charset="-122"/>
                <a:ea typeface="Microsoft YaHei UI" panose="020B0503020204020204" pitchFamily="34" charset="-122"/>
              </a:rPr>
              <a:t>或不应用此类药物之间的差异</a:t>
            </a:r>
          </a:p>
        </p:txBody>
      </p:sp>
      <p:pic>
        <p:nvPicPr>
          <p:cNvPr id="2" name="图片 1">
            <a:extLst>
              <a:ext uri="{FF2B5EF4-FFF2-40B4-BE49-F238E27FC236}">
                <a16:creationId xmlns:a16="http://schemas.microsoft.com/office/drawing/2014/main" id="{112FEA10-C275-4384-9623-73B1A7A4B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857" y="3259760"/>
            <a:ext cx="9716625" cy="369333"/>
          </a:xfrm>
          <a:prstGeom prst="rect">
            <a:avLst/>
          </a:prstGeom>
        </p:spPr>
      </p:pic>
      <p:sp>
        <p:nvSpPr>
          <p:cNvPr id="3" name="文本框 2">
            <a:extLst>
              <a:ext uri="{FF2B5EF4-FFF2-40B4-BE49-F238E27FC236}">
                <a16:creationId xmlns:a16="http://schemas.microsoft.com/office/drawing/2014/main" id="{0E2AA160-3A22-49FC-ADBE-3C56EC402737}"/>
              </a:ext>
            </a:extLst>
          </p:cNvPr>
          <p:cNvSpPr txBox="1"/>
          <p:nvPr/>
        </p:nvSpPr>
        <p:spPr>
          <a:xfrm>
            <a:off x="959220" y="3260590"/>
            <a:ext cx="3401436"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长期管理</a:t>
            </a:r>
          </a:p>
        </p:txBody>
      </p:sp>
    </p:spTree>
    <p:extLst>
      <p:ext uri="{BB962C8B-B14F-4D97-AF65-F5344CB8AC3E}">
        <p14:creationId xmlns:p14="http://schemas.microsoft.com/office/powerpoint/2010/main" val="9719522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pic>
        <p:nvPicPr>
          <p:cNvPr id="7" name="图片 6">
            <a:extLst>
              <a:ext uri="{FF2B5EF4-FFF2-40B4-BE49-F238E27FC236}">
                <a16:creationId xmlns:a16="http://schemas.microsoft.com/office/drawing/2014/main" id="{FAE91FE6-B7E8-4E31-AED1-0DFBF90C9E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081" y="1164270"/>
            <a:ext cx="9721400" cy="369333"/>
          </a:xfrm>
          <a:prstGeom prst="rect">
            <a:avLst/>
          </a:prstGeom>
        </p:spPr>
      </p:pic>
      <p:sp>
        <p:nvSpPr>
          <p:cNvPr id="9" name="文本框 8">
            <a:extLst>
              <a:ext uri="{FF2B5EF4-FFF2-40B4-BE49-F238E27FC236}">
                <a16:creationId xmlns:a16="http://schemas.microsoft.com/office/drawing/2014/main" id="{D937C338-0747-43FF-8989-B44452751845}"/>
              </a:ext>
            </a:extLst>
          </p:cNvPr>
          <p:cNvSpPr txBox="1"/>
          <p:nvPr/>
        </p:nvSpPr>
        <p:spPr>
          <a:xfrm>
            <a:off x="969856" y="1159425"/>
            <a:ext cx="3021653" cy="369332"/>
          </a:xfrm>
          <a:prstGeom prst="rect">
            <a:avLst/>
          </a:prstGeom>
          <a:noFill/>
        </p:spPr>
        <p:txBody>
          <a:bodyPr wrap="square" rtlCol="0">
            <a:spAutoFit/>
          </a:bodyPr>
          <a:lstStyle/>
          <a:p>
            <a:r>
              <a:rPr lang="en-US" altLang="zh-CN" b="1" dirty="0">
                <a:latin typeface="Microsoft YaHei UI" panose="020B0503020204020204" pitchFamily="34" charset="-122"/>
                <a:ea typeface="Microsoft YaHei UI" panose="020B0503020204020204" pitchFamily="34" charset="-122"/>
              </a:rPr>
              <a:t>NSTE-ACS</a:t>
            </a:r>
            <a:r>
              <a:rPr lang="zh-CN" altLang="en-US" b="1" dirty="0">
                <a:latin typeface="Microsoft YaHei UI" panose="020B0503020204020204" pitchFamily="34" charset="-122"/>
                <a:ea typeface="Microsoft YaHei UI" panose="020B0503020204020204" pitchFamily="34" charset="-122"/>
              </a:rPr>
              <a:t>管理的证据缺陷</a:t>
            </a:r>
          </a:p>
        </p:txBody>
      </p:sp>
      <p:sp>
        <p:nvSpPr>
          <p:cNvPr id="10" name="文本框 9">
            <a:extLst>
              <a:ext uri="{FF2B5EF4-FFF2-40B4-BE49-F238E27FC236}">
                <a16:creationId xmlns:a16="http://schemas.microsoft.com/office/drawing/2014/main" id="{984F1081-74B9-4173-8682-4D0111E13E7D}"/>
              </a:ext>
            </a:extLst>
          </p:cNvPr>
          <p:cNvSpPr txBox="1"/>
          <p:nvPr/>
        </p:nvSpPr>
        <p:spPr>
          <a:xfrm>
            <a:off x="974630" y="665531"/>
            <a:ext cx="7312119" cy="461665"/>
          </a:xfrm>
          <a:prstGeom prst="rect">
            <a:avLst/>
          </a:prstGeom>
          <a:noFill/>
        </p:spPr>
        <p:txBody>
          <a:bodyPr wrap="square" rtlCol="0">
            <a:spAutoFit/>
          </a:bodyPr>
          <a:lstStyle/>
          <a:p>
            <a:r>
              <a:rPr lang="en-US" altLang="zh-CN" sz="2400" b="1" dirty="0">
                <a:solidFill>
                  <a:srgbClr val="AE1022"/>
                </a:solidFill>
                <a:latin typeface="Microsoft YaHei UI" panose="020B0503020204020204" pitchFamily="34" charset="-122"/>
                <a:ea typeface="Microsoft YaHei UI" panose="020B0503020204020204" pitchFamily="34" charset="-122"/>
              </a:rPr>
              <a:t>NSTE-ACS</a:t>
            </a:r>
            <a:r>
              <a:rPr lang="zh-CN" altLang="en-US" sz="2400" b="1" dirty="0">
                <a:solidFill>
                  <a:srgbClr val="AE1022"/>
                </a:solidFill>
                <a:latin typeface="Microsoft YaHei UI" panose="020B0503020204020204" pitchFamily="34" charset="-122"/>
                <a:ea typeface="Microsoft YaHei UI" panose="020B0503020204020204" pitchFamily="34" charset="-122"/>
              </a:rPr>
              <a:t>管理的证据缺陷及期待的临床研究（</a:t>
            </a:r>
            <a:r>
              <a:rPr lang="en-US" altLang="zh-CN" sz="2400" b="1" dirty="0">
                <a:solidFill>
                  <a:srgbClr val="AE1022"/>
                </a:solidFill>
                <a:latin typeface="Microsoft YaHei UI" panose="020B0503020204020204" pitchFamily="34" charset="-122"/>
                <a:ea typeface="Microsoft YaHei UI" panose="020B0503020204020204" pitchFamily="34" charset="-122"/>
              </a:rPr>
              <a:t>5</a:t>
            </a:r>
            <a:r>
              <a:rPr lang="zh-CN" altLang="en-US" sz="2400" b="1" dirty="0">
                <a:solidFill>
                  <a:srgbClr val="AE1022"/>
                </a:solidFill>
                <a:latin typeface="Microsoft YaHei UI" panose="020B0503020204020204" pitchFamily="34" charset="-122"/>
                <a:ea typeface="Microsoft YaHei UI" panose="020B0503020204020204" pitchFamily="34" charset="-122"/>
              </a:rPr>
              <a:t>）</a:t>
            </a:r>
          </a:p>
        </p:txBody>
      </p:sp>
      <p:sp>
        <p:nvSpPr>
          <p:cNvPr id="17" name="文本框 16">
            <a:extLst>
              <a:ext uri="{FF2B5EF4-FFF2-40B4-BE49-F238E27FC236}">
                <a16:creationId xmlns:a16="http://schemas.microsoft.com/office/drawing/2014/main" id="{3F54F669-7D6F-499B-A927-881E69A376BA}"/>
              </a:ext>
            </a:extLst>
          </p:cNvPr>
          <p:cNvSpPr txBox="1"/>
          <p:nvPr/>
        </p:nvSpPr>
        <p:spPr>
          <a:xfrm>
            <a:off x="5586014" y="1176434"/>
            <a:ext cx="2777150"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所需要的随机对照研究</a:t>
            </a:r>
          </a:p>
        </p:txBody>
      </p:sp>
      <p:sp>
        <p:nvSpPr>
          <p:cNvPr id="38" name="矩形 37">
            <a:extLst>
              <a:ext uri="{FF2B5EF4-FFF2-40B4-BE49-F238E27FC236}">
                <a16:creationId xmlns:a16="http://schemas.microsoft.com/office/drawing/2014/main" id="{E8EA17FF-3006-430E-BEB2-A6E087F97BDB}"/>
              </a:ext>
            </a:extLst>
          </p:cNvPr>
          <p:cNvSpPr/>
          <p:nvPr/>
        </p:nvSpPr>
        <p:spPr>
          <a:xfrm>
            <a:off x="965081" y="1891737"/>
            <a:ext cx="4572690" cy="688991"/>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患者经皮冠脉重建术后的最佳长期抗血栓治疗方案是什么</a:t>
            </a:r>
          </a:p>
        </p:txBody>
      </p:sp>
      <p:sp>
        <p:nvSpPr>
          <p:cNvPr id="46" name="矩形 45">
            <a:extLst>
              <a:ext uri="{FF2B5EF4-FFF2-40B4-BE49-F238E27FC236}">
                <a16:creationId xmlns:a16="http://schemas.microsoft.com/office/drawing/2014/main" id="{E029F136-B2C3-471D-B5B9-0468FE567784}"/>
              </a:ext>
            </a:extLst>
          </p:cNvPr>
          <p:cNvSpPr/>
          <p:nvPr/>
        </p:nvSpPr>
        <p:spPr>
          <a:xfrm>
            <a:off x="5577169" y="1896836"/>
            <a:ext cx="5087111" cy="683892"/>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进行专门对比不同抗血栓药物在平衡缺血和出血风险方面获益的</a:t>
            </a:r>
            <a:r>
              <a:rPr lang="en-US" altLang="zh-CN" dirty="0">
                <a:latin typeface="Microsoft YaHei UI" panose="020B0503020204020204" pitchFamily="34" charset="-122"/>
                <a:ea typeface="Microsoft YaHei UI" panose="020B0503020204020204" pitchFamily="34" charset="-122"/>
              </a:rPr>
              <a:t>RCT</a:t>
            </a:r>
            <a:endParaRPr lang="zh-CN" altLang="en-US" dirty="0">
              <a:latin typeface="Microsoft YaHei UI" panose="020B0503020204020204" pitchFamily="34" charset="-122"/>
              <a:ea typeface="Microsoft YaHei UI" panose="020B0503020204020204" pitchFamily="34" charset="-122"/>
            </a:endParaRPr>
          </a:p>
        </p:txBody>
      </p:sp>
      <p:sp>
        <p:nvSpPr>
          <p:cNvPr id="48" name="矩形 47">
            <a:extLst>
              <a:ext uri="{FF2B5EF4-FFF2-40B4-BE49-F238E27FC236}">
                <a16:creationId xmlns:a16="http://schemas.microsoft.com/office/drawing/2014/main" id="{719EE48A-587E-42C2-A5B8-CCE5D2FF4D64}"/>
              </a:ext>
            </a:extLst>
          </p:cNvPr>
          <p:cNvSpPr/>
          <p:nvPr/>
        </p:nvSpPr>
        <p:spPr>
          <a:xfrm>
            <a:off x="965081" y="2619192"/>
            <a:ext cx="4572690"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心脏瓣膜病对</a:t>
            </a:r>
            <a:r>
              <a:rPr lang="en-US" altLang="zh-CN" dirty="0">
                <a:latin typeface="Microsoft YaHei UI" panose="020B0503020204020204" pitchFamily="34" charset="-122"/>
                <a:ea typeface="Microsoft YaHei UI" panose="020B0503020204020204" pitchFamily="34" charset="-122"/>
              </a:rPr>
              <a:t>CAD</a:t>
            </a:r>
            <a:r>
              <a:rPr lang="zh-CN" altLang="en-US" dirty="0">
                <a:latin typeface="Microsoft YaHei UI" panose="020B0503020204020204" pitchFamily="34" charset="-122"/>
                <a:ea typeface="Microsoft YaHei UI" panose="020B0503020204020204" pitchFamily="34" charset="-122"/>
              </a:rPr>
              <a:t>和</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患者的影响尚不清楚</a:t>
            </a:r>
          </a:p>
        </p:txBody>
      </p:sp>
      <p:sp>
        <p:nvSpPr>
          <p:cNvPr id="50" name="矩形 49">
            <a:extLst>
              <a:ext uri="{FF2B5EF4-FFF2-40B4-BE49-F238E27FC236}">
                <a16:creationId xmlns:a16="http://schemas.microsoft.com/office/drawing/2014/main" id="{C8B482DD-AE13-4071-8F63-DAA0EA79232F}"/>
              </a:ext>
            </a:extLst>
          </p:cNvPr>
          <p:cNvSpPr/>
          <p:nvPr/>
        </p:nvSpPr>
        <p:spPr>
          <a:xfrm>
            <a:off x="5585724" y="2619192"/>
            <a:ext cx="5087111" cy="858920"/>
          </a:xfrm>
          <a:prstGeom prst="rect">
            <a:avLst/>
          </a:prstGeom>
          <a:solidFill>
            <a:srgbClr val="EFEFE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对比仅进行血运重建和血运重建联合心脏瓣膜病治疗（非重度瓣膜性心脏病，包括主动脉狭窄和二尖瓣关闭不全）的效果</a:t>
            </a:r>
          </a:p>
        </p:txBody>
      </p:sp>
      <p:pic>
        <p:nvPicPr>
          <p:cNvPr id="2" name="图片 1">
            <a:extLst>
              <a:ext uri="{FF2B5EF4-FFF2-40B4-BE49-F238E27FC236}">
                <a16:creationId xmlns:a16="http://schemas.microsoft.com/office/drawing/2014/main" id="{112FEA10-C275-4384-9623-73B1A7A4B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857" y="1525458"/>
            <a:ext cx="9716625" cy="369333"/>
          </a:xfrm>
          <a:prstGeom prst="rect">
            <a:avLst/>
          </a:prstGeom>
        </p:spPr>
      </p:pic>
      <p:sp>
        <p:nvSpPr>
          <p:cNvPr id="3" name="文本框 2">
            <a:extLst>
              <a:ext uri="{FF2B5EF4-FFF2-40B4-BE49-F238E27FC236}">
                <a16:creationId xmlns:a16="http://schemas.microsoft.com/office/drawing/2014/main" id="{0E2AA160-3A22-49FC-ADBE-3C56EC402737}"/>
              </a:ext>
            </a:extLst>
          </p:cNvPr>
          <p:cNvSpPr txBox="1"/>
          <p:nvPr/>
        </p:nvSpPr>
        <p:spPr>
          <a:xfrm>
            <a:off x="959220" y="1526288"/>
            <a:ext cx="3401436" cy="369332"/>
          </a:xfrm>
          <a:prstGeom prst="rect">
            <a:avLst/>
          </a:prstGeom>
          <a:noFill/>
        </p:spPr>
        <p:txBody>
          <a:bodyPr wrap="square" rtlCol="0">
            <a:spAutoFit/>
          </a:bodyPr>
          <a:lstStyle/>
          <a:p>
            <a:r>
              <a:rPr lang="zh-CN" altLang="en-US" b="1" dirty="0">
                <a:latin typeface="Microsoft YaHei UI" panose="020B0503020204020204" pitchFamily="34" charset="-122"/>
                <a:ea typeface="Microsoft YaHei UI" panose="020B0503020204020204" pitchFamily="34" charset="-122"/>
              </a:rPr>
              <a:t>长期管理</a:t>
            </a:r>
          </a:p>
        </p:txBody>
      </p:sp>
    </p:spTree>
    <p:extLst>
      <p:ext uri="{BB962C8B-B14F-4D97-AF65-F5344CB8AC3E}">
        <p14:creationId xmlns:p14="http://schemas.microsoft.com/office/powerpoint/2010/main" val="25187687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7" name="矩形 26"/>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kumimoji="0" lang="en-US" altLang="zh-CN" sz="1400" b="1" i="0" u="none" strike="noStrike" kern="1200" cap="none" spc="0" normalizeH="0" baseline="0" noProof="0" dirty="0" err="1">
                <a:ln>
                  <a:noFill/>
                </a:ln>
                <a:solidFill>
                  <a:prstClr val="black"/>
                </a:solidFill>
                <a:effectLst/>
                <a:uLnTx/>
                <a:uFillTx/>
                <a:latin typeface="Calibri" panose="020F0502020204030204" pitchFamily="34" charset="0"/>
                <a:ea typeface="Microsoft YaHei UI" panose="020B0503020204020204" pitchFamily="34" charset="-122"/>
                <a:cs typeface="Calibri" panose="020F0502020204030204" pitchFamily="34" charset="0"/>
              </a:rPr>
              <a:t>eurheartj</a:t>
            </a:r>
            <a:r>
              <a:rPr kumimoji="0" lang="en-US" altLang="zh-CN" sz="1400" b="1" i="0" u="none" strike="noStrike" kern="1200" cap="none" spc="0" normalizeH="0" baseline="0" noProof="0" dirty="0">
                <a:ln>
                  <a:noFill/>
                </a:ln>
                <a:solidFill>
                  <a:prstClr val="black"/>
                </a:solidFill>
                <a:effectLst/>
                <a:uLnTx/>
                <a:uFillTx/>
                <a:latin typeface="Calibri" panose="020F0502020204030204" pitchFamily="34" charset="0"/>
                <a:ea typeface="Microsoft YaHei UI" panose="020B0503020204020204" pitchFamily="34" charset="-122"/>
                <a:cs typeface="Calibri" panose="020F0502020204030204" pitchFamily="34" charset="0"/>
              </a:rPr>
              <a:t>/ehaa575)</a:t>
            </a:r>
            <a:endParaRPr kumimoji="0" lang="zh-CN" altLang="en-US" sz="1400" b="1" i="0" u="none" strike="noStrike" kern="1200" cap="none" spc="0" normalizeH="0" baseline="0" noProof="0" dirty="0">
              <a:ln>
                <a:noFill/>
              </a:ln>
              <a:solidFill>
                <a:prstClr val="black"/>
              </a:solidFill>
              <a:effectLst/>
              <a:uLnTx/>
              <a:uFillTx/>
              <a:latin typeface="Calibri" panose="020F0502020204030204" pitchFamily="34" charset="0"/>
              <a:ea typeface="Microsoft YaHei UI" panose="020B0503020204020204" pitchFamily="34" charset="-122"/>
              <a:cs typeface="Calibri" panose="020F0502020204030204" pitchFamily="34" charset="0"/>
            </a:endParaRPr>
          </a:p>
        </p:txBody>
      </p:sp>
      <p:sp>
        <p:nvSpPr>
          <p:cNvPr id="4" name="文本框 3">
            <a:extLst>
              <a:ext uri="{FF2B5EF4-FFF2-40B4-BE49-F238E27FC236}">
                <a16:creationId xmlns:a16="http://schemas.microsoft.com/office/drawing/2014/main" id="{ACBAB1ED-26DB-4FE7-B932-BED07BB4C154}"/>
              </a:ext>
            </a:extLst>
          </p:cNvPr>
          <p:cNvSpPr txBox="1"/>
          <p:nvPr/>
        </p:nvSpPr>
        <p:spPr>
          <a:xfrm>
            <a:off x="4581349" y="2367342"/>
            <a:ext cx="3029301" cy="707886"/>
          </a:xfrm>
          <a:prstGeom prst="rect">
            <a:avLst/>
          </a:prstGeom>
          <a:noFill/>
        </p:spPr>
        <p:txBody>
          <a:bodyPr wrap="square" rtlCol="0">
            <a:spAutoFit/>
          </a:bodyPr>
          <a:lstStyle/>
          <a:p>
            <a:r>
              <a:rPr lang="en-US" altLang="zh-CN" sz="4000" dirty="0">
                <a:solidFill>
                  <a:srgbClr val="C00000"/>
                </a:solidFill>
                <a:latin typeface="微软雅黑" panose="020B0503020204020204" pitchFamily="34" charset="-122"/>
                <a:ea typeface="微软雅黑" panose="020B0503020204020204" pitchFamily="34" charset="-122"/>
              </a:rPr>
              <a:t>Summary </a:t>
            </a:r>
            <a:endParaRPr lang="zh-CN" altLang="en-US" sz="40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40872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5688" y="544016"/>
            <a:ext cx="739775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最新推荐要点</a:t>
            </a:r>
            <a:endParaRPr lang="zh-CN" altLang="en-US" sz="2400" b="1" dirty="0">
              <a:solidFill>
                <a:srgbClr val="AE1022"/>
              </a:solidFill>
            </a:endParaRPr>
          </a:p>
        </p:txBody>
      </p:sp>
      <p:sp>
        <p:nvSpPr>
          <p:cNvPr id="8" name="矩形 7"/>
          <p:cNvSpPr/>
          <p:nvPr/>
        </p:nvSpPr>
        <p:spPr>
          <a:xfrm>
            <a:off x="975681" y="1589669"/>
            <a:ext cx="9354977" cy="545731"/>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solidFill>
                  <a:prstClr val="black"/>
                </a:solidFill>
                <a:latin typeface="Microsoft YaHei UI" panose="020B0503020204020204" pitchFamily="34" charset="-122"/>
                <a:ea typeface="Microsoft YaHei UI" panose="020B0503020204020204" pitchFamily="34" charset="-122"/>
              </a:rPr>
              <a:t>诊断</a:t>
            </a:r>
          </a:p>
        </p:txBody>
      </p:sp>
      <p:sp>
        <p:nvSpPr>
          <p:cNvPr id="9" name="矩形 8"/>
          <p:cNvSpPr/>
          <p:nvPr/>
        </p:nvSpPr>
        <p:spPr>
          <a:xfrm>
            <a:off x="975682" y="2247996"/>
            <a:ext cx="9354977" cy="696930"/>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prstClr val="white"/>
                </a:solidFill>
                <a:latin typeface="Microsoft YaHei UI" panose="020B0503020204020204" pitchFamily="34" charset="-122"/>
                <a:ea typeface="Microsoft YaHei UI" panose="020B0503020204020204" pitchFamily="34" charset="-122"/>
              </a:rPr>
              <a:t>如存在经过验证的</a:t>
            </a:r>
            <a:r>
              <a:rPr lang="en-US" altLang="zh-CN" dirty="0" err="1">
                <a:solidFill>
                  <a:prstClr val="white"/>
                </a:solidFill>
                <a:latin typeface="Microsoft YaHei UI" panose="020B0503020204020204" pitchFamily="34" charset="-122"/>
                <a:ea typeface="Microsoft YaHei UI" panose="020B0503020204020204" pitchFamily="34" charset="-122"/>
              </a:rPr>
              <a:t>hs-cTn</a:t>
            </a:r>
            <a:r>
              <a:rPr lang="zh-CN" altLang="en-US" dirty="0">
                <a:solidFill>
                  <a:prstClr val="white"/>
                </a:solidFill>
                <a:latin typeface="Microsoft YaHei UI" panose="020B0503020204020204" pitchFamily="34" charset="-122"/>
                <a:ea typeface="Microsoft YaHei UI" panose="020B0503020204020204" pitchFamily="34" charset="-122"/>
              </a:rPr>
              <a:t>检测 </a:t>
            </a:r>
            <a:r>
              <a:rPr lang="en-US" altLang="zh-CN" dirty="0">
                <a:solidFill>
                  <a:prstClr val="white"/>
                </a:solidFill>
                <a:latin typeface="Microsoft YaHei UI" panose="020B0503020204020204" pitchFamily="34" charset="-122"/>
                <a:ea typeface="Microsoft YaHei UI" panose="020B0503020204020204" pitchFamily="34" charset="-122"/>
              </a:rPr>
              <a:t>0h/2h </a:t>
            </a:r>
            <a:r>
              <a:rPr lang="zh-CN" altLang="en-US" dirty="0">
                <a:solidFill>
                  <a:prstClr val="white"/>
                </a:solidFill>
                <a:latin typeface="Microsoft YaHei UI" panose="020B0503020204020204" pitchFamily="34" charset="-122"/>
                <a:ea typeface="Microsoft YaHei UI" panose="020B0503020204020204" pitchFamily="34" charset="-122"/>
              </a:rPr>
              <a:t>流程可使用，推荐在</a:t>
            </a:r>
            <a:r>
              <a:rPr lang="en-US" altLang="zh-CN" dirty="0">
                <a:solidFill>
                  <a:prstClr val="white"/>
                </a:solidFill>
                <a:latin typeface="Microsoft YaHei UI" panose="020B0503020204020204" pitchFamily="34" charset="-122"/>
                <a:ea typeface="Microsoft YaHei UI" panose="020B0503020204020204" pitchFamily="34" charset="-122"/>
              </a:rPr>
              <a:t>0h</a:t>
            </a:r>
            <a:r>
              <a:rPr lang="zh-CN" altLang="en-US" dirty="0">
                <a:solidFill>
                  <a:prstClr val="white"/>
                </a:solidFill>
                <a:latin typeface="Microsoft YaHei UI" panose="020B0503020204020204" pitchFamily="34" charset="-122"/>
                <a:ea typeface="Microsoft YaHei UI" panose="020B0503020204020204" pitchFamily="34" charset="-122"/>
              </a:rPr>
              <a:t>和</a:t>
            </a:r>
            <a:r>
              <a:rPr lang="en-US" altLang="zh-CN" dirty="0">
                <a:solidFill>
                  <a:prstClr val="white"/>
                </a:solidFill>
                <a:latin typeface="Microsoft YaHei UI" panose="020B0503020204020204" pitchFamily="34" charset="-122"/>
                <a:ea typeface="Microsoft YaHei UI" panose="020B0503020204020204" pitchFamily="34" charset="-122"/>
              </a:rPr>
              <a:t>2h</a:t>
            </a:r>
            <a:r>
              <a:rPr lang="zh-CN" altLang="en-US" dirty="0">
                <a:solidFill>
                  <a:prstClr val="white"/>
                </a:solidFill>
                <a:latin typeface="Microsoft YaHei UI" panose="020B0503020204020204" pitchFamily="34" charset="-122"/>
                <a:ea typeface="Microsoft YaHei UI" panose="020B0503020204020204" pitchFamily="34" charset="-122"/>
              </a:rPr>
              <a:t>时采血的</a:t>
            </a:r>
            <a:r>
              <a:rPr lang="en-US" altLang="zh-CN" dirty="0">
                <a:solidFill>
                  <a:prstClr val="white"/>
                </a:solidFill>
                <a:latin typeface="Microsoft YaHei UI" panose="020B0503020204020204" pitchFamily="34" charset="-122"/>
                <a:ea typeface="Microsoft YaHei UI" panose="020B0503020204020204" pitchFamily="34" charset="-122"/>
              </a:rPr>
              <a:t>ESC 0h/2h </a:t>
            </a:r>
            <a:r>
              <a:rPr lang="zh-CN" altLang="en-US" dirty="0">
                <a:solidFill>
                  <a:prstClr val="white"/>
                </a:solidFill>
                <a:latin typeface="Microsoft YaHei UI" panose="020B0503020204020204" pitchFamily="34" charset="-122"/>
                <a:ea typeface="Microsoft YaHei UI" panose="020B0503020204020204" pitchFamily="34" charset="-122"/>
              </a:rPr>
              <a:t>流程作为 </a:t>
            </a:r>
            <a:r>
              <a:rPr lang="en-US" altLang="zh-CN" dirty="0">
                <a:solidFill>
                  <a:prstClr val="white"/>
                </a:solidFill>
                <a:latin typeface="Microsoft YaHei UI" panose="020B0503020204020204" pitchFamily="34" charset="-122"/>
                <a:ea typeface="Microsoft YaHei UI" panose="020B0503020204020204" pitchFamily="34" charset="-122"/>
              </a:rPr>
              <a:t>ESC 0h/1h </a:t>
            </a:r>
            <a:r>
              <a:rPr lang="zh-CN" altLang="en-US" dirty="0">
                <a:solidFill>
                  <a:prstClr val="white"/>
                </a:solidFill>
                <a:latin typeface="Microsoft YaHei UI" panose="020B0503020204020204" pitchFamily="34" charset="-122"/>
                <a:ea typeface="Microsoft YaHei UI" panose="020B0503020204020204" pitchFamily="34" charset="-122"/>
              </a:rPr>
              <a:t>检测流程的替代方案</a:t>
            </a:r>
          </a:p>
        </p:txBody>
      </p:sp>
      <p:sp>
        <p:nvSpPr>
          <p:cNvPr id="10" name="矩形 9"/>
          <p:cNvSpPr/>
          <p:nvPr/>
        </p:nvSpPr>
        <p:spPr>
          <a:xfrm>
            <a:off x="975682" y="3137136"/>
            <a:ext cx="9354977" cy="696930"/>
          </a:xfrm>
          <a:prstGeom prst="rect">
            <a:avLst/>
          </a:prstGeom>
          <a:solidFill>
            <a:srgbClr val="F05A66"/>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prstClr val="white"/>
                </a:solidFill>
                <a:latin typeface="Microsoft YaHei UI" panose="020B0503020204020204" pitchFamily="34" charset="-122"/>
                <a:ea typeface="Microsoft YaHei UI" panose="020B0503020204020204" pitchFamily="34" charset="-122"/>
              </a:rPr>
              <a:t>除</a:t>
            </a:r>
            <a:r>
              <a:rPr lang="en-US" altLang="zh-CN" dirty="0" err="1">
                <a:solidFill>
                  <a:prstClr val="white"/>
                </a:solidFill>
                <a:latin typeface="Microsoft YaHei UI" panose="020B0503020204020204" pitchFamily="34" charset="-122"/>
                <a:ea typeface="Microsoft YaHei UI" panose="020B0503020204020204" pitchFamily="34" charset="-122"/>
              </a:rPr>
              <a:t>hs-cTn</a:t>
            </a:r>
            <a:r>
              <a:rPr lang="zh-CN" altLang="en-US" dirty="0">
                <a:solidFill>
                  <a:prstClr val="white"/>
                </a:solidFill>
                <a:latin typeface="Microsoft YaHei UI" panose="020B0503020204020204" pitchFamily="34" charset="-122"/>
                <a:ea typeface="Microsoft YaHei UI" panose="020B0503020204020204" pitchFamily="34" charset="-122"/>
              </a:rPr>
              <a:t>外，不推荐以诊断为目的常规测量其他生物标记物，如</a:t>
            </a:r>
            <a:r>
              <a:rPr lang="en-US" altLang="zh-CN" dirty="0">
                <a:solidFill>
                  <a:prstClr val="white"/>
                </a:solidFill>
                <a:latin typeface="Microsoft YaHei UI" panose="020B0503020204020204" pitchFamily="34" charset="-122"/>
                <a:ea typeface="Microsoft YaHei UI" panose="020B0503020204020204" pitchFamily="34" charset="-122"/>
              </a:rPr>
              <a:t>CK</a:t>
            </a:r>
            <a:r>
              <a:rPr lang="zh-CN" altLang="en-US" dirty="0">
                <a:solidFill>
                  <a:prstClr val="white"/>
                </a:solidFill>
                <a:latin typeface="Microsoft YaHei UI" panose="020B0503020204020204" pitchFamily="34" charset="-122"/>
                <a:ea typeface="Microsoft YaHei UI" panose="020B0503020204020204" pitchFamily="34" charset="-122"/>
              </a:rPr>
              <a:t>，</a:t>
            </a:r>
            <a:r>
              <a:rPr lang="en-US" altLang="zh-CN" dirty="0">
                <a:solidFill>
                  <a:prstClr val="white"/>
                </a:solidFill>
                <a:latin typeface="Microsoft YaHei UI" panose="020B0503020204020204" pitchFamily="34" charset="-122"/>
                <a:ea typeface="Microsoft YaHei UI" panose="020B0503020204020204" pitchFamily="34" charset="-122"/>
              </a:rPr>
              <a:t>CK-MB</a:t>
            </a:r>
            <a:r>
              <a:rPr lang="zh-CN" altLang="en-US" dirty="0">
                <a:solidFill>
                  <a:prstClr val="white"/>
                </a:solidFill>
                <a:latin typeface="Microsoft YaHei UI" panose="020B0503020204020204" pitchFamily="34" charset="-122"/>
                <a:ea typeface="Microsoft YaHei UI" panose="020B0503020204020204" pitchFamily="34" charset="-122"/>
              </a:rPr>
              <a:t>，</a:t>
            </a:r>
            <a:r>
              <a:rPr lang="en-US" altLang="zh-CN" dirty="0">
                <a:solidFill>
                  <a:prstClr val="white"/>
                </a:solidFill>
                <a:latin typeface="Microsoft YaHei UI" panose="020B0503020204020204" pitchFamily="34" charset="-122"/>
                <a:ea typeface="Microsoft YaHei UI" panose="020B0503020204020204" pitchFamily="34" charset="-122"/>
              </a:rPr>
              <a:t>h-FABP</a:t>
            </a:r>
            <a:r>
              <a:rPr lang="zh-CN" altLang="en-US" dirty="0">
                <a:solidFill>
                  <a:prstClr val="white"/>
                </a:solidFill>
                <a:latin typeface="Microsoft YaHei UI" panose="020B0503020204020204" pitchFamily="34" charset="-122"/>
                <a:ea typeface="Microsoft YaHei UI" panose="020B0503020204020204" pitchFamily="34" charset="-122"/>
              </a:rPr>
              <a:t>或肽素</a:t>
            </a:r>
            <a:endParaRPr lang="zh-CN" altLang="en-US" dirty="0">
              <a:solidFill>
                <a:prstClr val="black"/>
              </a:solidFill>
              <a:latin typeface="Microsoft YaHei UI" panose="020B0503020204020204" pitchFamily="34" charset="-122"/>
              <a:ea typeface="Microsoft YaHei UI" panose="020B0503020204020204" pitchFamily="34" charset="-122"/>
            </a:endParaRPr>
          </a:p>
        </p:txBody>
      </p:sp>
      <p:sp>
        <p:nvSpPr>
          <p:cNvPr id="12" name="矩形 11"/>
          <p:cNvSpPr/>
          <p:nvPr/>
        </p:nvSpPr>
        <p:spPr>
          <a:xfrm>
            <a:off x="975684" y="4579889"/>
            <a:ext cx="9354977" cy="696930"/>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prstClr val="black"/>
                </a:solidFill>
                <a:latin typeface="Microsoft YaHei UI" panose="020B0503020204020204" pitchFamily="34" charset="-122"/>
                <a:ea typeface="Microsoft YaHei UI" panose="020B0503020204020204" pitchFamily="34" charset="-122"/>
              </a:rPr>
              <a:t>应考虑测量血浆</a:t>
            </a:r>
            <a:r>
              <a:rPr lang="en-US" altLang="zh-CN" dirty="0">
                <a:solidFill>
                  <a:prstClr val="black"/>
                </a:solidFill>
                <a:latin typeface="Microsoft YaHei UI" panose="020B0503020204020204" pitchFamily="34" charset="-122"/>
                <a:ea typeface="Microsoft YaHei UI" panose="020B0503020204020204" pitchFamily="34" charset="-122"/>
              </a:rPr>
              <a:t>BNP</a:t>
            </a:r>
            <a:r>
              <a:rPr lang="zh-CN" altLang="en-US" dirty="0">
                <a:solidFill>
                  <a:prstClr val="black"/>
                </a:solidFill>
                <a:latin typeface="Microsoft YaHei UI" panose="020B0503020204020204" pitchFamily="34" charset="-122"/>
                <a:ea typeface="Microsoft YaHei UI" panose="020B0503020204020204" pitchFamily="34" charset="-122"/>
              </a:rPr>
              <a:t>或</a:t>
            </a:r>
            <a:r>
              <a:rPr lang="en-US" altLang="zh-CN" dirty="0">
                <a:solidFill>
                  <a:prstClr val="black"/>
                </a:solidFill>
                <a:latin typeface="Microsoft YaHei UI" panose="020B0503020204020204" pitchFamily="34" charset="-122"/>
                <a:ea typeface="Microsoft YaHei UI" panose="020B0503020204020204" pitchFamily="34" charset="-122"/>
              </a:rPr>
              <a:t>NT-</a:t>
            </a:r>
            <a:r>
              <a:rPr lang="en-US" altLang="zh-CN" dirty="0" err="1">
                <a:solidFill>
                  <a:prstClr val="black"/>
                </a:solidFill>
                <a:latin typeface="Microsoft YaHei UI" panose="020B0503020204020204" pitchFamily="34" charset="-122"/>
                <a:ea typeface="Microsoft YaHei UI" panose="020B0503020204020204" pitchFamily="34" charset="-122"/>
              </a:rPr>
              <a:t>proBNP</a:t>
            </a:r>
            <a:r>
              <a:rPr lang="zh-CN" altLang="en-US" dirty="0">
                <a:solidFill>
                  <a:prstClr val="black"/>
                </a:solidFill>
                <a:latin typeface="Microsoft YaHei UI" panose="020B0503020204020204" pitchFamily="34" charset="-122"/>
                <a:ea typeface="Microsoft YaHei UI" panose="020B0503020204020204" pitchFamily="34" charset="-122"/>
              </a:rPr>
              <a:t>浓度以获得预后信息</a:t>
            </a:r>
          </a:p>
        </p:txBody>
      </p:sp>
      <p:sp>
        <p:nvSpPr>
          <p:cNvPr id="5" name="矩形 4"/>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prstClr val="black"/>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prstClr val="black"/>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prstClr val="black"/>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prstClr val="black"/>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14" name="矩形 13"/>
          <p:cNvSpPr/>
          <p:nvPr/>
        </p:nvSpPr>
        <p:spPr>
          <a:xfrm>
            <a:off x="975683" y="3913074"/>
            <a:ext cx="9354977" cy="545731"/>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solidFill>
                  <a:prstClr val="black"/>
                </a:solidFill>
                <a:latin typeface="Microsoft YaHei UI" panose="020B0503020204020204" pitchFamily="34" charset="-122"/>
                <a:ea typeface="Microsoft YaHei UI" panose="020B0503020204020204" pitchFamily="34" charset="-122"/>
              </a:rPr>
              <a:t>危险分层</a:t>
            </a:r>
          </a:p>
        </p:txBody>
      </p:sp>
      <p:sp>
        <p:nvSpPr>
          <p:cNvPr id="2" name="矩形 1"/>
          <p:cNvSpPr/>
          <p:nvPr/>
        </p:nvSpPr>
        <p:spPr>
          <a:xfrm>
            <a:off x="975680" y="5565644"/>
            <a:ext cx="9354977" cy="5281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prstClr val="black"/>
                </a:solidFill>
                <a:latin typeface="Microsoft YaHei UI" panose="020B0503020204020204" pitchFamily="34" charset="-122"/>
                <a:ea typeface="Microsoft YaHei UI" panose="020B0503020204020204" pitchFamily="34" charset="-122"/>
              </a:rPr>
              <a:t>Hs-</a:t>
            </a:r>
            <a:r>
              <a:rPr lang="en-US" altLang="zh-CN" sz="1400" dirty="0" err="1">
                <a:solidFill>
                  <a:prstClr val="black"/>
                </a:solidFill>
                <a:latin typeface="Microsoft YaHei UI" panose="020B0503020204020204" pitchFamily="34" charset="-122"/>
                <a:ea typeface="Microsoft YaHei UI" panose="020B0503020204020204" pitchFamily="34" charset="-122"/>
              </a:rPr>
              <a:t>cTn</a:t>
            </a:r>
            <a:r>
              <a:rPr lang="zh-CN" altLang="en-US" sz="1400" dirty="0">
                <a:solidFill>
                  <a:prstClr val="black"/>
                </a:solidFill>
                <a:latin typeface="Microsoft YaHei UI" panose="020B0503020204020204" pitchFamily="34" charset="-122"/>
                <a:ea typeface="Microsoft YaHei UI" panose="020B0503020204020204" pitchFamily="34" charset="-122"/>
              </a:rPr>
              <a:t>：高敏心肌肌钙蛋白；</a:t>
            </a:r>
            <a:r>
              <a:rPr lang="en-US" altLang="zh-CN" sz="1400" dirty="0">
                <a:solidFill>
                  <a:prstClr val="black"/>
                </a:solidFill>
                <a:latin typeface="Microsoft YaHei UI" panose="020B0503020204020204" pitchFamily="34" charset="-122"/>
                <a:ea typeface="Microsoft YaHei UI" panose="020B0503020204020204" pitchFamily="34" charset="-122"/>
              </a:rPr>
              <a:t>h</a:t>
            </a:r>
            <a:r>
              <a:rPr lang="zh-CN" altLang="en-US" sz="1400" dirty="0">
                <a:solidFill>
                  <a:prstClr val="black"/>
                </a:solidFill>
                <a:latin typeface="Microsoft YaHei UI" panose="020B0503020204020204" pitchFamily="34" charset="-122"/>
                <a:ea typeface="Microsoft YaHei UI" panose="020B0503020204020204" pitchFamily="34" charset="-122"/>
              </a:rPr>
              <a:t>：小时；</a:t>
            </a:r>
            <a:r>
              <a:rPr lang="en-US" altLang="zh-CN" sz="1400" dirty="0">
                <a:solidFill>
                  <a:prstClr val="black"/>
                </a:solidFill>
                <a:latin typeface="Microsoft YaHei UI" panose="020B0503020204020204" pitchFamily="34" charset="-122"/>
                <a:ea typeface="Microsoft YaHei UI" panose="020B0503020204020204" pitchFamily="34" charset="-122"/>
              </a:rPr>
              <a:t>ESC</a:t>
            </a:r>
            <a:r>
              <a:rPr lang="zh-CN" altLang="en-US" sz="1400" dirty="0">
                <a:solidFill>
                  <a:prstClr val="black"/>
                </a:solidFill>
                <a:latin typeface="Microsoft YaHei UI" panose="020B0503020204020204" pitchFamily="34" charset="-122"/>
                <a:ea typeface="Microsoft YaHei UI" panose="020B0503020204020204" pitchFamily="34" charset="-122"/>
              </a:rPr>
              <a:t>：欧洲心脏协会；</a:t>
            </a:r>
            <a:r>
              <a:rPr lang="en-US" altLang="zh-CN" sz="1400" dirty="0">
                <a:solidFill>
                  <a:prstClr val="black"/>
                </a:solidFill>
                <a:latin typeface="Microsoft YaHei UI" panose="020B0503020204020204" pitchFamily="34" charset="-122"/>
                <a:ea typeface="Microsoft YaHei UI" panose="020B0503020204020204" pitchFamily="34" charset="-122"/>
              </a:rPr>
              <a:t>CK</a:t>
            </a:r>
            <a:r>
              <a:rPr lang="zh-CN" altLang="en-US" sz="1400" dirty="0">
                <a:solidFill>
                  <a:prstClr val="black"/>
                </a:solidFill>
                <a:latin typeface="Microsoft YaHei UI" panose="020B0503020204020204" pitchFamily="34" charset="-122"/>
                <a:ea typeface="Microsoft YaHei UI" panose="020B0503020204020204" pitchFamily="34" charset="-122"/>
              </a:rPr>
              <a:t>：肌酸激酶；</a:t>
            </a:r>
            <a:r>
              <a:rPr lang="en-US" altLang="zh-CN" sz="1400" dirty="0">
                <a:solidFill>
                  <a:prstClr val="black"/>
                </a:solidFill>
                <a:latin typeface="Microsoft YaHei UI" panose="020B0503020204020204" pitchFamily="34" charset="-122"/>
                <a:ea typeface="Microsoft YaHei UI" panose="020B0503020204020204" pitchFamily="34" charset="-122"/>
              </a:rPr>
              <a:t>CK-MB</a:t>
            </a:r>
            <a:r>
              <a:rPr lang="zh-CN" altLang="en-US" sz="1400" dirty="0">
                <a:solidFill>
                  <a:prstClr val="black"/>
                </a:solidFill>
                <a:latin typeface="Microsoft YaHei UI" panose="020B0503020204020204" pitchFamily="34" charset="-122"/>
                <a:ea typeface="Microsoft YaHei UI" panose="020B0503020204020204" pitchFamily="34" charset="-122"/>
              </a:rPr>
              <a:t>：心肌酶肌酸激酶；</a:t>
            </a:r>
            <a:r>
              <a:rPr lang="en-US" altLang="zh-CN" sz="1400" dirty="0">
                <a:solidFill>
                  <a:prstClr val="black"/>
                </a:solidFill>
                <a:latin typeface="Microsoft YaHei UI" panose="020B0503020204020204" pitchFamily="34" charset="-122"/>
                <a:ea typeface="Microsoft YaHei UI" panose="020B0503020204020204" pitchFamily="34" charset="-122"/>
              </a:rPr>
              <a:t>h-FABP</a:t>
            </a:r>
            <a:r>
              <a:rPr lang="zh-CN" altLang="en-US" sz="1400" dirty="0">
                <a:solidFill>
                  <a:prstClr val="black"/>
                </a:solidFill>
                <a:latin typeface="Microsoft YaHei UI" panose="020B0503020204020204" pitchFamily="34" charset="-122"/>
                <a:ea typeface="Microsoft YaHei UI" panose="020B0503020204020204" pitchFamily="34" charset="-122"/>
              </a:rPr>
              <a:t>：心肌型脂肪酸结合蛋白；</a:t>
            </a:r>
            <a:r>
              <a:rPr lang="en-US" altLang="zh-CN" sz="1400" dirty="0">
                <a:solidFill>
                  <a:prstClr val="black"/>
                </a:solidFill>
                <a:latin typeface="Microsoft YaHei UI" panose="020B0503020204020204" pitchFamily="34" charset="-122"/>
                <a:ea typeface="Microsoft YaHei UI" panose="020B0503020204020204" pitchFamily="34" charset="-122"/>
              </a:rPr>
              <a:t>BNP</a:t>
            </a:r>
            <a:r>
              <a:rPr lang="zh-CN" altLang="en-US" sz="1400" dirty="0">
                <a:solidFill>
                  <a:prstClr val="black"/>
                </a:solidFill>
                <a:latin typeface="Microsoft YaHei UI" panose="020B0503020204020204" pitchFamily="34" charset="-122"/>
                <a:ea typeface="Microsoft YaHei UI" panose="020B0503020204020204" pitchFamily="34" charset="-122"/>
              </a:rPr>
              <a:t>：脑钠肽；</a:t>
            </a:r>
            <a:r>
              <a:rPr lang="en-US" altLang="zh-CN" sz="1400" dirty="0">
                <a:solidFill>
                  <a:prstClr val="black"/>
                </a:solidFill>
                <a:latin typeface="Microsoft YaHei UI" panose="020B0503020204020204" pitchFamily="34" charset="-122"/>
                <a:ea typeface="Microsoft YaHei UI" panose="020B0503020204020204" pitchFamily="34" charset="-122"/>
              </a:rPr>
              <a:t>NT-</a:t>
            </a:r>
            <a:r>
              <a:rPr lang="en-US" altLang="zh-CN" sz="1400" dirty="0" err="1">
                <a:solidFill>
                  <a:prstClr val="black"/>
                </a:solidFill>
                <a:latin typeface="Microsoft YaHei UI" panose="020B0503020204020204" pitchFamily="34" charset="-122"/>
                <a:ea typeface="Microsoft YaHei UI" panose="020B0503020204020204" pitchFamily="34" charset="-122"/>
              </a:rPr>
              <a:t>proBNP</a:t>
            </a:r>
            <a:r>
              <a:rPr lang="zh-CN" altLang="en-US" sz="1400" dirty="0">
                <a:solidFill>
                  <a:prstClr val="black"/>
                </a:solidFill>
                <a:latin typeface="Microsoft YaHei UI" panose="020B0503020204020204" pitchFamily="34" charset="-122"/>
                <a:ea typeface="Microsoft YaHei UI" panose="020B0503020204020204" pitchFamily="34" charset="-122"/>
              </a:rPr>
              <a:t>：脑钠肽</a:t>
            </a:r>
            <a:r>
              <a:rPr lang="en-US" altLang="zh-CN" sz="1400" dirty="0">
                <a:solidFill>
                  <a:prstClr val="black"/>
                </a:solidFill>
                <a:latin typeface="Microsoft YaHei UI" panose="020B0503020204020204" pitchFamily="34" charset="-122"/>
                <a:ea typeface="Microsoft YaHei UI" panose="020B0503020204020204" pitchFamily="34" charset="-122"/>
              </a:rPr>
              <a:t>N</a:t>
            </a:r>
            <a:r>
              <a:rPr lang="zh-CN" altLang="en-US" sz="1400" dirty="0">
                <a:solidFill>
                  <a:prstClr val="black"/>
                </a:solidFill>
                <a:latin typeface="Microsoft YaHei UI" panose="020B0503020204020204" pitchFamily="34" charset="-122"/>
                <a:ea typeface="Microsoft YaHei UI" panose="020B0503020204020204" pitchFamily="34" charset="-122"/>
              </a:rPr>
              <a:t>端前体</a:t>
            </a:r>
          </a:p>
        </p:txBody>
      </p:sp>
    </p:spTree>
    <p:extLst>
      <p:ext uri="{BB962C8B-B14F-4D97-AF65-F5344CB8AC3E}">
        <p14:creationId xmlns:p14="http://schemas.microsoft.com/office/powerpoint/2010/main" val="9689173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5688" y="117645"/>
            <a:ext cx="739775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最新推荐要点</a:t>
            </a:r>
            <a:endParaRPr lang="zh-CN" altLang="en-US" sz="2400" b="1" dirty="0">
              <a:solidFill>
                <a:srgbClr val="AE1022"/>
              </a:solidFill>
            </a:endParaRPr>
          </a:p>
        </p:txBody>
      </p:sp>
      <p:sp>
        <p:nvSpPr>
          <p:cNvPr id="8" name="矩形 7"/>
          <p:cNvSpPr/>
          <p:nvPr/>
        </p:nvSpPr>
        <p:spPr>
          <a:xfrm>
            <a:off x="975680" y="502688"/>
            <a:ext cx="9354977" cy="461665"/>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抗血栓治疗</a:t>
            </a:r>
          </a:p>
        </p:txBody>
      </p:sp>
      <p:sp>
        <p:nvSpPr>
          <p:cNvPr id="9" name="矩形 8"/>
          <p:cNvSpPr/>
          <p:nvPr/>
        </p:nvSpPr>
        <p:spPr>
          <a:xfrm>
            <a:off x="975680" y="3587231"/>
            <a:ext cx="10366989" cy="853368"/>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对于房颤患者（</a:t>
            </a:r>
            <a:r>
              <a:rPr lang="en-US" altLang="zh-CN" dirty="0">
                <a:solidFill>
                  <a:schemeClr val="bg1"/>
                </a:solidFill>
                <a:latin typeface="Microsoft YaHei UI" panose="020B0503020204020204" pitchFamily="34" charset="-122"/>
                <a:ea typeface="Microsoft YaHei UI" panose="020B0503020204020204" pitchFamily="34" charset="-122"/>
              </a:rPr>
              <a:t>CHA</a:t>
            </a:r>
            <a:r>
              <a:rPr lang="en-US" altLang="zh-CN" baseline="-25000" dirty="0">
                <a:solidFill>
                  <a:schemeClr val="bg1"/>
                </a:solidFill>
                <a:latin typeface="Microsoft YaHei UI" panose="020B0503020204020204" pitchFamily="34" charset="-122"/>
                <a:ea typeface="Microsoft YaHei UI" panose="020B0503020204020204" pitchFamily="34" charset="-122"/>
              </a:rPr>
              <a:t>2</a:t>
            </a:r>
            <a:r>
              <a:rPr lang="en-US" altLang="zh-CN" dirty="0">
                <a:solidFill>
                  <a:schemeClr val="bg1"/>
                </a:solidFill>
                <a:latin typeface="Microsoft YaHei UI" panose="020B0503020204020204" pitchFamily="34" charset="-122"/>
                <a:ea typeface="Microsoft YaHei UI" panose="020B0503020204020204" pitchFamily="34" charset="-122"/>
              </a:rPr>
              <a:t>DS</a:t>
            </a:r>
            <a:r>
              <a:rPr lang="en-US" altLang="zh-CN" baseline="-25000" dirty="0">
                <a:solidFill>
                  <a:schemeClr val="bg1"/>
                </a:solidFill>
                <a:latin typeface="Microsoft YaHei UI" panose="020B0503020204020204" pitchFamily="34" charset="-122"/>
                <a:ea typeface="Microsoft YaHei UI" panose="020B0503020204020204" pitchFamily="34" charset="-122"/>
              </a:rPr>
              <a:t>2</a:t>
            </a:r>
            <a:r>
              <a:rPr lang="en-US" altLang="zh-CN" dirty="0">
                <a:solidFill>
                  <a:schemeClr val="bg1"/>
                </a:solidFill>
                <a:latin typeface="Microsoft YaHei UI" panose="020B0503020204020204" pitchFamily="34" charset="-122"/>
                <a:ea typeface="Microsoft YaHei UI" panose="020B0503020204020204" pitchFamily="34" charset="-122"/>
              </a:rPr>
              <a:t>-VASc</a:t>
            </a:r>
            <a:r>
              <a:rPr lang="zh-CN" altLang="en-US" dirty="0">
                <a:solidFill>
                  <a:schemeClr val="bg1"/>
                </a:solidFill>
                <a:latin typeface="Microsoft YaHei UI" panose="020B0503020204020204" pitchFamily="34" charset="-122"/>
                <a:ea typeface="Microsoft YaHei UI" panose="020B0503020204020204" pitchFamily="34" charset="-122"/>
              </a:rPr>
              <a:t>评分：男性≥</a:t>
            </a:r>
            <a:r>
              <a:rPr lang="en-US" altLang="zh-CN" dirty="0">
                <a:solidFill>
                  <a:schemeClr val="bg1"/>
                </a:solidFill>
                <a:latin typeface="Microsoft YaHei UI" panose="020B0503020204020204" pitchFamily="34" charset="-122"/>
                <a:ea typeface="Microsoft YaHei UI" panose="020B0503020204020204" pitchFamily="34" charset="-122"/>
              </a:rPr>
              <a:t>1</a:t>
            </a:r>
            <a:r>
              <a:rPr lang="zh-CN" altLang="en-US" dirty="0">
                <a:solidFill>
                  <a:schemeClr val="bg1"/>
                </a:solidFill>
                <a:latin typeface="Microsoft YaHei UI" panose="020B0503020204020204" pitchFamily="34" charset="-122"/>
                <a:ea typeface="Microsoft YaHei UI" panose="020B0503020204020204" pitchFamily="34" charset="-122"/>
              </a:rPr>
              <a:t>，女性≥</a:t>
            </a:r>
            <a:r>
              <a:rPr lang="en-US" altLang="zh-CN" dirty="0">
                <a:solidFill>
                  <a:schemeClr val="bg1"/>
                </a:solidFill>
                <a:latin typeface="Microsoft YaHei UI" panose="020B0503020204020204" pitchFamily="34" charset="-122"/>
                <a:ea typeface="Microsoft YaHei UI" panose="020B0503020204020204" pitchFamily="34" charset="-122"/>
              </a:rPr>
              <a:t>2</a:t>
            </a:r>
            <a:r>
              <a:rPr lang="zh-CN" altLang="en-US" dirty="0">
                <a:solidFill>
                  <a:schemeClr val="bg1"/>
                </a:solidFill>
                <a:latin typeface="Microsoft YaHei UI" panose="020B0503020204020204" pitchFamily="34" charset="-122"/>
                <a:ea typeface="Microsoft YaHei UI" panose="020B0503020204020204" pitchFamily="34" charset="-122"/>
              </a:rPr>
              <a:t>），在短期（急性事件发生</a:t>
            </a:r>
            <a:r>
              <a:rPr lang="en-US" altLang="zh-CN" dirty="0">
                <a:solidFill>
                  <a:schemeClr val="bg1"/>
                </a:solidFill>
                <a:latin typeface="Microsoft YaHei UI" panose="020B0503020204020204" pitchFamily="34" charset="-122"/>
                <a:ea typeface="Microsoft YaHei UI" panose="020B0503020204020204" pitchFamily="34" charset="-122"/>
              </a:rPr>
              <a:t>1</a:t>
            </a:r>
            <a:r>
              <a:rPr lang="zh-CN" altLang="en-US" dirty="0">
                <a:solidFill>
                  <a:schemeClr val="bg1"/>
                </a:solidFill>
                <a:latin typeface="Microsoft YaHei UI" panose="020B0503020204020204" pitchFamily="34" charset="-122"/>
                <a:ea typeface="Microsoft YaHei UI" panose="020B0503020204020204" pitchFamily="34" charset="-122"/>
              </a:rPr>
              <a:t>周内）的</a:t>
            </a:r>
            <a:r>
              <a:rPr lang="en-US" altLang="zh-CN" dirty="0">
                <a:solidFill>
                  <a:schemeClr val="bg1"/>
                </a:solidFill>
                <a:latin typeface="Microsoft YaHei UI" panose="020B0503020204020204" pitchFamily="34" charset="-122"/>
                <a:ea typeface="Microsoft YaHei UI" panose="020B0503020204020204" pitchFamily="34" charset="-122"/>
              </a:rPr>
              <a:t>TAT</a:t>
            </a:r>
            <a:r>
              <a:rPr lang="zh-CN" altLang="en-US" dirty="0">
                <a:solidFill>
                  <a:schemeClr val="bg1"/>
                </a:solidFill>
                <a:latin typeface="Microsoft YaHei UI" panose="020B0503020204020204" pitchFamily="34" charset="-122"/>
                <a:ea typeface="Microsoft YaHei UI" panose="020B0503020204020204" pitchFamily="34" charset="-122"/>
              </a:rPr>
              <a:t>治疗（一种口服抗凝药</a:t>
            </a:r>
            <a:r>
              <a:rPr lang="en-US" altLang="zh-CN" dirty="0">
                <a:solidFill>
                  <a:schemeClr val="bg1"/>
                </a:solidFill>
                <a:latin typeface="Microsoft YaHei UI" panose="020B0503020204020204" pitchFamily="34" charset="-122"/>
                <a:ea typeface="Microsoft YaHei UI" panose="020B0503020204020204" pitchFamily="34" charset="-122"/>
              </a:rPr>
              <a:t>+DAPT</a:t>
            </a:r>
            <a:r>
              <a:rPr lang="zh-CN" altLang="en-US" dirty="0">
                <a:solidFill>
                  <a:schemeClr val="bg1"/>
                </a:solidFill>
                <a:latin typeface="Microsoft YaHei UI" panose="020B0503020204020204" pitchFamily="34" charset="-122"/>
                <a:ea typeface="Microsoft YaHei UI" panose="020B0503020204020204" pitchFamily="34" charset="-122"/>
              </a:rPr>
              <a:t>）后，推荐将</a:t>
            </a:r>
            <a:r>
              <a:rPr lang="en-US" altLang="zh-CN" dirty="0">
                <a:solidFill>
                  <a:schemeClr val="bg1"/>
                </a:solidFill>
                <a:latin typeface="Microsoft YaHei UI" panose="020B0503020204020204" pitchFamily="34" charset="-122"/>
                <a:ea typeface="Microsoft YaHei UI" panose="020B0503020204020204" pitchFamily="34" charset="-122"/>
              </a:rPr>
              <a:t>DAT</a:t>
            </a:r>
            <a:r>
              <a:rPr lang="zh-CN" altLang="en-US" dirty="0">
                <a:solidFill>
                  <a:schemeClr val="bg1"/>
                </a:solidFill>
                <a:latin typeface="Microsoft YaHei UI" panose="020B0503020204020204" pitchFamily="34" charset="-122"/>
                <a:ea typeface="Microsoft YaHei UI" panose="020B0503020204020204" pitchFamily="34" charset="-122"/>
              </a:rPr>
              <a:t>治疗（预防卒中推荐剂量的</a:t>
            </a:r>
            <a:r>
              <a:rPr lang="en-US" altLang="zh-CN" dirty="0">
                <a:solidFill>
                  <a:schemeClr val="bg1"/>
                </a:solidFill>
                <a:latin typeface="Microsoft YaHei UI" panose="020B0503020204020204" pitchFamily="34" charset="-122"/>
                <a:ea typeface="Microsoft YaHei UI" panose="020B0503020204020204" pitchFamily="34" charset="-122"/>
              </a:rPr>
              <a:t>NOAC+</a:t>
            </a:r>
            <a:r>
              <a:rPr lang="zh-CN" altLang="en-US" dirty="0">
                <a:solidFill>
                  <a:schemeClr val="bg1"/>
                </a:solidFill>
                <a:latin typeface="Microsoft YaHei UI" panose="020B0503020204020204" pitchFamily="34" charset="-122"/>
                <a:ea typeface="Microsoft YaHei UI" panose="020B0503020204020204" pitchFamily="34" charset="-122"/>
              </a:rPr>
              <a:t>一种口服抗血小板药</a:t>
            </a:r>
            <a:r>
              <a:rPr lang="en-US" altLang="zh-CN" dirty="0">
                <a:solidFill>
                  <a:schemeClr val="bg1"/>
                </a:solidFill>
                <a:latin typeface="Microsoft YaHei UI" panose="020B0503020204020204" pitchFamily="34" charset="-122"/>
                <a:ea typeface="Microsoft YaHei UI" panose="020B0503020204020204" pitchFamily="34" charset="-122"/>
              </a:rPr>
              <a:t>---</a:t>
            </a:r>
            <a:r>
              <a:rPr lang="zh-CN" altLang="en-US" dirty="0">
                <a:solidFill>
                  <a:schemeClr val="bg1"/>
                </a:solidFill>
                <a:latin typeface="Microsoft YaHei UI" panose="020B0503020204020204" pitchFamily="34" charset="-122"/>
                <a:ea typeface="Microsoft YaHei UI" panose="020B0503020204020204" pitchFamily="34" charset="-122"/>
              </a:rPr>
              <a:t>推荐氯吡格雷）作为常规治疗策略</a:t>
            </a:r>
          </a:p>
        </p:txBody>
      </p:sp>
      <p:sp>
        <p:nvSpPr>
          <p:cNvPr id="10" name="矩形 9"/>
          <p:cNvSpPr/>
          <p:nvPr/>
        </p:nvSpPr>
        <p:spPr>
          <a:xfrm>
            <a:off x="975677" y="1507170"/>
            <a:ext cx="10366992" cy="519154"/>
          </a:xfrm>
          <a:prstGeom prst="rect">
            <a:avLst/>
          </a:prstGeom>
          <a:solidFill>
            <a:srgbClr val="F05A66"/>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对于冠脉解剖尚不明确并计划接受侵入性治疗的患者，不推荐应用</a:t>
            </a:r>
            <a:r>
              <a:rPr lang="en-US" altLang="zh-CN" dirty="0">
                <a:solidFill>
                  <a:schemeClr val="bg1"/>
                </a:solidFill>
                <a:latin typeface="Microsoft YaHei UI" panose="020B0503020204020204" pitchFamily="34" charset="-122"/>
                <a:ea typeface="Microsoft YaHei UI" panose="020B0503020204020204" pitchFamily="34" charset="-122"/>
              </a:rPr>
              <a:t>P2Y12</a:t>
            </a:r>
            <a:r>
              <a:rPr lang="zh-CN" altLang="en-US" dirty="0">
                <a:solidFill>
                  <a:schemeClr val="bg1"/>
                </a:solidFill>
                <a:latin typeface="Microsoft YaHei UI" panose="020B0503020204020204" pitchFamily="34" charset="-122"/>
                <a:ea typeface="Microsoft YaHei UI" panose="020B0503020204020204" pitchFamily="34" charset="-122"/>
              </a:rPr>
              <a:t>受体抑制剂进行常规预治疗</a:t>
            </a:r>
            <a:endParaRPr lang="zh-CN" altLang="en-US" dirty="0">
              <a:latin typeface="Microsoft YaHei UI" panose="020B0503020204020204" pitchFamily="34" charset="-122"/>
              <a:ea typeface="Microsoft YaHei UI" panose="020B0503020204020204" pitchFamily="34" charset="-122"/>
            </a:endParaRPr>
          </a:p>
        </p:txBody>
      </p:sp>
      <p:sp>
        <p:nvSpPr>
          <p:cNvPr id="12" name="矩形 11"/>
          <p:cNvSpPr/>
          <p:nvPr/>
        </p:nvSpPr>
        <p:spPr>
          <a:xfrm>
            <a:off x="975679" y="965741"/>
            <a:ext cx="10366991" cy="494267"/>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对于拟行</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术治疗的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患者，应考虑应用普拉格雷优先于替格瑞洛</a:t>
            </a:r>
          </a:p>
        </p:txBody>
      </p:sp>
      <p:sp>
        <p:nvSpPr>
          <p:cNvPr id="11" name="矩形 10"/>
          <p:cNvSpPr/>
          <p:nvPr/>
        </p:nvSpPr>
        <p:spPr>
          <a:xfrm>
            <a:off x="975677" y="2073486"/>
            <a:ext cx="10366992" cy="519154"/>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对于不能接受早期侵入性治疗的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患者，可评估出血风险后考虑行</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受体抑制剂预治疗</a:t>
            </a:r>
          </a:p>
        </p:txBody>
      </p:sp>
      <p:sp>
        <p:nvSpPr>
          <p:cNvPr id="15" name="矩形 14"/>
          <p:cNvSpPr/>
          <p:nvPr/>
        </p:nvSpPr>
        <p:spPr>
          <a:xfrm>
            <a:off x="975677" y="2642079"/>
            <a:ext cx="10366992" cy="895713"/>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受体抑制剂的降阶治疗（如从普拉格雷或替格瑞洛转换为氯吡格雷）作为双抗治疗的替代方案，尤其对于可能不适合强效血小板抑制的</a:t>
            </a:r>
            <a:r>
              <a:rPr lang="en-US" altLang="zh-CN" dirty="0">
                <a:latin typeface="Microsoft YaHei UI" panose="020B0503020204020204" pitchFamily="34" charset="-122"/>
                <a:ea typeface="Microsoft YaHei UI" panose="020B0503020204020204" pitchFamily="34" charset="-122"/>
              </a:rPr>
              <a:t>ACS</a:t>
            </a:r>
            <a:r>
              <a:rPr lang="zh-CN" altLang="en-US" dirty="0">
                <a:latin typeface="Microsoft YaHei UI" panose="020B0503020204020204" pitchFamily="34" charset="-122"/>
                <a:ea typeface="Microsoft YaHei UI" panose="020B0503020204020204" pitchFamily="34" charset="-122"/>
              </a:rPr>
              <a:t>患者。降阶治疗可根据临床判断（无指导）进行，也可在血小板功能测试或</a:t>
            </a:r>
            <a:r>
              <a:rPr lang="en-US" altLang="zh-CN" dirty="0">
                <a:latin typeface="Microsoft YaHei UI" panose="020B0503020204020204" pitchFamily="34" charset="-122"/>
                <a:ea typeface="Microsoft YaHei UI" panose="020B0503020204020204" pitchFamily="34" charset="-122"/>
              </a:rPr>
              <a:t>CYP2C19</a:t>
            </a:r>
            <a:r>
              <a:rPr lang="zh-CN" altLang="en-US" dirty="0">
                <a:latin typeface="Microsoft YaHei UI" panose="020B0503020204020204" pitchFamily="34" charset="-122"/>
                <a:ea typeface="Microsoft YaHei UI" panose="020B0503020204020204" pitchFamily="34" charset="-122"/>
              </a:rPr>
              <a:t>基因分型的指导下进行</a:t>
            </a:r>
          </a:p>
        </p:txBody>
      </p:sp>
      <p:sp>
        <p:nvSpPr>
          <p:cNvPr id="16" name="矩形 15"/>
          <p:cNvSpPr/>
          <p:nvPr/>
        </p:nvSpPr>
        <p:spPr>
          <a:xfrm>
            <a:off x="975677" y="4477173"/>
            <a:ext cx="10366992" cy="519154"/>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对于接受</a:t>
            </a:r>
            <a:r>
              <a:rPr lang="en-US" altLang="zh-CN" dirty="0">
                <a:solidFill>
                  <a:schemeClr val="bg1"/>
                </a:solidFill>
                <a:latin typeface="Microsoft YaHei UI" panose="020B0503020204020204" pitchFamily="34" charset="-122"/>
                <a:ea typeface="Microsoft YaHei UI" panose="020B0503020204020204" pitchFamily="34" charset="-122"/>
              </a:rPr>
              <a:t>OAC</a:t>
            </a:r>
            <a:r>
              <a:rPr lang="zh-CN" altLang="en-US" dirty="0">
                <a:solidFill>
                  <a:schemeClr val="bg1"/>
                </a:solidFill>
                <a:latin typeface="Microsoft YaHei UI" panose="020B0503020204020204" pitchFamily="34" charset="-122"/>
                <a:ea typeface="Microsoft YaHei UI" panose="020B0503020204020204" pitchFamily="34" charset="-122"/>
              </a:rPr>
              <a:t>治疗的患者，推荐在</a:t>
            </a:r>
            <a:r>
              <a:rPr lang="en-US" altLang="zh-CN" dirty="0">
                <a:solidFill>
                  <a:schemeClr val="bg1"/>
                </a:solidFill>
                <a:latin typeface="Microsoft YaHei UI" panose="020B0503020204020204" pitchFamily="34" charset="-122"/>
                <a:ea typeface="Microsoft YaHei UI" panose="020B0503020204020204" pitchFamily="34" charset="-122"/>
              </a:rPr>
              <a:t>12</a:t>
            </a:r>
            <a:r>
              <a:rPr lang="zh-CN" altLang="en-US" dirty="0">
                <a:solidFill>
                  <a:schemeClr val="bg1"/>
                </a:solidFill>
                <a:latin typeface="Microsoft YaHei UI" panose="020B0503020204020204" pitchFamily="34" charset="-122"/>
                <a:ea typeface="Microsoft YaHei UI" panose="020B0503020204020204" pitchFamily="34" charset="-122"/>
              </a:rPr>
              <a:t>个月后停止抗血小板治疗</a:t>
            </a:r>
            <a:endParaRPr lang="zh-CN" altLang="en-US" dirty="0">
              <a:latin typeface="Microsoft YaHei UI" panose="020B0503020204020204" pitchFamily="34" charset="-122"/>
              <a:ea typeface="Microsoft YaHei UI" panose="020B0503020204020204" pitchFamily="34" charset="-122"/>
            </a:endParaRPr>
          </a:p>
        </p:txBody>
      </p:sp>
      <p:sp>
        <p:nvSpPr>
          <p:cNvPr id="20" name="矩形 19"/>
          <p:cNvSpPr/>
          <p:nvPr/>
        </p:nvSpPr>
        <p:spPr>
          <a:xfrm>
            <a:off x="975678" y="5032901"/>
            <a:ext cx="10366991" cy="676985"/>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对于存在中或高风险支架内血栓的患者，无论何种支架类型，可考虑</a:t>
            </a:r>
            <a:r>
              <a:rPr lang="en-US" altLang="zh-CN" dirty="0">
                <a:latin typeface="Microsoft YaHei UI" panose="020B0503020204020204" pitchFamily="34" charset="-122"/>
                <a:ea typeface="Microsoft YaHei UI" panose="020B0503020204020204" pitchFamily="34" charset="-122"/>
              </a:rPr>
              <a:t>OAC</a:t>
            </a:r>
            <a:r>
              <a:rPr lang="zh-CN" altLang="en-US" dirty="0">
                <a:latin typeface="Microsoft YaHei UI" panose="020B0503020204020204" pitchFamily="34" charset="-122"/>
                <a:ea typeface="Microsoft YaHei UI" panose="020B0503020204020204" pitchFamily="34" charset="-122"/>
              </a:rPr>
              <a:t>联用替格瑞洛或普拉格雷的</a:t>
            </a:r>
            <a:r>
              <a:rPr lang="en-US" altLang="zh-CN" dirty="0">
                <a:latin typeface="Microsoft YaHei UI" panose="020B0503020204020204" pitchFamily="34" charset="-122"/>
                <a:ea typeface="Microsoft YaHei UI" panose="020B0503020204020204" pitchFamily="34" charset="-122"/>
              </a:rPr>
              <a:t>DAT</a:t>
            </a:r>
            <a:r>
              <a:rPr lang="zh-CN" altLang="en-US" dirty="0">
                <a:latin typeface="Microsoft YaHei UI" panose="020B0503020204020204" pitchFamily="34" charset="-122"/>
                <a:ea typeface="Microsoft YaHei UI" panose="020B0503020204020204" pitchFamily="34" charset="-122"/>
              </a:rPr>
              <a:t>治疗作为</a:t>
            </a:r>
            <a:r>
              <a:rPr lang="en-US" altLang="zh-CN" dirty="0">
                <a:latin typeface="Microsoft YaHei UI" panose="020B0503020204020204" pitchFamily="34" charset="-122"/>
                <a:ea typeface="Microsoft YaHei UI" panose="020B0503020204020204" pitchFamily="34" charset="-122"/>
              </a:rPr>
              <a:t>OAC</a:t>
            </a:r>
            <a:r>
              <a:rPr lang="zh-CN" altLang="en-US" dirty="0">
                <a:latin typeface="Microsoft YaHei UI" panose="020B0503020204020204" pitchFamily="34" charset="-122"/>
                <a:ea typeface="Microsoft YaHei UI" panose="020B0503020204020204" pitchFamily="34" charset="-122"/>
              </a:rPr>
              <a:t>联用阿司匹林及氯吡格雷的</a:t>
            </a:r>
            <a:r>
              <a:rPr lang="en-US" altLang="zh-CN" dirty="0">
                <a:latin typeface="Microsoft YaHei UI" panose="020B0503020204020204" pitchFamily="34" charset="-122"/>
                <a:ea typeface="Microsoft YaHei UI" panose="020B0503020204020204" pitchFamily="34" charset="-122"/>
              </a:rPr>
              <a:t>TAT</a:t>
            </a:r>
            <a:r>
              <a:rPr lang="zh-CN" altLang="en-US" dirty="0">
                <a:latin typeface="Microsoft YaHei UI" panose="020B0503020204020204" pitchFamily="34" charset="-122"/>
                <a:ea typeface="Microsoft YaHei UI" panose="020B0503020204020204" pitchFamily="34" charset="-122"/>
              </a:rPr>
              <a:t>治疗的替代方案</a:t>
            </a:r>
          </a:p>
        </p:txBody>
      </p:sp>
      <p:sp>
        <p:nvSpPr>
          <p:cNvPr id="21" name="矩形 20"/>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2" name="矩形 1"/>
          <p:cNvSpPr/>
          <p:nvPr/>
        </p:nvSpPr>
        <p:spPr>
          <a:xfrm>
            <a:off x="970543" y="5774109"/>
            <a:ext cx="10531376" cy="3749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PCI</a:t>
            </a:r>
            <a:r>
              <a:rPr lang="zh-CN" altLang="en-US" sz="1400" dirty="0">
                <a:solidFill>
                  <a:schemeClr val="tx1"/>
                </a:solidFill>
                <a:latin typeface="Microsoft YaHei UI" panose="020B0503020204020204" pitchFamily="34" charset="-122"/>
                <a:ea typeface="Microsoft YaHei UI" panose="020B0503020204020204" pitchFamily="34" charset="-122"/>
              </a:rPr>
              <a:t>：冠脉支架置入术；</a:t>
            </a:r>
            <a:r>
              <a:rPr lang="en-US" altLang="zh-CN" sz="1400" dirty="0">
                <a:solidFill>
                  <a:schemeClr val="tx1"/>
                </a:solidFill>
                <a:latin typeface="Microsoft YaHei UI" panose="020B0503020204020204" pitchFamily="34" charset="-122"/>
                <a:ea typeface="Microsoft YaHei UI" panose="020B0503020204020204" pitchFamily="34" charset="-122"/>
              </a:rPr>
              <a:t>NSTE-ACS</a:t>
            </a:r>
            <a:r>
              <a:rPr lang="zh-CN" altLang="en-US" sz="1400" dirty="0">
                <a:solidFill>
                  <a:schemeClr val="tx1"/>
                </a:solidFill>
                <a:latin typeface="Microsoft YaHei UI" panose="020B0503020204020204" pitchFamily="34" charset="-122"/>
                <a:ea typeface="Microsoft YaHei UI" panose="020B0503020204020204" pitchFamily="34" charset="-122"/>
              </a:rPr>
              <a:t>：非</a:t>
            </a:r>
            <a:r>
              <a:rPr lang="en-US" altLang="zh-CN" sz="1400" dirty="0">
                <a:solidFill>
                  <a:schemeClr val="tx1"/>
                </a:solidFill>
                <a:latin typeface="Microsoft YaHei UI" panose="020B0503020204020204" pitchFamily="34" charset="-122"/>
                <a:ea typeface="Microsoft YaHei UI" panose="020B0503020204020204" pitchFamily="34" charset="-122"/>
              </a:rPr>
              <a:t>ST</a:t>
            </a:r>
            <a:r>
              <a:rPr lang="zh-CN" altLang="en-US" sz="1400" dirty="0">
                <a:solidFill>
                  <a:schemeClr val="tx1"/>
                </a:solidFill>
                <a:latin typeface="Microsoft YaHei UI" panose="020B0503020204020204" pitchFamily="34" charset="-122"/>
                <a:ea typeface="Microsoft YaHei UI" panose="020B0503020204020204" pitchFamily="34" charset="-122"/>
              </a:rPr>
              <a:t>段抬高性急性冠脉综合征；</a:t>
            </a:r>
            <a:r>
              <a:rPr lang="en-US" altLang="zh-CN" sz="1400" dirty="0">
                <a:solidFill>
                  <a:schemeClr val="tx1"/>
                </a:solidFill>
                <a:latin typeface="Microsoft YaHei UI" panose="020B0503020204020204" pitchFamily="34" charset="-122"/>
                <a:ea typeface="Microsoft YaHei UI" panose="020B0503020204020204" pitchFamily="34" charset="-122"/>
              </a:rPr>
              <a:t>TAT</a:t>
            </a:r>
            <a:r>
              <a:rPr lang="zh-CN" altLang="en-US" sz="1400" dirty="0">
                <a:solidFill>
                  <a:schemeClr val="tx1"/>
                </a:solidFill>
                <a:latin typeface="Microsoft YaHei UI" panose="020B0503020204020204" pitchFamily="34" charset="-122"/>
                <a:ea typeface="Microsoft YaHei UI" panose="020B0503020204020204" pitchFamily="34" charset="-122"/>
              </a:rPr>
              <a:t>：三联抗血栓治疗；</a:t>
            </a:r>
            <a:r>
              <a:rPr lang="en-US" altLang="zh-CN" sz="1400" dirty="0">
                <a:solidFill>
                  <a:schemeClr val="tx1"/>
                </a:solidFill>
                <a:latin typeface="Microsoft YaHei UI" panose="020B0503020204020204" pitchFamily="34" charset="-122"/>
                <a:ea typeface="Microsoft YaHei UI" panose="020B0503020204020204" pitchFamily="34" charset="-122"/>
              </a:rPr>
              <a:t>DAPT</a:t>
            </a:r>
            <a:r>
              <a:rPr lang="zh-CN" altLang="en-US" sz="1400" dirty="0">
                <a:solidFill>
                  <a:schemeClr val="tx1"/>
                </a:solidFill>
                <a:latin typeface="Microsoft YaHei UI" panose="020B0503020204020204" pitchFamily="34" charset="-122"/>
                <a:ea typeface="Microsoft YaHei UI" panose="020B0503020204020204" pitchFamily="34" charset="-122"/>
              </a:rPr>
              <a:t>：双联抗血小板治疗；</a:t>
            </a:r>
            <a:r>
              <a:rPr lang="en-US" altLang="zh-CN" sz="1400" dirty="0">
                <a:solidFill>
                  <a:schemeClr val="tx1"/>
                </a:solidFill>
                <a:latin typeface="Microsoft YaHei UI" panose="020B0503020204020204" pitchFamily="34" charset="-122"/>
                <a:ea typeface="Microsoft YaHei UI" panose="020B0503020204020204" pitchFamily="34" charset="-122"/>
              </a:rPr>
              <a:t>NOAC</a:t>
            </a:r>
            <a:r>
              <a:rPr lang="zh-CN" altLang="en-US" sz="1400" dirty="0">
                <a:solidFill>
                  <a:schemeClr val="tx1"/>
                </a:solidFill>
                <a:latin typeface="Microsoft YaHei UI" panose="020B0503020204020204" pitchFamily="34" charset="-122"/>
                <a:ea typeface="Microsoft YaHei UI" panose="020B0503020204020204" pitchFamily="34" charset="-122"/>
              </a:rPr>
              <a:t>：新型口服抗凝药；</a:t>
            </a:r>
            <a:r>
              <a:rPr lang="en-US" altLang="zh-CN" sz="1400" dirty="0">
                <a:solidFill>
                  <a:schemeClr val="tx1"/>
                </a:solidFill>
                <a:latin typeface="Microsoft YaHei UI" panose="020B0503020204020204" pitchFamily="34" charset="-122"/>
                <a:ea typeface="Microsoft YaHei UI" panose="020B0503020204020204" pitchFamily="34" charset="-122"/>
                <a:sym typeface="+mn-ea"/>
              </a:rPr>
              <a:t>DAT</a:t>
            </a:r>
            <a:r>
              <a:rPr lang="zh-CN" altLang="en-US" sz="1400" dirty="0">
                <a:solidFill>
                  <a:schemeClr val="tx1"/>
                </a:solidFill>
                <a:latin typeface="Microsoft YaHei UI" panose="020B0503020204020204" pitchFamily="34" charset="-122"/>
                <a:ea typeface="Microsoft YaHei UI" panose="020B0503020204020204" pitchFamily="34" charset="-122"/>
                <a:sym typeface="+mn-ea"/>
              </a:rPr>
              <a:t>：双联抗血栓治疗；</a:t>
            </a:r>
            <a:r>
              <a:rPr lang="en-US" altLang="zh-CN" sz="1400" dirty="0">
                <a:solidFill>
                  <a:schemeClr val="tx1"/>
                </a:solidFill>
                <a:latin typeface="Microsoft YaHei UI" panose="020B0503020204020204" pitchFamily="34" charset="-122"/>
                <a:ea typeface="Microsoft YaHei UI" panose="020B0503020204020204" pitchFamily="34" charset="-122"/>
              </a:rPr>
              <a:t>OAC</a:t>
            </a:r>
            <a:r>
              <a:rPr lang="zh-CN" altLang="en-US" sz="1400" dirty="0">
                <a:solidFill>
                  <a:schemeClr val="tx1"/>
                </a:solidFill>
                <a:latin typeface="Microsoft YaHei UI" panose="020B0503020204020204" pitchFamily="34" charset="-122"/>
                <a:ea typeface="Microsoft YaHei UI" panose="020B0503020204020204" pitchFamily="34" charset="-122"/>
              </a:rPr>
              <a:t>：口服抗凝药</a:t>
            </a:r>
          </a:p>
        </p:txBody>
      </p:sp>
    </p:spTree>
    <p:extLst>
      <p:ext uri="{BB962C8B-B14F-4D97-AF65-F5344CB8AC3E}">
        <p14:creationId xmlns:p14="http://schemas.microsoft.com/office/powerpoint/2010/main" val="3385732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5688" y="194700"/>
            <a:ext cx="7397750"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最新推荐要点</a:t>
            </a:r>
            <a:endParaRPr lang="zh-CN" altLang="en-US" sz="2400" b="1" dirty="0">
              <a:solidFill>
                <a:srgbClr val="AE1022"/>
              </a:solidFill>
            </a:endParaRPr>
          </a:p>
        </p:txBody>
      </p:sp>
      <p:sp>
        <p:nvSpPr>
          <p:cNvPr id="8" name="矩形 7"/>
          <p:cNvSpPr/>
          <p:nvPr/>
        </p:nvSpPr>
        <p:spPr>
          <a:xfrm>
            <a:off x="975677" y="710542"/>
            <a:ext cx="9354977"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侵入性治疗</a:t>
            </a:r>
          </a:p>
        </p:txBody>
      </p:sp>
      <p:sp>
        <p:nvSpPr>
          <p:cNvPr id="9" name="矩形 8"/>
          <p:cNvSpPr/>
          <p:nvPr/>
        </p:nvSpPr>
        <p:spPr>
          <a:xfrm>
            <a:off x="975680" y="1246157"/>
            <a:ext cx="10366989" cy="1486123"/>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对于出现以下任一高风险标准的患者，建议在</a:t>
            </a:r>
            <a:r>
              <a:rPr lang="en-US" altLang="zh-CN" dirty="0">
                <a:solidFill>
                  <a:schemeClr val="bg1"/>
                </a:solidFill>
                <a:latin typeface="Microsoft YaHei UI" panose="020B0503020204020204" pitchFamily="34" charset="-122"/>
                <a:ea typeface="Microsoft YaHei UI" panose="020B0503020204020204" pitchFamily="34" charset="-122"/>
              </a:rPr>
              <a:t>24</a:t>
            </a:r>
            <a:r>
              <a:rPr lang="zh-CN" altLang="en-US" dirty="0">
                <a:solidFill>
                  <a:schemeClr val="bg1"/>
                </a:solidFill>
                <a:latin typeface="Microsoft YaHei UI" panose="020B0503020204020204" pitchFamily="34" charset="-122"/>
                <a:ea typeface="Microsoft YaHei UI" panose="020B0503020204020204" pitchFamily="34" charset="-122"/>
              </a:rPr>
              <a:t>小时内进行侵入性治疗：</a:t>
            </a:r>
            <a:endParaRPr lang="en-US" altLang="zh-CN" dirty="0">
              <a:solidFill>
                <a:schemeClr val="bg1"/>
              </a:solidFill>
              <a:latin typeface="Microsoft YaHei UI" panose="020B0503020204020204" pitchFamily="34" charset="-122"/>
              <a:ea typeface="Microsoft YaHei UI" panose="020B0503020204020204" pitchFamily="34" charset="-122"/>
            </a:endParaRPr>
          </a:p>
          <a:p>
            <a:r>
              <a:rPr lang="en-US" altLang="zh-CN" dirty="0">
                <a:solidFill>
                  <a:schemeClr val="bg1"/>
                </a:solidFill>
                <a:latin typeface="Microsoft YaHei UI" panose="020B0503020204020204" pitchFamily="34" charset="-122"/>
                <a:ea typeface="Microsoft YaHei UI" panose="020B0503020204020204" pitchFamily="34" charset="-122"/>
              </a:rPr>
              <a:t>--- </a:t>
            </a:r>
            <a:r>
              <a:rPr lang="zh-CN" altLang="en-US" dirty="0">
                <a:solidFill>
                  <a:schemeClr val="bg1"/>
                </a:solidFill>
                <a:latin typeface="Microsoft YaHei UI" panose="020B0503020204020204" pitchFamily="34" charset="-122"/>
                <a:ea typeface="Microsoft YaHei UI" panose="020B0503020204020204" pitchFamily="34" charset="-122"/>
              </a:rPr>
              <a:t>确诊为</a:t>
            </a:r>
            <a:r>
              <a:rPr lang="en-US" altLang="zh-CN" dirty="0">
                <a:solidFill>
                  <a:schemeClr val="bg1"/>
                </a:solidFill>
                <a:latin typeface="Microsoft YaHei UI" panose="020B0503020204020204" pitchFamily="34" charset="-122"/>
                <a:ea typeface="Microsoft YaHei UI" panose="020B0503020204020204" pitchFamily="34" charset="-122"/>
              </a:rPr>
              <a:t>NSTEMI</a:t>
            </a:r>
            <a:r>
              <a:rPr lang="zh-CN" altLang="en-US" dirty="0">
                <a:solidFill>
                  <a:schemeClr val="bg1"/>
                </a:solidFill>
                <a:latin typeface="Microsoft YaHei UI" panose="020B0503020204020204" pitchFamily="34" charset="-122"/>
                <a:ea typeface="Microsoft YaHei UI" panose="020B0503020204020204" pitchFamily="34" charset="-122"/>
              </a:rPr>
              <a:t>；</a:t>
            </a:r>
            <a:endParaRPr lang="en-US" altLang="zh-CN" dirty="0">
              <a:solidFill>
                <a:schemeClr val="bg1"/>
              </a:solidFill>
              <a:latin typeface="Microsoft YaHei UI" panose="020B0503020204020204" pitchFamily="34" charset="-122"/>
              <a:ea typeface="Microsoft YaHei UI" panose="020B0503020204020204" pitchFamily="34" charset="-122"/>
            </a:endParaRPr>
          </a:p>
          <a:p>
            <a:r>
              <a:rPr lang="en-US" altLang="zh-CN" dirty="0">
                <a:solidFill>
                  <a:schemeClr val="bg1"/>
                </a:solidFill>
                <a:latin typeface="Microsoft YaHei UI" panose="020B0503020204020204" pitchFamily="34" charset="-122"/>
                <a:ea typeface="Microsoft YaHei UI" panose="020B0503020204020204" pitchFamily="34" charset="-122"/>
              </a:rPr>
              <a:t>--- </a:t>
            </a:r>
            <a:r>
              <a:rPr lang="zh-CN" altLang="en-US" dirty="0">
                <a:solidFill>
                  <a:schemeClr val="bg1"/>
                </a:solidFill>
                <a:latin typeface="Microsoft YaHei UI" panose="020B0503020204020204" pitchFamily="34" charset="-122"/>
                <a:ea typeface="Microsoft YaHei UI" panose="020B0503020204020204" pitchFamily="34" charset="-122"/>
              </a:rPr>
              <a:t>出现动态或可能新发的连续导联</a:t>
            </a:r>
            <a:r>
              <a:rPr lang="en-US" altLang="zh-CN" dirty="0">
                <a:solidFill>
                  <a:schemeClr val="bg1"/>
                </a:solidFill>
                <a:latin typeface="Microsoft YaHei UI" panose="020B0503020204020204" pitchFamily="34" charset="-122"/>
                <a:ea typeface="Microsoft YaHei UI" panose="020B0503020204020204" pitchFamily="34" charset="-122"/>
              </a:rPr>
              <a:t>ST-T</a:t>
            </a:r>
            <a:r>
              <a:rPr lang="zh-CN" altLang="en-US" dirty="0">
                <a:solidFill>
                  <a:schemeClr val="bg1"/>
                </a:solidFill>
                <a:latin typeface="Microsoft YaHei UI" panose="020B0503020204020204" pitchFamily="34" charset="-122"/>
                <a:ea typeface="Microsoft YaHei UI" panose="020B0503020204020204" pitchFamily="34" charset="-122"/>
              </a:rPr>
              <a:t>段改变，提示进行性缺血；</a:t>
            </a:r>
            <a:endParaRPr lang="en-US" altLang="zh-CN" dirty="0">
              <a:solidFill>
                <a:schemeClr val="bg1"/>
              </a:solidFill>
              <a:latin typeface="Microsoft YaHei UI" panose="020B0503020204020204" pitchFamily="34" charset="-122"/>
              <a:ea typeface="Microsoft YaHei UI" panose="020B0503020204020204" pitchFamily="34" charset="-122"/>
            </a:endParaRPr>
          </a:p>
          <a:p>
            <a:r>
              <a:rPr lang="en-US" altLang="zh-CN" dirty="0">
                <a:solidFill>
                  <a:schemeClr val="bg1"/>
                </a:solidFill>
                <a:latin typeface="Microsoft YaHei UI" panose="020B0503020204020204" pitchFamily="34" charset="-122"/>
                <a:ea typeface="Microsoft YaHei UI" panose="020B0503020204020204" pitchFamily="34" charset="-122"/>
              </a:rPr>
              <a:t>--- </a:t>
            </a:r>
            <a:r>
              <a:rPr lang="zh-CN" altLang="en-US" dirty="0">
                <a:solidFill>
                  <a:schemeClr val="bg1"/>
                </a:solidFill>
                <a:latin typeface="Microsoft YaHei UI" panose="020B0503020204020204" pitchFamily="34" charset="-122"/>
                <a:ea typeface="Microsoft YaHei UI" panose="020B0503020204020204" pitchFamily="34" charset="-122"/>
              </a:rPr>
              <a:t>一过性</a:t>
            </a:r>
            <a:r>
              <a:rPr lang="en-US" altLang="zh-CN" dirty="0">
                <a:solidFill>
                  <a:schemeClr val="bg1"/>
                </a:solidFill>
                <a:latin typeface="Microsoft YaHei UI" panose="020B0503020204020204" pitchFamily="34" charset="-122"/>
                <a:ea typeface="Microsoft YaHei UI" panose="020B0503020204020204" pitchFamily="34" charset="-122"/>
              </a:rPr>
              <a:t>ST</a:t>
            </a:r>
            <a:r>
              <a:rPr lang="zh-CN" altLang="en-US" dirty="0">
                <a:solidFill>
                  <a:schemeClr val="bg1"/>
                </a:solidFill>
                <a:latin typeface="Microsoft YaHei UI" panose="020B0503020204020204" pitchFamily="34" charset="-122"/>
                <a:ea typeface="Microsoft YaHei UI" panose="020B0503020204020204" pitchFamily="34" charset="-122"/>
              </a:rPr>
              <a:t>段抬高；</a:t>
            </a:r>
            <a:endParaRPr lang="en-US" altLang="zh-CN" dirty="0">
              <a:solidFill>
                <a:schemeClr val="bg1"/>
              </a:solidFill>
              <a:latin typeface="Microsoft YaHei UI" panose="020B0503020204020204" pitchFamily="34" charset="-122"/>
              <a:ea typeface="Microsoft YaHei UI" panose="020B0503020204020204" pitchFamily="34" charset="-122"/>
            </a:endParaRPr>
          </a:p>
          <a:p>
            <a:r>
              <a:rPr lang="en-US" altLang="zh-CN" dirty="0">
                <a:solidFill>
                  <a:schemeClr val="bg1"/>
                </a:solidFill>
                <a:latin typeface="Microsoft YaHei UI" panose="020B0503020204020204" pitchFamily="34" charset="-122"/>
                <a:ea typeface="Microsoft YaHei UI" panose="020B0503020204020204" pitchFamily="34" charset="-122"/>
              </a:rPr>
              <a:t>--- GRACE</a:t>
            </a:r>
            <a:r>
              <a:rPr lang="zh-CN" altLang="en-US" dirty="0">
                <a:solidFill>
                  <a:schemeClr val="bg1"/>
                </a:solidFill>
                <a:latin typeface="Microsoft YaHei UI" panose="020B0503020204020204" pitchFamily="34" charset="-122"/>
                <a:ea typeface="Microsoft YaHei UI" panose="020B0503020204020204" pitchFamily="34" charset="-122"/>
              </a:rPr>
              <a:t>风险评分＞</a:t>
            </a:r>
            <a:r>
              <a:rPr lang="en-US" altLang="zh-CN" dirty="0">
                <a:solidFill>
                  <a:schemeClr val="bg1"/>
                </a:solidFill>
                <a:latin typeface="Microsoft YaHei UI" panose="020B0503020204020204" pitchFamily="34" charset="-122"/>
                <a:ea typeface="Microsoft YaHei UI" panose="020B0503020204020204" pitchFamily="34" charset="-122"/>
              </a:rPr>
              <a:t>140</a:t>
            </a:r>
            <a:r>
              <a:rPr lang="zh-CN" altLang="en-US" dirty="0">
                <a:solidFill>
                  <a:schemeClr val="bg1"/>
                </a:solidFill>
                <a:latin typeface="Microsoft YaHei UI" panose="020B0503020204020204" pitchFamily="34" charset="-122"/>
                <a:ea typeface="Microsoft YaHei UI" panose="020B0503020204020204" pitchFamily="34" charset="-122"/>
              </a:rPr>
              <a:t>分</a:t>
            </a:r>
            <a:endParaRPr lang="en-US" altLang="zh-CN" dirty="0">
              <a:solidFill>
                <a:schemeClr val="bg1"/>
              </a:solidFill>
              <a:latin typeface="Microsoft YaHei UI" panose="020B0503020204020204" pitchFamily="34" charset="-122"/>
              <a:ea typeface="Microsoft YaHei UI" panose="020B0503020204020204" pitchFamily="34" charset="-122"/>
            </a:endParaRPr>
          </a:p>
        </p:txBody>
      </p:sp>
      <p:sp>
        <p:nvSpPr>
          <p:cNvPr id="12" name="矩形 11"/>
          <p:cNvSpPr/>
          <p:nvPr/>
        </p:nvSpPr>
        <p:spPr>
          <a:xfrm>
            <a:off x="975678" y="3324664"/>
            <a:ext cx="10366991" cy="519155"/>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对于院外心脏骤停成功复苏后血流动力学稳定的无</a:t>
            </a:r>
            <a:r>
              <a:rPr lang="en-US" altLang="zh-CN" dirty="0">
                <a:latin typeface="Microsoft YaHei UI" panose="020B0503020204020204" pitchFamily="34" charset="-122"/>
                <a:ea typeface="Microsoft YaHei UI" panose="020B0503020204020204" pitchFamily="34" charset="-122"/>
              </a:rPr>
              <a:t>ST</a:t>
            </a:r>
            <a:r>
              <a:rPr lang="zh-CN" altLang="en-US" dirty="0">
                <a:latin typeface="Microsoft YaHei UI" panose="020B0503020204020204" pitchFamily="34" charset="-122"/>
                <a:ea typeface="Microsoft YaHei UI" panose="020B0503020204020204" pitchFamily="34" charset="-122"/>
              </a:rPr>
              <a:t>段抬高患者，应考虑延迟而非立即进行血管造影</a:t>
            </a:r>
          </a:p>
        </p:txBody>
      </p:sp>
      <p:sp>
        <p:nvSpPr>
          <p:cNvPr id="11" name="矩形 10"/>
          <p:cNvSpPr/>
          <p:nvPr/>
        </p:nvSpPr>
        <p:spPr>
          <a:xfrm>
            <a:off x="975677" y="4460849"/>
            <a:ext cx="10366992" cy="519154"/>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对于多支病变的</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患者，可考虑在</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期间行完全血运重建</a:t>
            </a:r>
          </a:p>
        </p:txBody>
      </p:sp>
      <p:sp>
        <p:nvSpPr>
          <p:cNvPr id="16" name="矩形 15"/>
          <p:cNvSpPr/>
          <p:nvPr/>
        </p:nvSpPr>
        <p:spPr>
          <a:xfrm>
            <a:off x="975677" y="2761812"/>
            <a:ext cx="10366992" cy="519154"/>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推荐低风险患者在适当的缺血试验或</a:t>
            </a:r>
            <a:r>
              <a:rPr lang="en-US" altLang="zh-CN" dirty="0">
                <a:solidFill>
                  <a:schemeClr val="bg1"/>
                </a:solidFill>
                <a:latin typeface="Microsoft YaHei UI" panose="020B0503020204020204" pitchFamily="34" charset="-122"/>
                <a:ea typeface="Microsoft YaHei UI" panose="020B0503020204020204" pitchFamily="34" charset="-122"/>
              </a:rPr>
              <a:t>CCTA</a:t>
            </a:r>
            <a:r>
              <a:rPr lang="zh-CN" altLang="en-US" dirty="0">
                <a:solidFill>
                  <a:schemeClr val="bg1"/>
                </a:solidFill>
                <a:latin typeface="Microsoft YaHei UI" panose="020B0503020204020204" pitchFamily="34" charset="-122"/>
                <a:ea typeface="Microsoft YaHei UI" panose="020B0503020204020204" pitchFamily="34" charset="-122"/>
              </a:rPr>
              <a:t>检查提示阻塞性</a:t>
            </a:r>
            <a:r>
              <a:rPr lang="en-US" altLang="zh-CN" dirty="0">
                <a:solidFill>
                  <a:schemeClr val="bg1"/>
                </a:solidFill>
                <a:latin typeface="Microsoft YaHei UI" panose="020B0503020204020204" pitchFamily="34" charset="-122"/>
                <a:ea typeface="Microsoft YaHei UI" panose="020B0503020204020204" pitchFamily="34" charset="-122"/>
              </a:rPr>
              <a:t>CAD</a:t>
            </a:r>
            <a:r>
              <a:rPr lang="zh-CN" altLang="en-US" dirty="0">
                <a:solidFill>
                  <a:schemeClr val="bg1"/>
                </a:solidFill>
                <a:latin typeface="Microsoft YaHei UI" panose="020B0503020204020204" pitchFamily="34" charset="-122"/>
                <a:ea typeface="Microsoft YaHei UI" panose="020B0503020204020204" pitchFamily="34" charset="-122"/>
              </a:rPr>
              <a:t>后采取择期侵入治疗策略</a:t>
            </a:r>
            <a:endParaRPr lang="zh-CN" altLang="en-US" dirty="0">
              <a:latin typeface="Microsoft YaHei UI" panose="020B0503020204020204" pitchFamily="34" charset="-122"/>
              <a:ea typeface="Microsoft YaHei UI" panose="020B0503020204020204" pitchFamily="34" charset="-122"/>
            </a:endParaRPr>
          </a:p>
        </p:txBody>
      </p:sp>
      <p:sp>
        <p:nvSpPr>
          <p:cNvPr id="20" name="矩形 19"/>
          <p:cNvSpPr/>
          <p:nvPr/>
        </p:nvSpPr>
        <p:spPr>
          <a:xfrm>
            <a:off x="975678" y="5034180"/>
            <a:ext cx="10366991" cy="519155"/>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可考虑在</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期间应用</a:t>
            </a:r>
            <a:r>
              <a:rPr lang="en-US" altLang="zh-CN" dirty="0">
                <a:latin typeface="Microsoft YaHei UI" panose="020B0503020204020204" pitchFamily="34" charset="-122"/>
                <a:ea typeface="Microsoft YaHei UI" panose="020B0503020204020204" pitchFamily="34" charset="-122"/>
              </a:rPr>
              <a:t>FFR</a:t>
            </a:r>
            <a:r>
              <a:rPr lang="zh-CN" altLang="en-US" dirty="0">
                <a:latin typeface="Microsoft YaHei UI" panose="020B0503020204020204" pitchFamily="34" charset="-122"/>
                <a:ea typeface="Microsoft YaHei UI" panose="020B0503020204020204" pitchFamily="34" charset="-122"/>
              </a:rPr>
              <a:t>指导</a:t>
            </a:r>
            <a:r>
              <a:rPr lang="en-US" altLang="zh-CN" dirty="0">
                <a:latin typeface="Microsoft YaHei UI" panose="020B0503020204020204" pitchFamily="34" charset="-122"/>
                <a:ea typeface="Microsoft YaHei UI" panose="020B0503020204020204" pitchFamily="34" charset="-122"/>
              </a:rPr>
              <a:t>NSTE-ACS</a:t>
            </a:r>
            <a:r>
              <a:rPr lang="zh-CN" altLang="en-US" dirty="0">
                <a:latin typeface="Microsoft YaHei UI" panose="020B0503020204020204" pitchFamily="34" charset="-122"/>
                <a:ea typeface="Microsoft YaHei UI" panose="020B0503020204020204" pitchFamily="34" charset="-122"/>
              </a:rPr>
              <a:t>非罪犯血管血运重建</a:t>
            </a:r>
          </a:p>
        </p:txBody>
      </p:sp>
      <p:sp>
        <p:nvSpPr>
          <p:cNvPr id="21" name="矩形 20"/>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13" name="矩形 12"/>
          <p:cNvSpPr/>
          <p:nvPr/>
        </p:nvSpPr>
        <p:spPr>
          <a:xfrm>
            <a:off x="975678" y="3887517"/>
            <a:ext cx="10366991" cy="519155"/>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无心源性休克的多支病变</a:t>
            </a:r>
            <a:r>
              <a:rPr lang="en-US" altLang="zh-CN" dirty="0">
                <a:latin typeface="Microsoft YaHei UI" panose="020B0503020204020204" pitchFamily="34" charset="-122"/>
                <a:ea typeface="Microsoft YaHei UI" panose="020B0503020204020204" pitchFamily="34" charset="-122"/>
              </a:rPr>
              <a:t>CAD</a:t>
            </a:r>
            <a:r>
              <a:rPr lang="zh-CN" altLang="en-US" dirty="0">
                <a:latin typeface="Microsoft YaHei UI" panose="020B0503020204020204" pitchFamily="34" charset="-122"/>
                <a:ea typeface="Microsoft YaHei UI" panose="020B0503020204020204" pitchFamily="34" charset="-122"/>
              </a:rPr>
              <a:t>患者，应考虑接受完全血运重建</a:t>
            </a:r>
          </a:p>
        </p:txBody>
      </p:sp>
      <p:sp>
        <p:nvSpPr>
          <p:cNvPr id="2" name="矩形 1"/>
          <p:cNvSpPr/>
          <p:nvPr/>
        </p:nvSpPr>
        <p:spPr>
          <a:xfrm>
            <a:off x="975680" y="5765298"/>
            <a:ext cx="9354977" cy="32847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NSTEMI</a:t>
            </a:r>
            <a:r>
              <a:rPr lang="zh-CN" altLang="en-US" sz="1400" dirty="0">
                <a:solidFill>
                  <a:schemeClr val="tx1"/>
                </a:solidFill>
                <a:latin typeface="Microsoft YaHei UI" panose="020B0503020204020204" pitchFamily="34" charset="-122"/>
                <a:ea typeface="Microsoft YaHei UI" panose="020B0503020204020204" pitchFamily="34" charset="-122"/>
              </a:rPr>
              <a:t>：非</a:t>
            </a:r>
            <a:r>
              <a:rPr lang="en-US" altLang="zh-CN" sz="1400" dirty="0">
                <a:solidFill>
                  <a:schemeClr val="tx1"/>
                </a:solidFill>
                <a:latin typeface="Microsoft YaHei UI" panose="020B0503020204020204" pitchFamily="34" charset="-122"/>
                <a:ea typeface="Microsoft YaHei UI" panose="020B0503020204020204" pitchFamily="34" charset="-122"/>
              </a:rPr>
              <a:t>ST</a:t>
            </a:r>
            <a:r>
              <a:rPr lang="zh-CN" altLang="en-US" sz="1400" dirty="0">
                <a:solidFill>
                  <a:schemeClr val="tx1"/>
                </a:solidFill>
                <a:latin typeface="Microsoft YaHei UI" panose="020B0503020204020204" pitchFamily="34" charset="-122"/>
                <a:ea typeface="Microsoft YaHei UI" panose="020B0503020204020204" pitchFamily="34" charset="-122"/>
              </a:rPr>
              <a:t>段抬高性心肌梗死；</a:t>
            </a:r>
            <a:r>
              <a:rPr lang="en-US" altLang="zh-CN" sz="1400" dirty="0">
                <a:solidFill>
                  <a:schemeClr val="tx1"/>
                </a:solidFill>
                <a:latin typeface="Microsoft YaHei UI" panose="020B0503020204020204" pitchFamily="34" charset="-122"/>
                <a:ea typeface="Microsoft YaHei UI" panose="020B0503020204020204" pitchFamily="34" charset="-122"/>
              </a:rPr>
              <a:t>CCTA</a:t>
            </a:r>
            <a:r>
              <a:rPr lang="zh-CN" altLang="en-US" sz="1400" dirty="0">
                <a:solidFill>
                  <a:schemeClr val="tx1"/>
                </a:solidFill>
                <a:latin typeface="Microsoft YaHei UI" panose="020B0503020204020204" pitchFamily="34" charset="-122"/>
                <a:ea typeface="Microsoft YaHei UI" panose="020B0503020204020204" pitchFamily="34" charset="-122"/>
              </a:rPr>
              <a:t>：冠脉</a:t>
            </a:r>
            <a:r>
              <a:rPr lang="en-US" altLang="zh-CN" sz="1400" dirty="0">
                <a:solidFill>
                  <a:schemeClr val="tx1"/>
                </a:solidFill>
                <a:latin typeface="Microsoft YaHei UI" panose="020B0503020204020204" pitchFamily="34" charset="-122"/>
                <a:ea typeface="Microsoft YaHei UI" panose="020B0503020204020204" pitchFamily="34" charset="-122"/>
              </a:rPr>
              <a:t>CT</a:t>
            </a:r>
            <a:r>
              <a:rPr lang="zh-CN" altLang="en-US" sz="1400" dirty="0">
                <a:solidFill>
                  <a:schemeClr val="tx1"/>
                </a:solidFill>
                <a:latin typeface="Microsoft YaHei UI" panose="020B0503020204020204" pitchFamily="34" charset="-122"/>
                <a:ea typeface="Microsoft YaHei UI" panose="020B0503020204020204" pitchFamily="34" charset="-122"/>
              </a:rPr>
              <a:t>造影；</a:t>
            </a:r>
            <a:r>
              <a:rPr lang="en-US" altLang="zh-CN" sz="1400" dirty="0">
                <a:solidFill>
                  <a:schemeClr val="tx1"/>
                </a:solidFill>
                <a:latin typeface="Microsoft YaHei UI" panose="020B0503020204020204" pitchFamily="34" charset="-122"/>
                <a:ea typeface="Microsoft YaHei UI" panose="020B0503020204020204" pitchFamily="34" charset="-122"/>
              </a:rPr>
              <a:t>CAD</a:t>
            </a:r>
            <a:r>
              <a:rPr lang="zh-CN" altLang="en-US" sz="1400" dirty="0">
                <a:solidFill>
                  <a:schemeClr val="tx1"/>
                </a:solidFill>
                <a:latin typeface="Microsoft YaHei UI" panose="020B0503020204020204" pitchFamily="34" charset="-122"/>
                <a:ea typeface="Microsoft YaHei UI" panose="020B0503020204020204" pitchFamily="34" charset="-122"/>
              </a:rPr>
              <a:t>：冠状动脉疾病；</a:t>
            </a:r>
            <a:r>
              <a:rPr lang="en-US" altLang="zh-CN" sz="1400" dirty="0">
                <a:solidFill>
                  <a:schemeClr val="tx1"/>
                </a:solidFill>
                <a:latin typeface="Microsoft YaHei UI" panose="020B0503020204020204" pitchFamily="34" charset="-122"/>
                <a:ea typeface="Microsoft YaHei UI" panose="020B0503020204020204" pitchFamily="34" charset="-122"/>
              </a:rPr>
              <a:t>FFR</a:t>
            </a:r>
            <a:r>
              <a:rPr lang="zh-CN" altLang="en-US" sz="1400" dirty="0">
                <a:solidFill>
                  <a:schemeClr val="tx1"/>
                </a:solidFill>
                <a:latin typeface="Microsoft YaHei UI" panose="020B0503020204020204" pitchFamily="34" charset="-122"/>
                <a:ea typeface="Microsoft YaHei UI" panose="020B0503020204020204" pitchFamily="34" charset="-122"/>
              </a:rPr>
              <a:t>：冠脉血流储备分数。</a:t>
            </a:r>
          </a:p>
        </p:txBody>
      </p:sp>
    </p:spTree>
    <p:extLst>
      <p:ext uri="{BB962C8B-B14F-4D97-AF65-F5344CB8AC3E}">
        <p14:creationId xmlns:p14="http://schemas.microsoft.com/office/powerpoint/2010/main" val="3697777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545862" y="140467"/>
            <a:ext cx="3043291"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指南推荐的主要改变</a:t>
            </a:r>
            <a:endParaRPr lang="zh-CN" altLang="en-US" sz="2400" b="1" dirty="0">
              <a:solidFill>
                <a:srgbClr val="AE1022"/>
              </a:solidFill>
            </a:endParaRPr>
          </a:p>
        </p:txBody>
      </p:sp>
      <p:sp>
        <p:nvSpPr>
          <p:cNvPr id="8" name="矩形 7"/>
          <p:cNvSpPr/>
          <p:nvPr/>
        </p:nvSpPr>
        <p:spPr>
          <a:xfrm>
            <a:off x="8228185" y="746175"/>
            <a:ext cx="995486"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b="1" dirty="0">
                <a:latin typeface="Microsoft YaHei UI" panose="020B0503020204020204" pitchFamily="34" charset="-122"/>
                <a:ea typeface="Microsoft YaHei UI" panose="020B0503020204020204" pitchFamily="34" charset="-122"/>
              </a:rPr>
              <a:t>2020</a:t>
            </a:r>
            <a:r>
              <a:rPr lang="zh-CN" altLang="en-US" b="1" dirty="0">
                <a:latin typeface="Microsoft YaHei UI" panose="020B0503020204020204" pitchFamily="34" charset="-122"/>
                <a:ea typeface="Microsoft YaHei UI" panose="020B0503020204020204" pitchFamily="34" charset="-122"/>
              </a:rPr>
              <a:t>年</a:t>
            </a:r>
          </a:p>
        </p:txBody>
      </p:sp>
      <p:sp>
        <p:nvSpPr>
          <p:cNvPr id="9" name="矩形 8"/>
          <p:cNvSpPr/>
          <p:nvPr/>
        </p:nvSpPr>
        <p:spPr>
          <a:xfrm>
            <a:off x="975680" y="1354035"/>
            <a:ext cx="4976133" cy="909104"/>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如果</a:t>
            </a:r>
            <a:r>
              <a:rPr lang="en-US" altLang="zh-CN" dirty="0" err="1">
                <a:solidFill>
                  <a:schemeClr val="bg1"/>
                </a:solidFill>
                <a:latin typeface="Microsoft YaHei UI" panose="020B0503020204020204" pitchFamily="34" charset="-122"/>
                <a:ea typeface="Microsoft YaHei UI" panose="020B0503020204020204" pitchFamily="34" charset="-122"/>
              </a:rPr>
              <a:t>hs-cTn</a:t>
            </a:r>
            <a:r>
              <a:rPr lang="zh-CN" altLang="en-US" dirty="0">
                <a:solidFill>
                  <a:schemeClr val="bg1"/>
                </a:solidFill>
                <a:latin typeface="Microsoft YaHei UI" panose="020B0503020204020204" pitchFamily="34" charset="-122"/>
                <a:ea typeface="Microsoft YaHei UI" panose="020B0503020204020204" pitchFamily="34" charset="-122"/>
              </a:rPr>
              <a:t>检测可用，推荐启动</a:t>
            </a:r>
            <a:r>
              <a:rPr lang="en-US" altLang="zh-CN" dirty="0">
                <a:solidFill>
                  <a:schemeClr val="bg1"/>
                </a:solidFill>
                <a:latin typeface="Microsoft YaHei UI" panose="020B0503020204020204" pitchFamily="34" charset="-122"/>
                <a:ea typeface="Microsoft YaHei UI" panose="020B0503020204020204" pitchFamily="34" charset="-122"/>
              </a:rPr>
              <a:t>0h</a:t>
            </a:r>
            <a:r>
              <a:rPr lang="zh-CN" altLang="en-US" dirty="0">
                <a:solidFill>
                  <a:schemeClr val="bg1"/>
                </a:solidFill>
                <a:latin typeface="Microsoft YaHei UI" panose="020B0503020204020204" pitchFamily="34" charset="-122"/>
                <a:ea typeface="Microsoft YaHei UI" panose="020B0503020204020204" pitchFamily="34" charset="-122"/>
              </a:rPr>
              <a:t>及</a:t>
            </a:r>
            <a:r>
              <a:rPr lang="en-US" altLang="zh-CN" dirty="0">
                <a:solidFill>
                  <a:schemeClr val="bg1"/>
                </a:solidFill>
                <a:latin typeface="Microsoft YaHei UI" panose="020B0503020204020204" pitchFamily="34" charset="-122"/>
                <a:ea typeface="Microsoft YaHei UI" panose="020B0503020204020204" pitchFamily="34" charset="-122"/>
              </a:rPr>
              <a:t>3h</a:t>
            </a:r>
            <a:r>
              <a:rPr lang="zh-CN" altLang="en-US" dirty="0">
                <a:solidFill>
                  <a:schemeClr val="bg1"/>
                </a:solidFill>
                <a:latin typeface="Microsoft YaHei UI" panose="020B0503020204020204" pitchFamily="34" charset="-122"/>
                <a:ea typeface="Microsoft YaHei UI" panose="020B0503020204020204" pitchFamily="34" charset="-122"/>
              </a:rPr>
              <a:t>的快速排除方案</a:t>
            </a:r>
            <a:endParaRPr lang="en-US" altLang="zh-CN" dirty="0">
              <a:solidFill>
                <a:schemeClr val="bg1"/>
              </a:solidFill>
              <a:latin typeface="Microsoft YaHei UI" panose="020B0503020204020204" pitchFamily="34" charset="-122"/>
              <a:ea typeface="Microsoft YaHei UI" panose="020B0503020204020204" pitchFamily="34" charset="-122"/>
            </a:endParaRPr>
          </a:p>
        </p:txBody>
      </p:sp>
      <p:sp>
        <p:nvSpPr>
          <p:cNvPr id="12" name="矩形 11"/>
          <p:cNvSpPr/>
          <p:nvPr/>
        </p:nvSpPr>
        <p:spPr>
          <a:xfrm>
            <a:off x="975680" y="2334565"/>
            <a:ext cx="4976133" cy="1108973"/>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当存在低</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中风险的</a:t>
            </a:r>
            <a:r>
              <a:rPr lang="en-US" altLang="zh-CN" dirty="0">
                <a:latin typeface="Microsoft YaHei UI" panose="020B0503020204020204" pitchFamily="34" charset="-122"/>
                <a:ea typeface="Microsoft YaHei UI" panose="020B0503020204020204" pitchFamily="34" charset="-122"/>
              </a:rPr>
              <a:t>CAD</a:t>
            </a:r>
            <a:r>
              <a:rPr lang="zh-CN" altLang="en-US" dirty="0">
                <a:latin typeface="Microsoft YaHei UI" panose="020B0503020204020204" pitchFamily="34" charset="-122"/>
                <a:ea typeface="Microsoft YaHei UI" panose="020B0503020204020204" pitchFamily="34" charset="-122"/>
              </a:rPr>
              <a:t>可能性且肌钙蛋白和</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或心电图无法确定时，应考虑应用</a:t>
            </a:r>
            <a:r>
              <a:rPr lang="en-US" altLang="zh-CN" dirty="0">
                <a:latin typeface="Microsoft YaHei UI" panose="020B0503020204020204" pitchFamily="34" charset="-122"/>
                <a:ea typeface="Microsoft YaHei UI" panose="020B0503020204020204" pitchFamily="34" charset="-122"/>
              </a:rPr>
              <a:t>MDCT</a:t>
            </a:r>
            <a:r>
              <a:rPr lang="zh-CN" altLang="en-US" dirty="0">
                <a:latin typeface="Microsoft YaHei UI" panose="020B0503020204020204" pitchFamily="34" charset="-122"/>
                <a:ea typeface="Microsoft YaHei UI" panose="020B0503020204020204" pitchFamily="34" charset="-122"/>
              </a:rPr>
              <a:t>冠脉造影作为有创造影的替代方案以排除</a:t>
            </a:r>
            <a:r>
              <a:rPr lang="en-US" altLang="zh-CN" dirty="0">
                <a:latin typeface="Microsoft YaHei UI" panose="020B0503020204020204" pitchFamily="34" charset="-122"/>
                <a:ea typeface="Microsoft YaHei UI" panose="020B0503020204020204" pitchFamily="34" charset="-122"/>
              </a:rPr>
              <a:t>ACS</a:t>
            </a:r>
            <a:endParaRPr lang="zh-CN" altLang="en-US" dirty="0">
              <a:latin typeface="Microsoft YaHei UI" panose="020B0503020204020204" pitchFamily="34" charset="-122"/>
              <a:ea typeface="Microsoft YaHei UI" panose="020B0503020204020204" pitchFamily="34" charset="-122"/>
            </a:endParaRPr>
          </a:p>
        </p:txBody>
      </p:sp>
      <p:sp>
        <p:nvSpPr>
          <p:cNvPr id="16" name="矩形 15"/>
          <p:cNvSpPr/>
          <p:nvPr/>
        </p:nvSpPr>
        <p:spPr>
          <a:xfrm>
            <a:off x="5990643" y="2334564"/>
            <a:ext cx="5341576" cy="1108973"/>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当存在低</a:t>
            </a:r>
            <a:r>
              <a:rPr lang="en-US" altLang="zh-CN" dirty="0">
                <a:solidFill>
                  <a:schemeClr val="bg1"/>
                </a:solidFill>
                <a:latin typeface="Microsoft YaHei UI" panose="020B0503020204020204" pitchFamily="34" charset="-122"/>
                <a:ea typeface="Microsoft YaHei UI" panose="020B0503020204020204" pitchFamily="34" charset="-122"/>
              </a:rPr>
              <a:t>-</a:t>
            </a:r>
            <a:r>
              <a:rPr lang="zh-CN" altLang="en-US" dirty="0">
                <a:solidFill>
                  <a:schemeClr val="bg1"/>
                </a:solidFill>
                <a:latin typeface="Microsoft YaHei UI" panose="020B0503020204020204" pitchFamily="34" charset="-122"/>
                <a:ea typeface="Microsoft YaHei UI" panose="020B0503020204020204" pitchFamily="34" charset="-122"/>
              </a:rPr>
              <a:t>中风险的</a:t>
            </a:r>
            <a:r>
              <a:rPr lang="en-US" altLang="zh-CN" dirty="0">
                <a:solidFill>
                  <a:schemeClr val="bg1"/>
                </a:solidFill>
                <a:latin typeface="Microsoft YaHei UI" panose="020B0503020204020204" pitchFamily="34" charset="-122"/>
                <a:ea typeface="Microsoft YaHei UI" panose="020B0503020204020204" pitchFamily="34" charset="-122"/>
              </a:rPr>
              <a:t>CAD</a:t>
            </a:r>
            <a:r>
              <a:rPr lang="zh-CN" altLang="en-US" dirty="0">
                <a:solidFill>
                  <a:schemeClr val="bg1"/>
                </a:solidFill>
                <a:latin typeface="Microsoft YaHei UI" panose="020B0503020204020204" pitchFamily="34" charset="-122"/>
                <a:ea typeface="Microsoft YaHei UI" panose="020B0503020204020204" pitchFamily="34" charset="-122"/>
              </a:rPr>
              <a:t>可能性且肌钙蛋白和</a:t>
            </a:r>
            <a:r>
              <a:rPr lang="en-US" altLang="zh-CN" dirty="0">
                <a:solidFill>
                  <a:schemeClr val="bg1"/>
                </a:solidFill>
                <a:latin typeface="Microsoft YaHei UI" panose="020B0503020204020204" pitchFamily="34" charset="-122"/>
                <a:ea typeface="Microsoft YaHei UI" panose="020B0503020204020204" pitchFamily="34" charset="-122"/>
              </a:rPr>
              <a:t>/</a:t>
            </a:r>
            <a:r>
              <a:rPr lang="zh-CN" altLang="en-US" dirty="0">
                <a:solidFill>
                  <a:schemeClr val="bg1"/>
                </a:solidFill>
                <a:latin typeface="Microsoft YaHei UI" panose="020B0503020204020204" pitchFamily="34" charset="-122"/>
                <a:ea typeface="Microsoft YaHei UI" panose="020B0503020204020204" pitchFamily="34" charset="-122"/>
              </a:rPr>
              <a:t>或心电图正常或无法确定时，推荐应用</a:t>
            </a:r>
            <a:r>
              <a:rPr lang="en-US" altLang="zh-CN" dirty="0">
                <a:solidFill>
                  <a:schemeClr val="bg1"/>
                </a:solidFill>
                <a:latin typeface="Microsoft YaHei UI" panose="020B0503020204020204" pitchFamily="34" charset="-122"/>
                <a:ea typeface="Microsoft YaHei UI" panose="020B0503020204020204" pitchFamily="34" charset="-122"/>
              </a:rPr>
              <a:t>CCTA</a:t>
            </a:r>
            <a:r>
              <a:rPr lang="zh-CN" altLang="en-US" dirty="0">
                <a:solidFill>
                  <a:schemeClr val="bg1"/>
                </a:solidFill>
                <a:latin typeface="Microsoft YaHei UI" panose="020B0503020204020204" pitchFamily="34" charset="-122"/>
                <a:ea typeface="Microsoft YaHei UI" panose="020B0503020204020204" pitchFamily="34" charset="-122"/>
              </a:rPr>
              <a:t>作为有创造影的替代方案以排除</a:t>
            </a:r>
            <a:r>
              <a:rPr lang="en-US" altLang="zh-CN" dirty="0">
                <a:solidFill>
                  <a:schemeClr val="bg1"/>
                </a:solidFill>
                <a:latin typeface="Microsoft YaHei UI" panose="020B0503020204020204" pitchFamily="34" charset="-122"/>
                <a:ea typeface="Microsoft YaHei UI" panose="020B0503020204020204" pitchFamily="34" charset="-122"/>
              </a:rPr>
              <a:t>ACS</a:t>
            </a:r>
            <a:endParaRPr lang="zh-CN" altLang="en-US" dirty="0">
              <a:solidFill>
                <a:schemeClr val="bg1"/>
              </a:solidFill>
              <a:latin typeface="Microsoft YaHei UI" panose="020B0503020204020204" pitchFamily="34" charset="-122"/>
              <a:ea typeface="Microsoft YaHei UI" panose="020B0503020204020204" pitchFamily="34" charset="-122"/>
            </a:endParaRPr>
          </a:p>
        </p:txBody>
      </p:sp>
      <p:sp>
        <p:nvSpPr>
          <p:cNvPr id="21" name="矩形 20"/>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14" name="矩形 13"/>
          <p:cNvSpPr/>
          <p:nvPr/>
        </p:nvSpPr>
        <p:spPr>
          <a:xfrm>
            <a:off x="2932238" y="729033"/>
            <a:ext cx="1157923"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b="1" dirty="0">
                <a:latin typeface="Microsoft YaHei UI" panose="020B0503020204020204" pitchFamily="34" charset="-122"/>
                <a:ea typeface="Microsoft YaHei UI" panose="020B0503020204020204" pitchFamily="34" charset="-122"/>
              </a:rPr>
              <a:t>2015</a:t>
            </a:r>
            <a:r>
              <a:rPr lang="zh-CN" altLang="en-US" b="1" dirty="0">
                <a:latin typeface="Microsoft YaHei UI" panose="020B0503020204020204" pitchFamily="34" charset="-122"/>
                <a:ea typeface="Microsoft YaHei UI" panose="020B0503020204020204" pitchFamily="34" charset="-122"/>
              </a:rPr>
              <a:t>年</a:t>
            </a:r>
          </a:p>
        </p:txBody>
      </p:sp>
      <p:sp>
        <p:nvSpPr>
          <p:cNvPr id="15" name="矩形 14"/>
          <p:cNvSpPr/>
          <p:nvPr/>
        </p:nvSpPr>
        <p:spPr>
          <a:xfrm>
            <a:off x="5661430" y="827137"/>
            <a:ext cx="995486"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诊断</a:t>
            </a:r>
          </a:p>
        </p:txBody>
      </p:sp>
      <p:sp>
        <p:nvSpPr>
          <p:cNvPr id="17" name="矩形 16"/>
          <p:cNvSpPr/>
          <p:nvPr/>
        </p:nvSpPr>
        <p:spPr>
          <a:xfrm>
            <a:off x="6001093" y="1353785"/>
            <a:ext cx="5331126" cy="909105"/>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如果有效的 </a:t>
            </a:r>
            <a:r>
              <a:rPr lang="en-US" altLang="zh-CN" dirty="0">
                <a:latin typeface="Microsoft YaHei UI" panose="020B0503020204020204" pitchFamily="34" charset="-122"/>
                <a:ea typeface="Microsoft YaHei UI" panose="020B0503020204020204" pitchFamily="34" charset="-122"/>
              </a:rPr>
              <a:t>0h/3h </a:t>
            </a:r>
            <a:r>
              <a:rPr lang="en-US" altLang="zh-CN" dirty="0" err="1">
                <a:latin typeface="Microsoft YaHei UI" panose="020B0503020204020204" pitchFamily="34" charset="-122"/>
                <a:ea typeface="Microsoft YaHei UI" panose="020B0503020204020204" pitchFamily="34" charset="-122"/>
              </a:rPr>
              <a:t>hs-cTn</a:t>
            </a:r>
            <a:r>
              <a:rPr lang="zh-CN" altLang="en-US" dirty="0">
                <a:latin typeface="Microsoft YaHei UI" panose="020B0503020204020204" pitchFamily="34" charset="-122"/>
                <a:ea typeface="Microsoft YaHei UI" panose="020B0503020204020204" pitchFamily="34" charset="-122"/>
              </a:rPr>
              <a:t>检测流程可用，可考虑在</a:t>
            </a:r>
            <a:r>
              <a:rPr lang="en-US" altLang="zh-CN" dirty="0">
                <a:latin typeface="Microsoft YaHei UI" panose="020B0503020204020204" pitchFamily="34" charset="-122"/>
                <a:ea typeface="Microsoft YaHei UI" panose="020B0503020204020204" pitchFamily="34" charset="-122"/>
              </a:rPr>
              <a:t>0h</a:t>
            </a:r>
            <a:r>
              <a:rPr lang="zh-CN" altLang="en-US" dirty="0">
                <a:latin typeface="Microsoft YaHei UI" panose="020B0503020204020204" pitchFamily="34" charset="-122"/>
                <a:ea typeface="Microsoft YaHei UI" panose="020B0503020204020204" pitchFamily="34" charset="-122"/>
              </a:rPr>
              <a:t>和</a:t>
            </a:r>
            <a:r>
              <a:rPr lang="en-US" altLang="zh-CN" dirty="0">
                <a:latin typeface="Microsoft YaHei UI" panose="020B0503020204020204" pitchFamily="34" charset="-122"/>
                <a:ea typeface="Microsoft YaHei UI" panose="020B0503020204020204" pitchFamily="34" charset="-122"/>
              </a:rPr>
              <a:t>3h</a:t>
            </a:r>
            <a:r>
              <a:rPr lang="zh-CN" altLang="en-US" dirty="0">
                <a:latin typeface="Microsoft YaHei UI" panose="020B0503020204020204" pitchFamily="34" charset="-122"/>
                <a:ea typeface="Microsoft YaHei UI" panose="020B0503020204020204" pitchFamily="34" charset="-122"/>
              </a:rPr>
              <a:t>抽血，启动快速诊断和排除方案</a:t>
            </a:r>
            <a:endParaRPr lang="en-US" altLang="zh-CN" dirty="0">
              <a:solidFill>
                <a:schemeClr val="bg1"/>
              </a:solidFill>
              <a:latin typeface="Microsoft YaHei UI" panose="020B0503020204020204" pitchFamily="34" charset="-122"/>
              <a:ea typeface="Microsoft YaHei UI" panose="020B0503020204020204" pitchFamily="34" charset="-122"/>
            </a:endParaRPr>
          </a:p>
        </p:txBody>
      </p:sp>
      <p:sp>
        <p:nvSpPr>
          <p:cNvPr id="18" name="矩形 17"/>
          <p:cNvSpPr/>
          <p:nvPr/>
        </p:nvSpPr>
        <p:spPr>
          <a:xfrm>
            <a:off x="975679" y="3514964"/>
            <a:ext cx="4976133" cy="1012713"/>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对于低心律失常风险的</a:t>
            </a:r>
            <a:r>
              <a:rPr lang="en-US" altLang="zh-CN" dirty="0">
                <a:latin typeface="Microsoft YaHei UI" panose="020B0503020204020204" pitchFamily="34" charset="-122"/>
                <a:ea typeface="Microsoft YaHei UI" panose="020B0503020204020204" pitchFamily="34" charset="-122"/>
              </a:rPr>
              <a:t>NSTEMI</a:t>
            </a:r>
            <a:r>
              <a:rPr lang="zh-CN" altLang="en-US" dirty="0">
                <a:latin typeface="Microsoft YaHei UI" panose="020B0503020204020204" pitchFamily="34" charset="-122"/>
                <a:ea typeface="Microsoft YaHei UI" panose="020B0503020204020204" pitchFamily="34" charset="-122"/>
              </a:rPr>
              <a:t>患者，应考虑行</a:t>
            </a:r>
            <a:r>
              <a:rPr lang="en-US" altLang="zh-CN" dirty="0">
                <a:latin typeface="Microsoft YaHei UI" panose="020B0503020204020204" pitchFamily="34" charset="-122"/>
                <a:ea typeface="Microsoft YaHei UI" panose="020B0503020204020204" pitchFamily="34" charset="-122"/>
              </a:rPr>
              <a:t>24</a:t>
            </a:r>
            <a:r>
              <a:rPr lang="zh-CN" altLang="en-US" dirty="0">
                <a:latin typeface="Microsoft YaHei UI" panose="020B0503020204020204" pitchFamily="34" charset="-122"/>
                <a:ea typeface="Microsoft YaHei UI" panose="020B0503020204020204" pitchFamily="34" charset="-122"/>
              </a:rPr>
              <a:t>小时的心律检测或</a:t>
            </a:r>
            <a:r>
              <a:rPr lang="en-US" altLang="zh-CN" dirty="0">
                <a:latin typeface="Microsoft YaHei UI" panose="020B0503020204020204" pitchFamily="34" charset="-122"/>
                <a:ea typeface="Microsoft YaHei UI" panose="020B0503020204020204" pitchFamily="34" charset="-122"/>
              </a:rPr>
              <a:t>PCI</a:t>
            </a:r>
            <a:r>
              <a:rPr lang="zh-CN" altLang="en-US" dirty="0">
                <a:latin typeface="Microsoft YaHei UI" panose="020B0503020204020204" pitchFamily="34" charset="-122"/>
                <a:ea typeface="Microsoft YaHei UI" panose="020B0503020204020204" pitchFamily="34" charset="-122"/>
              </a:rPr>
              <a:t>（无论哪项先进行）</a:t>
            </a:r>
          </a:p>
        </p:txBody>
      </p:sp>
      <p:sp>
        <p:nvSpPr>
          <p:cNvPr id="19" name="矩形 18"/>
          <p:cNvSpPr/>
          <p:nvPr/>
        </p:nvSpPr>
        <p:spPr>
          <a:xfrm>
            <a:off x="6001093" y="3514963"/>
            <a:ext cx="5341576" cy="1012713"/>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对于低心律失常风险的</a:t>
            </a:r>
            <a:r>
              <a:rPr lang="en-US" altLang="zh-CN" dirty="0">
                <a:solidFill>
                  <a:schemeClr val="bg1"/>
                </a:solidFill>
                <a:latin typeface="Microsoft YaHei UI" panose="020B0503020204020204" pitchFamily="34" charset="-122"/>
                <a:ea typeface="Microsoft YaHei UI" panose="020B0503020204020204" pitchFamily="34" charset="-122"/>
              </a:rPr>
              <a:t>NSTEMI</a:t>
            </a:r>
            <a:r>
              <a:rPr lang="zh-CN" altLang="en-US" dirty="0">
                <a:solidFill>
                  <a:schemeClr val="bg1"/>
                </a:solidFill>
                <a:latin typeface="Microsoft YaHei UI" panose="020B0503020204020204" pitchFamily="34" charset="-122"/>
                <a:ea typeface="Microsoft YaHei UI" panose="020B0503020204020204" pitchFamily="34" charset="-122"/>
              </a:rPr>
              <a:t>患者，推荐行</a:t>
            </a:r>
            <a:r>
              <a:rPr lang="en-US" altLang="zh-CN" dirty="0">
                <a:solidFill>
                  <a:schemeClr val="bg1"/>
                </a:solidFill>
                <a:latin typeface="Microsoft YaHei UI" panose="020B0503020204020204" pitchFamily="34" charset="-122"/>
                <a:ea typeface="Microsoft YaHei UI" panose="020B0503020204020204" pitchFamily="34" charset="-122"/>
              </a:rPr>
              <a:t>24</a:t>
            </a:r>
            <a:r>
              <a:rPr lang="zh-CN" altLang="en-US" dirty="0">
                <a:solidFill>
                  <a:schemeClr val="bg1"/>
                </a:solidFill>
                <a:latin typeface="Microsoft YaHei UI" panose="020B0503020204020204" pitchFamily="34" charset="-122"/>
                <a:ea typeface="Microsoft YaHei UI" panose="020B0503020204020204" pitchFamily="34" charset="-122"/>
              </a:rPr>
              <a:t>小时的心律监测或行</a:t>
            </a:r>
            <a:r>
              <a:rPr lang="en-US" altLang="zh-CN" dirty="0">
                <a:solidFill>
                  <a:schemeClr val="bg1"/>
                </a:solidFill>
                <a:latin typeface="Microsoft YaHei UI" panose="020B0503020204020204" pitchFamily="34" charset="-122"/>
                <a:ea typeface="Microsoft YaHei UI" panose="020B0503020204020204" pitchFamily="34" charset="-122"/>
              </a:rPr>
              <a:t>PCI</a:t>
            </a:r>
            <a:r>
              <a:rPr lang="zh-CN" altLang="en-US" dirty="0">
                <a:solidFill>
                  <a:schemeClr val="bg1"/>
                </a:solidFill>
                <a:latin typeface="Microsoft YaHei UI" panose="020B0503020204020204" pitchFamily="34" charset="-122"/>
                <a:ea typeface="Microsoft YaHei UI" panose="020B0503020204020204" pitchFamily="34" charset="-122"/>
              </a:rPr>
              <a:t>（无论哪项先进行）</a:t>
            </a:r>
          </a:p>
        </p:txBody>
      </p:sp>
      <p:sp>
        <p:nvSpPr>
          <p:cNvPr id="22" name="矩形 21"/>
          <p:cNvSpPr/>
          <p:nvPr/>
        </p:nvSpPr>
        <p:spPr>
          <a:xfrm>
            <a:off x="975679" y="4599103"/>
            <a:ext cx="4976133" cy="1012713"/>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对于中</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高心律失常风险的</a:t>
            </a:r>
            <a:r>
              <a:rPr lang="en-US" altLang="zh-CN" dirty="0">
                <a:latin typeface="Microsoft YaHei UI" panose="020B0503020204020204" pitchFamily="34" charset="-122"/>
                <a:ea typeface="Microsoft YaHei UI" panose="020B0503020204020204" pitchFamily="34" charset="-122"/>
              </a:rPr>
              <a:t>NSTEMI</a:t>
            </a:r>
            <a:r>
              <a:rPr lang="zh-CN" altLang="en-US" dirty="0">
                <a:latin typeface="Microsoft YaHei UI" panose="020B0503020204020204" pitchFamily="34" charset="-122"/>
                <a:ea typeface="Microsoft YaHei UI" panose="020B0503020204020204" pitchFamily="34" charset="-122"/>
              </a:rPr>
              <a:t>患者，应考虑行＞</a:t>
            </a:r>
            <a:r>
              <a:rPr lang="en-US" altLang="zh-CN" dirty="0">
                <a:latin typeface="Microsoft YaHei UI" panose="020B0503020204020204" pitchFamily="34" charset="-122"/>
                <a:ea typeface="Microsoft YaHei UI" panose="020B0503020204020204" pitchFamily="34" charset="-122"/>
              </a:rPr>
              <a:t>24</a:t>
            </a:r>
            <a:r>
              <a:rPr lang="zh-CN" altLang="en-US" dirty="0">
                <a:latin typeface="Microsoft YaHei UI" panose="020B0503020204020204" pitchFamily="34" charset="-122"/>
                <a:ea typeface="Microsoft YaHei UI" panose="020B0503020204020204" pitchFamily="34" charset="-122"/>
              </a:rPr>
              <a:t>小时的心律监测</a:t>
            </a:r>
          </a:p>
        </p:txBody>
      </p:sp>
      <p:sp>
        <p:nvSpPr>
          <p:cNvPr id="23" name="矩形 22"/>
          <p:cNvSpPr/>
          <p:nvPr/>
        </p:nvSpPr>
        <p:spPr>
          <a:xfrm>
            <a:off x="5990643" y="4599102"/>
            <a:ext cx="5341576" cy="1012713"/>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对于中</a:t>
            </a:r>
            <a:r>
              <a:rPr lang="en-US" altLang="zh-CN" dirty="0">
                <a:solidFill>
                  <a:schemeClr val="bg1"/>
                </a:solidFill>
                <a:latin typeface="Microsoft YaHei UI" panose="020B0503020204020204" pitchFamily="34" charset="-122"/>
                <a:ea typeface="Microsoft YaHei UI" panose="020B0503020204020204" pitchFamily="34" charset="-122"/>
              </a:rPr>
              <a:t>-</a:t>
            </a:r>
            <a:r>
              <a:rPr lang="zh-CN" altLang="en-US" dirty="0">
                <a:solidFill>
                  <a:schemeClr val="bg1"/>
                </a:solidFill>
                <a:latin typeface="Microsoft YaHei UI" panose="020B0503020204020204" pitchFamily="34" charset="-122"/>
                <a:ea typeface="Microsoft YaHei UI" panose="020B0503020204020204" pitchFamily="34" charset="-122"/>
              </a:rPr>
              <a:t>高心律失常风险的</a:t>
            </a:r>
            <a:r>
              <a:rPr lang="en-US" altLang="zh-CN" dirty="0">
                <a:solidFill>
                  <a:schemeClr val="bg1"/>
                </a:solidFill>
                <a:latin typeface="Microsoft YaHei UI" panose="020B0503020204020204" pitchFamily="34" charset="-122"/>
                <a:ea typeface="Microsoft YaHei UI" panose="020B0503020204020204" pitchFamily="34" charset="-122"/>
              </a:rPr>
              <a:t>NSTEMI</a:t>
            </a:r>
            <a:r>
              <a:rPr lang="zh-CN" altLang="en-US" dirty="0">
                <a:solidFill>
                  <a:schemeClr val="bg1"/>
                </a:solidFill>
                <a:latin typeface="Microsoft YaHei UI" panose="020B0503020204020204" pitchFamily="34" charset="-122"/>
                <a:ea typeface="Microsoft YaHei UI" panose="020B0503020204020204" pitchFamily="34" charset="-122"/>
              </a:rPr>
              <a:t>患者，推荐行＞</a:t>
            </a:r>
            <a:r>
              <a:rPr lang="en-US" altLang="zh-CN" dirty="0">
                <a:solidFill>
                  <a:schemeClr val="bg1"/>
                </a:solidFill>
                <a:latin typeface="Microsoft YaHei UI" panose="020B0503020204020204" pitchFamily="34" charset="-122"/>
                <a:ea typeface="Microsoft YaHei UI" panose="020B0503020204020204" pitchFamily="34" charset="-122"/>
              </a:rPr>
              <a:t>24</a:t>
            </a:r>
            <a:r>
              <a:rPr lang="zh-CN" altLang="en-US" dirty="0">
                <a:solidFill>
                  <a:schemeClr val="bg1"/>
                </a:solidFill>
                <a:latin typeface="Microsoft YaHei UI" panose="020B0503020204020204" pitchFamily="34" charset="-122"/>
                <a:ea typeface="Microsoft YaHei UI" panose="020B0503020204020204" pitchFamily="34" charset="-122"/>
              </a:rPr>
              <a:t>小时的心律监测</a:t>
            </a:r>
          </a:p>
        </p:txBody>
      </p:sp>
      <p:sp>
        <p:nvSpPr>
          <p:cNvPr id="2" name="矩形 1"/>
          <p:cNvSpPr/>
          <p:nvPr/>
        </p:nvSpPr>
        <p:spPr>
          <a:xfrm>
            <a:off x="1170989" y="5719319"/>
            <a:ext cx="1956558" cy="36004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MDCT</a:t>
            </a:r>
            <a:r>
              <a:rPr lang="zh-CN" altLang="en-US" sz="1400" dirty="0">
                <a:solidFill>
                  <a:schemeClr val="tx1"/>
                </a:solidFill>
                <a:latin typeface="Microsoft YaHei UI" panose="020B0503020204020204" pitchFamily="34" charset="-122"/>
                <a:ea typeface="Microsoft YaHei UI" panose="020B0503020204020204" pitchFamily="34" charset="-122"/>
              </a:rPr>
              <a:t>：多排螺旋</a:t>
            </a:r>
            <a:r>
              <a:rPr lang="en-US" altLang="zh-CN" sz="1400" dirty="0">
                <a:solidFill>
                  <a:schemeClr val="tx1"/>
                </a:solidFill>
                <a:latin typeface="Microsoft YaHei UI" panose="020B0503020204020204" pitchFamily="34" charset="-122"/>
                <a:ea typeface="Microsoft YaHei UI" panose="020B0503020204020204" pitchFamily="34" charset="-122"/>
              </a:rPr>
              <a:t>CT</a:t>
            </a:r>
            <a:endParaRPr lang="zh-CN" altLang="en-US" sz="1400" dirty="0">
              <a:solidFill>
                <a:schemeClr val="tx1"/>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7374241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299286" y="294577"/>
            <a:ext cx="3043291"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指南推荐的主要改变</a:t>
            </a:r>
            <a:endParaRPr lang="zh-CN" altLang="en-US" sz="2400" b="1" dirty="0">
              <a:solidFill>
                <a:srgbClr val="AE1022"/>
              </a:solidFill>
            </a:endParaRPr>
          </a:p>
        </p:txBody>
      </p:sp>
      <p:sp>
        <p:nvSpPr>
          <p:cNvPr id="8" name="矩形 7"/>
          <p:cNvSpPr/>
          <p:nvPr/>
        </p:nvSpPr>
        <p:spPr>
          <a:xfrm>
            <a:off x="8228185" y="1025714"/>
            <a:ext cx="995486"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b="1" dirty="0">
                <a:latin typeface="Microsoft YaHei UI" panose="020B0503020204020204" pitchFamily="34" charset="-122"/>
                <a:ea typeface="Microsoft YaHei UI" panose="020B0503020204020204" pitchFamily="34" charset="-122"/>
              </a:rPr>
              <a:t>2020</a:t>
            </a:r>
            <a:r>
              <a:rPr lang="zh-CN" altLang="en-US" b="1" dirty="0">
                <a:latin typeface="Microsoft YaHei UI" panose="020B0503020204020204" pitchFamily="34" charset="-122"/>
                <a:ea typeface="Microsoft YaHei UI" panose="020B0503020204020204" pitchFamily="34" charset="-122"/>
              </a:rPr>
              <a:t>年</a:t>
            </a:r>
          </a:p>
        </p:txBody>
      </p:sp>
      <p:sp>
        <p:nvSpPr>
          <p:cNvPr id="9" name="矩形 8"/>
          <p:cNvSpPr/>
          <p:nvPr/>
        </p:nvSpPr>
        <p:spPr>
          <a:xfrm>
            <a:off x="975680" y="1595474"/>
            <a:ext cx="4976133" cy="582565"/>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bg1"/>
                </a:solidFill>
                <a:latin typeface="Microsoft YaHei UI" panose="020B0503020204020204" pitchFamily="34" charset="-122"/>
                <a:ea typeface="Microsoft YaHei UI" panose="020B0503020204020204" pitchFamily="34" charset="-122"/>
              </a:rPr>
              <a:t>推荐应用已经创建的风险评分进行预后评估</a:t>
            </a:r>
            <a:endParaRPr lang="en-US" altLang="zh-CN" dirty="0">
              <a:solidFill>
                <a:schemeClr val="bg1"/>
              </a:solidFill>
              <a:latin typeface="Microsoft YaHei UI" panose="020B0503020204020204" pitchFamily="34" charset="-122"/>
              <a:ea typeface="Microsoft YaHei UI" panose="020B0503020204020204" pitchFamily="34" charset="-122"/>
            </a:endParaRPr>
          </a:p>
        </p:txBody>
      </p:sp>
      <p:sp>
        <p:nvSpPr>
          <p:cNvPr id="12" name="矩形 11"/>
          <p:cNvSpPr/>
          <p:nvPr/>
        </p:nvSpPr>
        <p:spPr>
          <a:xfrm>
            <a:off x="975680" y="2576004"/>
            <a:ext cx="4976133" cy="1108973"/>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r>
              <a:rPr lang="en-US" altLang="zh-CN" dirty="0">
                <a:solidFill>
                  <a:schemeClr val="bg1"/>
                </a:solidFill>
                <a:latin typeface="Microsoft YaHei UI" panose="020B0503020204020204" pitchFamily="34" charset="-122"/>
                <a:ea typeface="Microsoft YaHei UI" panose="020B0503020204020204" pitchFamily="34" charset="-122"/>
              </a:rPr>
              <a:t>PCI</a:t>
            </a:r>
            <a:r>
              <a:rPr lang="zh-CN" altLang="en-US" dirty="0">
                <a:solidFill>
                  <a:schemeClr val="bg1"/>
                </a:solidFill>
                <a:latin typeface="Microsoft YaHei UI" panose="020B0503020204020204" pitchFamily="34" charset="-122"/>
                <a:ea typeface="Microsoft YaHei UI" panose="020B0503020204020204" pitchFamily="34" charset="-122"/>
              </a:rPr>
              <a:t>期间，推荐应用比伐芦定（</a:t>
            </a:r>
            <a:r>
              <a:rPr lang="en-US" altLang="zh-CN" dirty="0">
                <a:solidFill>
                  <a:schemeClr val="bg1"/>
                </a:solidFill>
                <a:latin typeface="Microsoft YaHei UI" panose="020B0503020204020204" pitchFamily="34" charset="-122"/>
                <a:ea typeface="Microsoft YaHei UI" panose="020B0503020204020204" pitchFamily="34" charset="-122"/>
              </a:rPr>
              <a:t>0.75mg/kg</a:t>
            </a:r>
            <a:r>
              <a:rPr lang="zh-CN" altLang="en-US" dirty="0">
                <a:solidFill>
                  <a:schemeClr val="bg1"/>
                </a:solidFill>
                <a:latin typeface="Microsoft YaHei UI" panose="020B0503020204020204" pitchFamily="34" charset="-122"/>
                <a:ea typeface="Microsoft YaHei UI" panose="020B0503020204020204" pitchFamily="34" charset="-122"/>
              </a:rPr>
              <a:t>静脉推注，随后</a:t>
            </a:r>
            <a:r>
              <a:rPr lang="en-US" altLang="zh-CN" dirty="0">
                <a:solidFill>
                  <a:schemeClr val="bg1"/>
                </a:solidFill>
                <a:latin typeface="Microsoft YaHei UI" panose="020B0503020204020204" pitchFamily="34" charset="-122"/>
                <a:ea typeface="Microsoft YaHei UI" panose="020B0503020204020204" pitchFamily="34" charset="-122"/>
              </a:rPr>
              <a:t>1.75mg/kg/h</a:t>
            </a:r>
            <a:r>
              <a:rPr lang="zh-CN" altLang="en-US" dirty="0">
                <a:solidFill>
                  <a:schemeClr val="bg1"/>
                </a:solidFill>
                <a:latin typeface="Microsoft YaHei UI" panose="020B0503020204020204" pitchFamily="34" charset="-122"/>
                <a:ea typeface="Microsoft YaHei UI" panose="020B0503020204020204" pitchFamily="34" charset="-122"/>
              </a:rPr>
              <a:t>维持至术后</a:t>
            </a:r>
            <a:r>
              <a:rPr lang="en-US" altLang="zh-CN" dirty="0">
                <a:solidFill>
                  <a:schemeClr val="bg1"/>
                </a:solidFill>
                <a:latin typeface="Microsoft YaHei UI" panose="020B0503020204020204" pitchFamily="34" charset="-122"/>
                <a:ea typeface="Microsoft YaHei UI" panose="020B0503020204020204" pitchFamily="34" charset="-122"/>
              </a:rPr>
              <a:t>4h</a:t>
            </a:r>
            <a:r>
              <a:rPr lang="zh-CN" altLang="en-US" dirty="0">
                <a:solidFill>
                  <a:schemeClr val="bg1"/>
                </a:solidFill>
                <a:latin typeface="Microsoft YaHei UI" panose="020B0503020204020204" pitchFamily="34" charset="-122"/>
                <a:ea typeface="Microsoft YaHei UI" panose="020B0503020204020204" pitchFamily="34" charset="-122"/>
              </a:rPr>
              <a:t>）作为</a:t>
            </a:r>
            <a:r>
              <a:rPr lang="en-US" altLang="zh-CN" dirty="0" err="1">
                <a:solidFill>
                  <a:schemeClr val="bg1"/>
                </a:solidFill>
                <a:latin typeface="Microsoft YaHei UI" panose="020B0503020204020204" pitchFamily="34" charset="-122"/>
                <a:ea typeface="Microsoft YaHei UI" panose="020B0503020204020204" pitchFamily="34" charset="-122"/>
              </a:rPr>
              <a:t>UFH+GPⅡb</a:t>
            </a:r>
            <a:r>
              <a:rPr lang="en-US" altLang="zh-CN" dirty="0">
                <a:solidFill>
                  <a:schemeClr val="bg1"/>
                </a:solidFill>
                <a:latin typeface="Microsoft YaHei UI" panose="020B0503020204020204" pitchFamily="34" charset="-122"/>
                <a:ea typeface="Microsoft YaHei UI" panose="020B0503020204020204" pitchFamily="34" charset="-122"/>
              </a:rPr>
              <a:t>/</a:t>
            </a:r>
            <a:r>
              <a:rPr lang="en-US" altLang="zh-CN" dirty="0" err="1">
                <a:solidFill>
                  <a:schemeClr val="bg1"/>
                </a:solidFill>
                <a:latin typeface="Microsoft YaHei UI" panose="020B0503020204020204" pitchFamily="34" charset="-122"/>
                <a:ea typeface="Microsoft YaHei UI" panose="020B0503020204020204" pitchFamily="34" charset="-122"/>
              </a:rPr>
              <a:t>Ⅲa</a:t>
            </a:r>
            <a:r>
              <a:rPr lang="zh-CN" altLang="en-US" dirty="0">
                <a:solidFill>
                  <a:schemeClr val="bg1"/>
                </a:solidFill>
                <a:latin typeface="Microsoft YaHei UI" panose="020B0503020204020204" pitchFamily="34" charset="-122"/>
                <a:ea typeface="Microsoft YaHei UI" panose="020B0503020204020204" pitchFamily="34" charset="-122"/>
              </a:rPr>
              <a:t>受体拮抗剂的替代方案</a:t>
            </a:r>
          </a:p>
        </p:txBody>
      </p:sp>
      <p:sp>
        <p:nvSpPr>
          <p:cNvPr id="16" name="矩形 15"/>
          <p:cNvSpPr/>
          <p:nvPr/>
        </p:nvSpPr>
        <p:spPr>
          <a:xfrm>
            <a:off x="6001093" y="2576003"/>
            <a:ext cx="5341576" cy="1108973"/>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tx1"/>
                </a:solidFill>
                <a:latin typeface="Microsoft YaHei UI" panose="020B0503020204020204" pitchFamily="34" charset="-122"/>
                <a:ea typeface="Microsoft YaHei UI" panose="020B0503020204020204" pitchFamily="34" charset="-122"/>
              </a:rPr>
              <a:t>比伐芦定可考虑作为</a:t>
            </a:r>
            <a:r>
              <a:rPr lang="en-US" altLang="zh-CN" dirty="0">
                <a:solidFill>
                  <a:schemeClr val="tx1"/>
                </a:solidFill>
                <a:latin typeface="Microsoft YaHei UI" panose="020B0503020204020204" pitchFamily="34" charset="-122"/>
                <a:ea typeface="Microsoft YaHei UI" panose="020B0503020204020204" pitchFamily="34" charset="-122"/>
              </a:rPr>
              <a:t>UFH</a:t>
            </a:r>
            <a:r>
              <a:rPr lang="zh-CN" altLang="en-US" dirty="0">
                <a:solidFill>
                  <a:schemeClr val="tx1"/>
                </a:solidFill>
                <a:latin typeface="Microsoft YaHei UI" panose="020B0503020204020204" pitchFamily="34" charset="-122"/>
                <a:ea typeface="Microsoft YaHei UI" panose="020B0503020204020204" pitchFamily="34" charset="-122"/>
              </a:rPr>
              <a:t>的替代方案</a:t>
            </a:r>
          </a:p>
        </p:txBody>
      </p:sp>
      <p:sp>
        <p:nvSpPr>
          <p:cNvPr id="21" name="矩形 20"/>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14" name="矩形 13"/>
          <p:cNvSpPr/>
          <p:nvPr/>
        </p:nvSpPr>
        <p:spPr>
          <a:xfrm>
            <a:off x="2932238" y="1008572"/>
            <a:ext cx="1157923"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b="1" dirty="0">
                <a:latin typeface="Microsoft YaHei UI" panose="020B0503020204020204" pitchFamily="34" charset="-122"/>
                <a:ea typeface="Microsoft YaHei UI" panose="020B0503020204020204" pitchFamily="34" charset="-122"/>
              </a:rPr>
              <a:t>2015</a:t>
            </a:r>
            <a:r>
              <a:rPr lang="zh-CN" altLang="en-US" b="1" dirty="0">
                <a:latin typeface="Microsoft YaHei UI" panose="020B0503020204020204" pitchFamily="34" charset="-122"/>
                <a:ea typeface="Microsoft YaHei UI" panose="020B0503020204020204" pitchFamily="34" charset="-122"/>
              </a:rPr>
              <a:t>年</a:t>
            </a:r>
          </a:p>
        </p:txBody>
      </p:sp>
      <p:sp>
        <p:nvSpPr>
          <p:cNvPr id="15" name="矩形 14"/>
          <p:cNvSpPr/>
          <p:nvPr/>
        </p:nvSpPr>
        <p:spPr>
          <a:xfrm>
            <a:off x="5422132" y="1061907"/>
            <a:ext cx="1157922"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风险评估</a:t>
            </a:r>
          </a:p>
        </p:txBody>
      </p:sp>
      <p:sp>
        <p:nvSpPr>
          <p:cNvPr id="17" name="矩形 16"/>
          <p:cNvSpPr/>
          <p:nvPr/>
        </p:nvSpPr>
        <p:spPr>
          <a:xfrm>
            <a:off x="6001093" y="1595224"/>
            <a:ext cx="5331126" cy="582565"/>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应考虑应用</a:t>
            </a:r>
            <a:r>
              <a:rPr lang="en-US" altLang="zh-CN" dirty="0">
                <a:latin typeface="Microsoft YaHei UI" panose="020B0503020204020204" pitchFamily="34" charset="-122"/>
                <a:ea typeface="Microsoft YaHei UI" panose="020B0503020204020204" pitchFamily="34" charset="-122"/>
              </a:rPr>
              <a:t>GRACE</a:t>
            </a:r>
            <a:r>
              <a:rPr lang="zh-CN" altLang="en-US" dirty="0">
                <a:latin typeface="Microsoft YaHei UI" panose="020B0503020204020204" pitchFamily="34" charset="-122"/>
                <a:ea typeface="Microsoft YaHei UI" panose="020B0503020204020204" pitchFamily="34" charset="-122"/>
              </a:rPr>
              <a:t>风险评分模型进行预后评估</a:t>
            </a:r>
            <a:endParaRPr lang="en-US" altLang="zh-CN" dirty="0">
              <a:latin typeface="Microsoft YaHei UI" panose="020B0503020204020204" pitchFamily="34" charset="-122"/>
              <a:ea typeface="Microsoft YaHei UI" panose="020B0503020204020204" pitchFamily="34" charset="-122"/>
            </a:endParaRPr>
          </a:p>
        </p:txBody>
      </p:sp>
      <p:sp>
        <p:nvSpPr>
          <p:cNvPr id="18" name="矩形 17"/>
          <p:cNvSpPr/>
          <p:nvPr/>
        </p:nvSpPr>
        <p:spPr>
          <a:xfrm>
            <a:off x="975680" y="3756403"/>
            <a:ext cx="4976133" cy="1012713"/>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latin typeface="Microsoft YaHei UI" panose="020B0503020204020204" pitchFamily="34" charset="-122"/>
                <a:ea typeface="Microsoft YaHei UI" panose="020B0503020204020204" pitchFamily="34" charset="-122"/>
              </a:rPr>
              <a:t>在仔细评估患者的缺血及出血风险后，可考虑应用阿司匹林</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一种</a:t>
            </a:r>
            <a:r>
              <a:rPr lang="en-US" altLang="zh-CN" dirty="0">
                <a:latin typeface="Microsoft YaHei UI" panose="020B0503020204020204" pitchFamily="34" charset="-122"/>
                <a:ea typeface="Microsoft YaHei UI" panose="020B0503020204020204" pitchFamily="34" charset="-122"/>
              </a:rPr>
              <a:t>P2Y12</a:t>
            </a:r>
            <a:r>
              <a:rPr lang="zh-CN" altLang="en-US" dirty="0">
                <a:latin typeface="Microsoft YaHei UI" panose="020B0503020204020204" pitchFamily="34" charset="-122"/>
                <a:ea typeface="Microsoft YaHei UI" panose="020B0503020204020204" pitchFamily="34" charset="-122"/>
              </a:rPr>
              <a:t>受体抑制剂治疗</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年以上</a:t>
            </a:r>
          </a:p>
        </p:txBody>
      </p:sp>
      <p:sp>
        <p:nvSpPr>
          <p:cNvPr id="19" name="矩形 18"/>
          <p:cNvSpPr/>
          <p:nvPr/>
        </p:nvSpPr>
        <p:spPr>
          <a:xfrm>
            <a:off x="6001093" y="3756402"/>
            <a:ext cx="5341576" cy="1012713"/>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r>
              <a:rPr lang="zh-CN" altLang="en-US" dirty="0">
                <a:solidFill>
                  <a:schemeClr val="tx1"/>
                </a:solidFill>
                <a:latin typeface="Microsoft YaHei UI" panose="020B0503020204020204" pitchFamily="34" charset="-122"/>
                <a:ea typeface="Microsoft YaHei UI" panose="020B0503020204020204" pitchFamily="34" charset="-122"/>
              </a:rPr>
              <a:t>对于高缺血风险且无较高主要或危及生命出血风险的患者，应考虑在阿司匹林基础上增加一种抗血栓药物，延长二级预防时程</a:t>
            </a:r>
          </a:p>
        </p:txBody>
      </p:sp>
      <p:sp>
        <p:nvSpPr>
          <p:cNvPr id="22" name="矩形 21"/>
          <p:cNvSpPr/>
          <p:nvPr/>
        </p:nvSpPr>
        <p:spPr>
          <a:xfrm>
            <a:off x="975679" y="4979991"/>
            <a:ext cx="3015831" cy="590729"/>
          </a:xfrm>
          <a:prstGeom prst="rect">
            <a:avLst/>
          </a:prstGeom>
          <a:solidFill>
            <a:srgbClr val="58C08F"/>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solidFill>
                  <a:schemeClr val="bg1"/>
                </a:solidFill>
                <a:latin typeface="Microsoft YaHei UI" panose="020B0503020204020204" pitchFamily="34" charset="-122"/>
                <a:ea typeface="Microsoft YaHei UI" panose="020B0503020204020204" pitchFamily="34" charset="-122"/>
              </a:rPr>
              <a:t>Class Ⅰ</a:t>
            </a:r>
            <a:endParaRPr lang="zh-CN" altLang="en-US" dirty="0">
              <a:solidFill>
                <a:schemeClr val="bg1"/>
              </a:solidFill>
              <a:latin typeface="Microsoft YaHei UI" panose="020B0503020204020204" pitchFamily="34" charset="-122"/>
              <a:ea typeface="Microsoft YaHei UI" panose="020B0503020204020204" pitchFamily="34" charset="-122"/>
            </a:endParaRPr>
          </a:p>
        </p:txBody>
      </p:sp>
      <p:sp>
        <p:nvSpPr>
          <p:cNvPr id="20" name="矩形 19"/>
          <p:cNvSpPr/>
          <p:nvPr/>
        </p:nvSpPr>
        <p:spPr>
          <a:xfrm>
            <a:off x="5422132" y="2203205"/>
            <a:ext cx="1157922" cy="366644"/>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药物治疗</a:t>
            </a:r>
          </a:p>
        </p:txBody>
      </p:sp>
      <p:sp>
        <p:nvSpPr>
          <p:cNvPr id="25" name="矩形 24"/>
          <p:cNvSpPr/>
          <p:nvPr/>
        </p:nvSpPr>
        <p:spPr>
          <a:xfrm>
            <a:off x="8316388" y="4979990"/>
            <a:ext cx="3015831" cy="590729"/>
          </a:xfrm>
          <a:prstGeom prst="rect">
            <a:avLst/>
          </a:prstGeom>
          <a:solidFill>
            <a:srgbClr val="F79323"/>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Class </a:t>
            </a:r>
            <a:r>
              <a:rPr lang="en-US" altLang="zh-CN" dirty="0" err="1">
                <a:latin typeface="Microsoft YaHei UI" panose="020B0503020204020204" pitchFamily="34" charset="-122"/>
                <a:ea typeface="Microsoft YaHei UI" panose="020B0503020204020204" pitchFamily="34" charset="-122"/>
              </a:rPr>
              <a:t>Ⅱb</a:t>
            </a:r>
            <a:endParaRPr lang="zh-CN" altLang="en-US" dirty="0">
              <a:latin typeface="Microsoft YaHei UI" panose="020B0503020204020204" pitchFamily="34" charset="-122"/>
              <a:ea typeface="Microsoft YaHei UI" panose="020B0503020204020204" pitchFamily="34" charset="-122"/>
            </a:endParaRPr>
          </a:p>
        </p:txBody>
      </p:sp>
      <p:sp>
        <p:nvSpPr>
          <p:cNvPr id="26" name="矩形 25"/>
          <p:cNvSpPr/>
          <p:nvPr/>
        </p:nvSpPr>
        <p:spPr>
          <a:xfrm>
            <a:off x="4646033" y="4979990"/>
            <a:ext cx="3015831" cy="590729"/>
          </a:xfrm>
          <a:prstGeom prst="rect">
            <a:avLst/>
          </a:prstGeom>
          <a:solidFill>
            <a:srgbClr val="FECE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latin typeface="Microsoft YaHei UI" panose="020B0503020204020204" pitchFamily="34" charset="-122"/>
                <a:ea typeface="Microsoft YaHei UI" panose="020B0503020204020204" pitchFamily="34" charset="-122"/>
              </a:rPr>
              <a:t>Class </a:t>
            </a:r>
            <a:r>
              <a:rPr lang="en-US" altLang="zh-CN" dirty="0" err="1">
                <a:latin typeface="Microsoft YaHei UI" panose="020B0503020204020204" pitchFamily="34" charset="-122"/>
                <a:ea typeface="Microsoft YaHei UI" panose="020B0503020204020204" pitchFamily="34" charset="-122"/>
              </a:rPr>
              <a:t>Ⅱa</a:t>
            </a:r>
            <a:endParaRPr lang="zh-CN" altLang="en-US" dirty="0">
              <a:latin typeface="Microsoft YaHei UI" panose="020B0503020204020204" pitchFamily="34" charset="-122"/>
              <a:ea typeface="Microsoft YaHei UI" panose="020B0503020204020204" pitchFamily="34" charset="-122"/>
            </a:endParaRPr>
          </a:p>
        </p:txBody>
      </p:sp>
      <p:sp>
        <p:nvSpPr>
          <p:cNvPr id="2" name="矩形 1"/>
          <p:cNvSpPr/>
          <p:nvPr/>
        </p:nvSpPr>
        <p:spPr>
          <a:xfrm>
            <a:off x="1047600" y="6313984"/>
            <a:ext cx="1577448"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Microsoft YaHei UI" panose="020B0503020204020204" pitchFamily="34" charset="-122"/>
                <a:ea typeface="Microsoft YaHei UI" panose="020B0503020204020204" pitchFamily="34" charset="-122"/>
              </a:rPr>
              <a:t>UFH</a:t>
            </a:r>
            <a:r>
              <a:rPr lang="zh-CN" altLang="en-US" sz="1400" dirty="0">
                <a:solidFill>
                  <a:schemeClr val="tx1"/>
                </a:solidFill>
                <a:latin typeface="Microsoft YaHei UI" panose="020B0503020204020204" pitchFamily="34" charset="-122"/>
                <a:ea typeface="Microsoft YaHei UI" panose="020B0503020204020204" pitchFamily="34" charset="-122"/>
              </a:rPr>
              <a:t>：普通肝素</a:t>
            </a:r>
          </a:p>
        </p:txBody>
      </p:sp>
    </p:spTree>
    <p:extLst>
      <p:ext uri="{BB962C8B-B14F-4D97-AF65-F5344CB8AC3E}">
        <p14:creationId xmlns:p14="http://schemas.microsoft.com/office/powerpoint/2010/main" val="26743959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91752" y="335673"/>
            <a:ext cx="3043291" cy="461665"/>
          </a:xfrm>
          <a:prstGeom prst="rect">
            <a:avLst/>
          </a:prstGeom>
          <a:noFill/>
        </p:spPr>
        <p:txBody>
          <a:bodyPr wrap="square" rtlCol="0">
            <a:spAutoFit/>
          </a:bodyPr>
          <a:lstStyle/>
          <a:p>
            <a:r>
              <a:rPr lang="zh-CN" altLang="en-US" sz="2400" b="1" dirty="0">
                <a:solidFill>
                  <a:srgbClr val="AE1022"/>
                </a:solidFill>
                <a:latin typeface="Microsoft YaHei UI" panose="020B0503020204020204" pitchFamily="34" charset="-122"/>
                <a:ea typeface="Microsoft YaHei UI" panose="020B0503020204020204" pitchFamily="34" charset="-122"/>
              </a:rPr>
              <a:t>指南推荐的主要改变</a:t>
            </a:r>
            <a:endParaRPr lang="zh-CN" altLang="en-US" sz="2400" b="1" dirty="0">
              <a:solidFill>
                <a:srgbClr val="AE1022"/>
              </a:solidFill>
            </a:endParaRPr>
          </a:p>
        </p:txBody>
      </p:sp>
      <p:sp>
        <p:nvSpPr>
          <p:cNvPr id="9" name="矩形 8"/>
          <p:cNvSpPr/>
          <p:nvPr/>
        </p:nvSpPr>
        <p:spPr>
          <a:xfrm>
            <a:off x="857529" y="1485418"/>
            <a:ext cx="10356539" cy="1555761"/>
          </a:xfrm>
          <a:prstGeom prst="rect">
            <a:avLst/>
          </a:prstGeom>
          <a:solidFill>
            <a:srgbClr val="F59BA3"/>
          </a:solidFill>
        </p:spPr>
        <p:style>
          <a:lnRef idx="1">
            <a:schemeClr val="accent3"/>
          </a:lnRef>
          <a:fillRef idx="2">
            <a:schemeClr val="accent3"/>
          </a:fillRef>
          <a:effectRef idx="1">
            <a:schemeClr val="accent3"/>
          </a:effectRef>
          <a:fontRef idx="minor">
            <a:schemeClr val="dk1"/>
          </a:fontRef>
        </p:style>
        <p:txBody>
          <a:bodyPr rtlCol="0" anchor="ctr"/>
          <a:lstStyle/>
          <a:p>
            <a:pPr>
              <a:lnSpc>
                <a:spcPct val="100000"/>
              </a:lnSpc>
              <a:spcBef>
                <a:spcPts val="0"/>
              </a:spcBef>
              <a:spcAft>
                <a:spcPts val="0"/>
              </a:spcAft>
            </a:pP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冠状动脉非阻塞性心肌梗死（</a:t>
            </a:r>
            <a:r>
              <a:rPr lang="en-US" altLang="zh-CN" dirty="0">
                <a:solidFill>
                  <a:schemeClr val="tx1"/>
                </a:solidFill>
                <a:latin typeface="Microsoft YaHei UI" panose="020B0503020204020204" pitchFamily="34" charset="-122"/>
                <a:ea typeface="Microsoft YaHei UI" panose="020B0503020204020204" pitchFamily="34" charset="-122"/>
              </a:rPr>
              <a:t>MINOCA</a:t>
            </a:r>
            <a:r>
              <a:rPr lang="zh-CN" altLang="en-US" dirty="0">
                <a:solidFill>
                  <a:schemeClr val="tx1"/>
                </a:solidFill>
                <a:latin typeface="Microsoft YaHei UI" panose="020B0503020204020204" pitchFamily="34" charset="-122"/>
                <a:ea typeface="Microsoft YaHei UI" panose="020B0503020204020204" pitchFamily="34" charset="-122"/>
              </a:rPr>
              <a:t>）</a:t>
            </a: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稳定性冠状动脉疾病（</a:t>
            </a:r>
            <a:r>
              <a:rPr lang="en-US" altLang="zh-CN" dirty="0">
                <a:solidFill>
                  <a:schemeClr val="tx1"/>
                </a:solidFill>
                <a:latin typeface="Microsoft YaHei UI" panose="020B0503020204020204" pitchFamily="34" charset="-122"/>
                <a:ea typeface="Microsoft YaHei UI" panose="020B0503020204020204" pitchFamily="34" charset="-122"/>
              </a:rPr>
              <a:t>SCAD</a:t>
            </a:r>
            <a:r>
              <a:rPr lang="zh-CN" altLang="en-US" dirty="0">
                <a:solidFill>
                  <a:schemeClr val="tx1"/>
                </a:solidFill>
                <a:latin typeface="Microsoft YaHei UI" panose="020B0503020204020204" pitchFamily="34" charset="-122"/>
                <a:ea typeface="Microsoft YaHei UI" panose="020B0503020204020204" pitchFamily="34" charset="-122"/>
              </a:rPr>
              <a:t>）</a:t>
            </a: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非</a:t>
            </a:r>
            <a:r>
              <a:rPr lang="en-US" altLang="zh-CN" dirty="0">
                <a:solidFill>
                  <a:schemeClr val="tx1"/>
                </a:solidFill>
                <a:latin typeface="Microsoft YaHei UI" panose="020B0503020204020204" pitchFamily="34" charset="-122"/>
                <a:ea typeface="Microsoft YaHei UI" panose="020B0503020204020204" pitchFamily="34" charset="-122"/>
              </a:rPr>
              <a:t>ST</a:t>
            </a:r>
            <a:r>
              <a:rPr lang="zh-CN" altLang="en-US" dirty="0">
                <a:solidFill>
                  <a:schemeClr val="tx1"/>
                </a:solidFill>
                <a:latin typeface="Microsoft YaHei UI" panose="020B0503020204020204" pitchFamily="34" charset="-122"/>
                <a:ea typeface="Microsoft YaHei UI" panose="020B0503020204020204" pitchFamily="34" charset="-122"/>
              </a:rPr>
              <a:t>段抬高性急性冠脉综合征患者治疗的质量指标（</a:t>
            </a:r>
            <a:r>
              <a:rPr lang="en-US" altLang="zh-CN" dirty="0">
                <a:solidFill>
                  <a:schemeClr val="tx1"/>
                </a:solidFill>
                <a:latin typeface="Microsoft YaHei UI" panose="020B0503020204020204" pitchFamily="34" charset="-122"/>
                <a:ea typeface="Microsoft YaHei UI" panose="020B0503020204020204" pitchFamily="34" charset="-122"/>
              </a:rPr>
              <a:t>QIs</a:t>
            </a:r>
            <a:r>
              <a:rPr lang="zh-CN" altLang="en-US" dirty="0">
                <a:solidFill>
                  <a:schemeClr val="tx1"/>
                </a:solidFill>
                <a:latin typeface="Microsoft YaHei UI" panose="020B0503020204020204" pitchFamily="34" charset="-122"/>
                <a:ea typeface="Microsoft YaHei UI" panose="020B0503020204020204" pitchFamily="34" charset="-122"/>
              </a:rPr>
              <a:t>）</a:t>
            </a:r>
            <a:endParaRPr lang="en-US" altLang="zh-CN" dirty="0">
              <a:solidFill>
                <a:schemeClr val="tx1"/>
              </a:solidFill>
              <a:latin typeface="Microsoft YaHei UI" panose="020B0503020204020204" pitchFamily="34" charset="-122"/>
              <a:ea typeface="Microsoft YaHei UI" panose="020B0503020204020204" pitchFamily="34" charset="-122"/>
            </a:endParaRPr>
          </a:p>
          <a:p>
            <a:endParaRPr lang="en-US" altLang="zh-CN" dirty="0">
              <a:solidFill>
                <a:schemeClr val="bg1"/>
              </a:solidFill>
              <a:latin typeface="Microsoft YaHei UI" panose="020B0503020204020204" pitchFamily="34" charset="-122"/>
              <a:ea typeface="Microsoft YaHei UI" panose="020B0503020204020204" pitchFamily="34" charset="-122"/>
            </a:endParaRPr>
          </a:p>
        </p:txBody>
      </p:sp>
      <p:sp>
        <p:nvSpPr>
          <p:cNvPr id="21" name="矩形 20"/>
          <p:cNvSpPr/>
          <p:nvPr/>
        </p:nvSpPr>
        <p:spPr>
          <a:xfrm>
            <a:off x="3991510" y="6313984"/>
            <a:ext cx="7649111" cy="461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2020 ESC Guidelines for the management of acute coronary syndromes in patients presenting without persistent ST-segment elevation (European Heart Journal 2020; 10.1093/</a:t>
            </a:r>
            <a:r>
              <a:rPr lang="en-US" altLang="zh-CN" sz="1400" b="1" dirty="0" err="1">
                <a:solidFill>
                  <a:schemeClr val="tx1"/>
                </a:solidFill>
                <a:latin typeface="Calibri" panose="020F0502020204030204" pitchFamily="34" charset="0"/>
                <a:ea typeface="Microsoft YaHei UI" panose="020B0503020204020204" pitchFamily="34" charset="-122"/>
                <a:cs typeface="Calibri" panose="020F0502020204030204" pitchFamily="34" charset="0"/>
              </a:rPr>
              <a:t>eurheartj</a:t>
            </a:r>
            <a:r>
              <a:rPr lang="en-US" altLang="zh-CN"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rPr>
              <a:t>/ehaa575)</a:t>
            </a:r>
            <a:endParaRPr lang="zh-CN" altLang="en-US" sz="1400" b="1" dirty="0">
              <a:solidFill>
                <a:schemeClr val="tx1"/>
              </a:solidFill>
              <a:latin typeface="Calibri" panose="020F0502020204030204" pitchFamily="34" charset="0"/>
              <a:ea typeface="Microsoft YaHei UI" panose="020B0503020204020204" pitchFamily="34" charset="-122"/>
              <a:cs typeface="Calibri" panose="020F0502020204030204" pitchFamily="34" charset="0"/>
            </a:endParaRPr>
          </a:p>
        </p:txBody>
      </p:sp>
      <p:sp>
        <p:nvSpPr>
          <p:cNvPr id="15" name="矩形 14"/>
          <p:cNvSpPr/>
          <p:nvPr/>
        </p:nvSpPr>
        <p:spPr>
          <a:xfrm>
            <a:off x="5456837" y="992261"/>
            <a:ext cx="1157922" cy="402810"/>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新章节</a:t>
            </a:r>
          </a:p>
        </p:txBody>
      </p:sp>
      <p:sp>
        <p:nvSpPr>
          <p:cNvPr id="20" name="矩形 19"/>
          <p:cNvSpPr/>
          <p:nvPr/>
        </p:nvSpPr>
        <p:spPr>
          <a:xfrm>
            <a:off x="4908550" y="3242945"/>
            <a:ext cx="2224405" cy="366395"/>
          </a:xfrm>
          <a:prstGeom prst="rect">
            <a:avLst/>
          </a:prstGeom>
          <a:solidFill>
            <a:srgbClr val="FFFFFF"/>
          </a:solidFill>
          <a:ln>
            <a:noFill/>
          </a:ln>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latin typeface="Microsoft YaHei UI" panose="020B0503020204020204" pitchFamily="34" charset="-122"/>
                <a:ea typeface="Microsoft YaHei UI" panose="020B0503020204020204" pitchFamily="34" charset="-122"/>
              </a:rPr>
              <a:t>新概念</a:t>
            </a:r>
            <a:r>
              <a:rPr lang="en-US" altLang="zh-CN" b="1" dirty="0">
                <a:latin typeface="Microsoft YaHei UI" panose="020B0503020204020204" pitchFamily="34" charset="-122"/>
                <a:ea typeface="Microsoft YaHei UI" panose="020B0503020204020204" pitchFamily="34" charset="-122"/>
              </a:rPr>
              <a:t>/</a:t>
            </a:r>
            <a:r>
              <a:rPr lang="zh-CN" altLang="en-US" b="1" dirty="0">
                <a:latin typeface="Microsoft YaHei UI" panose="020B0503020204020204" pitchFamily="34" charset="-122"/>
                <a:ea typeface="Microsoft YaHei UI" panose="020B0503020204020204" pitchFamily="34" charset="-122"/>
              </a:rPr>
              <a:t>修订概念</a:t>
            </a:r>
          </a:p>
        </p:txBody>
      </p:sp>
      <p:sp>
        <p:nvSpPr>
          <p:cNvPr id="23" name="矩形 22"/>
          <p:cNvSpPr/>
          <p:nvPr/>
        </p:nvSpPr>
        <p:spPr>
          <a:xfrm>
            <a:off x="857529" y="3812921"/>
            <a:ext cx="10356539" cy="2132293"/>
          </a:xfrm>
          <a:prstGeom prst="rect">
            <a:avLst/>
          </a:prstGeom>
          <a:solidFill>
            <a:srgbClr val="F59BA3"/>
          </a:solidFill>
        </p:spPr>
        <p:style>
          <a:lnRef idx="1">
            <a:schemeClr val="accent3"/>
          </a:lnRef>
          <a:fillRef idx="2">
            <a:schemeClr val="accent3"/>
          </a:fillRef>
          <a:effectRef idx="1">
            <a:schemeClr val="accent3"/>
          </a:effectRef>
          <a:fontRef idx="minor">
            <a:schemeClr val="dk1"/>
          </a:fontRef>
        </p:style>
        <p:txBody>
          <a:bodyPr rtlCol="0" anchor="ctr"/>
          <a:lstStyle/>
          <a:p>
            <a:pPr>
              <a:lnSpc>
                <a:spcPct val="100000"/>
              </a:lnSpc>
              <a:spcBef>
                <a:spcPts val="0"/>
              </a:spcBef>
              <a:spcAft>
                <a:spcPts val="0"/>
              </a:spcAft>
            </a:pP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快速诊断及排除流程</a:t>
            </a: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针对是否行早期侵入治疗进行危险分层</a:t>
            </a: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高出血风险的定义</a:t>
            </a: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高和极高缺血风险的定义</a:t>
            </a:r>
            <a:endParaRPr lang="en-US" altLang="zh-CN" dirty="0">
              <a:solidFill>
                <a:schemeClr val="tx1"/>
              </a:solidFill>
              <a:latin typeface="Microsoft YaHei UI" panose="020B0503020204020204" pitchFamily="34" charset="-122"/>
              <a:ea typeface="Microsoft YaHei UI" panose="020B0503020204020204" pitchFamily="34" charset="-122"/>
            </a:endParaRPr>
          </a:p>
          <a:p>
            <a:pPr>
              <a:lnSpc>
                <a:spcPct val="120000"/>
              </a:lnSpc>
              <a:spcBef>
                <a:spcPts val="0"/>
              </a:spcBef>
              <a:spcAft>
                <a:spcPts val="0"/>
              </a:spcAft>
            </a:pPr>
            <a:r>
              <a:rPr lang="en-US" altLang="zh-CN" dirty="0">
                <a:solidFill>
                  <a:schemeClr val="tx1"/>
                </a:solidFill>
                <a:latin typeface="Microsoft YaHei UI" panose="020B0503020204020204" pitchFamily="34" charset="-122"/>
                <a:ea typeface="Microsoft YaHei UI" panose="020B0503020204020204" pitchFamily="34" charset="-122"/>
              </a:rPr>
              <a:t>--- </a:t>
            </a:r>
            <a:r>
              <a:rPr lang="zh-CN" altLang="en-US" dirty="0">
                <a:solidFill>
                  <a:schemeClr val="tx1"/>
                </a:solidFill>
                <a:latin typeface="Microsoft YaHei UI" panose="020B0503020204020204" pitchFamily="34" charset="-122"/>
                <a:ea typeface="Microsoft YaHei UI" panose="020B0503020204020204" pitchFamily="34" charset="-122"/>
              </a:rPr>
              <a:t>临床证据的缺陷及相对应的需要实施的</a:t>
            </a:r>
            <a:r>
              <a:rPr lang="en-US" altLang="zh-CN" dirty="0">
                <a:solidFill>
                  <a:schemeClr val="tx1"/>
                </a:solidFill>
                <a:latin typeface="Microsoft YaHei UI" panose="020B0503020204020204" pitchFamily="34" charset="-122"/>
                <a:ea typeface="Microsoft YaHei UI" panose="020B0503020204020204" pitchFamily="34" charset="-122"/>
              </a:rPr>
              <a:t>RCT</a:t>
            </a:r>
          </a:p>
          <a:p>
            <a:endParaRPr lang="en-US" altLang="zh-CN" dirty="0">
              <a:solidFill>
                <a:schemeClr val="bg1"/>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224656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2909624" y="2671497"/>
            <a:ext cx="7844676" cy="769441"/>
          </a:xfrm>
          <a:prstGeom prst="rect">
            <a:avLst/>
          </a:prstGeom>
          <a:noFill/>
        </p:spPr>
        <p:txBody>
          <a:bodyPr wrap="square" rtlCol="0">
            <a:spAutoFit/>
          </a:bodyPr>
          <a:lstStyle/>
          <a:p>
            <a:r>
              <a:rPr lang="en-US" altLang="zh-CN" sz="4400" b="1" dirty="0">
                <a:solidFill>
                  <a:srgbClr val="AE1022"/>
                </a:solidFill>
                <a:latin typeface="Calibri" panose="020F0502020204030204" pitchFamily="34" charset="0"/>
                <a:ea typeface="Microsoft YaHei UI" panose="020B0503020204020204" pitchFamily="34" charset="-122"/>
                <a:cs typeface="Calibri" panose="020F0502020204030204" pitchFamily="34" charset="0"/>
              </a:rPr>
              <a:t>Thank You for Your Attention!</a:t>
            </a:r>
            <a:endParaRPr lang="zh-CN" altLang="en-US" sz="4400" b="1" dirty="0">
              <a:solidFill>
                <a:srgbClr val="AE102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89980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1321</TotalTime>
  <Words>11819</Words>
  <Application>Microsoft Office PowerPoint</Application>
  <PresentationFormat>宽屏</PresentationFormat>
  <Paragraphs>1009</Paragraphs>
  <Slides>66</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76" baseType="lpstr">
      <vt:lpstr>Microsoft YaHei UI</vt:lpstr>
      <vt:lpstr>等线</vt:lpstr>
      <vt:lpstr>等线 Light</vt:lpstr>
      <vt:lpstr>微软雅黑</vt:lpstr>
      <vt:lpstr>Arial</vt:lpstr>
      <vt:lpstr>Arial</vt:lpstr>
      <vt:lpstr>Calibri</vt:lpstr>
      <vt:lpstr>Lucida Handwriting</vt:lpstr>
      <vt:lpstr>Office 主题​​</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 思聪</dc:creator>
  <cp:lastModifiedBy>han</cp:lastModifiedBy>
  <cp:revision>884</cp:revision>
  <dcterms:created xsi:type="dcterms:W3CDTF">2019-09-16T07:42:00Z</dcterms:created>
  <dcterms:modified xsi:type="dcterms:W3CDTF">2020-09-25T06:09:57Z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2052-11.1.0.8900</vt:lpwstr>
  </property>
</Properties>
</file>